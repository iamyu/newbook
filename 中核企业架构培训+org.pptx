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2104" r:id="rId3"/>
    <p:sldId id="320" r:id="rId5"/>
    <p:sldId id="365" r:id="rId6"/>
    <p:sldId id="1029" r:id="rId7"/>
    <p:sldId id="449" r:id="rId8"/>
    <p:sldId id="2077" r:id="rId9"/>
    <p:sldId id="383" r:id="rId10"/>
    <p:sldId id="452" r:id="rId11"/>
    <p:sldId id="453" r:id="rId12"/>
    <p:sldId id="2099" r:id="rId13"/>
    <p:sldId id="366" r:id="rId14"/>
    <p:sldId id="348" r:id="rId15"/>
    <p:sldId id="368" r:id="rId16"/>
    <p:sldId id="369" r:id="rId17"/>
    <p:sldId id="1018" r:id="rId18"/>
    <p:sldId id="411" r:id="rId19"/>
    <p:sldId id="412" r:id="rId20"/>
    <p:sldId id="413" r:id="rId21"/>
    <p:sldId id="2124" r:id="rId22"/>
    <p:sldId id="2121" r:id="rId23"/>
    <p:sldId id="2125" r:id="rId24"/>
  </p:sldIdLst>
  <p:sldSz cx="9902825" cy="6858000"/>
  <p:notesSz cx="6645275" cy="977709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4319" userDrawn="1">
          <p15:clr>
            <a:srgbClr val="A4A3A4"/>
          </p15:clr>
        </p15:guide>
        <p15:guide id="2" pos="47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6B086"/>
    <a:srgbClr val="FEE5D7"/>
    <a:srgbClr val="808080"/>
    <a:srgbClr val="91B0FF"/>
    <a:srgbClr val="000000"/>
    <a:srgbClr val="060000"/>
    <a:srgbClr val="969696"/>
    <a:srgbClr val="C0C0C0"/>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47" autoAdjust="0"/>
    <p:restoredTop sz="91983" autoAdjust="0"/>
  </p:normalViewPr>
  <p:slideViewPr>
    <p:cSldViewPr snapToObjects="1" showGuides="1">
      <p:cViewPr varScale="1">
        <p:scale>
          <a:sx n="52" d="100"/>
          <a:sy n="52" d="100"/>
        </p:scale>
        <p:origin x="1504" y="264"/>
      </p:cViewPr>
      <p:guideLst>
        <p:guide orient="horz" pos="4319"/>
        <p:guide pos="476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879725" cy="488950"/>
          </a:xfrm>
          <a:prstGeom prst="rect">
            <a:avLst/>
          </a:prstGeom>
          <a:noFill/>
          <a:ln>
            <a:noFill/>
          </a:ln>
          <a:effectLst/>
        </p:spPr>
        <p:txBody>
          <a:bodyPr vert="horz" wrap="square" lIns="92400" tIns="46200" rIns="92400" bIns="46200" numCol="1" anchor="t" anchorCtr="0" compatLnSpc="1"/>
          <a:lstStyle>
            <a:lvl1pP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099" name="Rectangle 3"/>
          <p:cNvSpPr>
            <a:spLocks noGrp="1" noChangeArrowheads="1"/>
          </p:cNvSpPr>
          <p:nvPr>
            <p:ph type="dt" sz="quarter" idx="1"/>
          </p:nvPr>
        </p:nvSpPr>
        <p:spPr bwMode="auto">
          <a:xfrm>
            <a:off x="3765550" y="0"/>
            <a:ext cx="2879725" cy="488950"/>
          </a:xfrm>
          <a:prstGeom prst="rect">
            <a:avLst/>
          </a:prstGeom>
          <a:noFill/>
          <a:ln>
            <a:noFill/>
          </a:ln>
          <a:effectLst/>
        </p:spPr>
        <p:txBody>
          <a:bodyPr vert="horz" wrap="square" lIns="92400" tIns="46200" rIns="92400" bIns="46200" numCol="1" anchor="t" anchorCtr="0" compatLnSpc="1"/>
          <a:lstStyle>
            <a:lvl1pPr algn="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100" name="Rectangle 4"/>
          <p:cNvSpPr>
            <a:spLocks noGrp="1" noChangeArrowheads="1"/>
          </p:cNvSpPr>
          <p:nvPr>
            <p:ph type="ftr" sz="quarter" idx="2"/>
          </p:nvPr>
        </p:nvSpPr>
        <p:spPr bwMode="auto">
          <a:xfrm>
            <a:off x="0" y="9288463"/>
            <a:ext cx="2879725" cy="488950"/>
          </a:xfrm>
          <a:prstGeom prst="rect">
            <a:avLst/>
          </a:prstGeom>
          <a:noFill/>
          <a:ln>
            <a:noFill/>
          </a:ln>
          <a:effectLst/>
        </p:spPr>
        <p:txBody>
          <a:bodyPr vert="horz" wrap="square" lIns="92400" tIns="46200" rIns="92400" bIns="46200" numCol="1" anchor="b" anchorCtr="0" compatLnSpc="1"/>
          <a:lstStyle>
            <a:lvl1pPr defTabSz="923925" eaLnBrk="1" hangingPunct="1">
              <a:buClrTx/>
              <a:buFontTx/>
              <a:buNone/>
              <a:defRPr sz="1200">
                <a:latin typeface="Times New Roman" panose="02020603050405020304" pitchFamily="18" charset="0"/>
              </a:defRPr>
            </a:lvl1pPr>
          </a:lstStyle>
          <a:p>
            <a:pPr>
              <a:defRPr/>
            </a:pPr>
            <a:endParaRPr lang="en-US" altLang="en-US"/>
          </a:p>
        </p:txBody>
      </p:sp>
      <p:sp>
        <p:nvSpPr>
          <p:cNvPr id="4101" name="Rectangle 5"/>
          <p:cNvSpPr>
            <a:spLocks noGrp="1" noChangeArrowheads="1"/>
          </p:cNvSpPr>
          <p:nvPr>
            <p:ph type="sldNum" sz="quarter" idx="3"/>
          </p:nvPr>
        </p:nvSpPr>
        <p:spPr bwMode="auto">
          <a:xfrm>
            <a:off x="3765550" y="9288463"/>
            <a:ext cx="2879725" cy="488950"/>
          </a:xfrm>
          <a:prstGeom prst="rect">
            <a:avLst/>
          </a:prstGeom>
          <a:noFill/>
          <a:ln>
            <a:noFill/>
          </a:ln>
          <a:effectLst/>
        </p:spPr>
        <p:txBody>
          <a:bodyPr vert="horz" wrap="square" lIns="92400" tIns="46200" rIns="92400" bIns="46200" numCol="1" anchor="b" anchorCtr="0" compatLnSpc="1"/>
          <a:lstStyle>
            <a:lvl1pPr algn="r" defTabSz="923925" eaLnBrk="1" hangingPunct="1">
              <a:buClrTx/>
              <a:buFontTx/>
              <a:buNone/>
              <a:defRPr sz="1200" smtClean="0">
                <a:latin typeface="Times New Roman" panose="02020603050405020304" pitchFamily="18" charset="0"/>
              </a:defRPr>
            </a:lvl1pPr>
          </a:lstStyle>
          <a:p>
            <a:pPr>
              <a:defRPr/>
            </a:pPr>
            <a:fld id="{3073027C-96D5-496C-972D-87C61FFD57E1}"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0466" name="Rectangle 2"/>
          <p:cNvSpPr>
            <a:spLocks noGrp="1" noChangeArrowheads="1"/>
          </p:cNvSpPr>
          <p:nvPr>
            <p:ph type="hdr" sz="quarter"/>
          </p:nvPr>
        </p:nvSpPr>
        <p:spPr bwMode="auto">
          <a:xfrm>
            <a:off x="0" y="0"/>
            <a:ext cx="2890838" cy="484188"/>
          </a:xfrm>
          <a:prstGeom prst="rect">
            <a:avLst/>
          </a:prstGeom>
          <a:noFill/>
          <a:ln>
            <a:noFill/>
          </a:ln>
          <a:effectLst/>
        </p:spPr>
        <p:txBody>
          <a:bodyPr vert="horz" wrap="square" lIns="91440" tIns="45720" rIns="91440" bIns="45720" numCol="1" anchor="t" anchorCtr="0" compatLnSpc="1"/>
          <a:lstStyle>
            <a:lvl1pPr eaLnBrk="1" hangingPunct="1">
              <a:defRPr sz="1200">
                <a:latin typeface="Times New Roman" panose="02020603050405020304" pitchFamily="18" charset="0"/>
              </a:defRPr>
            </a:lvl1pPr>
          </a:lstStyle>
          <a:p>
            <a:endParaRPr lang="zh-CN" altLang="en-US"/>
          </a:p>
        </p:txBody>
      </p:sp>
      <p:sp>
        <p:nvSpPr>
          <p:cNvPr id="190467" name="Rectangle 3"/>
          <p:cNvSpPr>
            <a:spLocks noGrp="1" noChangeArrowheads="1"/>
          </p:cNvSpPr>
          <p:nvPr>
            <p:ph type="dt" idx="1"/>
          </p:nvPr>
        </p:nvSpPr>
        <p:spPr bwMode="auto">
          <a:xfrm>
            <a:off x="3759200" y="0"/>
            <a:ext cx="2892425" cy="484188"/>
          </a:xfrm>
          <a:prstGeom prst="rect">
            <a:avLst/>
          </a:prstGeom>
          <a:noFill/>
          <a:ln>
            <a:noFill/>
          </a:ln>
          <a:effectLst/>
        </p:spPr>
        <p:txBody>
          <a:bodyPr vert="horz" wrap="square" lIns="91440" tIns="45720" rIns="91440" bIns="45720" numCol="1" anchor="t" anchorCtr="0" compatLnSpc="1"/>
          <a:lstStyle>
            <a:lvl1pPr algn="r" eaLnBrk="1" hangingPunct="1">
              <a:defRPr sz="1200">
                <a:latin typeface="Times New Roman" panose="02020603050405020304" pitchFamily="18" charset="0"/>
              </a:defRPr>
            </a:lvl1pPr>
          </a:lstStyle>
          <a:p>
            <a:endParaRPr lang="en-US" altLang="zh-CN"/>
          </a:p>
        </p:txBody>
      </p:sp>
      <p:sp>
        <p:nvSpPr>
          <p:cNvPr id="3076" name="Rectangle 4"/>
          <p:cNvSpPr>
            <a:spLocks noGrp="1" noRot="1" noChangeAspect="1" noChangeArrowheads="1" noTextEdit="1"/>
          </p:cNvSpPr>
          <p:nvPr>
            <p:ph type="sldImg" idx="2"/>
          </p:nvPr>
        </p:nvSpPr>
        <p:spPr bwMode="auto">
          <a:xfrm>
            <a:off x="701675" y="727075"/>
            <a:ext cx="5248275" cy="36337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90469" name="Rectangle 5"/>
          <p:cNvSpPr>
            <a:spLocks noGrp="1" noChangeArrowheads="1"/>
          </p:cNvSpPr>
          <p:nvPr>
            <p:ph type="body" sz="quarter" idx="3"/>
          </p:nvPr>
        </p:nvSpPr>
        <p:spPr bwMode="auto">
          <a:xfrm>
            <a:off x="866775" y="4686300"/>
            <a:ext cx="4918075" cy="4360863"/>
          </a:xfrm>
          <a:prstGeom prst="rect">
            <a:avLst/>
          </a:prstGeom>
          <a:noFill/>
          <a:ln>
            <a:noFill/>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190470" name="Rectangle 6"/>
          <p:cNvSpPr>
            <a:spLocks noGrp="1" noChangeArrowheads="1"/>
          </p:cNvSpPr>
          <p:nvPr>
            <p:ph type="ftr" sz="quarter" idx="4"/>
          </p:nvPr>
        </p:nvSpPr>
        <p:spPr bwMode="auto">
          <a:xfrm>
            <a:off x="0" y="9290050"/>
            <a:ext cx="2890838" cy="484188"/>
          </a:xfrm>
          <a:prstGeom prst="rect">
            <a:avLst/>
          </a:prstGeom>
          <a:noFill/>
          <a:ln>
            <a:noFill/>
          </a:ln>
          <a:effectLst/>
        </p:spPr>
        <p:txBody>
          <a:bodyPr vert="horz" wrap="square" lIns="91440" tIns="45720" rIns="91440" bIns="45720" numCol="1" anchor="b" anchorCtr="0" compatLnSpc="1"/>
          <a:lstStyle>
            <a:lvl1pPr eaLnBrk="1" hangingPunct="1">
              <a:defRPr sz="1200">
                <a:latin typeface="Times New Roman" panose="02020603050405020304" pitchFamily="18" charset="0"/>
              </a:defRPr>
            </a:lvl1pPr>
          </a:lstStyle>
          <a:p>
            <a:endParaRPr lang="en-US" altLang="zh-CN"/>
          </a:p>
        </p:txBody>
      </p:sp>
      <p:sp>
        <p:nvSpPr>
          <p:cNvPr id="190471" name="Rectangle 7"/>
          <p:cNvSpPr>
            <a:spLocks noGrp="1" noChangeArrowheads="1"/>
          </p:cNvSpPr>
          <p:nvPr>
            <p:ph type="sldNum" sz="quarter" idx="5"/>
          </p:nvPr>
        </p:nvSpPr>
        <p:spPr bwMode="auto">
          <a:xfrm>
            <a:off x="3759200" y="9290050"/>
            <a:ext cx="2892425" cy="484188"/>
          </a:xfrm>
          <a:prstGeom prst="rect">
            <a:avLst/>
          </a:prstGeom>
          <a:noFill/>
          <a:ln>
            <a:noFill/>
          </a:ln>
          <a:effectLst/>
        </p:spPr>
        <p:txBody>
          <a:bodyPr vert="horz" wrap="square" lIns="91440" tIns="45720" rIns="91440" bIns="45720" numCol="1" anchor="b" anchorCtr="0" compatLnSpc="1"/>
          <a:lstStyle>
            <a:lvl1pPr algn="r" eaLnBrk="1" hangingPunct="1">
              <a:defRPr sz="1200">
                <a:latin typeface="Times New Roman" panose="02020603050405020304" pitchFamily="18" charset="0"/>
              </a:defRPr>
            </a:lvl1pPr>
          </a:lstStyle>
          <a:p>
            <a:fld id="{7DABE37C-1969-4E81-B1BE-51BD9AA59BA3}"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F0003BF-CE23-45C1-A81E-EA8BB00D2E02}" type="slidenum">
              <a:rPr lang="zh-CN" altLang="en-US"/>
            </a:fld>
            <a:endParaRPr lang="en-US" altLang="zh-CN"/>
          </a:p>
        </p:txBody>
      </p:sp>
      <p:sp>
        <p:nvSpPr>
          <p:cNvPr id="105475" name="Rectangle 2"/>
          <p:cNvSpPr>
            <a:spLocks noGrp="1" noRot="1" noChangeAspect="1" noChangeArrowheads="1" noTextEdit="1"/>
          </p:cNvSpPr>
          <p:nvPr>
            <p:ph type="sldImg"/>
          </p:nvPr>
        </p:nvSpPr>
        <p:spPr>
          <a:xfrm>
            <a:off x="676275" y="733425"/>
            <a:ext cx="5292725" cy="3665538"/>
          </a:xfrm>
        </p:spPr>
        <p:txBody>
          <a:bodyPr/>
          <a:lstStyle/>
          <a:p>
            <a:endParaRPr lang="en-US"/>
          </a:p>
        </p:txBody>
      </p:sp>
      <p:sp>
        <p:nvSpPr>
          <p:cNvPr id="105476"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34DE380-5C4A-4C20-AF39-F9F06A0C08E5}" type="slidenum">
              <a:rPr lang="zh-CN" altLang="en-US"/>
            </a:fld>
            <a:endParaRPr lang="en-US" altLang="zh-CN"/>
          </a:p>
        </p:txBody>
      </p:sp>
      <p:sp>
        <p:nvSpPr>
          <p:cNvPr id="107523" name="Rectangle 2"/>
          <p:cNvSpPr>
            <a:spLocks noGrp="1" noRot="1" noChangeAspect="1" noChangeArrowheads="1" noTextEdit="1"/>
          </p:cNvSpPr>
          <p:nvPr>
            <p:ph type="sldImg"/>
          </p:nvPr>
        </p:nvSpPr>
        <p:spPr>
          <a:xfrm>
            <a:off x="676275" y="733425"/>
            <a:ext cx="5294313" cy="3665538"/>
          </a:xfrm>
        </p:spPr>
        <p:txBody>
          <a:bodyPr/>
          <a:lstStyle/>
          <a:p>
            <a:endParaRPr lang="en-US"/>
          </a:p>
        </p:txBody>
      </p:sp>
      <p:sp>
        <p:nvSpPr>
          <p:cNvPr id="107524"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72A9FB9-6F1D-490F-9BD7-566AE47E6512}" type="slidenum">
              <a:rPr lang="zh-CN" altLang="en-US"/>
            </a:fld>
            <a:endParaRPr lang="en-US" altLang="zh-CN"/>
          </a:p>
        </p:txBody>
      </p:sp>
      <p:sp>
        <p:nvSpPr>
          <p:cNvPr id="109571" name="Rectangle 2"/>
          <p:cNvSpPr>
            <a:spLocks noGrp="1" noRot="1" noChangeAspect="1" noChangeArrowheads="1" noTextEdit="1"/>
          </p:cNvSpPr>
          <p:nvPr>
            <p:ph type="sldImg"/>
          </p:nvPr>
        </p:nvSpPr>
        <p:spPr/>
        <p:txBody>
          <a:bodyPr/>
          <a:lstStyle/>
          <a:p>
            <a:endParaRPr lang="en-US"/>
          </a:p>
        </p:txBody>
      </p:sp>
      <p:sp>
        <p:nvSpPr>
          <p:cNvPr id="109572"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E45EE9D-DF0A-4604-9C68-ACCD19897CFC}" type="slidenum">
              <a:rPr lang="zh-CN" altLang="en-US"/>
            </a:fld>
            <a:endParaRPr lang="en-US" altLang="zh-CN"/>
          </a:p>
        </p:txBody>
      </p:sp>
      <p:sp>
        <p:nvSpPr>
          <p:cNvPr id="111619" name="Rectangle 2"/>
          <p:cNvSpPr>
            <a:spLocks noGrp="1" noRot="1" noChangeAspect="1" noChangeArrowheads="1" noTextEdit="1"/>
          </p:cNvSpPr>
          <p:nvPr>
            <p:ph type="sldImg"/>
          </p:nvPr>
        </p:nvSpPr>
        <p:spPr>
          <a:xfrm>
            <a:off x="676275" y="733425"/>
            <a:ext cx="5294313" cy="3667125"/>
          </a:xfrm>
        </p:spPr>
        <p:txBody>
          <a:bodyPr/>
          <a:lstStyle/>
          <a:p>
            <a:endParaRPr lang="en-US"/>
          </a:p>
        </p:txBody>
      </p:sp>
      <p:sp>
        <p:nvSpPr>
          <p:cNvPr id="111620"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ChangeArrowheads="1" noTextEdit="1"/>
          </p:cNvSpPr>
          <p:nvPr>
            <p:ph type="sldImg"/>
          </p:nvPr>
        </p:nvSpPr>
        <p:spPr/>
        <p:txBody>
          <a:bodyPr/>
          <a:lstStyle/>
          <a:p>
            <a:endParaRPr lang="en-US"/>
          </a:p>
        </p:txBody>
      </p:sp>
      <p:sp>
        <p:nvSpPr>
          <p:cNvPr id="128003"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128004"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79DAE5C-228D-422C-AF36-9F5B54365EB0}" type="slidenum">
              <a:rPr lang="zh-CN" altLang="en-US"/>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ChangeArrowheads="1" noTextEdit="1"/>
          </p:cNvSpPr>
          <p:nvPr>
            <p:ph type="sldImg"/>
          </p:nvPr>
        </p:nvSpPr>
        <p:spPr/>
        <p:txBody>
          <a:bodyPr/>
          <a:lstStyle/>
          <a:p>
            <a:endParaRPr lang="en-US"/>
          </a:p>
        </p:txBody>
      </p:sp>
      <p:sp>
        <p:nvSpPr>
          <p:cNvPr id="41987"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41988"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60AB01-89A8-462D-87E5-F05D28F490C7}" type="slidenum">
              <a:rPr lang="zh-CN" altLang="en-US"/>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1521C53-EE7C-4BCF-94FC-73D8EF54E509}" type="slidenum">
              <a:rPr lang="zh-CN" altLang="en-US"/>
            </a:fld>
            <a:endParaRPr lang="en-US" altLang="zh-CN"/>
          </a:p>
        </p:txBody>
      </p:sp>
      <p:sp>
        <p:nvSpPr>
          <p:cNvPr id="134147" name="Rectangle 2"/>
          <p:cNvSpPr>
            <a:spLocks noGrp="1" noRot="1" noChangeAspect="1" noChangeArrowheads="1" noTextEdit="1"/>
          </p:cNvSpPr>
          <p:nvPr>
            <p:ph type="sldImg"/>
          </p:nvPr>
        </p:nvSpPr>
        <p:spPr>
          <a:xfrm>
            <a:off x="676275" y="733425"/>
            <a:ext cx="5292725" cy="3665538"/>
          </a:xfrm>
        </p:spPr>
        <p:txBody>
          <a:bodyPr/>
          <a:lstStyle/>
          <a:p>
            <a:endParaRPr lang="en-US"/>
          </a:p>
        </p:txBody>
      </p:sp>
      <p:sp>
        <p:nvSpPr>
          <p:cNvPr id="134148"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ChangeArrowheads="1" noTextEdit="1"/>
          </p:cNvSpPr>
          <p:nvPr>
            <p:ph type="sldImg"/>
          </p:nvPr>
        </p:nvSpPr>
        <p:spPr/>
        <p:txBody>
          <a:bodyPr/>
          <a:lstStyle/>
          <a:p>
            <a:endParaRPr lang="en-US"/>
          </a:p>
        </p:txBody>
      </p:sp>
      <p:sp>
        <p:nvSpPr>
          <p:cNvPr id="136195"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136196"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E5BBFB9-3197-40C0-896A-249FC0F6840B}" type="slidenum">
              <a:rPr lang="zh-CN" altLang="en-US"/>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ChangeArrowheads="1" noTextEdit="1"/>
          </p:cNvSpPr>
          <p:nvPr>
            <p:ph type="sldImg"/>
          </p:nvPr>
        </p:nvSpPr>
        <p:spPr/>
        <p:txBody>
          <a:bodyPr/>
          <a:lstStyle/>
          <a:p>
            <a:endParaRPr lang="en-US"/>
          </a:p>
        </p:txBody>
      </p:sp>
      <p:sp>
        <p:nvSpPr>
          <p:cNvPr id="138243"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138244"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F6E9D6B-04D7-4533-B00B-CB63B203EA9B}" type="slidenum">
              <a:rPr lang="zh-CN" altLang="en-US"/>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06F6D13-15A3-40AF-A0C5-F3EFF55BB0AF}" type="slidenum">
              <a:rPr lang="zh-CN" altLang="en-US"/>
            </a:fld>
            <a:endParaRPr lang="en-US" altLang="zh-CN"/>
          </a:p>
        </p:txBody>
      </p:sp>
      <p:sp>
        <p:nvSpPr>
          <p:cNvPr id="140291" name="Rectangle 2"/>
          <p:cNvSpPr>
            <a:spLocks noGrp="1" noRot="1" noChangeAspect="1" noChangeArrowheads="1" noTextEdit="1"/>
          </p:cNvSpPr>
          <p:nvPr>
            <p:ph type="sldImg"/>
          </p:nvPr>
        </p:nvSpPr>
        <p:spPr>
          <a:xfrm>
            <a:off x="676275" y="733425"/>
            <a:ext cx="5294313" cy="3667125"/>
          </a:xfrm>
        </p:spPr>
        <p:txBody>
          <a:bodyPr/>
          <a:lstStyle/>
          <a:p>
            <a:endParaRPr lang="en-US"/>
          </a:p>
        </p:txBody>
      </p:sp>
      <p:sp>
        <p:nvSpPr>
          <p:cNvPr id="140292"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EC88B68-BA43-42ED-B231-7AA5B9CE2B41}" type="slidenum">
              <a:rPr lang="zh-CN" altLang="en-US"/>
            </a:fld>
            <a:endParaRPr lang="en-US" altLang="zh-CN"/>
          </a:p>
        </p:txBody>
      </p:sp>
      <p:sp>
        <p:nvSpPr>
          <p:cNvPr id="142339" name="Rectangle 2"/>
          <p:cNvSpPr>
            <a:spLocks noGrp="1" noRot="1" noChangeAspect="1" noChangeArrowheads="1" noTextEdit="1"/>
          </p:cNvSpPr>
          <p:nvPr>
            <p:ph type="sldImg"/>
          </p:nvPr>
        </p:nvSpPr>
        <p:spPr>
          <a:xfrm>
            <a:off x="676275" y="733425"/>
            <a:ext cx="5294313" cy="3667125"/>
          </a:xfrm>
        </p:spPr>
        <p:txBody>
          <a:bodyPr/>
          <a:lstStyle/>
          <a:p>
            <a:endParaRPr lang="en-US"/>
          </a:p>
        </p:txBody>
      </p:sp>
      <p:sp>
        <p:nvSpPr>
          <p:cNvPr id="142340"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4027E6C-5A9B-4DC9-B6ED-5D654F59E1FD}" type="slidenum">
              <a:rPr lang="zh-CN" altLang="en-US"/>
            </a:fld>
            <a:endParaRPr lang="en-US" altLang="zh-CN"/>
          </a:p>
        </p:txBody>
      </p:sp>
      <p:sp>
        <p:nvSpPr>
          <p:cNvPr id="144387" name="Rectangle 2"/>
          <p:cNvSpPr>
            <a:spLocks noGrp="1" noRot="1" noChangeAspect="1" noChangeArrowheads="1" noTextEdit="1"/>
          </p:cNvSpPr>
          <p:nvPr>
            <p:ph type="sldImg"/>
          </p:nvPr>
        </p:nvSpPr>
        <p:spPr>
          <a:xfrm>
            <a:off x="676275" y="733425"/>
            <a:ext cx="5294313" cy="3667125"/>
          </a:xfrm>
        </p:spPr>
        <p:txBody>
          <a:bodyPr/>
          <a:lstStyle/>
          <a:p>
            <a:endParaRPr lang="en-US"/>
          </a:p>
        </p:txBody>
      </p:sp>
      <p:sp>
        <p:nvSpPr>
          <p:cNvPr id="144388"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93FFC4-8B1E-48C7-BB14-13C5F46CE7F2}" type="slidenum">
              <a:rPr lang="zh-CN" altLang="en-US"/>
            </a:fld>
            <a:endParaRPr lang="en-US" altLang="zh-CN"/>
          </a:p>
        </p:txBody>
      </p:sp>
      <p:sp>
        <p:nvSpPr>
          <p:cNvPr id="146435" name="Rectangle 2"/>
          <p:cNvSpPr>
            <a:spLocks noGrp="1" noRot="1" noChangeAspect="1" noChangeArrowheads="1" noTextEdit="1"/>
          </p:cNvSpPr>
          <p:nvPr>
            <p:ph type="sldImg"/>
          </p:nvPr>
        </p:nvSpPr>
        <p:spPr>
          <a:xfrm>
            <a:off x="676275" y="733425"/>
            <a:ext cx="5294313" cy="3667125"/>
          </a:xfrm>
        </p:spPr>
        <p:txBody>
          <a:bodyPr/>
          <a:lstStyle/>
          <a:p>
            <a:endParaRPr lang="en-US"/>
          </a:p>
        </p:txBody>
      </p:sp>
      <p:sp>
        <p:nvSpPr>
          <p:cNvPr id="146436" name="Rectangle 3"/>
          <p:cNvSpPr>
            <a:spLocks noGrp="1" noChangeArrowheads="1"/>
          </p:cNvSpPr>
          <p:nvPr>
            <p:ph type="body" idx="1"/>
          </p:nvPr>
        </p:nvSpPr>
        <p:spPr>
          <a:xfrm>
            <a:off x="663575" y="4643438"/>
            <a:ext cx="5318125" cy="44005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ChangeArrowheads="1" noTextEdit="1"/>
          </p:cNvSpPr>
          <p:nvPr>
            <p:ph type="sldImg"/>
          </p:nvPr>
        </p:nvSpPr>
        <p:spPr/>
        <p:txBody>
          <a:bodyPr/>
          <a:lstStyle/>
          <a:p>
            <a:endParaRPr lang="en-US"/>
          </a:p>
        </p:txBody>
      </p:sp>
      <p:sp>
        <p:nvSpPr>
          <p:cNvPr id="150531"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150532"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41FF4D9-ECD8-49A7-8C1E-2FC7B8F211EC}" type="slidenum">
              <a:rPr lang="en-US" altLang="zh-CN"/>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ChangeArrowheads="1" noTextEdit="1"/>
          </p:cNvSpPr>
          <p:nvPr>
            <p:ph type="sldImg"/>
          </p:nvPr>
        </p:nvSpPr>
        <p:spPr/>
        <p:txBody>
          <a:bodyPr/>
          <a:lstStyle/>
          <a:p>
            <a:endParaRPr lang="en-US"/>
          </a:p>
        </p:txBody>
      </p:sp>
      <p:sp>
        <p:nvSpPr>
          <p:cNvPr id="152579"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152580"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E45E015-4964-4B0E-922A-D6C5795E3FD2}" type="slidenum">
              <a:rPr lang="en-US" altLang="zh-CN"/>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ChangeArrowheads="1" noTextEdit="1"/>
          </p:cNvSpPr>
          <p:nvPr>
            <p:ph type="sldImg"/>
          </p:nvPr>
        </p:nvSpPr>
        <p:spPr/>
        <p:txBody>
          <a:bodyPr/>
          <a:lstStyle/>
          <a:p>
            <a:endParaRPr lang="en-US"/>
          </a:p>
        </p:txBody>
      </p:sp>
      <p:sp>
        <p:nvSpPr>
          <p:cNvPr id="158723" name="Notes Placeholder 2"/>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zh-CN"/>
          </a:p>
        </p:txBody>
      </p:sp>
      <p:sp>
        <p:nvSpPr>
          <p:cNvPr id="158724" name="Slide Number Placeholder 3"/>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A9057F6-B15F-4C09-99B5-8798981FC381}" type="slidenum">
              <a:rPr lang="en-US" altLang="zh-CN"/>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742950" y="2133600"/>
            <a:ext cx="8416925" cy="0"/>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 name="Line 9"/>
          <p:cNvSpPr>
            <a:spLocks noChangeShapeType="1"/>
          </p:cNvSpPr>
          <p:nvPr userDrawn="1"/>
        </p:nvSpPr>
        <p:spPr bwMode="auto">
          <a:xfrm>
            <a:off x="742950" y="3886200"/>
            <a:ext cx="8416925" cy="0"/>
          </a:xfrm>
          <a:prstGeom prst="line">
            <a:avLst/>
          </a:prstGeom>
          <a:noFill/>
          <a:ln w="571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24" name="Rectangle 4"/>
          <p:cNvSpPr>
            <a:spLocks noGrp="1" noChangeArrowheads="1"/>
          </p:cNvSpPr>
          <p:nvPr>
            <p:ph type="ctrTitle"/>
          </p:nvPr>
        </p:nvSpPr>
        <p:spPr>
          <a:xfrm>
            <a:off x="742950" y="2438400"/>
            <a:ext cx="8416925" cy="1143000"/>
          </a:xfrm>
        </p:spPr>
        <p:txBody>
          <a:bodyPr anchor="ctr"/>
          <a:lstStyle>
            <a:lvl1pPr algn="ctr">
              <a:defRPr sz="2800"/>
            </a:lvl1pPr>
          </a:lstStyle>
          <a:p>
            <a:pPr lvl="0"/>
            <a:r>
              <a:rPr lang="en-US" altLang="en-US" noProof="0" dirty="0"/>
              <a:t>Click to edit Master title style</a:t>
            </a:r>
            <a:endParaRPr lang="en-US" altLang="en-US" noProof="0" dirty="0"/>
          </a:p>
        </p:txBody>
      </p:sp>
      <p:sp>
        <p:nvSpPr>
          <p:cNvPr id="5125" name="Rectangle 5"/>
          <p:cNvSpPr>
            <a:spLocks noGrp="1" noChangeArrowheads="1"/>
          </p:cNvSpPr>
          <p:nvPr>
            <p:ph type="subTitle" idx="1" hasCustomPrompt="1"/>
          </p:nvPr>
        </p:nvSpPr>
        <p:spPr>
          <a:xfrm>
            <a:off x="742950" y="5143500"/>
            <a:ext cx="6931025" cy="838200"/>
          </a:xfrm>
        </p:spPr>
        <p:txBody>
          <a:bodyPr anchor="b"/>
          <a:lstStyle>
            <a:lvl1pPr>
              <a:spcBef>
                <a:spcPct val="10000"/>
              </a:spcBef>
              <a:spcAft>
                <a:spcPct val="0"/>
              </a:spcAft>
              <a:defRPr sz="1800"/>
            </a:lvl1pPr>
          </a:lstStyle>
          <a:p>
            <a:pPr lvl="0"/>
            <a:r>
              <a:rPr lang="en-US" altLang="en-US" noProof="0"/>
              <a:t>Click to edit Master subtitle</a:t>
            </a:r>
            <a:endParaRPr lang="en-US" alt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638" y="4406900"/>
            <a:ext cx="8416925"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82638" y="2906713"/>
            <a:ext cx="8416925"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247650" y="1476375"/>
            <a:ext cx="4624388" cy="4619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5024438" y="1476375"/>
            <a:ext cx="4624387" cy="4619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2225"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95300" y="1535113"/>
            <a:ext cx="4375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95300" y="2174875"/>
            <a:ext cx="4375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5030788" y="1535113"/>
            <a:ext cx="43767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30788" y="2174875"/>
            <a:ext cx="43767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7550"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871913" y="273050"/>
            <a:ext cx="55356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95300" y="1435100"/>
            <a:ext cx="325755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513" y="4800600"/>
            <a:ext cx="5940425"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941513" y="612775"/>
            <a:ext cx="594042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513" y="5367338"/>
            <a:ext cx="594042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99325" y="80963"/>
            <a:ext cx="2349500" cy="6015037"/>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247650" y="80963"/>
            <a:ext cx="6899275" cy="6015037"/>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161213" cy="939800"/>
          </a:xfrm>
        </p:spPr>
        <p:txBody>
          <a:bodyPr/>
          <a:lstStyle/>
          <a:p>
            <a:r>
              <a:rPr lang="en-US"/>
              <a:t>Click to edit Master title style</a:t>
            </a:r>
            <a:endParaRPr lang="en-US"/>
          </a:p>
        </p:txBody>
      </p:sp>
      <p:sp>
        <p:nvSpPr>
          <p:cNvPr id="3" name="Content Placeholder 2"/>
          <p:cNvSpPr>
            <a:spLocks noGrp="1"/>
          </p:cNvSpPr>
          <p:nvPr>
            <p:ph sz="half" idx="1"/>
          </p:nvPr>
        </p:nvSpPr>
        <p:spPr>
          <a:xfrm>
            <a:off x="247650" y="1476375"/>
            <a:ext cx="4624388" cy="46196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5024438" y="1476375"/>
            <a:ext cx="4624387"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5024438" y="3862388"/>
            <a:ext cx="4624387"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161213" cy="939800"/>
          </a:xfrm>
        </p:spPr>
        <p:txBody>
          <a:bodyPr/>
          <a:lstStyle/>
          <a:p>
            <a:r>
              <a:rPr lang="en-US"/>
              <a:t>Click to edit Master title style</a:t>
            </a:r>
            <a:endParaRPr lang="en-US"/>
          </a:p>
        </p:txBody>
      </p:sp>
      <p:sp>
        <p:nvSpPr>
          <p:cNvPr id="3" name="Table Placeholder 2"/>
          <p:cNvSpPr>
            <a:spLocks noGrp="1"/>
          </p:cNvSpPr>
          <p:nvPr>
            <p:ph type="tbl" idx="1"/>
          </p:nvPr>
        </p:nvSpPr>
        <p:spPr>
          <a:xfrm>
            <a:off x="247650" y="1476375"/>
            <a:ext cx="9401175" cy="4619625"/>
          </a:xfrm>
        </p:spPr>
        <p:txBody>
          <a:bodyPr/>
          <a:lstStyle/>
          <a:p>
            <a:pPr lvl="0"/>
            <a:endParaRPr lang="en-US" noProof="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47650" y="80963"/>
            <a:ext cx="7161213" cy="939800"/>
          </a:xfrm>
        </p:spPr>
        <p:txBody>
          <a:bodyPr/>
          <a:lstStyle/>
          <a:p>
            <a:r>
              <a:rPr lang="en-US"/>
              <a:t>Click to edit Master title style</a:t>
            </a:r>
            <a:endParaRPr lang="en-US"/>
          </a:p>
        </p:txBody>
      </p:sp>
      <p:sp>
        <p:nvSpPr>
          <p:cNvPr id="3" name="Content Placeholder 2"/>
          <p:cNvSpPr>
            <a:spLocks noGrp="1"/>
          </p:cNvSpPr>
          <p:nvPr>
            <p:ph sz="quarter" idx="1"/>
          </p:nvPr>
        </p:nvSpPr>
        <p:spPr>
          <a:xfrm>
            <a:off x="247650" y="1476375"/>
            <a:ext cx="4624388"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5024438" y="1476375"/>
            <a:ext cx="4624387" cy="223361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247650" y="3862388"/>
            <a:ext cx="4624388"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5024438" y="3862388"/>
            <a:ext cx="4624387" cy="22336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302391" y="981075"/>
            <a:ext cx="9371911" cy="1762126"/>
          </a:xfrm>
        </p:spPr>
        <p:txBody>
          <a:bodyPr/>
          <a:lstStyle>
            <a:lvl1pPr>
              <a:defRPr>
                <a:latin typeface="华文楷体" panose="02010600040101010101" pitchFamily="2" charset="-122"/>
                <a:ea typeface="华文楷体" panose="02010600040101010101" pitchFamily="2" charset="-122"/>
              </a:defRPr>
            </a:lvl1pPr>
            <a:lvl2pPr>
              <a:defRPr>
                <a:latin typeface="华文楷体" panose="02010600040101010101" pitchFamily="2" charset="-122"/>
                <a:ea typeface="华文楷体" panose="02010600040101010101" pitchFamily="2" charset="-122"/>
              </a:defRPr>
            </a:lvl2pPr>
            <a:lvl3pPr>
              <a:defRPr>
                <a:latin typeface="华文楷体" panose="02010600040101010101" pitchFamily="2" charset="-122"/>
                <a:ea typeface="华文楷体" panose="02010600040101010101" pitchFamily="2" charset="-122"/>
              </a:defRPr>
            </a:lvl3pPr>
            <a:lvl4pPr>
              <a:defRPr>
                <a:latin typeface="华文楷体" panose="02010600040101010101" pitchFamily="2" charset="-122"/>
                <a:ea typeface="华文楷体" panose="02010600040101010101" pitchFamily="2" charset="-122"/>
              </a:defRPr>
            </a:lvl4pPr>
            <a:lvl5pPr>
              <a:defRPr>
                <a:latin typeface="华文楷体" panose="02010600040101010101" pitchFamily="2" charset="-122"/>
                <a:ea typeface="华文楷体" panose="02010600040101010101" pitchFamily="2"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Rectangle 5"/>
          <p:cNvSpPr>
            <a:spLocks noGrp="1" noChangeArrowheads="1"/>
          </p:cNvSpPr>
          <p:nvPr>
            <p:ph type="title"/>
          </p:nvPr>
        </p:nvSpPr>
        <p:spPr bwMode="auto">
          <a:xfrm>
            <a:off x="303101" y="236499"/>
            <a:ext cx="8761799" cy="585787"/>
          </a:xfrm>
          <a:prstGeom prst="rect">
            <a:avLst/>
          </a:prstGeom>
          <a:noFill/>
          <a:ln w="9525">
            <a:noFill/>
            <a:miter lim="800000"/>
          </a:ln>
          <a:effectLst/>
        </p:spPr>
        <p:txBody>
          <a:bodyPr/>
          <a:lstStyle>
            <a:lvl1pPr>
              <a:defRPr>
                <a:latin typeface="华文楷体" panose="02010600040101010101" pitchFamily="2" charset="-122"/>
                <a:ea typeface="华文楷体" panose="02010600040101010101" pitchFamily="2" charset="-122"/>
              </a:defRPr>
            </a:lvl1pPr>
          </a:lstStyle>
          <a:p>
            <a:pPr lvl="0"/>
            <a:r>
              <a:rPr lang="zh-CN" altLang="en-US"/>
              <a:t>单击此处编辑母版标题样式</a:t>
            </a:r>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7650" y="80963"/>
            <a:ext cx="7161213" cy="939800"/>
          </a:xfrm>
          <a:prstGeom prst="rect">
            <a:avLst/>
          </a:prstGeom>
          <a:noFill/>
          <a:ln w="9525">
            <a:noFill/>
          </a:ln>
        </p:spPr>
        <p:txBody>
          <a:bodyPr vert="horz" wrap="square" lIns="91440" tIns="45720" rIns="91440" bIns="45720" anchor="ctr" anchorCtr="0"/>
          <a:lstStyle/>
          <a:p>
            <a:pPr marL="0" lvl="0" indent="0" defTabSz="914400" latinLnBrk="0">
              <a:lnSpc>
                <a:spcPct val="90000"/>
              </a:lnSpc>
              <a:spcBef>
                <a:spcPts val="1000"/>
              </a:spcBef>
              <a:buClrTx/>
              <a:buSzTx/>
              <a:buFont typeface="Arial" panose="020B0604020202020204" pitchFamily="34" charset="0"/>
              <a:buNone/>
            </a:pPr>
            <a:r>
              <a:rPr lang="en-US" altLang="en-US" dirty="0"/>
              <a:t>Click to edit Master title style</a:t>
            </a:r>
            <a:endParaRPr lang="en-US" altLang="en-US" dirty="0"/>
          </a:p>
        </p:txBody>
      </p:sp>
      <p:sp>
        <p:nvSpPr>
          <p:cNvPr id="1027" name="Rectangle 3"/>
          <p:cNvSpPr>
            <a:spLocks noGrp="1" noChangeArrowheads="1"/>
          </p:cNvSpPr>
          <p:nvPr>
            <p:ph type="body" idx="1"/>
          </p:nvPr>
        </p:nvSpPr>
        <p:spPr bwMode="auto">
          <a:xfrm>
            <a:off x="247650" y="1476375"/>
            <a:ext cx="9401175"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p:txBody>
      </p:sp>
      <p:sp>
        <p:nvSpPr>
          <p:cNvPr id="1028" name="Rectangle 7"/>
          <p:cNvSpPr>
            <a:spLocks noChangeArrowheads="1"/>
          </p:cNvSpPr>
          <p:nvPr/>
        </p:nvSpPr>
        <p:spPr bwMode="auto">
          <a:xfrm>
            <a:off x="6877050" y="6496050"/>
            <a:ext cx="2778125" cy="285750"/>
          </a:xfrm>
          <a:prstGeom prst="rect">
            <a:avLst/>
          </a:prstGeom>
          <a:noFill/>
          <a:ln>
            <a:noFill/>
          </a:ln>
          <a:effectLst/>
        </p:spPr>
        <p:txBody>
          <a:bodyPr lIns="0" tIns="0" rIns="0" bIns="0" anchor="b"/>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r">
              <a:buClrTx/>
              <a:buFontTx/>
              <a:buNone/>
            </a:pPr>
            <a:r>
              <a:rPr lang="zh-CN" altLang="en-US" sz="1000" dirty="0">
                <a:latin typeface="微软雅黑" panose="020B0503020204020204" pitchFamily="34" charset="-122"/>
                <a:ea typeface="微软雅黑" panose="020B0503020204020204" pitchFamily="34" charset="-122"/>
              </a:rPr>
              <a:t>企业架构培训 </a:t>
            </a:r>
            <a:r>
              <a:rPr lang="en-US" altLang="zh-CN" sz="1000" dirty="0">
                <a:latin typeface="微软雅黑" panose="020B0503020204020204" pitchFamily="34" charset="-122"/>
                <a:ea typeface="微软雅黑" panose="020B0503020204020204" pitchFamily="34" charset="-122"/>
              </a:rPr>
              <a:t>– 2026</a:t>
            </a:r>
            <a:r>
              <a:rPr lang="zh-CN" altLang="en-US" sz="1000" dirty="0">
                <a:latin typeface="微软雅黑" panose="020B0503020204020204" pitchFamily="34" charset="-122"/>
                <a:ea typeface="微软雅黑" panose="020B0503020204020204" pitchFamily="34" charset="-122"/>
              </a:rPr>
              <a:t>年</a:t>
            </a:r>
            <a:r>
              <a:rPr lang="en-US" altLang="zh-CN" sz="1000" dirty="0">
                <a:latin typeface="微软雅黑" panose="020B0503020204020204" pitchFamily="34" charset="-122"/>
                <a:ea typeface="微软雅黑" panose="020B0503020204020204" pitchFamily="34" charset="-122"/>
              </a:rPr>
              <a:t>4</a:t>
            </a:r>
            <a:r>
              <a:rPr lang="zh-CN" altLang="en-US" sz="1000" dirty="0">
                <a:latin typeface="微软雅黑" panose="020B0503020204020204" pitchFamily="34" charset="-122"/>
                <a:ea typeface="微软雅黑" panose="020B0503020204020204" pitchFamily="34" charset="-122"/>
              </a:rPr>
              <a:t>月</a:t>
            </a:r>
            <a:r>
              <a:rPr lang="en-US" altLang="en-US" sz="1000" dirty="0">
                <a:latin typeface="微软雅黑" panose="020B0503020204020204" pitchFamily="34" charset="-122"/>
                <a:ea typeface="微软雅黑" panose="020B0503020204020204" pitchFamily="34" charset="-122"/>
              </a:rPr>
              <a:t>       </a:t>
            </a:r>
            <a:fld id="{F7EC66D7-C41E-4E1A-9E6E-A7C6C5F78646}" type="slidenum">
              <a:rPr lang="en-US" altLang="en-US" sz="1000">
                <a:latin typeface="微软雅黑" panose="020B0503020204020204" pitchFamily="34" charset="-122"/>
                <a:ea typeface="微软雅黑" panose="020B0503020204020204" pitchFamily="34" charset="-122"/>
              </a:rPr>
            </a:fld>
            <a:endParaRPr lang="en-US" altLang="en-US" sz="1000" dirty="0">
              <a:latin typeface="微软雅黑" panose="020B0503020204020204" pitchFamily="34" charset="-122"/>
              <a:ea typeface="微软雅黑" panose="020B0503020204020204" pitchFamily="34" charset="-122"/>
            </a:endParaRPr>
          </a:p>
        </p:txBody>
      </p:sp>
      <p:pic>
        <p:nvPicPr>
          <p:cNvPr id="2" name="图片 5" descr="图层 4 拷贝"/>
          <p:cNvPicPr>
            <a:picLocks noChangeAspect="1"/>
          </p:cNvPicPr>
          <p:nvPr userDrawn="1"/>
        </p:nvPicPr>
        <p:blipFill>
          <a:blip r:embed="rId16"/>
          <a:stretch>
            <a:fillRect/>
          </a:stretch>
        </p:blipFill>
        <p:spPr>
          <a:xfrm>
            <a:off x="8412480" y="360680"/>
            <a:ext cx="1236345" cy="554990"/>
          </a:xfrm>
          <a:prstGeom prst="rect">
            <a:avLst/>
          </a:prstGeom>
        </p:spPr>
      </p:pic>
      <p:sp>
        <p:nvSpPr>
          <p:cNvPr id="3" name="矩形 8"/>
          <p:cNvSpPr/>
          <p:nvPr userDrawn="1"/>
        </p:nvSpPr>
        <p:spPr>
          <a:xfrm>
            <a:off x="0" y="1038225"/>
            <a:ext cx="9902825" cy="76200"/>
          </a:xfrm>
          <a:prstGeom prst="rect">
            <a:avLst/>
          </a:prstGeom>
          <a:gradFill>
            <a:gsLst>
              <a:gs pos="0">
                <a:schemeClr val="accent1">
                  <a:lumMod val="5000"/>
                  <a:lumOff val="95000"/>
                </a:schemeClr>
              </a:gs>
              <a:gs pos="37000">
                <a:srgbClr val="80A4C5">
                  <a:alpha val="100000"/>
                </a:srgbClr>
              </a:gs>
              <a:gs pos="75000">
                <a:srgbClr val="0A4F8D"/>
              </a:gs>
            </a:gsLst>
            <a:lin ang="216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rtl="0" eaLnBrk="0" fontAlgn="base" hangingPunct="0">
        <a:spcBef>
          <a:spcPct val="0"/>
        </a:spcBef>
        <a:spcAft>
          <a:spcPct val="0"/>
        </a:spcAft>
        <a:defRPr lang="en-US" altLang="en-US" sz="2800" b="1" kern="1200" dirty="0">
          <a:solidFill>
            <a:srgbClr val="0A4F8D"/>
          </a:solidFill>
          <a:latin typeface="Impact" panose="020B0806030902050204" charset="0"/>
          <a:ea typeface="微软雅黑" panose="020B0503020204020204" pitchFamily="34" charset="-122"/>
          <a:cs typeface="+mn-cs"/>
        </a:defRPr>
      </a:lvl1pPr>
      <a:lvl2pPr algn="l" rtl="0" eaLnBrk="0" fontAlgn="base" hangingPunct="0">
        <a:spcBef>
          <a:spcPct val="0"/>
        </a:spcBef>
        <a:spcAft>
          <a:spcPct val="0"/>
        </a:spcAft>
        <a:defRPr sz="2400" b="1">
          <a:solidFill>
            <a:schemeClr val="tx2"/>
          </a:solidFill>
          <a:latin typeface="Arial" panose="020B0604020202020204" pitchFamily="34" charset="0"/>
        </a:defRPr>
      </a:lvl2pPr>
      <a:lvl3pPr algn="l" rtl="0" eaLnBrk="0" fontAlgn="base" hangingPunct="0">
        <a:spcBef>
          <a:spcPct val="0"/>
        </a:spcBef>
        <a:spcAft>
          <a:spcPct val="0"/>
        </a:spcAft>
        <a:defRPr sz="2400" b="1">
          <a:solidFill>
            <a:schemeClr val="tx2"/>
          </a:solidFill>
          <a:latin typeface="Arial" panose="020B0604020202020204" pitchFamily="34" charset="0"/>
        </a:defRPr>
      </a:lvl3pPr>
      <a:lvl4pPr algn="l" rtl="0" eaLnBrk="0" fontAlgn="base" hangingPunct="0">
        <a:spcBef>
          <a:spcPct val="0"/>
        </a:spcBef>
        <a:spcAft>
          <a:spcPct val="0"/>
        </a:spcAft>
        <a:defRPr sz="2400" b="1">
          <a:solidFill>
            <a:schemeClr val="tx2"/>
          </a:solidFill>
          <a:latin typeface="Arial" panose="020B0604020202020204" pitchFamily="34" charset="0"/>
        </a:defRPr>
      </a:lvl4pPr>
      <a:lvl5pPr algn="l" rtl="0" eaLnBrk="0" fontAlgn="base" hangingPunct="0">
        <a:spcBef>
          <a:spcPct val="0"/>
        </a:spcBef>
        <a:spcAft>
          <a:spcPct val="0"/>
        </a:spcAft>
        <a:defRPr sz="2400" b="1">
          <a:solidFill>
            <a:schemeClr val="tx2"/>
          </a:solidFill>
          <a:latin typeface="Arial" panose="020B0604020202020204" pitchFamily="34" charset="0"/>
        </a:defRPr>
      </a:lvl5pPr>
      <a:lvl6pPr marL="457200" algn="l" rtl="0" fontAlgn="base">
        <a:spcBef>
          <a:spcPct val="0"/>
        </a:spcBef>
        <a:spcAft>
          <a:spcPct val="0"/>
        </a:spcAft>
        <a:defRPr sz="2400" b="1">
          <a:solidFill>
            <a:schemeClr val="tx2"/>
          </a:solidFill>
          <a:latin typeface="Arial" panose="020B0604020202020204" pitchFamily="34" charset="0"/>
        </a:defRPr>
      </a:lvl6pPr>
      <a:lvl7pPr marL="914400" algn="l" rtl="0" fontAlgn="base">
        <a:spcBef>
          <a:spcPct val="0"/>
        </a:spcBef>
        <a:spcAft>
          <a:spcPct val="0"/>
        </a:spcAft>
        <a:defRPr sz="2400" b="1">
          <a:solidFill>
            <a:schemeClr val="tx2"/>
          </a:solidFill>
          <a:latin typeface="Arial" panose="020B0604020202020204" pitchFamily="34" charset="0"/>
        </a:defRPr>
      </a:lvl7pPr>
      <a:lvl8pPr marL="1371600" algn="l" rtl="0" fontAlgn="base">
        <a:spcBef>
          <a:spcPct val="0"/>
        </a:spcBef>
        <a:spcAft>
          <a:spcPct val="0"/>
        </a:spcAft>
        <a:defRPr sz="2400" b="1">
          <a:solidFill>
            <a:schemeClr val="tx2"/>
          </a:solidFill>
          <a:latin typeface="Arial" panose="020B0604020202020204" pitchFamily="34" charset="0"/>
        </a:defRPr>
      </a:lvl8pPr>
      <a:lvl9pPr marL="1828800" algn="l" rtl="0" fontAlgn="base">
        <a:spcBef>
          <a:spcPct val="0"/>
        </a:spcBef>
        <a:spcAft>
          <a:spcPct val="0"/>
        </a:spcAft>
        <a:defRPr sz="2400" b="1">
          <a:solidFill>
            <a:schemeClr val="tx2"/>
          </a:solidFill>
          <a:latin typeface="Arial" panose="020B0604020202020204" pitchFamily="34" charset="0"/>
        </a:defRPr>
      </a:lvl9pPr>
    </p:titleStyle>
    <p:bodyStyle>
      <a:lvl1pPr marL="342900" indent="-342900" algn="l" rtl="0" eaLnBrk="0" fontAlgn="base" hangingPunct="0">
        <a:spcBef>
          <a:spcPct val="70000"/>
        </a:spcBef>
        <a:spcAft>
          <a:spcPct val="10000"/>
        </a:spcAft>
        <a:buClr>
          <a:schemeClr val="accent1"/>
        </a:buClr>
        <a:buSzPct val="50000"/>
        <a:buFont typeface="Monotype Sorts" pitchFamily="2" charset="2"/>
        <a:defRPr sz="2200" b="1">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0" fontAlgn="base" hangingPunct="0">
        <a:spcBef>
          <a:spcPct val="50000"/>
        </a:spcBef>
        <a:spcAft>
          <a:spcPct val="10000"/>
        </a:spcAft>
        <a:buClr>
          <a:srgbClr val="0070C0"/>
        </a:buClr>
        <a:buSzPct val="75000"/>
        <a:buFont typeface="Wingdings" panose="05000000000000000000" pitchFamily="2" charset="2"/>
        <a:buChar char="l"/>
        <a:defRPr>
          <a:solidFill>
            <a:schemeClr val="tx1"/>
          </a:solidFill>
          <a:latin typeface="微软雅黑" panose="020B0503020204020204" pitchFamily="34" charset="-122"/>
          <a:ea typeface="微软雅黑" panose="020B0503020204020204" pitchFamily="34" charset="-122"/>
        </a:defRPr>
      </a:lvl2pPr>
      <a:lvl3pPr marL="1143000" indent="-228600" algn="l" rtl="0" eaLnBrk="0" fontAlgn="base" hangingPunct="0">
        <a:spcBef>
          <a:spcPct val="50000"/>
        </a:spcBef>
        <a:spcAft>
          <a:spcPct val="10000"/>
        </a:spcAft>
        <a:buClr>
          <a:srgbClr val="0070C0"/>
        </a:buClr>
        <a:buSzPct val="75000"/>
        <a:buChar char="—"/>
        <a:defRPr>
          <a:solidFill>
            <a:schemeClr val="tx1"/>
          </a:solidFill>
          <a:latin typeface="微软雅黑" panose="020B0503020204020204" pitchFamily="34" charset="-122"/>
          <a:ea typeface="微软雅黑" panose="020B0503020204020204" pitchFamily="34" charset="-122"/>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Times New Roman" panose="02020603050405020304" pitchFamily="18" charset="0"/>
        </a:defRPr>
      </a:lvl6pPr>
      <a:lvl7pPr marL="2971800" indent="-228600" algn="l" rtl="0" fontAlgn="base">
        <a:spcBef>
          <a:spcPct val="20000"/>
        </a:spcBef>
        <a:spcAft>
          <a:spcPct val="0"/>
        </a:spcAft>
        <a:buChar char="»"/>
        <a:defRPr sz="2000">
          <a:solidFill>
            <a:schemeClr val="tx1"/>
          </a:solidFill>
          <a:latin typeface="Times New Roman" panose="02020603050405020304" pitchFamily="18" charset="0"/>
        </a:defRPr>
      </a:lvl7pPr>
      <a:lvl8pPr marL="3429000" indent="-228600" algn="l" rtl="0" fontAlgn="base">
        <a:spcBef>
          <a:spcPct val="20000"/>
        </a:spcBef>
        <a:spcAft>
          <a:spcPct val="0"/>
        </a:spcAft>
        <a:buChar char="»"/>
        <a:defRPr sz="2000">
          <a:solidFill>
            <a:schemeClr val="tx1"/>
          </a:solidFill>
          <a:latin typeface="Times New Roman" panose="02020603050405020304" pitchFamily="18" charset="0"/>
        </a:defRPr>
      </a:lvl8pPr>
      <a:lvl9pPr marL="3886200" indent="-228600" algn="l" rtl="0" fontAlgn="base">
        <a:spcBef>
          <a:spcPct val="20000"/>
        </a:spcBef>
        <a:spcAft>
          <a:spcPct val="0"/>
        </a:spcAft>
        <a:buChar char="»"/>
        <a:defRPr sz="2000">
          <a:solidFill>
            <a:schemeClr val="tx1"/>
          </a:solidFill>
          <a:latin typeface="Times New Roman" panose="02020603050405020304"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3" Type="http://schemas.openxmlformats.org/officeDocument/2006/relationships/notesSlide" Target="../notesSlides/notesSlide9.xml"/><Relationship Id="rId22" Type="http://schemas.openxmlformats.org/officeDocument/2006/relationships/slideLayout" Target="../slideLayouts/slideLayout6.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414338" y="3573016"/>
            <a:ext cx="6048375" cy="431800"/>
          </a:xfrm>
          <a:prstGeom prst="rect">
            <a:avLst/>
          </a:prstGeom>
          <a:solidFill>
            <a:schemeClr val="hlink"/>
          </a:solidFill>
          <a:ln w="9525">
            <a:solidFill>
              <a:schemeClr val="tx1"/>
            </a:solidFill>
            <a:miter lim="800000"/>
          </a:ln>
          <a:effectLst>
            <a:outerShdw dist="107763" dir="18900000" algn="ctr" rotWithShape="0">
              <a:schemeClr val="bg2">
                <a:alpha val="50000"/>
              </a:schemeClr>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4451" name="Rectangle 3"/>
          <p:cNvSpPr>
            <a:spLocks noGrp="1" noChangeArrowheads="1"/>
          </p:cNvSpPr>
          <p:nvPr>
            <p:ph type="title"/>
          </p:nvPr>
        </p:nvSpPr>
        <p:spPr>
          <a:xfrm>
            <a:off x="247650" y="325438"/>
            <a:ext cx="5969000" cy="695325"/>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t>内容提纲</a:t>
            </a:r>
            <a:endParaRPr lang="zh-CN" altLang="en-US" dirty="0"/>
          </a:p>
        </p:txBody>
      </p:sp>
      <p:sp>
        <p:nvSpPr>
          <p:cNvPr id="26628" name="Rectangle 4"/>
          <p:cNvSpPr>
            <a:spLocks noGrp="1" noChangeArrowheads="1"/>
          </p:cNvSpPr>
          <p:nvPr>
            <p:ph type="body" idx="1"/>
          </p:nvPr>
        </p:nvSpPr>
        <p:spPr>
          <a:xfrm>
            <a:off x="590550" y="1476375"/>
            <a:ext cx="9058275" cy="4619625"/>
          </a:xfrm>
        </p:spPr>
        <p:txBody>
          <a:bodyPr/>
          <a:lstStyle/>
          <a:p>
            <a:pPr marL="609600" indent="-609600">
              <a:buFontTx/>
              <a:buNone/>
            </a:pPr>
            <a:r>
              <a:rPr lang="zh-CN" altLang="en-US" sz="2000" dirty="0">
                <a:ea typeface="宋体" panose="02010600030101010101" pitchFamily="2" charset="-122"/>
              </a:rPr>
              <a:t> </a:t>
            </a:r>
            <a:endParaRPr lang="zh-CN" altLang="en-US" sz="2000" dirty="0">
              <a:ea typeface="宋体" panose="02010600030101010101" pitchFamily="2" charset="-122"/>
            </a:endParaRPr>
          </a:p>
          <a:p>
            <a:pPr marL="609600" indent="-609600">
              <a:buFontTx/>
              <a:buNone/>
            </a:pPr>
            <a:r>
              <a:rPr lang="zh-CN" altLang="en-US" sz="2000" dirty="0">
                <a:ea typeface="宋体" panose="02010600030101010101" pitchFamily="2" charset="-122"/>
              </a:rPr>
              <a:t> 企业业务架构</a:t>
            </a:r>
            <a:endParaRPr lang="zh-CN" altLang="en-US" sz="2000" dirty="0">
              <a:ea typeface="宋体" panose="02010600030101010101" pitchFamily="2" charset="-122"/>
            </a:endParaRPr>
          </a:p>
          <a:p>
            <a:pPr marL="990600" lvl="1" indent="-533400"/>
            <a:r>
              <a:rPr lang="zh-CN" altLang="en-US" sz="1600" dirty="0">
                <a:ea typeface="宋体" panose="02010600030101010101" pitchFamily="2" charset="-122"/>
              </a:rPr>
              <a:t>业务能力（</a:t>
            </a:r>
            <a:r>
              <a:rPr lang="en-US" altLang="zh-CN" sz="1600" dirty="0">
                <a:ea typeface="宋体" panose="02010600030101010101" pitchFamily="2" charset="-122"/>
              </a:rPr>
              <a:t>CBM</a:t>
            </a:r>
            <a:r>
              <a:rPr lang="zh-CN" altLang="en-US" sz="1600" dirty="0">
                <a:ea typeface="宋体" panose="02010600030101010101" pitchFamily="2" charset="-122"/>
              </a:rPr>
              <a:t>）设计和热点图</a:t>
            </a:r>
            <a:endParaRPr lang="en-US" altLang="zh-CN" sz="1600" dirty="0">
              <a:ea typeface="宋体" panose="02010600030101010101" pitchFamily="2" charset="-122"/>
            </a:endParaRPr>
          </a:p>
          <a:p>
            <a:pPr marL="990600" lvl="1" indent="-533400"/>
            <a:r>
              <a:rPr lang="zh-CN" altLang="en-US" sz="1600" dirty="0">
                <a:ea typeface="宋体" panose="02010600030101010101" pitchFamily="2" charset="-122"/>
              </a:rPr>
              <a:t>业务流程设计和优化</a:t>
            </a:r>
            <a:endParaRPr lang="en-US" altLang="zh-CN" sz="1600" dirty="0">
              <a:ea typeface="宋体" panose="02010600030101010101" pitchFamily="2" charset="-122"/>
            </a:endParaRPr>
          </a:p>
          <a:p>
            <a:pPr marL="990600" lvl="1" indent="-533400"/>
            <a:r>
              <a:rPr lang="zh-CN" altLang="en-US" sz="1600" dirty="0">
                <a:ea typeface="宋体" panose="02010600030101010101" pitchFamily="2" charset="-122"/>
              </a:rPr>
              <a:t>业务能力图设计和总结（</a:t>
            </a:r>
            <a:r>
              <a:rPr lang="en-US" altLang="zh-CN" sz="1600" dirty="0">
                <a:ea typeface="宋体" panose="02010600030101010101" pitchFamily="2" charset="-122"/>
              </a:rPr>
              <a:t>30</a:t>
            </a:r>
            <a:r>
              <a:rPr lang="zh-CN" altLang="en-US" sz="1600" dirty="0">
                <a:ea typeface="宋体" panose="02010600030101010101" pitchFamily="2" charset="-122"/>
              </a:rPr>
              <a:t>分钟）</a:t>
            </a:r>
            <a:endParaRPr lang="zh-CN" altLang="en-US" sz="1600" dirty="0">
              <a:ea typeface="宋体" panose="02010600030101010101" pitchFamily="2" charset="-122"/>
            </a:endParaRPr>
          </a:p>
          <a:p>
            <a:pPr marL="990600" lvl="1" indent="-533400"/>
            <a:r>
              <a:rPr lang="zh-CN" altLang="en-US" sz="1600" dirty="0">
                <a:ea typeface="宋体" panose="02010600030101010101" pitchFamily="2" charset="-122"/>
              </a:rPr>
              <a:t>内外包</a:t>
            </a:r>
            <a:r>
              <a:rPr lang="en-US" altLang="zh-CN" sz="1600" dirty="0">
                <a:ea typeface="宋体" panose="02010600030101010101" pitchFamily="2" charset="-122"/>
              </a:rPr>
              <a:t>/</a:t>
            </a:r>
            <a:r>
              <a:rPr lang="zh-CN" altLang="en-US" sz="1600" dirty="0">
                <a:ea typeface="宋体" panose="02010600030101010101" pitchFamily="2" charset="-122"/>
              </a:rPr>
              <a:t>共享模型设计</a:t>
            </a:r>
            <a:endParaRPr lang="zh-CN" altLang="en-US" sz="1600" dirty="0">
              <a:ea typeface="宋体" panose="02010600030101010101" pitchFamily="2" charset="-122"/>
            </a:endParaRPr>
          </a:p>
          <a:p>
            <a:pPr marL="990600" lvl="1" indent="-533400"/>
            <a:r>
              <a:rPr lang="zh-CN" altLang="en-US" sz="1600" dirty="0">
                <a:ea typeface="宋体" panose="02010600030101010101" pitchFamily="2" charset="-122"/>
              </a:rPr>
              <a:t>集团管控模式，组织架构和绩效设计</a:t>
            </a:r>
            <a:r>
              <a:rPr lang="zh-CN" altLang="en-US" sz="2000" b="1" dirty="0">
                <a:solidFill>
                  <a:srgbClr val="000000"/>
                </a:solidFill>
                <a:ea typeface="宋体" panose="02010600030101010101" pitchFamily="2" charset="-122"/>
              </a:rPr>
              <a:t>  </a:t>
            </a:r>
            <a:endParaRPr lang="zh-CN" altLang="en-US" sz="2000" b="1" dirty="0">
              <a:solidFill>
                <a:srgbClr val="000000"/>
              </a:solidFill>
              <a:ea typeface="宋体" panose="02010600030101010101" pitchFamily="2" charset="-122"/>
            </a:endParaRPr>
          </a:p>
          <a:p>
            <a:pPr marL="457200" lvl="1" indent="0">
              <a:buNone/>
            </a:pPr>
            <a:endParaRPr lang="en-US" altLang="zh-CN" sz="1600" dirty="0">
              <a:ea typeface="宋体" panose="02010600030101010101" pitchFamily="2" charset="-122"/>
            </a:endParaRPr>
          </a:p>
          <a:p>
            <a:pPr marL="990600" lvl="1" indent="-533400">
              <a:buFont typeface="Wingdings" panose="05000000000000000000" pitchFamily="2" charset="2"/>
              <a:buNone/>
            </a:pPr>
            <a:r>
              <a:rPr lang="zh-CN" altLang="en-US" sz="2000" b="1" dirty="0">
                <a:ea typeface="宋体" panose="02010600030101010101" pitchFamily="2" charset="-122"/>
              </a:rPr>
              <a:t>  </a:t>
            </a:r>
            <a:endParaRPr lang="zh-CN" altLang="en-US" sz="2000" b="1" dirty="0">
              <a:ea typeface="宋体" panose="02010600030101010101" pitchFamily="2" charset="-122"/>
            </a:endParaRPr>
          </a:p>
          <a:p>
            <a:pPr marL="609600" indent="-609600">
              <a:buFontTx/>
              <a:buNone/>
            </a:pPr>
            <a:endParaRPr lang="en-US" altLang="zh-CN" sz="2000"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247650" y="80963"/>
            <a:ext cx="8160146" cy="939800"/>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de-DE" dirty="0"/>
              <a:t>从客户接触和作业量两个维度，分析</a:t>
            </a:r>
            <a:r>
              <a:rPr lang="zh-CN" altLang="en-US" dirty="0"/>
              <a:t>业务能力集中</a:t>
            </a:r>
            <a:r>
              <a:rPr lang="en-US" altLang="zh-CN" dirty="0"/>
              <a:t>/</a:t>
            </a:r>
            <a:r>
              <a:rPr lang="zh-CN" altLang="en-US" dirty="0"/>
              <a:t>分散</a:t>
            </a:r>
            <a:endParaRPr lang="de-DE" altLang="zh-CN" dirty="0"/>
          </a:p>
        </p:txBody>
      </p:sp>
      <p:sp>
        <p:nvSpPr>
          <p:cNvPr id="106499" name="AutoShape 4"/>
          <p:cNvSpPr>
            <a:spLocks noChangeArrowheads="1"/>
          </p:cNvSpPr>
          <p:nvPr/>
        </p:nvSpPr>
        <p:spPr bwMode="gray">
          <a:xfrm>
            <a:off x="271463" y="1379538"/>
            <a:ext cx="5688060" cy="4321175"/>
          </a:xfrm>
          <a:prstGeom prst="homePlate">
            <a:avLst>
              <a:gd name="adj" fmla="val 25924"/>
            </a:avLst>
          </a:prstGeom>
          <a:solidFill>
            <a:schemeClr val="accent2">
              <a:alpha val="39999"/>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Char char="§"/>
            </a:pPr>
            <a:endParaRPr lang="zh-CN" altLang="en-US" sz="3200" b="0">
              <a:ea typeface="宋体" panose="02010600030101010101" pitchFamily="2" charset="-122"/>
            </a:endParaRPr>
          </a:p>
        </p:txBody>
      </p:sp>
      <p:sp>
        <p:nvSpPr>
          <p:cNvPr id="106500" name="Rectangle 5"/>
          <p:cNvSpPr>
            <a:spLocks noChangeArrowheads="1"/>
          </p:cNvSpPr>
          <p:nvPr/>
        </p:nvSpPr>
        <p:spPr bwMode="gray">
          <a:xfrm>
            <a:off x="2884488" y="3681413"/>
            <a:ext cx="1714500" cy="1450975"/>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800" tIns="82800" rIns="82800" bIns="82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6501" name="Rectangle 6"/>
          <p:cNvSpPr>
            <a:spLocks noChangeArrowheads="1"/>
          </p:cNvSpPr>
          <p:nvPr/>
        </p:nvSpPr>
        <p:spPr bwMode="gray">
          <a:xfrm>
            <a:off x="917575" y="2178050"/>
            <a:ext cx="1873250" cy="1420813"/>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800" tIns="82800" rIns="82800" bIns="82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6502" name="Rectangle 7"/>
          <p:cNvSpPr>
            <a:spLocks noChangeArrowheads="1"/>
          </p:cNvSpPr>
          <p:nvPr/>
        </p:nvSpPr>
        <p:spPr bwMode="gray">
          <a:xfrm>
            <a:off x="917575" y="3681413"/>
            <a:ext cx="1873250" cy="1450975"/>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800" tIns="82800" rIns="82800" bIns="82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6503" name="Rectangle 8"/>
          <p:cNvSpPr>
            <a:spLocks noChangeArrowheads="1"/>
          </p:cNvSpPr>
          <p:nvPr/>
        </p:nvSpPr>
        <p:spPr bwMode="gray">
          <a:xfrm>
            <a:off x="2884488" y="2178050"/>
            <a:ext cx="1714500" cy="1420813"/>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800" tIns="82800" rIns="82800" bIns="82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6504" name="Line 9"/>
          <p:cNvSpPr>
            <a:spLocks noChangeShapeType="1"/>
          </p:cNvSpPr>
          <p:nvPr/>
        </p:nvSpPr>
        <p:spPr bwMode="gray">
          <a:xfrm>
            <a:off x="555625" y="3638550"/>
            <a:ext cx="4551363" cy="0"/>
          </a:xfrm>
          <a:prstGeom prst="line">
            <a:avLst/>
          </a:prstGeom>
          <a:noFill/>
          <a:ln w="25400">
            <a:solidFill>
              <a:schemeClr val="bg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6505" name="Line 10"/>
          <p:cNvSpPr>
            <a:spLocks noChangeShapeType="1"/>
          </p:cNvSpPr>
          <p:nvPr/>
        </p:nvSpPr>
        <p:spPr bwMode="gray">
          <a:xfrm rot="-5400000">
            <a:off x="1127125" y="3562350"/>
            <a:ext cx="3416300" cy="0"/>
          </a:xfrm>
          <a:prstGeom prst="line">
            <a:avLst/>
          </a:prstGeom>
          <a:noFill/>
          <a:ln w="25400">
            <a:solidFill>
              <a:schemeClr val="bg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6506" name="Text Box 11"/>
          <p:cNvSpPr txBox="1">
            <a:spLocks noChangeArrowheads="1"/>
          </p:cNvSpPr>
          <p:nvPr/>
        </p:nvSpPr>
        <p:spPr bwMode="auto">
          <a:xfrm>
            <a:off x="4762500" y="3226007"/>
            <a:ext cx="1198562" cy="720518"/>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130000"/>
              </a:lnSpc>
              <a:spcBef>
                <a:spcPct val="50000"/>
              </a:spcBef>
              <a:spcAft>
                <a:spcPct val="0"/>
              </a:spcAft>
              <a:buClrTx/>
              <a:buSzPct val="80000"/>
              <a:buFont typeface="Arial" panose="020B0604020202020204" pitchFamily="34" charset="0"/>
              <a:buNone/>
            </a:pPr>
            <a:r>
              <a:rPr lang="zh-CN" altLang="en-GB" sz="1400" b="0" dirty="0">
                <a:latin typeface="黑体" panose="02010609060101010101" pitchFamily="49" charset="-122"/>
                <a:ea typeface="黑体" panose="02010609060101010101" pitchFamily="49" charset="-122"/>
                <a:cs typeface="Arial" panose="020B0604020202020204" pitchFamily="34" charset="0"/>
              </a:rPr>
              <a:t>接触客户</a:t>
            </a:r>
            <a:endParaRPr lang="en-US" altLang="zh-CN" sz="1400" b="0" dirty="0">
              <a:latin typeface="黑体" panose="02010609060101010101" pitchFamily="49" charset="-122"/>
              <a:ea typeface="黑体" panose="02010609060101010101" pitchFamily="49" charset="-122"/>
              <a:cs typeface="Arial" panose="020B0604020202020204" pitchFamily="34" charset="0"/>
            </a:endParaRPr>
          </a:p>
          <a:p>
            <a:pPr algn="ctr" eaLnBrk="1" hangingPunct="1">
              <a:lnSpc>
                <a:spcPct val="130000"/>
              </a:lnSpc>
              <a:spcBef>
                <a:spcPct val="50000"/>
              </a:spcBef>
              <a:spcAft>
                <a:spcPct val="0"/>
              </a:spcAft>
              <a:buClrTx/>
              <a:buSzPct val="80000"/>
              <a:buFont typeface="Arial" panose="020B0604020202020204" pitchFamily="34" charset="0"/>
              <a:buNone/>
            </a:pPr>
            <a:r>
              <a:rPr lang="zh-CN" altLang="en-GB" sz="1400" b="0" dirty="0">
                <a:latin typeface="黑体" panose="02010609060101010101" pitchFamily="49" charset="-122"/>
                <a:ea typeface="黑体" panose="02010609060101010101" pitchFamily="49" charset="-122"/>
                <a:cs typeface="Arial" panose="020B0604020202020204" pitchFamily="34" charset="0"/>
              </a:rPr>
              <a:t>程度</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p:txBody>
      </p:sp>
      <p:sp>
        <p:nvSpPr>
          <p:cNvPr id="106507" name="Text Box 12"/>
          <p:cNvSpPr txBox="1">
            <a:spLocks noChangeArrowheads="1"/>
          </p:cNvSpPr>
          <p:nvPr/>
        </p:nvSpPr>
        <p:spPr bwMode="auto">
          <a:xfrm>
            <a:off x="2917825" y="1809750"/>
            <a:ext cx="352425" cy="3683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130000"/>
              </a:lnSpc>
              <a:spcBef>
                <a:spcPct val="50000"/>
              </a:spcBef>
              <a:spcAft>
                <a:spcPct val="0"/>
              </a:spcAft>
              <a:buClrTx/>
              <a:buSzPct val="80000"/>
              <a:buFont typeface="Arial" panose="020B0604020202020204" pitchFamily="34" charset="0"/>
              <a:buNone/>
            </a:pPr>
            <a:r>
              <a:rPr lang="zh-CN" altLang="en-US" sz="1400" b="0">
                <a:latin typeface="黑体" panose="02010609060101010101" pitchFamily="49" charset="-122"/>
                <a:ea typeface="黑体" panose="02010609060101010101" pitchFamily="49" charset="-122"/>
                <a:cs typeface="Arial" panose="020B0604020202020204" pitchFamily="34" charset="0"/>
              </a:rPr>
              <a:t>高</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06508" name="Text Box 13"/>
          <p:cNvSpPr txBox="1">
            <a:spLocks noChangeArrowheads="1"/>
          </p:cNvSpPr>
          <p:nvPr/>
        </p:nvSpPr>
        <p:spPr bwMode="auto">
          <a:xfrm>
            <a:off x="2776538" y="5132388"/>
            <a:ext cx="354012" cy="3683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130000"/>
              </a:lnSpc>
              <a:spcBef>
                <a:spcPct val="50000"/>
              </a:spcBef>
              <a:spcAft>
                <a:spcPct val="0"/>
              </a:spcAft>
              <a:buClrTx/>
              <a:buSzPct val="80000"/>
              <a:buFont typeface="Arial" panose="020B0604020202020204" pitchFamily="34" charset="0"/>
              <a:buNone/>
            </a:pPr>
            <a:r>
              <a:rPr lang="zh-CN" altLang="en-US" sz="1400" b="0">
                <a:latin typeface="黑体" panose="02010609060101010101" pitchFamily="49" charset="-122"/>
                <a:ea typeface="黑体" panose="02010609060101010101" pitchFamily="49" charset="-122"/>
                <a:cs typeface="Arial" panose="020B0604020202020204" pitchFamily="34" charset="0"/>
              </a:rPr>
              <a:t>低</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06509" name="Text Box 14"/>
          <p:cNvSpPr txBox="1">
            <a:spLocks noChangeArrowheads="1"/>
          </p:cNvSpPr>
          <p:nvPr/>
        </p:nvSpPr>
        <p:spPr bwMode="auto">
          <a:xfrm>
            <a:off x="4683125" y="3578225"/>
            <a:ext cx="352425" cy="3683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130000"/>
              </a:lnSpc>
              <a:spcBef>
                <a:spcPct val="50000"/>
              </a:spcBef>
              <a:spcAft>
                <a:spcPct val="0"/>
              </a:spcAft>
              <a:buClrTx/>
              <a:buSzPct val="80000"/>
              <a:buFont typeface="Arial" panose="020B0604020202020204" pitchFamily="34" charset="0"/>
              <a:buNone/>
            </a:pPr>
            <a:r>
              <a:rPr lang="zh-CN" altLang="en-US" sz="1400" b="0">
                <a:latin typeface="黑体" panose="02010609060101010101" pitchFamily="49" charset="-122"/>
                <a:ea typeface="黑体" panose="02010609060101010101" pitchFamily="49" charset="-122"/>
                <a:cs typeface="Arial" panose="020B0604020202020204" pitchFamily="34" charset="0"/>
              </a:rPr>
              <a:t>高</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06510" name="Text Box 15"/>
          <p:cNvSpPr txBox="1">
            <a:spLocks noChangeArrowheads="1"/>
          </p:cNvSpPr>
          <p:nvPr/>
        </p:nvSpPr>
        <p:spPr bwMode="auto">
          <a:xfrm>
            <a:off x="565150" y="3578225"/>
            <a:ext cx="352425" cy="3683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130000"/>
              </a:lnSpc>
              <a:spcBef>
                <a:spcPct val="50000"/>
              </a:spcBef>
              <a:spcAft>
                <a:spcPct val="0"/>
              </a:spcAft>
              <a:buClrTx/>
              <a:buSzPct val="80000"/>
              <a:buFont typeface="Arial" panose="020B0604020202020204" pitchFamily="34" charset="0"/>
              <a:buNone/>
            </a:pPr>
            <a:r>
              <a:rPr lang="zh-CN" altLang="en-US" sz="1400" b="0">
                <a:latin typeface="黑体" panose="02010609060101010101" pitchFamily="49" charset="-122"/>
                <a:ea typeface="黑体" panose="02010609060101010101" pitchFamily="49" charset="-122"/>
                <a:cs typeface="Arial" panose="020B0604020202020204" pitchFamily="34" charset="0"/>
              </a:rPr>
              <a:t>低</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06511" name="Text Box 16"/>
          <p:cNvSpPr txBox="1">
            <a:spLocks noChangeArrowheads="1"/>
          </p:cNvSpPr>
          <p:nvPr/>
        </p:nvSpPr>
        <p:spPr bwMode="auto">
          <a:xfrm>
            <a:off x="2932113" y="2178050"/>
            <a:ext cx="1751012" cy="13716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作业规模增长迅速</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高度的客户接触要求</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自动化要求高</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标准化的流程</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06512" name="Text Box 17"/>
          <p:cNvSpPr txBox="1">
            <a:spLocks noChangeArrowheads="1"/>
          </p:cNvSpPr>
          <p:nvPr/>
        </p:nvSpPr>
        <p:spPr bwMode="auto">
          <a:xfrm>
            <a:off x="893763" y="2178050"/>
            <a:ext cx="2112962" cy="1477963"/>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作业量大且重复发生</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客户接触要求低</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数据或服务可集中获取</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自动化要求高</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标准化的流程</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06513" name="Text Box 18"/>
          <p:cNvSpPr txBox="1">
            <a:spLocks noChangeArrowheads="1"/>
          </p:cNvSpPr>
          <p:nvPr/>
        </p:nvSpPr>
        <p:spPr bwMode="auto">
          <a:xfrm>
            <a:off x="901700" y="3689350"/>
            <a:ext cx="1871663" cy="1179513"/>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集中的专业化的功能</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作业量规模增长有限</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自动化要求低</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客户接触要求低</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06514" name="Text Box 19"/>
          <p:cNvSpPr txBox="1">
            <a:spLocks noChangeArrowheads="1"/>
          </p:cNvSpPr>
          <p:nvPr/>
        </p:nvSpPr>
        <p:spPr bwMode="auto">
          <a:xfrm>
            <a:off x="2932113" y="3709988"/>
            <a:ext cx="1751012" cy="13716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当地化的专业功能</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作业量规模增长有限</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自动化要求低</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a:latin typeface="黑体" panose="02010609060101010101" pitchFamily="49" charset="-122"/>
                <a:ea typeface="黑体" panose="02010609060101010101" pitchFamily="49" charset="-122"/>
                <a:cs typeface="Arial" panose="020B0604020202020204" pitchFamily="34" charset="0"/>
              </a:rPr>
              <a:t>客户接触要求高</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06515" name="Rectangle 20"/>
          <p:cNvSpPr>
            <a:spLocks noChangeArrowheads="1"/>
          </p:cNvSpPr>
          <p:nvPr/>
        </p:nvSpPr>
        <p:spPr bwMode="gray">
          <a:xfrm>
            <a:off x="703263" y="1916113"/>
            <a:ext cx="198437" cy="177800"/>
          </a:xfrm>
          <a:prstGeom prst="rect">
            <a:avLst/>
          </a:prstGeom>
          <a:solidFill>
            <a:schemeClr val="bg1"/>
          </a:solidFill>
          <a:ln w="9525"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800" rIns="46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de-DE" altLang="zh-CN" sz="900">
                <a:ea typeface="宋体" panose="02010600030101010101" pitchFamily="2" charset="-122"/>
                <a:cs typeface="Arial" panose="020B0604020202020204" pitchFamily="34" charset="0"/>
              </a:rPr>
              <a:t>1</a:t>
            </a:r>
            <a:endParaRPr lang="de-DE" altLang="zh-CN" sz="900">
              <a:ea typeface="宋体" panose="02010600030101010101" pitchFamily="2" charset="-122"/>
              <a:cs typeface="Arial" panose="020B0604020202020204" pitchFamily="34" charset="0"/>
            </a:endParaRPr>
          </a:p>
        </p:txBody>
      </p:sp>
      <p:sp>
        <p:nvSpPr>
          <p:cNvPr id="106516" name="Rectangle 21"/>
          <p:cNvSpPr>
            <a:spLocks noChangeArrowheads="1"/>
          </p:cNvSpPr>
          <p:nvPr/>
        </p:nvSpPr>
        <p:spPr bwMode="gray">
          <a:xfrm>
            <a:off x="4683125" y="1916113"/>
            <a:ext cx="196850" cy="177800"/>
          </a:xfrm>
          <a:prstGeom prst="rect">
            <a:avLst/>
          </a:prstGeom>
          <a:solidFill>
            <a:schemeClr val="bg1"/>
          </a:solidFill>
          <a:ln w="9525"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800" rIns="46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de-DE" altLang="zh-CN" sz="900">
                <a:ea typeface="宋体" panose="02010600030101010101" pitchFamily="2" charset="-122"/>
                <a:cs typeface="Arial" panose="020B0604020202020204" pitchFamily="34" charset="0"/>
              </a:rPr>
              <a:t>2</a:t>
            </a:r>
            <a:endParaRPr lang="de-DE" altLang="zh-CN" sz="900">
              <a:ea typeface="宋体" panose="02010600030101010101" pitchFamily="2" charset="-122"/>
              <a:cs typeface="Arial" panose="020B0604020202020204" pitchFamily="34" charset="0"/>
            </a:endParaRPr>
          </a:p>
        </p:txBody>
      </p:sp>
      <p:sp>
        <p:nvSpPr>
          <p:cNvPr id="106517" name="Rectangle 22"/>
          <p:cNvSpPr>
            <a:spLocks noChangeArrowheads="1"/>
          </p:cNvSpPr>
          <p:nvPr/>
        </p:nvSpPr>
        <p:spPr bwMode="gray">
          <a:xfrm>
            <a:off x="4664075" y="5199063"/>
            <a:ext cx="196850" cy="174625"/>
          </a:xfrm>
          <a:prstGeom prst="rect">
            <a:avLst/>
          </a:prstGeom>
          <a:solidFill>
            <a:schemeClr val="bg1"/>
          </a:solidFill>
          <a:ln w="9525"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800" rIns="46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de-DE" altLang="zh-CN" sz="900">
                <a:ea typeface="宋体" panose="02010600030101010101" pitchFamily="2" charset="-122"/>
                <a:cs typeface="Arial" panose="020B0604020202020204" pitchFamily="34" charset="0"/>
              </a:rPr>
              <a:t>4</a:t>
            </a:r>
            <a:endParaRPr lang="de-DE" altLang="zh-CN" sz="900">
              <a:ea typeface="宋体" panose="02010600030101010101" pitchFamily="2" charset="-122"/>
              <a:cs typeface="Arial" panose="020B0604020202020204" pitchFamily="34" charset="0"/>
            </a:endParaRPr>
          </a:p>
        </p:txBody>
      </p:sp>
      <p:sp>
        <p:nvSpPr>
          <p:cNvPr id="106518" name="Rectangle 23"/>
          <p:cNvSpPr>
            <a:spLocks noChangeArrowheads="1"/>
          </p:cNvSpPr>
          <p:nvPr/>
        </p:nvSpPr>
        <p:spPr bwMode="gray">
          <a:xfrm>
            <a:off x="576263" y="5199063"/>
            <a:ext cx="198437" cy="174625"/>
          </a:xfrm>
          <a:prstGeom prst="rect">
            <a:avLst/>
          </a:prstGeom>
          <a:solidFill>
            <a:schemeClr val="bg1"/>
          </a:solidFill>
          <a:ln w="9525"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800" rIns="46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de-DE" altLang="zh-CN" sz="900">
                <a:ea typeface="宋体" panose="02010600030101010101" pitchFamily="2" charset="-122"/>
                <a:cs typeface="Arial" panose="020B0604020202020204" pitchFamily="34" charset="0"/>
              </a:rPr>
              <a:t>3</a:t>
            </a:r>
            <a:endParaRPr lang="de-DE" altLang="zh-CN" sz="900">
              <a:ea typeface="宋体" panose="02010600030101010101" pitchFamily="2" charset="-122"/>
              <a:cs typeface="Arial" panose="020B0604020202020204" pitchFamily="34" charset="0"/>
            </a:endParaRPr>
          </a:p>
        </p:txBody>
      </p:sp>
      <p:sp>
        <p:nvSpPr>
          <p:cNvPr id="106519" name="Text Box 24"/>
          <p:cNvSpPr txBox="1">
            <a:spLocks noChangeArrowheads="1"/>
          </p:cNvSpPr>
          <p:nvPr/>
        </p:nvSpPr>
        <p:spPr bwMode="auto">
          <a:xfrm>
            <a:off x="2268538" y="1520825"/>
            <a:ext cx="1201737" cy="3683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130000"/>
              </a:lnSpc>
              <a:spcBef>
                <a:spcPct val="50000"/>
              </a:spcBef>
              <a:spcAft>
                <a:spcPct val="0"/>
              </a:spcAft>
              <a:buClrTx/>
              <a:buSzPct val="80000"/>
              <a:buFont typeface="Arial" panose="020B0604020202020204" pitchFamily="34" charset="0"/>
              <a:buNone/>
            </a:pPr>
            <a:r>
              <a:rPr lang="zh-CN" altLang="en-GB" sz="1400" b="0">
                <a:latin typeface="黑体" panose="02010609060101010101" pitchFamily="49" charset="-122"/>
                <a:ea typeface="黑体" panose="02010609060101010101" pitchFamily="49" charset="-122"/>
                <a:cs typeface="Arial" panose="020B0604020202020204" pitchFamily="34" charset="0"/>
              </a:rPr>
              <a:t>作业量</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grpSp>
        <p:nvGrpSpPr>
          <p:cNvPr id="106520" name="Group 25"/>
          <p:cNvGrpSpPr/>
          <p:nvPr/>
        </p:nvGrpSpPr>
        <p:grpSpPr bwMode="auto">
          <a:xfrm>
            <a:off x="5399088" y="1695451"/>
            <a:ext cx="4759325" cy="3678237"/>
            <a:chOff x="3190" y="1431"/>
            <a:chExt cx="2648" cy="2152"/>
          </a:xfrm>
        </p:grpSpPr>
        <p:sp>
          <p:nvSpPr>
            <p:cNvPr id="106521" name="Rectangle 26"/>
            <p:cNvSpPr>
              <a:spLocks noChangeArrowheads="1"/>
            </p:cNvSpPr>
            <p:nvPr/>
          </p:nvSpPr>
          <p:spPr bwMode="gray">
            <a:xfrm>
              <a:off x="4545" y="2582"/>
              <a:ext cx="924" cy="799"/>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800" tIns="82800" rIns="82800" bIns="82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6522" name="Rectangle 27"/>
            <p:cNvSpPr>
              <a:spLocks noChangeArrowheads="1"/>
            </p:cNvSpPr>
            <p:nvPr/>
          </p:nvSpPr>
          <p:spPr bwMode="gray">
            <a:xfrm>
              <a:off x="3566" y="1731"/>
              <a:ext cx="924" cy="799"/>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800" tIns="82800" rIns="82800" bIns="82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6523" name="Rectangle 28"/>
            <p:cNvSpPr>
              <a:spLocks noChangeArrowheads="1"/>
            </p:cNvSpPr>
            <p:nvPr/>
          </p:nvSpPr>
          <p:spPr bwMode="gray">
            <a:xfrm>
              <a:off x="3566" y="2582"/>
              <a:ext cx="924" cy="799"/>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800" tIns="82800" rIns="82800" bIns="82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6524" name="Rectangle 29"/>
            <p:cNvSpPr>
              <a:spLocks noChangeArrowheads="1"/>
            </p:cNvSpPr>
            <p:nvPr/>
          </p:nvSpPr>
          <p:spPr bwMode="gray">
            <a:xfrm>
              <a:off x="4545" y="1731"/>
              <a:ext cx="924" cy="799"/>
            </a:xfrm>
            <a:prstGeom prst="rect">
              <a:avLst/>
            </a:prstGeom>
            <a:noFill/>
            <a:ln w="9525" algn="ctr">
              <a:solidFill>
                <a:schemeClr val="tx1"/>
              </a:solidFill>
              <a:miter lim="800000"/>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800" tIns="82800" rIns="82800" bIns="82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06525" name="Line 30"/>
            <p:cNvSpPr>
              <a:spLocks noChangeShapeType="1"/>
            </p:cNvSpPr>
            <p:nvPr/>
          </p:nvSpPr>
          <p:spPr bwMode="gray">
            <a:xfrm>
              <a:off x="3190" y="2555"/>
              <a:ext cx="2648" cy="0"/>
            </a:xfrm>
            <a:prstGeom prst="line">
              <a:avLst/>
            </a:prstGeom>
            <a:noFill/>
            <a:ln w="25400">
              <a:solidFill>
                <a:schemeClr val="bg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6526" name="Line 31"/>
            <p:cNvSpPr>
              <a:spLocks noChangeShapeType="1"/>
            </p:cNvSpPr>
            <p:nvPr/>
          </p:nvSpPr>
          <p:spPr bwMode="gray">
            <a:xfrm rot="-5400000">
              <a:off x="3440" y="2507"/>
              <a:ext cx="2152" cy="0"/>
            </a:xfrm>
            <a:prstGeom prst="line">
              <a:avLst/>
            </a:prstGeom>
            <a:noFill/>
            <a:ln w="25400">
              <a:solidFill>
                <a:schemeClr val="bg2"/>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06527" name="Text Box 32"/>
            <p:cNvSpPr txBox="1">
              <a:spLocks noChangeArrowheads="1"/>
            </p:cNvSpPr>
            <p:nvPr/>
          </p:nvSpPr>
          <p:spPr bwMode="auto">
            <a:xfrm>
              <a:off x="4573" y="1868"/>
              <a:ext cx="917" cy="571"/>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dirty="0">
                  <a:highlight>
                    <a:srgbClr val="FFFF00"/>
                  </a:highlight>
                  <a:latin typeface="黑体" panose="02010609060101010101" pitchFamily="49" charset="-122"/>
                  <a:ea typeface="黑体" panose="02010609060101010101" pitchFamily="49" charset="-122"/>
                  <a:cs typeface="Arial" panose="020B0604020202020204" pitchFamily="34" charset="0"/>
                </a:rPr>
                <a:t>分散</a:t>
              </a:r>
              <a:r>
                <a:rPr lang="zh-CN" altLang="en-US" sz="1400" b="0" dirty="0">
                  <a:latin typeface="黑体" panose="02010609060101010101" pitchFamily="49" charset="-122"/>
                  <a:ea typeface="黑体" panose="02010609060101010101" pitchFamily="49" charset="-122"/>
                  <a:cs typeface="Arial" panose="020B0604020202020204" pitchFamily="34" charset="0"/>
                </a:rPr>
                <a:t>处理和自动化，数字化辅助</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dirty="0">
                  <a:latin typeface="黑体" panose="02010609060101010101" pitchFamily="49" charset="-122"/>
                  <a:ea typeface="黑体" panose="02010609060101010101" pitchFamily="49" charset="-122"/>
                  <a:cs typeface="Arial" panose="020B0604020202020204" pitchFamily="34" charset="0"/>
                </a:rPr>
                <a:t>比如：销售支持系统、客服机器人</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p:txBody>
        </p:sp>
        <p:sp>
          <p:nvSpPr>
            <p:cNvPr id="106528" name="Text Box 33"/>
            <p:cNvSpPr txBox="1">
              <a:spLocks noChangeArrowheads="1"/>
            </p:cNvSpPr>
            <p:nvPr/>
          </p:nvSpPr>
          <p:spPr bwMode="auto">
            <a:xfrm>
              <a:off x="3588" y="1856"/>
              <a:ext cx="947" cy="571"/>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dirty="0">
                  <a:highlight>
                    <a:srgbClr val="FFFF00"/>
                  </a:highlight>
                  <a:latin typeface="黑体" panose="02010609060101010101" pitchFamily="49" charset="-122"/>
                  <a:ea typeface="黑体" panose="02010609060101010101" pitchFamily="49" charset="-122"/>
                  <a:cs typeface="Arial" panose="020B0604020202020204" pitchFamily="34" charset="0"/>
                </a:rPr>
                <a:t>集中</a:t>
              </a:r>
              <a:r>
                <a:rPr lang="zh-CN" altLang="en-US" sz="1400" b="0" dirty="0">
                  <a:latin typeface="黑体" panose="02010609060101010101" pitchFamily="49" charset="-122"/>
                  <a:ea typeface="黑体" panose="02010609060101010101" pitchFamily="49" charset="-122"/>
                  <a:cs typeface="Arial" panose="020B0604020202020204" pitchFamily="34" charset="0"/>
                </a:rPr>
                <a:t>和自动化。</a:t>
              </a:r>
              <a:r>
                <a:rPr lang="en-US" altLang="zh-CN" sz="1400" b="0" dirty="0">
                  <a:latin typeface="黑体" panose="02010609060101010101" pitchFamily="49" charset="-122"/>
                  <a:ea typeface="黑体" panose="02010609060101010101" pitchFamily="49" charset="-122"/>
                  <a:cs typeface="Arial" panose="020B0604020202020204" pitchFamily="34" charset="0"/>
                </a:rPr>
                <a:t>AI</a:t>
              </a:r>
              <a:r>
                <a:rPr lang="zh-CN" altLang="en-US" sz="1400" b="0" dirty="0">
                  <a:latin typeface="黑体" panose="02010609060101010101" pitchFamily="49" charset="-122"/>
                  <a:ea typeface="黑体" panose="02010609060101010101" pitchFamily="49" charset="-122"/>
                  <a:cs typeface="Arial" panose="020B0604020202020204" pitchFamily="34" charset="0"/>
                </a:rPr>
                <a:t>技术</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dirty="0">
                  <a:latin typeface="黑体" panose="02010609060101010101" pitchFamily="49" charset="-122"/>
                  <a:ea typeface="黑体" panose="02010609060101010101" pitchFamily="49" charset="-122"/>
                  <a:cs typeface="Arial" panose="020B0604020202020204" pitchFamily="34" charset="0"/>
                </a:rPr>
                <a:t>比如</a:t>
              </a:r>
              <a:r>
                <a:rPr lang="en-US" altLang="zh-CN" sz="1400" b="0" dirty="0">
                  <a:latin typeface="黑体" panose="02010609060101010101" pitchFamily="49" charset="-122"/>
                  <a:ea typeface="黑体" panose="02010609060101010101" pitchFamily="49" charset="-122"/>
                  <a:cs typeface="Arial" panose="020B0604020202020204" pitchFamily="34" charset="0"/>
                </a:rPr>
                <a:t>:</a:t>
              </a:r>
              <a:r>
                <a:rPr lang="zh-CN" altLang="en-US" sz="1400" b="0" dirty="0">
                  <a:latin typeface="黑体" panose="02010609060101010101" pitchFamily="49" charset="-122"/>
                  <a:ea typeface="黑体" panose="02010609060101010101" pitchFamily="49" charset="-122"/>
                  <a:cs typeface="Arial" panose="020B0604020202020204" pitchFamily="34" charset="0"/>
                </a:rPr>
                <a:t>文字图像处理，交易处理</a:t>
              </a:r>
              <a:endParaRPr lang="en-US" altLang="zh-CN" sz="1400" b="0" dirty="0">
                <a:latin typeface="黑体" panose="02010609060101010101" pitchFamily="49" charset="-122"/>
                <a:ea typeface="黑体" panose="02010609060101010101" pitchFamily="49" charset="-122"/>
                <a:cs typeface="Arial" panose="020B0604020202020204" pitchFamily="34" charset="0"/>
              </a:endParaRPr>
            </a:p>
          </p:txBody>
        </p:sp>
        <p:sp>
          <p:nvSpPr>
            <p:cNvPr id="106529" name="Text Box 34"/>
            <p:cNvSpPr txBox="1">
              <a:spLocks noChangeArrowheads="1"/>
            </p:cNvSpPr>
            <p:nvPr/>
          </p:nvSpPr>
          <p:spPr bwMode="auto">
            <a:xfrm>
              <a:off x="3594" y="2715"/>
              <a:ext cx="886" cy="571"/>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dirty="0">
                  <a:highlight>
                    <a:srgbClr val="FFFF00"/>
                  </a:highlight>
                  <a:latin typeface="黑体" panose="02010609060101010101" pitchFamily="49" charset="-122"/>
                  <a:ea typeface="黑体" panose="02010609060101010101" pitchFamily="49" charset="-122"/>
                  <a:cs typeface="Arial" panose="020B0604020202020204" pitchFamily="34" charset="0"/>
                </a:rPr>
                <a:t>集中</a:t>
              </a:r>
              <a:r>
                <a:rPr lang="zh-CN" altLang="en-US" sz="1400" b="0" dirty="0">
                  <a:latin typeface="黑体" panose="02010609060101010101" pitchFamily="49" charset="-122"/>
                  <a:ea typeface="黑体" panose="02010609060101010101" pitchFamily="49" charset="-122"/>
                  <a:cs typeface="Arial" panose="020B0604020202020204" pitchFamily="34" charset="0"/>
                </a:rPr>
                <a:t>和专业化</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dirty="0">
                  <a:latin typeface="黑体" panose="02010609060101010101" pitchFamily="49" charset="-122"/>
                  <a:ea typeface="黑体" panose="02010609060101010101" pitchFamily="49" charset="-122"/>
                  <a:cs typeface="Arial" panose="020B0604020202020204" pitchFamily="34" charset="0"/>
                </a:rPr>
                <a:t>比如：品牌管理，市场营销活动，高科技研发</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p:txBody>
        </p:sp>
        <p:sp>
          <p:nvSpPr>
            <p:cNvPr id="106530" name="Text Box 35"/>
            <p:cNvSpPr txBox="1">
              <a:spLocks noChangeArrowheads="1"/>
            </p:cNvSpPr>
            <p:nvPr/>
          </p:nvSpPr>
          <p:spPr bwMode="auto">
            <a:xfrm>
              <a:off x="4573" y="2706"/>
              <a:ext cx="969" cy="457"/>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dirty="0">
                  <a:highlight>
                    <a:srgbClr val="FFFF00"/>
                  </a:highlight>
                  <a:latin typeface="黑体" panose="02010609060101010101" pitchFamily="49" charset="-122"/>
                  <a:ea typeface="黑体" panose="02010609060101010101" pitchFamily="49" charset="-122"/>
                  <a:cs typeface="Arial" panose="020B0604020202020204" pitchFamily="34" charset="0"/>
                </a:rPr>
                <a:t>分散</a:t>
              </a:r>
              <a:r>
                <a:rPr lang="zh-CN" altLang="en-US" sz="1400" b="0" dirty="0">
                  <a:latin typeface="黑体" panose="02010609060101010101" pitchFamily="49" charset="-122"/>
                  <a:ea typeface="黑体" panose="02010609060101010101" pitchFamily="49" charset="-122"/>
                  <a:cs typeface="Arial" panose="020B0604020202020204" pitchFamily="34" charset="0"/>
                </a:rPr>
                <a:t>处理和专业化</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a:p>
              <a:pPr eaLnBrk="1" hangingPunct="1">
                <a:lnSpc>
                  <a:spcPct val="90000"/>
                </a:lnSpc>
                <a:spcBef>
                  <a:spcPct val="50000"/>
                </a:spcBef>
                <a:spcAft>
                  <a:spcPct val="0"/>
                </a:spcAft>
                <a:buClrTx/>
                <a:buSzPct val="80000"/>
                <a:buFont typeface="Arial" panose="020B0604020202020204" pitchFamily="34" charset="0"/>
                <a:buChar char="•"/>
              </a:pPr>
              <a:r>
                <a:rPr lang="zh-CN" altLang="en-US" sz="1400" b="0" dirty="0">
                  <a:latin typeface="黑体" panose="02010609060101010101" pitchFamily="49" charset="-122"/>
                  <a:ea typeface="黑体" panose="02010609060101010101" pitchFamily="49" charset="-122"/>
                  <a:cs typeface="Arial" panose="020B0604020202020204" pitchFamily="34" charset="0"/>
                </a:rPr>
                <a:t>比如：客户谈判、催收</a:t>
              </a:r>
              <a:endParaRPr lang="en-US" altLang="zh-CN" sz="1400" b="0" dirty="0">
                <a:latin typeface="黑体" panose="02010609060101010101" pitchFamily="49" charset="-122"/>
                <a:ea typeface="黑体" panose="02010609060101010101" pitchFamily="49" charset="-122"/>
                <a:cs typeface="Arial" panose="020B0604020202020204" pitchFamily="34" charset="0"/>
              </a:endParaRPr>
            </a:p>
          </p:txBody>
        </p:sp>
        <p:sp>
          <p:nvSpPr>
            <p:cNvPr id="106531" name="Rectangle 36"/>
            <p:cNvSpPr>
              <a:spLocks noChangeArrowheads="1"/>
            </p:cNvSpPr>
            <p:nvPr/>
          </p:nvSpPr>
          <p:spPr bwMode="gray">
            <a:xfrm>
              <a:off x="3569" y="1735"/>
              <a:ext cx="115" cy="112"/>
            </a:xfrm>
            <a:prstGeom prst="rect">
              <a:avLst/>
            </a:prstGeom>
            <a:solidFill>
              <a:schemeClr val="bg1"/>
            </a:solidFill>
            <a:ln w="9525"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800" rIns="46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de-DE" altLang="zh-CN" sz="900">
                  <a:ea typeface="宋体" panose="02010600030101010101" pitchFamily="2" charset="-122"/>
                  <a:cs typeface="Arial" panose="020B0604020202020204" pitchFamily="34" charset="0"/>
                </a:rPr>
                <a:t>1</a:t>
              </a:r>
              <a:endParaRPr lang="de-DE" altLang="zh-CN" sz="900">
                <a:ea typeface="宋体" panose="02010600030101010101" pitchFamily="2" charset="-122"/>
                <a:cs typeface="Arial" panose="020B0604020202020204" pitchFamily="34" charset="0"/>
              </a:endParaRPr>
            </a:p>
          </p:txBody>
        </p:sp>
        <p:sp>
          <p:nvSpPr>
            <p:cNvPr id="106532" name="Rectangle 37"/>
            <p:cNvSpPr>
              <a:spLocks noChangeArrowheads="1"/>
            </p:cNvSpPr>
            <p:nvPr/>
          </p:nvSpPr>
          <p:spPr bwMode="gray">
            <a:xfrm>
              <a:off x="4552" y="1735"/>
              <a:ext cx="115" cy="112"/>
            </a:xfrm>
            <a:prstGeom prst="rect">
              <a:avLst/>
            </a:prstGeom>
            <a:solidFill>
              <a:schemeClr val="bg1"/>
            </a:solidFill>
            <a:ln w="9525"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800" rIns="46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de-DE" altLang="zh-CN" sz="900">
                  <a:ea typeface="宋体" panose="02010600030101010101" pitchFamily="2" charset="-122"/>
                  <a:cs typeface="Arial" panose="020B0604020202020204" pitchFamily="34" charset="0"/>
                </a:rPr>
                <a:t>2</a:t>
              </a:r>
              <a:endParaRPr lang="de-DE" altLang="zh-CN" sz="900">
                <a:ea typeface="宋体" panose="02010600030101010101" pitchFamily="2" charset="-122"/>
                <a:cs typeface="Arial" panose="020B0604020202020204" pitchFamily="34" charset="0"/>
              </a:endParaRPr>
            </a:p>
          </p:txBody>
        </p:sp>
        <p:sp>
          <p:nvSpPr>
            <p:cNvPr id="106533" name="Rectangle 38"/>
            <p:cNvSpPr>
              <a:spLocks noChangeArrowheads="1"/>
            </p:cNvSpPr>
            <p:nvPr/>
          </p:nvSpPr>
          <p:spPr bwMode="gray">
            <a:xfrm>
              <a:off x="4552" y="2587"/>
              <a:ext cx="115" cy="110"/>
            </a:xfrm>
            <a:prstGeom prst="rect">
              <a:avLst/>
            </a:prstGeom>
            <a:solidFill>
              <a:schemeClr val="bg1"/>
            </a:solidFill>
            <a:ln w="9525"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800" rIns="46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de-DE" altLang="zh-CN" sz="900">
                  <a:ea typeface="宋体" panose="02010600030101010101" pitchFamily="2" charset="-122"/>
                  <a:cs typeface="Arial" panose="020B0604020202020204" pitchFamily="34" charset="0"/>
                </a:rPr>
                <a:t>4</a:t>
              </a:r>
              <a:endParaRPr lang="de-DE" altLang="zh-CN" sz="900">
                <a:ea typeface="宋体" panose="02010600030101010101" pitchFamily="2" charset="-122"/>
                <a:cs typeface="Arial" panose="020B0604020202020204" pitchFamily="34" charset="0"/>
              </a:endParaRPr>
            </a:p>
          </p:txBody>
        </p:sp>
        <p:sp>
          <p:nvSpPr>
            <p:cNvPr id="106534" name="Rectangle 39"/>
            <p:cNvSpPr>
              <a:spLocks noChangeArrowheads="1"/>
            </p:cNvSpPr>
            <p:nvPr/>
          </p:nvSpPr>
          <p:spPr bwMode="gray">
            <a:xfrm>
              <a:off x="3570" y="2587"/>
              <a:ext cx="115" cy="110"/>
            </a:xfrm>
            <a:prstGeom prst="rect">
              <a:avLst/>
            </a:prstGeom>
            <a:solidFill>
              <a:schemeClr val="bg1"/>
            </a:solidFill>
            <a:ln w="9525" algn="ctr">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800" rIns="4680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de-DE" altLang="zh-CN" sz="900">
                  <a:ea typeface="宋体" panose="02010600030101010101" pitchFamily="2" charset="-122"/>
                  <a:cs typeface="Arial" panose="020B0604020202020204" pitchFamily="34" charset="0"/>
                </a:rPr>
                <a:t>3</a:t>
              </a:r>
              <a:endParaRPr lang="de-DE" altLang="zh-CN" sz="900">
                <a:ea typeface="宋体" panose="02010600030101010101" pitchFamily="2" charset="-122"/>
                <a:cs typeface="Arial" panose="020B0604020202020204" pitchFamily="34" charset="0"/>
              </a:endParaRPr>
            </a:p>
          </p:txBody>
        </p:sp>
      </p:grpSp>
    </p:spTree>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247650" y="80963"/>
            <a:ext cx="7944122" cy="9398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t>根据专业化和竞争力水平决定业务能力的内外</a:t>
            </a:r>
            <a:r>
              <a:rPr lang="en-US" altLang="zh-CN" dirty="0"/>
              <a:t>/</a:t>
            </a:r>
            <a:r>
              <a:rPr lang="zh-CN" altLang="en-US" dirty="0"/>
              <a:t>外包的方式 </a:t>
            </a:r>
            <a:endParaRPr lang="zh-CN" altLang="en-US" dirty="0"/>
          </a:p>
        </p:txBody>
      </p:sp>
      <p:pic>
        <p:nvPicPr>
          <p:cNvPr id="108547" name="Picture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512887" y="2406650"/>
            <a:ext cx="6831013" cy="40782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8548" name="Text Box 4"/>
          <p:cNvSpPr txBox="1">
            <a:spLocks noChangeArrowheads="1"/>
          </p:cNvSpPr>
          <p:nvPr/>
        </p:nvSpPr>
        <p:spPr bwMode="auto">
          <a:xfrm>
            <a:off x="438497" y="1052736"/>
            <a:ext cx="8961438" cy="14773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folHlink"/>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r>
              <a:rPr lang="zh-CN" altLang="en-US" sz="1800" b="0" dirty="0">
                <a:latin typeface="微软雅黑" panose="020B0503020204020204" pitchFamily="34" charset="-122"/>
                <a:ea typeface="微软雅黑" panose="020B0503020204020204" pitchFamily="34" charset="-122"/>
              </a:rPr>
              <a:t>对于业务能力分析哪些属于核心竞争力，需要企业自己负责；那些是外部合作伙伴能够提供的，可以外包</a:t>
            </a:r>
            <a:endParaRPr lang="en-US" altLang="zh-CN" sz="1800" b="0" dirty="0">
              <a:latin typeface="微软雅黑" panose="020B0503020204020204" pitchFamily="34" charset="-122"/>
              <a:ea typeface="微软雅黑" panose="020B0503020204020204" pitchFamily="34" charset="-122"/>
            </a:endParaRPr>
          </a:p>
          <a:p>
            <a:pPr eaLnBrk="1" hangingPunct="1">
              <a:spcBef>
                <a:spcPct val="0"/>
              </a:spcBef>
              <a:spcAft>
                <a:spcPct val="0"/>
              </a:spcAft>
              <a:buSzTx/>
              <a:buFont typeface="Wingdings" panose="05000000000000000000" pitchFamily="2" charset="2"/>
              <a:buChar char="§"/>
            </a:pPr>
            <a:r>
              <a:rPr lang="zh-CN" altLang="en-US" sz="1800" b="0" dirty="0">
                <a:latin typeface="微软雅黑" panose="020B0503020204020204" pitchFamily="34" charset="-122"/>
                <a:ea typeface="微软雅黑" panose="020B0503020204020204" pitchFamily="34" charset="-122"/>
              </a:rPr>
              <a:t>数字化组织和能力是企业核心竞争力，需要自己培育和建设；但编程服务，系统实施，维护支持等属于非核心能力，可以外包</a:t>
            </a:r>
            <a:endParaRPr lang="en-US" altLang="zh-CN" sz="1800" b="0" dirty="0">
              <a:latin typeface="微软雅黑" panose="020B0503020204020204" pitchFamily="34" charset="-122"/>
              <a:ea typeface="微软雅黑" panose="020B0503020204020204" pitchFamily="34" charset="-122"/>
            </a:endParaRPr>
          </a:p>
          <a:p>
            <a:pPr eaLnBrk="1" hangingPunct="1">
              <a:spcBef>
                <a:spcPct val="0"/>
              </a:spcBef>
              <a:spcAft>
                <a:spcPct val="0"/>
              </a:spcAft>
              <a:buSzTx/>
              <a:buFont typeface="Wingdings" panose="05000000000000000000" pitchFamily="2" charset="2"/>
              <a:buChar char="§"/>
            </a:pPr>
            <a:r>
              <a:rPr lang="zh-CN" altLang="en-US" sz="1800" b="0" dirty="0">
                <a:latin typeface="微软雅黑" panose="020B0503020204020204" pitchFamily="34" charset="-122"/>
                <a:ea typeface="微软雅黑" panose="020B0503020204020204" pitchFamily="34" charset="-122"/>
              </a:rPr>
              <a:t>通过</a:t>
            </a:r>
            <a:r>
              <a:rPr lang="en-US" altLang="zh-CN" sz="1800" b="0" dirty="0">
                <a:latin typeface="微软雅黑" panose="020B0503020204020204" pitchFamily="34" charset="-122"/>
                <a:ea typeface="微软雅黑" panose="020B0503020204020204" pitchFamily="34" charset="-122"/>
              </a:rPr>
              <a:t>API</a:t>
            </a:r>
            <a:r>
              <a:rPr lang="zh-CN" altLang="en-US" sz="1800" b="0" dirty="0">
                <a:latin typeface="微软雅黑" panose="020B0503020204020204" pitchFamily="34" charset="-122"/>
                <a:ea typeface="微软雅黑" panose="020B0503020204020204" pitchFamily="34" charset="-122"/>
              </a:rPr>
              <a:t>平台建立行业生态体系，与合作伙伴在系统、流程自动化集成</a:t>
            </a:r>
            <a:endParaRPr lang="zh-CN" altLang="en-US" sz="1800" b="0" dirty="0">
              <a:latin typeface="微软雅黑" panose="020B0503020204020204" pitchFamily="34" charset="-122"/>
              <a:ea typeface="微软雅黑" panose="020B0503020204020204" pitchFamily="34" charset="-122"/>
            </a:endParaRPr>
          </a:p>
        </p:txBody>
      </p:sp>
      <p:sp>
        <p:nvSpPr>
          <p:cNvPr id="6" name="TextBox 5"/>
          <p:cNvSpPr txBox="1"/>
          <p:nvPr/>
        </p:nvSpPr>
        <p:spPr>
          <a:xfrm>
            <a:off x="317479" y="4869160"/>
            <a:ext cx="684803" cy="830997"/>
          </a:xfrm>
          <a:prstGeom prst="rect">
            <a:avLst/>
          </a:prstGeom>
          <a:noFill/>
        </p:spPr>
        <p:txBody>
          <a:bodyPr wrap="none" rtlCol="0">
            <a:spAutoFit/>
          </a:bodyPr>
          <a:lstStyle/>
          <a:p>
            <a:r>
              <a:rPr lang="en-US" altLang="zh-CN" sz="1600" dirty="0"/>
              <a:t>SaaS</a:t>
            </a:r>
            <a:endParaRPr lang="en-US" altLang="zh-CN" sz="1600" dirty="0"/>
          </a:p>
          <a:p>
            <a:r>
              <a:rPr lang="zh-CN" altLang="en-US" sz="1600" dirty="0"/>
              <a:t>系统</a:t>
            </a:r>
            <a:endParaRPr lang="en-US" altLang="zh-CN" sz="1600" dirty="0"/>
          </a:p>
          <a:p>
            <a:r>
              <a:rPr lang="zh-CN" altLang="en-US" sz="1600" dirty="0"/>
              <a:t>服务</a:t>
            </a:r>
            <a:endParaRPr lang="en-GB" sz="1600" dirty="0"/>
          </a:p>
        </p:txBody>
      </p:sp>
      <p:sp>
        <p:nvSpPr>
          <p:cNvPr id="7" name="TextBox 6"/>
          <p:cNvSpPr txBox="1"/>
          <p:nvPr/>
        </p:nvSpPr>
        <p:spPr>
          <a:xfrm>
            <a:off x="314781" y="3192987"/>
            <a:ext cx="595035" cy="830997"/>
          </a:xfrm>
          <a:prstGeom prst="rect">
            <a:avLst/>
          </a:prstGeom>
          <a:noFill/>
        </p:spPr>
        <p:txBody>
          <a:bodyPr wrap="none" rtlCol="0">
            <a:spAutoFit/>
          </a:bodyPr>
          <a:lstStyle/>
          <a:p>
            <a:r>
              <a:rPr lang="zh-CN" altLang="en-US" sz="1600" dirty="0"/>
              <a:t>自主</a:t>
            </a:r>
            <a:endParaRPr lang="en-US" altLang="zh-CN" sz="1600" dirty="0"/>
          </a:p>
          <a:p>
            <a:r>
              <a:rPr lang="zh-CN" altLang="en-US" sz="1600" dirty="0"/>
              <a:t>系统</a:t>
            </a:r>
            <a:endParaRPr lang="en-US" altLang="zh-CN" sz="1600" dirty="0"/>
          </a:p>
          <a:p>
            <a:r>
              <a:rPr lang="zh-CN" altLang="en-US" sz="1600" dirty="0"/>
              <a:t>开发</a:t>
            </a:r>
            <a:endParaRPr lang="en-GB" sz="1600" dirty="0"/>
          </a:p>
        </p:txBody>
      </p:sp>
      <p:sp>
        <p:nvSpPr>
          <p:cNvPr id="8" name="TextBox 7"/>
          <p:cNvSpPr txBox="1"/>
          <p:nvPr/>
        </p:nvSpPr>
        <p:spPr>
          <a:xfrm>
            <a:off x="1203769" y="4719265"/>
            <a:ext cx="1293944" cy="1569660"/>
          </a:xfrm>
          <a:prstGeom prst="rect">
            <a:avLst/>
          </a:prstGeom>
          <a:noFill/>
        </p:spPr>
        <p:txBody>
          <a:bodyPr wrap="none" rtlCol="0">
            <a:spAutoFit/>
          </a:bodyPr>
          <a:lstStyle/>
          <a:p>
            <a:pPr marL="285750" indent="-285750">
              <a:buFont typeface="Arial" panose="020B0604020202020204" pitchFamily="34" charset="0"/>
              <a:buChar char="•"/>
            </a:pPr>
            <a:r>
              <a:rPr lang="en-US" altLang="zh-CN" sz="1600" dirty="0"/>
              <a:t>CRM</a:t>
            </a:r>
            <a:endParaRPr lang="en-US" altLang="zh-CN" sz="1600" dirty="0"/>
          </a:p>
          <a:p>
            <a:pPr marL="285750" indent="-285750">
              <a:buFont typeface="Arial" panose="020B0604020202020204" pitchFamily="34" charset="0"/>
              <a:buChar char="•"/>
            </a:pPr>
            <a:r>
              <a:rPr lang="zh-CN" altLang="en-US" sz="1600" dirty="0"/>
              <a:t>流量渠道</a:t>
            </a:r>
            <a:endParaRPr lang="en-US" altLang="zh-CN" sz="1600" dirty="0"/>
          </a:p>
          <a:p>
            <a:pPr marL="285750" indent="-285750">
              <a:buFont typeface="Arial" panose="020B0604020202020204" pitchFamily="34" charset="0"/>
              <a:buChar char="•"/>
            </a:pPr>
            <a:r>
              <a:rPr lang="en-US" altLang="zh-CN" sz="1600" dirty="0"/>
              <a:t>HR</a:t>
            </a:r>
            <a:endParaRPr lang="en-US" altLang="zh-CN" sz="1600" dirty="0"/>
          </a:p>
          <a:p>
            <a:pPr marL="285750" indent="-285750">
              <a:buFont typeface="Arial" panose="020B0604020202020204" pitchFamily="34" charset="0"/>
              <a:buChar char="•"/>
            </a:pPr>
            <a:r>
              <a:rPr lang="en-US" altLang="zh-CN" sz="1600" dirty="0"/>
              <a:t>ERP</a:t>
            </a:r>
            <a:endParaRPr lang="en-US" altLang="zh-CN" sz="1600" dirty="0"/>
          </a:p>
          <a:p>
            <a:pPr marL="285750" indent="-285750">
              <a:buFont typeface="Arial" panose="020B0604020202020204" pitchFamily="34" charset="0"/>
              <a:buChar char="•"/>
            </a:pPr>
            <a:r>
              <a:rPr lang="zh-CN" altLang="en-US" sz="1600" dirty="0"/>
              <a:t>云平台</a:t>
            </a:r>
            <a:endParaRPr lang="en-US" altLang="zh-CN" sz="1600" dirty="0"/>
          </a:p>
          <a:p>
            <a:pPr marL="285750" indent="-285750">
              <a:buFont typeface="Arial" panose="020B0604020202020204" pitchFamily="34" charset="0"/>
              <a:buChar char="•"/>
            </a:pPr>
            <a:r>
              <a:rPr lang="en-US" altLang="zh-CN" sz="1600" dirty="0"/>
              <a:t>AI</a:t>
            </a:r>
            <a:endParaRPr lang="en-US" altLang="zh-CN" sz="1600" dirty="0"/>
          </a:p>
        </p:txBody>
      </p:sp>
      <p:sp>
        <p:nvSpPr>
          <p:cNvPr id="9" name="TextBox 8"/>
          <p:cNvSpPr txBox="1"/>
          <p:nvPr/>
        </p:nvSpPr>
        <p:spPr>
          <a:xfrm>
            <a:off x="1218943" y="3270570"/>
            <a:ext cx="1293944" cy="830997"/>
          </a:xfrm>
          <a:prstGeom prst="rect">
            <a:avLst/>
          </a:prstGeom>
          <a:noFill/>
        </p:spPr>
        <p:txBody>
          <a:bodyPr wrap="none" rtlCol="0">
            <a:spAutoFit/>
          </a:bodyPr>
          <a:lstStyle/>
          <a:p>
            <a:pPr marL="285750" indent="-285750">
              <a:buFont typeface="Arial" panose="020B0604020202020204" pitchFamily="34" charset="0"/>
              <a:buChar char="•"/>
            </a:pPr>
            <a:r>
              <a:rPr lang="zh-CN" altLang="en-US" sz="1600" dirty="0"/>
              <a:t>核心业务</a:t>
            </a:r>
            <a:endParaRPr lang="en-US" altLang="zh-CN" sz="1600" dirty="0"/>
          </a:p>
          <a:p>
            <a:pPr marL="285750" indent="-285750">
              <a:buFont typeface="Arial" panose="020B0604020202020204" pitchFamily="34" charset="0"/>
              <a:buChar char="•"/>
            </a:pPr>
            <a:r>
              <a:rPr lang="en-US" altLang="zh-CN" sz="1600" dirty="0"/>
              <a:t>API</a:t>
            </a:r>
            <a:r>
              <a:rPr lang="zh-CN" altLang="en-US" sz="1600" dirty="0"/>
              <a:t>平台</a:t>
            </a:r>
            <a:endParaRPr lang="en-US" altLang="zh-CN" sz="1600" dirty="0"/>
          </a:p>
          <a:p>
            <a:pPr marL="285750" indent="-285750">
              <a:buFont typeface="Arial" panose="020B0604020202020204" pitchFamily="34" charset="0"/>
              <a:buChar char="•"/>
            </a:pPr>
            <a:r>
              <a:rPr lang="zh-CN" altLang="en-US" sz="1600" dirty="0"/>
              <a:t>赋能系统</a:t>
            </a:r>
            <a:endParaRPr lang="en-US" altLang="zh-C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247650" y="80963"/>
            <a:ext cx="8375650" cy="9398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t>明确未来运营模型中台的业务能力</a:t>
            </a:r>
            <a:br>
              <a:rPr lang="en-US" altLang="zh-CN" dirty="0"/>
            </a:br>
            <a:r>
              <a:rPr lang="en-US" altLang="zh-CN" b="0" dirty="0"/>
              <a:t>- </a:t>
            </a:r>
            <a:r>
              <a:rPr lang="zh-CN" altLang="en-US" b="0" dirty="0"/>
              <a:t>共享中台的价值</a:t>
            </a:r>
            <a:endParaRPr lang="zh-CN" altLang="de-DE" b="0" dirty="0"/>
          </a:p>
        </p:txBody>
      </p:sp>
      <p:sp>
        <p:nvSpPr>
          <p:cNvPr id="110595" name="Rectangle 3"/>
          <p:cNvSpPr>
            <a:spLocks noGrp="1" noChangeArrowheads="1"/>
          </p:cNvSpPr>
          <p:nvPr>
            <p:ph type="body" idx="1"/>
          </p:nvPr>
        </p:nvSpPr>
        <p:spPr>
          <a:xfrm>
            <a:off x="543489" y="1476375"/>
            <a:ext cx="5904209" cy="4400897"/>
          </a:xfrm>
        </p:spPr>
        <p:txBody>
          <a:bodyPr/>
          <a:lstStyle/>
          <a:p>
            <a:pPr marL="0" indent="0">
              <a:spcBef>
                <a:spcPct val="15000"/>
              </a:spcBef>
              <a:spcAft>
                <a:spcPct val="25000"/>
              </a:spcAft>
              <a:buClr>
                <a:srgbClr val="000000"/>
              </a:buClr>
              <a:buSzPct val="100000"/>
            </a:pPr>
            <a:r>
              <a:rPr lang="en-US" altLang="zh-CN" sz="1800" b="0" dirty="0"/>
              <a:t>1. </a:t>
            </a:r>
            <a:r>
              <a:rPr lang="zh-CN" altLang="en-US" sz="1800" b="0" dirty="0"/>
              <a:t>服务可重用，打破壁垒，提升服务水平</a:t>
            </a:r>
            <a:endParaRPr lang="en-US" altLang="zh-CN" sz="1800" b="0" dirty="0"/>
          </a:p>
          <a:p>
            <a:pPr>
              <a:spcBef>
                <a:spcPct val="15000"/>
              </a:spcBef>
              <a:spcAft>
                <a:spcPct val="25000"/>
              </a:spcAft>
              <a:buClr>
                <a:srgbClr val="000000"/>
              </a:buClr>
              <a:buSzPct val="100000"/>
              <a:buFont typeface="Arial" panose="020B0604020202020204" pitchFamily="34" charset="0"/>
              <a:buChar char="•"/>
            </a:pPr>
            <a:r>
              <a:rPr lang="zh-CN" altLang="en-US" sz="1800" b="0" dirty="0"/>
              <a:t>通过松耦合的服务带来业务的复用，不必为不同的前端业务开发各自对应的相同或者类似的服务。例如呼叫中心、客户反馈、财务处理等标准服务</a:t>
            </a:r>
            <a:endParaRPr lang="zh-CN" altLang="en-US" sz="1800" b="0" dirty="0"/>
          </a:p>
          <a:p>
            <a:pPr marL="0" indent="0">
              <a:spcBef>
                <a:spcPct val="15000"/>
              </a:spcBef>
              <a:spcAft>
                <a:spcPct val="25000"/>
              </a:spcAft>
              <a:buClr>
                <a:srgbClr val="000000"/>
              </a:buClr>
              <a:buSzPct val="100000"/>
            </a:pPr>
            <a:r>
              <a:rPr lang="en-US" altLang="zh-CN" sz="1800" b="0" dirty="0"/>
              <a:t>2. </a:t>
            </a:r>
            <a:r>
              <a:rPr lang="zh-CN" altLang="en-US" sz="1800" b="0" dirty="0"/>
              <a:t>服务要发展，接入服务越多，价值越大</a:t>
            </a:r>
            <a:endParaRPr lang="en-US" altLang="zh-CN" sz="1800" b="0" dirty="0"/>
          </a:p>
          <a:p>
            <a:pPr>
              <a:spcBef>
                <a:spcPct val="15000"/>
              </a:spcBef>
              <a:spcAft>
                <a:spcPct val="25000"/>
              </a:spcAft>
              <a:buClr>
                <a:srgbClr val="000000"/>
              </a:buClr>
              <a:buSzPct val="100000"/>
              <a:buFont typeface="Arial" panose="020B0604020202020204" pitchFamily="34" charset="0"/>
              <a:buChar char="•"/>
            </a:pPr>
            <a:r>
              <a:rPr lang="zh-CN" altLang="en-US" sz="1800" b="0" dirty="0"/>
              <a:t>服务需要不断发展，从最初仅提供单薄业务功能的服务逐渐成长为企业最为宝贵的服务能力，需要新的业务不断的接入</a:t>
            </a:r>
            <a:endParaRPr lang="en-US" altLang="zh-CN" sz="1800" b="0" dirty="0"/>
          </a:p>
          <a:p>
            <a:pPr marL="0" indent="0">
              <a:spcBef>
                <a:spcPct val="15000"/>
              </a:spcBef>
              <a:spcAft>
                <a:spcPct val="25000"/>
              </a:spcAft>
              <a:buClr>
                <a:srgbClr val="000000"/>
              </a:buClr>
              <a:buSzPct val="100000"/>
            </a:pPr>
            <a:r>
              <a:rPr lang="en-US" altLang="zh-CN" sz="1800" b="0" dirty="0"/>
              <a:t>3. </a:t>
            </a:r>
            <a:r>
              <a:rPr lang="zh-CN" altLang="en-US" sz="1800" b="0" dirty="0"/>
              <a:t>服务助创新</a:t>
            </a:r>
            <a:endParaRPr lang="en-US" altLang="zh-CN" sz="1800" b="0" dirty="0"/>
          </a:p>
          <a:p>
            <a:pPr>
              <a:spcBef>
                <a:spcPct val="15000"/>
              </a:spcBef>
              <a:spcAft>
                <a:spcPct val="25000"/>
              </a:spcAft>
              <a:buClr>
                <a:srgbClr val="000000"/>
              </a:buClr>
              <a:buSzPct val="100000"/>
              <a:buFont typeface="Arial" panose="020B0604020202020204" pitchFamily="34" charset="0"/>
              <a:buChar char="•"/>
            </a:pPr>
            <a:r>
              <a:rPr lang="zh-CN" altLang="en-US" sz="1800" b="0" dirty="0"/>
              <a:t>创新需要快速迭代，共享服务平台中的诸多服务是经过清晰的沉淀，可以通过重新编排、组合，快速的响应市场，达成创新</a:t>
            </a:r>
            <a:r>
              <a:rPr lang="en-US" altLang="zh-CN" sz="1800" b="0" dirty="0"/>
              <a:t>	</a:t>
            </a:r>
            <a:endParaRPr lang="zh-CN" altLang="en-US" sz="1800" b="0" dirty="0"/>
          </a:p>
          <a:p>
            <a:pPr marL="192405" indent="-192405">
              <a:spcBef>
                <a:spcPct val="15000"/>
              </a:spcBef>
              <a:spcAft>
                <a:spcPct val="25000"/>
              </a:spcAft>
            </a:pPr>
            <a:r>
              <a:rPr lang="zh-CN" altLang="en-GB" sz="1800" b="0" dirty="0"/>
              <a:t>通过问卷</a:t>
            </a:r>
            <a:r>
              <a:rPr lang="zh-CN" altLang="en-US" sz="1800" b="0" dirty="0"/>
              <a:t>、</a:t>
            </a:r>
            <a:r>
              <a:rPr lang="zh-CN" altLang="en-GB" sz="1800" b="0" dirty="0"/>
              <a:t>高层领导研讨会</a:t>
            </a:r>
            <a:r>
              <a:rPr lang="zh-CN" altLang="en-US" sz="1800" b="0" dirty="0"/>
              <a:t>等</a:t>
            </a:r>
            <a:r>
              <a:rPr lang="zh-CN" altLang="en-GB" sz="1800" b="0" dirty="0"/>
              <a:t>方式</a:t>
            </a:r>
            <a:r>
              <a:rPr lang="zh-CN" altLang="en-US" sz="1800" b="0" dirty="0"/>
              <a:t>做出最终决定</a:t>
            </a:r>
            <a:endParaRPr lang="en-GB" altLang="zh-CN" sz="1800" b="0" dirty="0"/>
          </a:p>
        </p:txBody>
      </p:sp>
      <p:sp>
        <p:nvSpPr>
          <p:cNvPr id="4" name="Freeform 3"/>
          <p:cNvSpPr>
            <a:spLocks noChangeAspect="1"/>
          </p:cNvSpPr>
          <p:nvPr/>
        </p:nvSpPr>
        <p:spPr bwMode="auto">
          <a:xfrm>
            <a:off x="7170796" y="3383310"/>
            <a:ext cx="1511242" cy="914400"/>
          </a:xfrm>
          <a:custGeom>
            <a:avLst/>
            <a:gdLst>
              <a:gd name="T0" fmla="*/ 2147483646 w 930"/>
              <a:gd name="T1" fmla="*/ 0 h 283"/>
              <a:gd name="T2" fmla="*/ 0 w 930"/>
              <a:gd name="T3" fmla="*/ 0 h 283"/>
              <a:gd name="T4" fmla="*/ 0 w 930"/>
              <a:gd name="T5" fmla="*/ 2147483646 h 283"/>
              <a:gd name="T6" fmla="*/ 2147483646 w 930"/>
              <a:gd name="T7" fmla="*/ 2147483646 h 283"/>
              <a:gd name="T8" fmla="*/ 2147483646 w 930"/>
              <a:gd name="T9" fmla="*/ 2147483646 h 283"/>
              <a:gd name="T10" fmla="*/ 2147483646 w 930"/>
              <a:gd name="T11" fmla="*/ 0 h 283"/>
              <a:gd name="T12" fmla="*/ 2147483646 w 930"/>
              <a:gd name="T13" fmla="*/ 0 h 283"/>
              <a:gd name="T14" fmla="*/ 2147483646 w 930"/>
              <a:gd name="T15" fmla="*/ 0 h 28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30" h="283">
                <a:moveTo>
                  <a:pt x="793" y="0"/>
                </a:moveTo>
                <a:lnTo>
                  <a:pt x="0" y="0"/>
                </a:lnTo>
                <a:lnTo>
                  <a:pt x="0" y="282"/>
                </a:lnTo>
                <a:lnTo>
                  <a:pt x="806" y="282"/>
                </a:lnTo>
                <a:lnTo>
                  <a:pt x="929" y="143"/>
                </a:lnTo>
                <a:lnTo>
                  <a:pt x="804" y="0"/>
                </a:lnTo>
                <a:lnTo>
                  <a:pt x="793" y="0"/>
                </a:lnTo>
              </a:path>
            </a:pathLst>
          </a:custGeom>
          <a:solidFill>
            <a:schemeClr val="bg1">
              <a:lumMod val="95000"/>
            </a:schemeClr>
          </a:solidFill>
          <a:ln w="12700" cap="rnd" cmpd="sng">
            <a:solidFill>
              <a:srgbClr val="000054"/>
            </a:solidFill>
            <a:prstDash val="solid"/>
            <a:round/>
          </a:ln>
          <a:effectLst>
            <a:outerShdw dist="53882" dir="2700000" algn="ctr" rotWithShape="0">
              <a:srgbClr val="000054"/>
            </a:outerShdw>
          </a:effectLst>
        </p:spPr>
        <p:txBody>
          <a:bodyPr/>
          <a:lstStyle/>
          <a:p>
            <a:endParaRPr lang="en-GB"/>
          </a:p>
        </p:txBody>
      </p:sp>
      <p:sp>
        <p:nvSpPr>
          <p:cNvPr id="5" name="Rectangle 4"/>
          <p:cNvSpPr>
            <a:spLocks noChangeAspect="1" noChangeArrowheads="1"/>
          </p:cNvSpPr>
          <p:nvPr/>
        </p:nvSpPr>
        <p:spPr bwMode="auto">
          <a:xfrm>
            <a:off x="7320610" y="3688110"/>
            <a:ext cx="110742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572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45720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4572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457200">
              <a:spcBef>
                <a:spcPct val="20000"/>
              </a:spcBef>
              <a:buChar char="–"/>
              <a:defRPr sz="2000">
                <a:solidFill>
                  <a:schemeClr val="tx1"/>
                </a:solidFill>
                <a:latin typeface="Times New Roman" panose="02020603050405020304" pitchFamily="18" charset="0"/>
              </a:defRPr>
            </a:lvl4pPr>
            <a:lvl5pPr marL="2057400" indent="-228600" defTabSz="457200">
              <a:spcBef>
                <a:spcPct val="20000"/>
              </a:spcBef>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a:latin typeface="Optima" pitchFamily="34" charset="0"/>
                <a:ea typeface="黑体" panose="02010609060101010101" pitchFamily="49" charset="-122"/>
                <a:cs typeface="Arial" panose="020B0604020202020204" pitchFamily="34" charset="0"/>
              </a:rPr>
              <a:t>组织</a:t>
            </a:r>
            <a:endParaRPr lang="zh-CN" altLang="en-US" sz="1800">
              <a:latin typeface="Optima" pitchFamily="34" charset="0"/>
              <a:ea typeface="黑体" panose="02010609060101010101" pitchFamily="49" charset="-122"/>
              <a:cs typeface="Arial" panose="020B0604020202020204" pitchFamily="34" charset="0"/>
            </a:endParaRPr>
          </a:p>
        </p:txBody>
      </p:sp>
      <p:sp>
        <p:nvSpPr>
          <p:cNvPr id="6" name="Freeform 5"/>
          <p:cNvSpPr>
            <a:spLocks noChangeAspect="1"/>
          </p:cNvSpPr>
          <p:nvPr/>
        </p:nvSpPr>
        <p:spPr bwMode="auto">
          <a:xfrm>
            <a:off x="7113588" y="2011710"/>
            <a:ext cx="1509712" cy="914400"/>
          </a:xfrm>
          <a:custGeom>
            <a:avLst/>
            <a:gdLst>
              <a:gd name="T0" fmla="*/ 2147483646 w 930"/>
              <a:gd name="T1" fmla="*/ 0 h 283"/>
              <a:gd name="T2" fmla="*/ 0 w 930"/>
              <a:gd name="T3" fmla="*/ 0 h 283"/>
              <a:gd name="T4" fmla="*/ 0 w 930"/>
              <a:gd name="T5" fmla="*/ 2147483646 h 283"/>
              <a:gd name="T6" fmla="*/ 2147483646 w 930"/>
              <a:gd name="T7" fmla="*/ 2147483646 h 283"/>
              <a:gd name="T8" fmla="*/ 2147483646 w 930"/>
              <a:gd name="T9" fmla="*/ 2147483646 h 283"/>
              <a:gd name="T10" fmla="*/ 2147483646 w 930"/>
              <a:gd name="T11" fmla="*/ 0 h 283"/>
              <a:gd name="T12" fmla="*/ 2147483646 w 930"/>
              <a:gd name="T13" fmla="*/ 0 h 283"/>
              <a:gd name="T14" fmla="*/ 2147483646 w 930"/>
              <a:gd name="T15" fmla="*/ 0 h 28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30" h="283">
                <a:moveTo>
                  <a:pt x="793" y="0"/>
                </a:moveTo>
                <a:lnTo>
                  <a:pt x="0" y="0"/>
                </a:lnTo>
                <a:lnTo>
                  <a:pt x="0" y="282"/>
                </a:lnTo>
                <a:lnTo>
                  <a:pt x="806" y="282"/>
                </a:lnTo>
                <a:lnTo>
                  <a:pt x="929" y="143"/>
                </a:lnTo>
                <a:lnTo>
                  <a:pt x="804" y="0"/>
                </a:lnTo>
                <a:lnTo>
                  <a:pt x="793" y="0"/>
                </a:lnTo>
              </a:path>
            </a:pathLst>
          </a:custGeom>
          <a:solidFill>
            <a:schemeClr val="bg1">
              <a:lumMod val="95000"/>
            </a:schemeClr>
          </a:solidFill>
          <a:ln w="12700" cap="rnd" cmpd="sng">
            <a:solidFill>
              <a:srgbClr val="000054"/>
            </a:solidFill>
            <a:prstDash val="solid"/>
            <a:round/>
          </a:ln>
          <a:effectLst>
            <a:outerShdw dist="53882" dir="2700000" algn="ctr" rotWithShape="0">
              <a:srgbClr val="000054"/>
            </a:outerShdw>
          </a:effectLst>
        </p:spPr>
        <p:txBody>
          <a:bodyPr/>
          <a:lstStyle/>
          <a:p>
            <a:endParaRPr lang="en-GB"/>
          </a:p>
        </p:txBody>
      </p:sp>
      <p:sp>
        <p:nvSpPr>
          <p:cNvPr id="7" name="Rectangle 6"/>
          <p:cNvSpPr>
            <a:spLocks noChangeAspect="1" noChangeArrowheads="1"/>
          </p:cNvSpPr>
          <p:nvPr/>
        </p:nvSpPr>
        <p:spPr bwMode="auto">
          <a:xfrm>
            <a:off x="7007548" y="2316510"/>
            <a:ext cx="1560189"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572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45720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4572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457200">
              <a:spcBef>
                <a:spcPct val="20000"/>
              </a:spcBef>
              <a:buChar char="–"/>
              <a:defRPr sz="2000">
                <a:solidFill>
                  <a:schemeClr val="tx1"/>
                </a:solidFill>
                <a:latin typeface="Times New Roman" panose="02020603050405020304" pitchFamily="18" charset="0"/>
              </a:defRPr>
            </a:lvl4pPr>
            <a:lvl5pPr marL="2057400" indent="-228600" defTabSz="457200">
              <a:spcBef>
                <a:spcPct val="20000"/>
              </a:spcBef>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a:latin typeface="Optima" pitchFamily="34" charset="0"/>
                <a:ea typeface="黑体" panose="02010609060101010101" pitchFamily="49" charset="-122"/>
                <a:cs typeface="Arial" panose="020B0604020202020204" pitchFamily="34" charset="0"/>
              </a:rPr>
              <a:t>流程</a:t>
            </a:r>
            <a:endParaRPr lang="zh-CN" altLang="en-US" sz="1800">
              <a:latin typeface="Optima" pitchFamily="34" charset="0"/>
              <a:ea typeface="黑体" panose="02010609060101010101" pitchFamily="49" charset="-122"/>
              <a:cs typeface="Arial" panose="020B0604020202020204" pitchFamily="34" charset="0"/>
            </a:endParaRPr>
          </a:p>
        </p:txBody>
      </p:sp>
      <p:sp>
        <p:nvSpPr>
          <p:cNvPr id="8" name="Freeform 7"/>
          <p:cNvSpPr>
            <a:spLocks noChangeAspect="1"/>
          </p:cNvSpPr>
          <p:nvPr/>
        </p:nvSpPr>
        <p:spPr bwMode="auto">
          <a:xfrm>
            <a:off x="7170796" y="4907310"/>
            <a:ext cx="1511242" cy="914400"/>
          </a:xfrm>
          <a:custGeom>
            <a:avLst/>
            <a:gdLst>
              <a:gd name="T0" fmla="*/ 2147483646 w 930"/>
              <a:gd name="T1" fmla="*/ 0 h 283"/>
              <a:gd name="T2" fmla="*/ 0 w 930"/>
              <a:gd name="T3" fmla="*/ 0 h 283"/>
              <a:gd name="T4" fmla="*/ 0 w 930"/>
              <a:gd name="T5" fmla="*/ 2147483646 h 283"/>
              <a:gd name="T6" fmla="*/ 2147483646 w 930"/>
              <a:gd name="T7" fmla="*/ 2147483646 h 283"/>
              <a:gd name="T8" fmla="*/ 2147483646 w 930"/>
              <a:gd name="T9" fmla="*/ 2147483646 h 283"/>
              <a:gd name="T10" fmla="*/ 2147483646 w 930"/>
              <a:gd name="T11" fmla="*/ 0 h 283"/>
              <a:gd name="T12" fmla="*/ 2147483646 w 930"/>
              <a:gd name="T13" fmla="*/ 0 h 283"/>
              <a:gd name="T14" fmla="*/ 2147483646 w 930"/>
              <a:gd name="T15" fmla="*/ 0 h 28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30" h="283">
                <a:moveTo>
                  <a:pt x="793" y="0"/>
                </a:moveTo>
                <a:lnTo>
                  <a:pt x="0" y="0"/>
                </a:lnTo>
                <a:lnTo>
                  <a:pt x="0" y="282"/>
                </a:lnTo>
                <a:lnTo>
                  <a:pt x="806" y="282"/>
                </a:lnTo>
                <a:lnTo>
                  <a:pt x="929" y="143"/>
                </a:lnTo>
                <a:lnTo>
                  <a:pt x="804" y="0"/>
                </a:lnTo>
                <a:lnTo>
                  <a:pt x="793" y="0"/>
                </a:lnTo>
              </a:path>
            </a:pathLst>
          </a:custGeom>
          <a:solidFill>
            <a:schemeClr val="bg1">
              <a:lumMod val="95000"/>
            </a:schemeClr>
          </a:solidFill>
          <a:ln w="12700" cap="rnd" cmpd="sng">
            <a:solidFill>
              <a:srgbClr val="000054"/>
            </a:solidFill>
            <a:prstDash val="solid"/>
            <a:round/>
          </a:ln>
          <a:effectLst>
            <a:outerShdw dist="53882" dir="2700000" algn="ctr" rotWithShape="0">
              <a:srgbClr val="000054"/>
            </a:outerShdw>
          </a:effectLst>
        </p:spPr>
        <p:txBody>
          <a:bodyPr/>
          <a:lstStyle/>
          <a:p>
            <a:endParaRPr lang="en-GB"/>
          </a:p>
        </p:txBody>
      </p:sp>
      <p:sp>
        <p:nvSpPr>
          <p:cNvPr id="9" name="Rectangle 8"/>
          <p:cNvSpPr>
            <a:spLocks noChangeAspect="1" noChangeArrowheads="1"/>
          </p:cNvSpPr>
          <p:nvPr/>
        </p:nvSpPr>
        <p:spPr bwMode="auto">
          <a:xfrm>
            <a:off x="7320610" y="5212110"/>
            <a:ext cx="110742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defTabSz="4572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45720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4572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457200">
              <a:spcBef>
                <a:spcPct val="20000"/>
              </a:spcBef>
              <a:buChar char="–"/>
              <a:defRPr sz="2000">
                <a:solidFill>
                  <a:schemeClr val="tx1"/>
                </a:solidFill>
                <a:latin typeface="Times New Roman" panose="02020603050405020304" pitchFamily="18" charset="0"/>
              </a:defRPr>
            </a:lvl4pPr>
            <a:lvl5pPr marL="2057400" indent="-228600" defTabSz="457200">
              <a:spcBef>
                <a:spcPct val="20000"/>
              </a:spcBef>
              <a:buChar char="»"/>
              <a:defRPr sz="2000">
                <a:solidFill>
                  <a:schemeClr val="tx1"/>
                </a:solidFill>
                <a:latin typeface="Times New Roman" panose="02020603050405020304" pitchFamily="18" charset="0"/>
              </a:defRPr>
            </a:lvl5pPr>
            <a:lvl6pPr marL="25146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4572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zh-CN" altLang="en-US" sz="1800">
                <a:latin typeface="Optima" pitchFamily="34" charset="0"/>
                <a:ea typeface="黑体" panose="02010609060101010101" pitchFamily="49" charset="-122"/>
                <a:cs typeface="Arial" panose="020B0604020202020204" pitchFamily="34" charset="0"/>
              </a:rPr>
              <a:t>系统支持</a:t>
            </a:r>
            <a:endParaRPr lang="zh-CN" altLang="en-US" sz="1800">
              <a:latin typeface="Optima" pitchFamily="34" charset="0"/>
              <a:ea typeface="黑体" panose="02010609060101010101" pitchFamily="49" charset="-122"/>
              <a:cs typeface="Arial" panose="020B0604020202020204" pitchFamily="34" charset="0"/>
            </a:endParaRPr>
          </a:p>
        </p:txBody>
      </p:sp>
      <p:sp>
        <p:nvSpPr>
          <p:cNvPr id="10" name="AutoShape 71"/>
          <p:cNvSpPr>
            <a:spLocks noChangeArrowheads="1"/>
          </p:cNvSpPr>
          <p:nvPr/>
        </p:nvSpPr>
        <p:spPr bwMode="auto">
          <a:xfrm rot="5400000">
            <a:off x="4940542" y="3837062"/>
            <a:ext cx="3483916" cy="469604"/>
          </a:xfrm>
          <a:prstGeom prst="triangle">
            <a:avLst>
              <a:gd name="adj" fmla="val 50000"/>
            </a:avLst>
          </a:prstGeom>
          <a:solidFill>
            <a:schemeClr val="bg1">
              <a:lumMod val="85000"/>
            </a:schemeClr>
          </a:solidFill>
        </p:spPr>
        <p:style>
          <a:lnRef idx="1">
            <a:schemeClr val="accent1"/>
          </a:lnRef>
          <a:fillRef idx="2">
            <a:schemeClr val="accent1"/>
          </a:fillRef>
          <a:effectRef idx="1">
            <a:schemeClr val="accent1"/>
          </a:effectRef>
          <a:fontRef idx="minor">
            <a:schemeClr val="dk1"/>
          </a:fontRef>
        </p:style>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1"/>
          <p:cNvSpPr>
            <a:spLocks noGrp="1" noChangeArrowheads="1"/>
          </p:cNvSpPr>
          <p:nvPr>
            <p:ph type="title"/>
          </p:nvPr>
        </p:nvSpPr>
        <p:spPr>
          <a:xfrm>
            <a:off x="247650" y="80963"/>
            <a:ext cx="9383713" cy="939800"/>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sz="2800" dirty="0"/>
              <a:t>中台业务功能范围</a:t>
            </a:r>
            <a:br>
              <a:rPr lang="en-US" altLang="zh-CN" sz="2800" dirty="0"/>
            </a:br>
            <a:r>
              <a:rPr lang="en-US" altLang="zh-CN" sz="2400" b="0" dirty="0"/>
              <a:t> - </a:t>
            </a:r>
            <a:r>
              <a:rPr lang="zh-CN" altLang="en-US" sz="2400" b="0" dirty="0"/>
              <a:t>核心业务的主要流程环节和财务、人力、</a:t>
            </a:r>
            <a:r>
              <a:rPr lang="en-US" altLang="zh-CN" sz="2400" b="0" dirty="0"/>
              <a:t>IT</a:t>
            </a:r>
            <a:r>
              <a:rPr lang="zh-CN" altLang="en-US" sz="2400" b="0" dirty="0"/>
              <a:t>等管理支持职能</a:t>
            </a:r>
            <a:endParaRPr lang="zh-CN" altLang="en-US" sz="2800" b="0" dirty="0"/>
          </a:p>
        </p:txBody>
      </p:sp>
      <p:pic>
        <p:nvPicPr>
          <p:cNvPr id="5" name="Picture 4"/>
          <p:cNvPicPr>
            <a:picLocks noChangeAspect="1"/>
          </p:cNvPicPr>
          <p:nvPr/>
        </p:nvPicPr>
        <p:blipFill>
          <a:blip r:embed="rId1"/>
          <a:stretch>
            <a:fillRect/>
          </a:stretch>
        </p:blipFill>
        <p:spPr>
          <a:xfrm>
            <a:off x="358265" y="1157141"/>
            <a:ext cx="8886138" cy="2982265"/>
          </a:xfrm>
          <a:prstGeom prst="rect">
            <a:avLst/>
          </a:prstGeom>
        </p:spPr>
      </p:pic>
      <p:sp>
        <p:nvSpPr>
          <p:cNvPr id="26" name="TextBox 25"/>
          <p:cNvSpPr txBox="1"/>
          <p:nvPr/>
        </p:nvSpPr>
        <p:spPr>
          <a:xfrm rot="1981099">
            <a:off x="8472225" y="1439274"/>
            <a:ext cx="1072090" cy="251107"/>
          </a:xfrm>
          <a:prstGeom prst="rect">
            <a:avLst/>
          </a:prstGeom>
          <a:solidFill>
            <a:schemeClr val="bg1"/>
          </a:solidFill>
          <a:ln>
            <a:solidFill>
              <a:srgbClr val="FF0000"/>
            </a:solidFill>
          </a:ln>
        </p:spPr>
        <p:txBody>
          <a:bodyPr wrap="square" rtlCol="0" anchor="ctr">
            <a:spAutoFit/>
          </a:bodyPr>
          <a:lstStyle/>
          <a:p>
            <a:pPr algn="ctr"/>
            <a:r>
              <a:rPr lang="zh-CN" altLang="en-US" sz="1100" dirty="0">
                <a:solidFill>
                  <a:srgbClr val="FF0000"/>
                </a:solidFill>
              </a:rPr>
              <a:t>示例</a:t>
            </a:r>
            <a:endParaRPr lang="en-GB" sz="1100" dirty="0">
              <a:solidFill>
                <a:srgbClr val="FF0000"/>
              </a:solidFill>
            </a:endParaRPr>
          </a:p>
        </p:txBody>
      </p:sp>
      <p:pic>
        <p:nvPicPr>
          <p:cNvPr id="7" name="Picture 6"/>
          <p:cNvPicPr>
            <a:picLocks noChangeAspect="1"/>
          </p:cNvPicPr>
          <p:nvPr/>
        </p:nvPicPr>
        <p:blipFill>
          <a:blip r:embed="rId2"/>
          <a:stretch>
            <a:fillRect/>
          </a:stretch>
        </p:blipFill>
        <p:spPr>
          <a:xfrm>
            <a:off x="342900" y="4149080"/>
            <a:ext cx="8901503" cy="2681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1"/>
          <a:stretch>
            <a:fillRect/>
          </a:stretch>
        </p:blipFill>
        <p:spPr>
          <a:xfrm>
            <a:off x="33213" y="1988840"/>
            <a:ext cx="9310687" cy="2428328"/>
          </a:xfrm>
          <a:prstGeom prst="rect">
            <a:avLst/>
          </a:prstGeom>
        </p:spPr>
      </p:pic>
      <p:sp>
        <p:nvSpPr>
          <p:cNvPr id="40962" name="Title 1"/>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sz="2800" dirty="0"/>
              <a:t>在企业内部采用组件化的设计以优化各级业务活动，达到企业级最优</a:t>
            </a:r>
            <a:endParaRPr lang="zh-CN" altLang="en-US" sz="2800" dirty="0"/>
          </a:p>
        </p:txBody>
      </p:sp>
      <p:sp>
        <p:nvSpPr>
          <p:cNvPr id="40964" name="Rectangle 28"/>
          <p:cNvSpPr>
            <a:spLocks noChangeArrowheads="1"/>
          </p:cNvSpPr>
          <p:nvPr/>
        </p:nvSpPr>
        <p:spPr bwMode="auto">
          <a:xfrm>
            <a:off x="6211888" y="4697413"/>
            <a:ext cx="2743200" cy="161582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74625" indent="-17462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spcAft>
                <a:spcPct val="0"/>
              </a:spcAft>
              <a:buSzTx/>
              <a:buFont typeface="Wingdings" panose="05000000000000000000" pitchFamily="2" charset="2"/>
              <a:buChar char="§"/>
            </a:pPr>
            <a:r>
              <a:rPr lang="zh-CN" altLang="en-US" sz="1400" b="0" dirty="0">
                <a:ea typeface="宋体" panose="02010600030101010101" pitchFamily="2" charset="-122"/>
              </a:rPr>
              <a:t>关键活动被集中在相对独立的的业务领域 （业务组件），如风险和财务管理类、日常运营类、后台处理类、基础设施管理类组件</a:t>
            </a:r>
            <a:endParaRPr lang="en-US" altLang="zh-CN" sz="1400" b="0" dirty="0">
              <a:ea typeface="宋体" panose="02010600030101010101" pitchFamily="2" charset="-122"/>
            </a:endParaRPr>
          </a:p>
          <a:p>
            <a:pPr eaLnBrk="1" hangingPunct="1">
              <a:spcBef>
                <a:spcPct val="50000"/>
              </a:spcBef>
              <a:spcAft>
                <a:spcPct val="0"/>
              </a:spcAft>
              <a:buSzTx/>
              <a:buFont typeface="Wingdings" panose="05000000000000000000" pitchFamily="2" charset="2"/>
              <a:buChar char="§"/>
            </a:pPr>
            <a:r>
              <a:rPr lang="zh-CN" altLang="en-US" sz="1400" b="0" dirty="0">
                <a:ea typeface="宋体" panose="02010600030101010101" pitchFamily="2" charset="-122"/>
              </a:rPr>
              <a:t>重复的活动被减至最小，企业成为一个由内外生业务组件构成的</a:t>
            </a:r>
            <a:r>
              <a:rPr lang="zh-CN" altLang="en-US" sz="1400" b="0" dirty="0">
                <a:solidFill>
                  <a:srgbClr val="FF0000"/>
                </a:solidFill>
                <a:ea typeface="宋体" panose="02010600030101010101" pitchFamily="2" charset="-122"/>
              </a:rPr>
              <a:t>生态体系</a:t>
            </a:r>
            <a:endParaRPr lang="en-US" altLang="zh-CN" sz="1400" b="0" dirty="0">
              <a:solidFill>
                <a:srgbClr val="FF0000"/>
              </a:solidFill>
              <a:ea typeface="宋体" panose="02010600030101010101" pitchFamily="2" charset="-122"/>
            </a:endParaRPr>
          </a:p>
        </p:txBody>
      </p:sp>
      <p:sp>
        <p:nvSpPr>
          <p:cNvPr id="40965" name="Rectangle 29"/>
          <p:cNvSpPr>
            <a:spLocks noChangeArrowheads="1"/>
          </p:cNvSpPr>
          <p:nvPr/>
        </p:nvSpPr>
        <p:spPr bwMode="auto">
          <a:xfrm>
            <a:off x="3165475" y="4697413"/>
            <a:ext cx="2743200" cy="112030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74625" indent="-17462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20000"/>
              </a:spcBef>
              <a:spcAft>
                <a:spcPct val="0"/>
              </a:spcAft>
              <a:buSzTx/>
              <a:buFont typeface="Wingdings" panose="05000000000000000000" pitchFamily="2" charset="2"/>
              <a:buChar char="§"/>
            </a:pPr>
            <a:r>
              <a:rPr lang="zh-CN" altLang="en-US" sz="1400" b="0" dirty="0">
                <a:ea typeface="宋体" panose="02010600030101010101" pitchFamily="2" charset="-122"/>
              </a:rPr>
              <a:t>企业改进业务结构，把部分具有共性的业务活动集中在标准化运行的</a:t>
            </a:r>
            <a:r>
              <a:rPr lang="zh-CN" altLang="en-US" sz="1400" b="0" dirty="0">
                <a:solidFill>
                  <a:srgbClr val="FF0000"/>
                </a:solidFill>
                <a:ea typeface="宋体" panose="02010600030101010101" pitchFamily="2" charset="-122"/>
              </a:rPr>
              <a:t>共享中台</a:t>
            </a:r>
            <a:r>
              <a:rPr lang="zh-CN" altLang="en-US" sz="1400" b="0" dirty="0">
                <a:ea typeface="宋体" panose="02010600030101010101" pitchFamily="2" charset="-122"/>
              </a:rPr>
              <a:t>，提供服务</a:t>
            </a:r>
            <a:endParaRPr lang="zh-CN" altLang="en-US" sz="1400" b="0" dirty="0">
              <a:ea typeface="宋体" panose="02010600030101010101" pitchFamily="2" charset="-122"/>
            </a:endParaRPr>
          </a:p>
          <a:p>
            <a:pPr eaLnBrk="1" hangingPunct="1">
              <a:spcBef>
                <a:spcPct val="20000"/>
              </a:spcBef>
              <a:spcAft>
                <a:spcPct val="0"/>
              </a:spcAft>
              <a:buSzTx/>
              <a:buFont typeface="Wingdings" panose="05000000000000000000" pitchFamily="2" charset="2"/>
              <a:buChar char="§"/>
            </a:pPr>
            <a:r>
              <a:rPr lang="zh-CN" altLang="en-US" sz="1400" b="0" dirty="0">
                <a:ea typeface="宋体" panose="02010600030101010101" pitchFamily="2" charset="-122"/>
              </a:rPr>
              <a:t>中台服务需要运营模式、业务职能和系统的改造</a:t>
            </a:r>
            <a:endParaRPr lang="zh-CN" altLang="en-US" sz="1400" b="0" dirty="0">
              <a:ea typeface="宋体" panose="02010600030101010101" pitchFamily="2" charset="-122"/>
            </a:endParaRPr>
          </a:p>
        </p:txBody>
      </p:sp>
      <p:sp>
        <p:nvSpPr>
          <p:cNvPr id="40966" name="Rectangle 30"/>
          <p:cNvSpPr>
            <a:spLocks noChangeArrowheads="1"/>
          </p:cNvSpPr>
          <p:nvPr/>
        </p:nvSpPr>
        <p:spPr bwMode="auto">
          <a:xfrm>
            <a:off x="177800" y="4697413"/>
            <a:ext cx="2743200" cy="1766637"/>
          </a:xfrm>
          <a:prstGeom prst="rect">
            <a:avLst/>
          </a:prstGeom>
          <a:noFill/>
          <a:ln>
            <a:noFill/>
          </a:ln>
          <a:effectLst/>
          <a:extLst>
            <a:ext uri="{909E8E84-426E-40DD-AFC4-6F175D3DCCD1}">
              <a14:hiddenFill xmlns:a14="http://schemas.microsoft.com/office/drawing/2010/main">
                <a:solidFill>
                  <a:srgbClr val="FF33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74625" indent="-17462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20000"/>
              </a:spcBef>
              <a:spcAft>
                <a:spcPct val="0"/>
              </a:spcAft>
              <a:buSzTx/>
              <a:buFont typeface="Wingdings" panose="05000000000000000000" pitchFamily="2" charset="2"/>
              <a:buChar char="§"/>
            </a:pPr>
            <a:r>
              <a:rPr lang="zh-CN" altLang="en-US" sz="1400" b="0" dirty="0">
                <a:ea typeface="宋体" panose="02010600030101010101" pitchFamily="2" charset="-122"/>
              </a:rPr>
              <a:t>在同一企业中，各个独立的业务单元分别拥有和运行业务活动，各自进行</a:t>
            </a:r>
            <a:r>
              <a:rPr lang="zh-CN" altLang="en-US" sz="1400" b="0" dirty="0">
                <a:solidFill>
                  <a:srgbClr val="FF0000"/>
                </a:solidFill>
                <a:ea typeface="宋体" panose="02010600030101010101" pitchFamily="2" charset="-122"/>
              </a:rPr>
              <a:t>单元</a:t>
            </a:r>
            <a:r>
              <a:rPr lang="en-US" altLang="zh-CN" sz="1400" b="0" dirty="0">
                <a:solidFill>
                  <a:srgbClr val="FF0000"/>
                </a:solidFill>
                <a:ea typeface="宋体" panose="02010600030101010101" pitchFamily="2" charset="-122"/>
              </a:rPr>
              <a:t>/</a:t>
            </a:r>
            <a:r>
              <a:rPr lang="zh-CN" altLang="en-US" sz="1400" b="0" dirty="0">
                <a:solidFill>
                  <a:srgbClr val="FF0000"/>
                </a:solidFill>
                <a:ea typeface="宋体" panose="02010600030101010101" pitchFamily="2" charset="-122"/>
              </a:rPr>
              <a:t>子公司层级</a:t>
            </a:r>
            <a:r>
              <a:rPr lang="zh-CN" altLang="en-US" sz="1400" b="0" dirty="0">
                <a:ea typeface="宋体" panose="02010600030101010101" pitchFamily="2" charset="-122"/>
              </a:rPr>
              <a:t>的业务优化</a:t>
            </a:r>
            <a:endParaRPr lang="zh-CN" altLang="en-US" sz="1400" b="0" dirty="0">
              <a:ea typeface="宋体" panose="02010600030101010101" pitchFamily="2" charset="-122"/>
            </a:endParaRPr>
          </a:p>
          <a:p>
            <a:pPr eaLnBrk="1" hangingPunct="1">
              <a:spcBef>
                <a:spcPct val="20000"/>
              </a:spcBef>
              <a:spcAft>
                <a:spcPct val="0"/>
              </a:spcAft>
              <a:buSzTx/>
              <a:buFont typeface="Wingdings" panose="05000000000000000000" pitchFamily="2" charset="2"/>
              <a:buChar char="§"/>
            </a:pPr>
            <a:r>
              <a:rPr lang="zh-CN" altLang="en-US" sz="1400" b="0" dirty="0">
                <a:ea typeface="宋体" panose="02010600030101010101" pitchFamily="2" charset="-122"/>
              </a:rPr>
              <a:t>极端的情况是：每个业务单元进行同样的业务活动，缺乏协作和共享（如各自拥有客户、产品、物流、财务、客服等）</a:t>
            </a:r>
            <a:endParaRPr lang="en-US" altLang="zh-CN" sz="1400" b="0" dirty="0">
              <a:ea typeface="宋体" panose="02010600030101010101" pitchFamily="2" charset="-122"/>
            </a:endParaRPr>
          </a:p>
        </p:txBody>
      </p:sp>
      <p:sp>
        <p:nvSpPr>
          <p:cNvPr id="2" name="Rectangle 1"/>
          <p:cNvSpPr/>
          <p:nvPr/>
        </p:nvSpPr>
        <p:spPr bwMode="auto">
          <a:xfrm>
            <a:off x="3763280" y="2276872"/>
            <a:ext cx="2376264" cy="640432"/>
          </a:xfrm>
          <a:prstGeom prst="rect">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GB" sz="1800" b="0" i="0" u="none" strike="noStrike" cap="none" normalizeH="0" baseline="0">
              <a:ln>
                <a:noFill/>
              </a:ln>
              <a:solidFill>
                <a:schemeClr val="tx1"/>
              </a:solidFill>
              <a:effectLst/>
              <a:latin typeface="Arial" panose="020B0604020202020204" pitchFamily="34" charset="0"/>
            </a:endParaRPr>
          </a:p>
        </p:txBody>
      </p:sp>
      <p:sp>
        <p:nvSpPr>
          <p:cNvPr id="8" name="Rectangle 7"/>
          <p:cNvSpPr/>
          <p:nvPr/>
        </p:nvSpPr>
        <p:spPr bwMode="auto">
          <a:xfrm>
            <a:off x="6531330" y="2599224"/>
            <a:ext cx="2614573" cy="640432"/>
          </a:xfrm>
          <a:prstGeom prst="rect">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GB" sz="1800" b="0" i="0" u="none" strike="noStrike" cap="none" normalizeH="0" baseline="0">
              <a:ln>
                <a:noFill/>
              </a:ln>
              <a:solidFill>
                <a:schemeClr val="tx1"/>
              </a:solidFill>
              <a:effectLst/>
              <a:latin typeface="Arial" panose="020B0604020202020204" pitchFamily="34" charset="0"/>
            </a:endParaRPr>
          </a:p>
        </p:txBody>
      </p:sp>
      <p:sp>
        <p:nvSpPr>
          <p:cNvPr id="3" name="TextBox 2"/>
          <p:cNvSpPr txBox="1"/>
          <p:nvPr/>
        </p:nvSpPr>
        <p:spPr>
          <a:xfrm>
            <a:off x="9236426" y="2649106"/>
            <a:ext cx="251490" cy="707886"/>
          </a:xfrm>
          <a:prstGeom prst="rect">
            <a:avLst/>
          </a:prstGeom>
          <a:solidFill>
            <a:srgbClr val="FFFFFF"/>
          </a:solidFill>
        </p:spPr>
        <p:txBody>
          <a:bodyPr wrap="square" rtlCol="0">
            <a:spAutoFit/>
          </a:bodyPr>
          <a:lstStyle/>
          <a:p>
            <a:r>
              <a:rPr lang="zh-CN" altLang="en-US" sz="800" dirty="0">
                <a:latin typeface="微软雅黑" panose="020B0503020204020204" pitchFamily="34" charset="-122"/>
                <a:ea typeface="微软雅黑" panose="020B0503020204020204" pitchFamily="34" charset="-122"/>
              </a:rPr>
              <a:t>共享服务</a:t>
            </a:r>
            <a:endParaRPr lang="en-US" altLang="zh-CN" sz="800" dirty="0">
              <a:latin typeface="微软雅黑" panose="020B0503020204020204" pitchFamily="34" charset="-122"/>
              <a:ea typeface="微软雅黑" panose="020B0503020204020204" pitchFamily="34" charset="-122"/>
            </a:endParaRPr>
          </a:p>
          <a:p>
            <a:endParaRPr lang="en-GB" sz="800" dirty="0">
              <a:latin typeface="微软雅黑" panose="020B0503020204020204" pitchFamily="34" charset="-122"/>
              <a:ea typeface="微软雅黑" panose="020B0503020204020204" pitchFamily="34" charset="-122"/>
            </a:endParaRPr>
          </a:p>
        </p:txBody>
      </p:sp>
      <p:sp>
        <p:nvSpPr>
          <p:cNvPr id="13" name="TextBox 12"/>
          <p:cNvSpPr txBox="1"/>
          <p:nvPr/>
        </p:nvSpPr>
        <p:spPr>
          <a:xfrm>
            <a:off x="1279004" y="1523929"/>
            <a:ext cx="6827510" cy="369332"/>
          </a:xfrm>
          <a:prstGeom prst="rect">
            <a:avLst/>
          </a:prstGeom>
          <a:noFill/>
        </p:spPr>
        <p:txBody>
          <a:bodyPr wrap="none" rtlCol="0">
            <a:spAutoFit/>
          </a:bodyPr>
          <a:lstStyle/>
          <a:p>
            <a:r>
              <a:rPr lang="zh-CN" altLang="en-US" dirty="0"/>
              <a:t>现状</a:t>
            </a:r>
            <a:r>
              <a:rPr lang="en-US" altLang="zh-CN" dirty="0"/>
              <a:t>			     </a:t>
            </a:r>
            <a:r>
              <a:rPr lang="zh-CN" altLang="en-US" dirty="0"/>
              <a:t>过渡期</a:t>
            </a:r>
            <a:r>
              <a:rPr lang="en-US" altLang="zh-CN" dirty="0"/>
              <a:t>		           </a:t>
            </a:r>
            <a:r>
              <a:rPr lang="zh-CN" altLang="en-US" dirty="0"/>
              <a:t>目标</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ChangeArrowheads="1"/>
          </p:cNvSpPr>
          <p:nvPr/>
        </p:nvSpPr>
        <p:spPr bwMode="auto">
          <a:xfrm>
            <a:off x="702940" y="4077320"/>
            <a:ext cx="6048375" cy="431800"/>
          </a:xfrm>
          <a:prstGeom prst="rect">
            <a:avLst/>
          </a:prstGeom>
          <a:solidFill>
            <a:schemeClr val="hlink"/>
          </a:solidFill>
          <a:ln w="9525">
            <a:solidFill>
              <a:schemeClr val="tx1"/>
            </a:solidFill>
            <a:miter lim="800000"/>
          </a:ln>
          <a:effectLst>
            <a:outerShdw dist="107763" dir="18900000" algn="ctr" rotWithShape="0">
              <a:schemeClr val="bg2">
                <a:alpha val="50000"/>
              </a:schemeClr>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33123" name="Rectangle 3"/>
          <p:cNvSpPr>
            <a:spLocks noGrp="1" noChangeArrowheads="1"/>
          </p:cNvSpPr>
          <p:nvPr>
            <p:ph type="title"/>
          </p:nvPr>
        </p:nvSpPr>
        <p:spPr>
          <a:xfrm>
            <a:off x="247650" y="325438"/>
            <a:ext cx="5969000" cy="6953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t>内容提纲</a:t>
            </a:r>
            <a:endParaRPr lang="zh-CN" altLang="en-US" dirty="0"/>
          </a:p>
        </p:txBody>
      </p:sp>
      <p:sp>
        <p:nvSpPr>
          <p:cNvPr id="34820" name="Rectangle 4"/>
          <p:cNvSpPr>
            <a:spLocks noGrp="1" noChangeArrowheads="1"/>
          </p:cNvSpPr>
          <p:nvPr>
            <p:ph type="body" idx="1"/>
          </p:nvPr>
        </p:nvSpPr>
        <p:spPr>
          <a:xfrm>
            <a:off x="590550" y="1476375"/>
            <a:ext cx="9058275" cy="4619625"/>
          </a:xfrm>
        </p:spPr>
        <p:txBody>
          <a:bodyPr/>
          <a:lstStyle/>
          <a:p>
            <a:pPr marL="609600" indent="-609600">
              <a:buFontTx/>
              <a:buNone/>
            </a:pPr>
            <a:r>
              <a:rPr lang="zh-CN" altLang="en-US" sz="2000" dirty="0">
                <a:ea typeface="宋体" panose="02010600030101010101" pitchFamily="2" charset="-122"/>
              </a:rPr>
              <a:t> </a:t>
            </a:r>
            <a:endParaRPr lang="zh-CN" altLang="en-US" sz="2000" dirty="0">
              <a:ea typeface="宋体" panose="02010600030101010101" pitchFamily="2" charset="-122"/>
            </a:endParaRPr>
          </a:p>
          <a:p>
            <a:pPr marL="609600" indent="-609600">
              <a:buFontTx/>
              <a:buNone/>
            </a:pPr>
            <a:r>
              <a:rPr lang="zh-CN" altLang="en-US" sz="2000" dirty="0">
                <a:ea typeface="宋体" panose="02010600030101010101" pitchFamily="2" charset="-122"/>
              </a:rPr>
              <a:t> 企业业务架构</a:t>
            </a:r>
            <a:endParaRPr lang="zh-CN" altLang="en-US" sz="2000" dirty="0">
              <a:ea typeface="宋体" panose="02010600030101010101" pitchFamily="2" charset="-122"/>
            </a:endParaRPr>
          </a:p>
          <a:p>
            <a:pPr marL="990600" lvl="1" indent="-533400"/>
            <a:r>
              <a:rPr lang="zh-CN" altLang="en-US" sz="1600" dirty="0">
                <a:ea typeface="宋体" panose="02010600030101010101" pitchFamily="2" charset="-122"/>
              </a:rPr>
              <a:t>业务能力（</a:t>
            </a:r>
            <a:r>
              <a:rPr lang="en-US" altLang="zh-CN" sz="1600" dirty="0">
                <a:ea typeface="宋体" panose="02010600030101010101" pitchFamily="2" charset="-122"/>
              </a:rPr>
              <a:t>CBM</a:t>
            </a:r>
            <a:r>
              <a:rPr lang="zh-CN" altLang="en-US" sz="1600" dirty="0">
                <a:ea typeface="宋体" panose="02010600030101010101" pitchFamily="2" charset="-122"/>
              </a:rPr>
              <a:t>）设计和热点图</a:t>
            </a:r>
            <a:endParaRPr lang="en-US" altLang="zh-CN" sz="1600" dirty="0">
              <a:ea typeface="宋体" panose="02010600030101010101" pitchFamily="2" charset="-122"/>
            </a:endParaRPr>
          </a:p>
          <a:p>
            <a:pPr marL="990600" lvl="1" indent="-533400"/>
            <a:r>
              <a:rPr lang="zh-CN" altLang="en-US" sz="1600" dirty="0">
                <a:ea typeface="宋体" panose="02010600030101010101" pitchFamily="2" charset="-122"/>
              </a:rPr>
              <a:t>业务流程设计和优化</a:t>
            </a:r>
            <a:endParaRPr lang="en-US" altLang="zh-CN" sz="1600" dirty="0">
              <a:ea typeface="宋体" panose="02010600030101010101" pitchFamily="2" charset="-122"/>
            </a:endParaRPr>
          </a:p>
          <a:p>
            <a:pPr marL="990600" lvl="1" indent="-533400"/>
            <a:r>
              <a:rPr lang="zh-CN" altLang="en-US" sz="1600" dirty="0">
                <a:ea typeface="宋体" panose="02010600030101010101" pitchFamily="2" charset="-122"/>
              </a:rPr>
              <a:t>业务能力图设计和总结（</a:t>
            </a:r>
            <a:r>
              <a:rPr lang="en-US" altLang="zh-CN" sz="1600" dirty="0">
                <a:ea typeface="宋体" panose="02010600030101010101" pitchFamily="2" charset="-122"/>
              </a:rPr>
              <a:t>30</a:t>
            </a:r>
            <a:r>
              <a:rPr lang="zh-CN" altLang="en-US" sz="1600" dirty="0">
                <a:ea typeface="宋体" panose="02010600030101010101" pitchFamily="2" charset="-122"/>
              </a:rPr>
              <a:t>分钟）</a:t>
            </a:r>
            <a:endParaRPr lang="zh-CN" altLang="en-US" sz="1600" dirty="0">
              <a:ea typeface="宋体" panose="02010600030101010101" pitchFamily="2" charset="-122"/>
            </a:endParaRPr>
          </a:p>
          <a:p>
            <a:pPr marL="990600" lvl="1" indent="-533400"/>
            <a:r>
              <a:rPr lang="zh-CN" altLang="en-US" sz="1600" dirty="0">
                <a:ea typeface="宋体" panose="02010600030101010101" pitchFamily="2" charset="-122"/>
              </a:rPr>
              <a:t>内外包</a:t>
            </a:r>
            <a:r>
              <a:rPr lang="en-US" altLang="zh-CN" sz="1600" dirty="0">
                <a:ea typeface="宋体" panose="02010600030101010101" pitchFamily="2" charset="-122"/>
              </a:rPr>
              <a:t>/</a:t>
            </a:r>
            <a:r>
              <a:rPr lang="zh-CN" altLang="en-US" sz="1600" dirty="0">
                <a:ea typeface="宋体" panose="02010600030101010101" pitchFamily="2" charset="-122"/>
              </a:rPr>
              <a:t>共享模型设计</a:t>
            </a:r>
            <a:endParaRPr lang="zh-CN" altLang="en-US" sz="1600" dirty="0">
              <a:ea typeface="宋体" panose="02010600030101010101" pitchFamily="2" charset="-122"/>
            </a:endParaRPr>
          </a:p>
          <a:p>
            <a:pPr marL="990600" lvl="1" indent="-533400"/>
            <a:r>
              <a:rPr lang="zh-CN" altLang="en-US" sz="1600" dirty="0">
                <a:ea typeface="宋体" panose="02010600030101010101" pitchFamily="2" charset="-122"/>
              </a:rPr>
              <a:t>集团管控模式，组织架构和绩效设计</a:t>
            </a:r>
            <a:r>
              <a:rPr lang="zh-CN" altLang="en-US" sz="2000" b="1" dirty="0">
                <a:solidFill>
                  <a:srgbClr val="000000"/>
                </a:solidFill>
                <a:ea typeface="宋体" panose="02010600030101010101" pitchFamily="2" charset="-122"/>
              </a:rPr>
              <a:t>  </a:t>
            </a:r>
            <a:endParaRPr lang="zh-CN" altLang="en-US" sz="2000" b="1" dirty="0">
              <a:solidFill>
                <a:srgbClr val="000000"/>
              </a:solidFill>
              <a:ea typeface="宋体" panose="02010600030101010101" pitchFamily="2" charset="-122"/>
            </a:endParaRPr>
          </a:p>
          <a:p>
            <a:pPr marL="990600" lvl="1" indent="-533400">
              <a:buFont typeface="Wingdings" panose="05000000000000000000" pitchFamily="2" charset="2"/>
              <a:buNone/>
            </a:pPr>
            <a:r>
              <a:rPr lang="zh-CN" altLang="en-US" sz="2000" b="1" dirty="0">
                <a:ea typeface="宋体" panose="02010600030101010101" pitchFamily="2" charset="-122"/>
              </a:rPr>
              <a:t>  </a:t>
            </a:r>
            <a:endParaRPr lang="zh-CN" altLang="en-US" sz="2000" b="1" dirty="0">
              <a:ea typeface="宋体" panose="02010600030101010101" pitchFamily="2" charset="-122"/>
            </a:endParaRPr>
          </a:p>
          <a:p>
            <a:pPr marL="609600" indent="-609600">
              <a:buFontTx/>
              <a:buNone/>
            </a:pPr>
            <a:endParaRPr lang="en-US" altLang="zh-CN" sz="2000" dirty="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p:cNvSpPr>
            <a:spLocks noGrp="1" noChangeArrowheads="1"/>
          </p:cNvSpPr>
          <p:nvPr>
            <p:ph type="title"/>
          </p:nvPr>
        </p:nvSpPr>
        <p:spPr>
          <a:xfrm>
            <a:off x="247651" y="80963"/>
            <a:ext cx="8232154" cy="939800"/>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sz="2400" dirty="0"/>
              <a:t>组织可基于职能、流程、产品、地域</a:t>
            </a:r>
            <a:r>
              <a:rPr lang="en-US" altLang="zh-CN" sz="2400" dirty="0"/>
              <a:t>/</a:t>
            </a:r>
            <a:r>
              <a:rPr lang="zh-CN" altLang="en-US" sz="2400" dirty="0"/>
              <a:t>市场</a:t>
            </a:r>
            <a:r>
              <a:rPr lang="en-US" altLang="zh-CN" sz="2400" dirty="0"/>
              <a:t>/</a:t>
            </a:r>
            <a:r>
              <a:rPr lang="zh-CN" altLang="en-US" sz="2400" dirty="0"/>
              <a:t>客户等多个视角进行设计。可考虑结合自身特点融合多个视角展开组织设计</a:t>
            </a:r>
            <a:endParaRPr lang="zh-CN" altLang="en-US" sz="2400" dirty="0"/>
          </a:p>
        </p:txBody>
      </p:sp>
      <p:sp>
        <p:nvSpPr>
          <p:cNvPr id="73" name="Text Box 3"/>
          <p:cNvSpPr txBox="1">
            <a:spLocks noChangeArrowheads="1"/>
          </p:cNvSpPr>
          <p:nvPr/>
        </p:nvSpPr>
        <p:spPr bwMode="auto">
          <a:xfrm>
            <a:off x="898525" y="1189038"/>
            <a:ext cx="2046288" cy="33972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600" u="sng">
                <a:solidFill>
                  <a:srgbClr val="333333"/>
                </a:solidFill>
                <a:latin typeface="Times New Roman" panose="02020603050405020304" pitchFamily="18" charset="0"/>
                <a:ea typeface="宋体" panose="02010600030101010101" pitchFamily="2" charset="-122"/>
              </a:rPr>
              <a:t>基于职能的组织类型</a:t>
            </a:r>
            <a:endParaRPr lang="zh-CN" altLang="en-US" sz="1600" u="sng">
              <a:solidFill>
                <a:srgbClr val="333333"/>
              </a:solidFill>
              <a:latin typeface="Times New Roman" panose="02020603050405020304" pitchFamily="18" charset="0"/>
              <a:ea typeface="宋体" panose="02010600030101010101" pitchFamily="2" charset="-122"/>
            </a:endParaRPr>
          </a:p>
        </p:txBody>
      </p:sp>
      <p:grpSp>
        <p:nvGrpSpPr>
          <p:cNvPr id="135172" name="Group 4"/>
          <p:cNvGrpSpPr/>
          <p:nvPr/>
        </p:nvGrpSpPr>
        <p:grpSpPr bwMode="auto">
          <a:xfrm>
            <a:off x="639763" y="1603376"/>
            <a:ext cx="2365375" cy="1058862"/>
            <a:chOff x="233" y="1149"/>
            <a:chExt cx="1613" cy="667"/>
          </a:xfrm>
        </p:grpSpPr>
        <p:sp>
          <p:nvSpPr>
            <p:cNvPr id="75" name="Rectangle 5"/>
            <p:cNvSpPr>
              <a:spLocks noChangeArrowheads="1"/>
            </p:cNvSpPr>
            <p:nvPr/>
          </p:nvSpPr>
          <p:spPr bwMode="auto">
            <a:xfrm>
              <a:off x="233" y="1149"/>
              <a:ext cx="360" cy="667"/>
            </a:xfrm>
            <a:prstGeom prst="rect">
              <a:avLst/>
            </a:prstGeom>
            <a:solidFill>
              <a:srgbClr val="808080"/>
            </a:solidFill>
            <a:ln w="9525">
              <a:solidFill>
                <a:srgbClr val="FFFFFF"/>
              </a:solidFill>
              <a:miter lim="800000"/>
            </a:ln>
            <a:effectLst>
              <a:outerShdw dist="107763" dir="2700000" algn="ctr" rotWithShape="0">
                <a:srgbClr val="808080"/>
              </a:outerShdw>
            </a:effectLst>
          </p:spPr>
          <p:txBody>
            <a:bodyPr wrap="none" anchor="ct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000000"/>
                  </a:solidFill>
                  <a:latin typeface="Times New Roman" panose="02020603050405020304" pitchFamily="18" charset="0"/>
                  <a:ea typeface="宋体" panose="02010600030101010101" pitchFamily="2" charset="-122"/>
                </a:rPr>
                <a:t>职能</a:t>
              </a:r>
              <a:endParaRPr lang="en-US" altLang="zh-CN" sz="1000">
                <a:solidFill>
                  <a:srgbClr val="000000"/>
                </a:solidFill>
                <a:latin typeface="Times New Roman" panose="02020603050405020304" pitchFamily="18" charset="0"/>
                <a:ea typeface="宋体" panose="02010600030101010101" pitchFamily="2" charset="-122"/>
              </a:endParaRPr>
            </a:p>
            <a:p>
              <a:pPr algn="ctr" eaLnBrk="1" hangingPunct="1">
                <a:buClrTx/>
                <a:buFontTx/>
                <a:buNone/>
              </a:pPr>
              <a:r>
                <a:rPr lang="zh-CN" altLang="en-US" sz="1000">
                  <a:solidFill>
                    <a:srgbClr val="000000"/>
                  </a:solidFill>
                  <a:latin typeface="Times New Roman" panose="02020603050405020304" pitchFamily="18" charset="0"/>
                  <a:ea typeface="宋体" panose="02010600030101010101" pitchFamily="2" charset="-122"/>
                </a:rPr>
                <a:t>  </a:t>
              </a:r>
              <a:r>
                <a:rPr lang="en-US" altLang="zh-CN" sz="1000">
                  <a:solidFill>
                    <a:srgbClr val="000000"/>
                  </a:solidFill>
                  <a:latin typeface="Times New Roman" panose="02020603050405020304" pitchFamily="18" charset="0"/>
                  <a:ea typeface="宋体" panose="02010600030101010101" pitchFamily="2" charset="-122"/>
                </a:rPr>
                <a:t>A</a:t>
              </a:r>
              <a:endParaRPr lang="en-US" altLang="zh-CN" sz="1000">
                <a:solidFill>
                  <a:srgbClr val="000000"/>
                </a:solidFill>
                <a:latin typeface="Times New Roman" panose="02020603050405020304" pitchFamily="18" charset="0"/>
                <a:ea typeface="宋体" panose="02010600030101010101" pitchFamily="2" charset="-122"/>
              </a:endParaRPr>
            </a:p>
          </p:txBody>
        </p:sp>
        <p:sp>
          <p:nvSpPr>
            <p:cNvPr id="76" name="Rectangle 6"/>
            <p:cNvSpPr>
              <a:spLocks noChangeArrowheads="1"/>
            </p:cNvSpPr>
            <p:nvPr/>
          </p:nvSpPr>
          <p:spPr bwMode="auto">
            <a:xfrm>
              <a:off x="650" y="1149"/>
              <a:ext cx="360" cy="667"/>
            </a:xfrm>
            <a:prstGeom prst="rect">
              <a:avLst/>
            </a:prstGeom>
            <a:solidFill>
              <a:srgbClr val="808080"/>
            </a:solidFill>
            <a:ln w="9525">
              <a:solidFill>
                <a:srgbClr val="FFFFFF"/>
              </a:solidFill>
              <a:miter lim="800000"/>
            </a:ln>
            <a:effectLst>
              <a:outerShdw dist="107763" dir="2700000" algn="ctr" rotWithShape="0">
                <a:srgbClr val="808080"/>
              </a:outerShdw>
            </a:effectLst>
          </p:spPr>
          <p:txBody>
            <a:bodyPr wrap="none" anchor="ct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000000"/>
                  </a:solidFill>
                  <a:latin typeface="Times New Roman" panose="02020603050405020304" pitchFamily="18" charset="0"/>
                  <a:ea typeface="宋体" panose="02010600030101010101" pitchFamily="2" charset="-122"/>
                </a:rPr>
                <a:t>职能</a:t>
              </a:r>
              <a:endParaRPr lang="en-US" altLang="zh-CN" sz="1000">
                <a:solidFill>
                  <a:srgbClr val="000000"/>
                </a:solidFill>
                <a:latin typeface="Times New Roman" panose="02020603050405020304" pitchFamily="18" charset="0"/>
                <a:ea typeface="宋体" panose="02010600030101010101" pitchFamily="2" charset="-122"/>
              </a:endParaRPr>
            </a:p>
            <a:p>
              <a:pPr algn="ctr" eaLnBrk="1" hangingPunct="1">
                <a:buClrTx/>
                <a:buFontTx/>
                <a:buNone/>
              </a:pPr>
              <a:r>
                <a:rPr lang="en-US" altLang="zh-CN" sz="1000">
                  <a:solidFill>
                    <a:srgbClr val="000000"/>
                  </a:solidFill>
                  <a:latin typeface="Times New Roman" panose="02020603050405020304" pitchFamily="18" charset="0"/>
                  <a:ea typeface="宋体" panose="02010600030101010101" pitchFamily="2" charset="-122"/>
                </a:rPr>
                <a:t>B</a:t>
              </a:r>
              <a:endParaRPr lang="en-US" altLang="zh-CN" sz="1000">
                <a:solidFill>
                  <a:srgbClr val="000000"/>
                </a:solidFill>
                <a:latin typeface="Times New Roman" panose="02020603050405020304" pitchFamily="18" charset="0"/>
                <a:ea typeface="宋体" panose="02010600030101010101" pitchFamily="2" charset="-122"/>
              </a:endParaRPr>
            </a:p>
          </p:txBody>
        </p:sp>
        <p:sp>
          <p:nvSpPr>
            <p:cNvPr id="77" name="Rectangle 7"/>
            <p:cNvSpPr>
              <a:spLocks noChangeArrowheads="1"/>
            </p:cNvSpPr>
            <p:nvPr/>
          </p:nvSpPr>
          <p:spPr bwMode="auto">
            <a:xfrm>
              <a:off x="1068" y="1149"/>
              <a:ext cx="360" cy="667"/>
            </a:xfrm>
            <a:prstGeom prst="rect">
              <a:avLst/>
            </a:prstGeom>
            <a:solidFill>
              <a:srgbClr val="808080"/>
            </a:solidFill>
            <a:ln w="9525">
              <a:solidFill>
                <a:srgbClr val="FFFFFF"/>
              </a:solidFill>
              <a:miter lim="800000"/>
            </a:ln>
            <a:effectLst>
              <a:outerShdw dist="107763" dir="2700000" algn="ctr" rotWithShape="0">
                <a:srgbClr val="808080"/>
              </a:outerShdw>
            </a:effectLst>
          </p:spPr>
          <p:txBody>
            <a:bodyPr wrap="none" anchor="ct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000000"/>
                  </a:solidFill>
                  <a:latin typeface="Times New Roman" panose="02020603050405020304" pitchFamily="18" charset="0"/>
                  <a:ea typeface="宋体" panose="02010600030101010101" pitchFamily="2" charset="-122"/>
                </a:rPr>
                <a:t>职能</a:t>
              </a:r>
              <a:endParaRPr lang="en-US" altLang="zh-CN" sz="1000">
                <a:solidFill>
                  <a:srgbClr val="000000"/>
                </a:solidFill>
                <a:latin typeface="Times New Roman" panose="02020603050405020304" pitchFamily="18" charset="0"/>
                <a:ea typeface="宋体" panose="02010600030101010101" pitchFamily="2" charset="-122"/>
              </a:endParaRPr>
            </a:p>
            <a:p>
              <a:pPr algn="ctr" eaLnBrk="1" hangingPunct="1">
                <a:buClrTx/>
                <a:buFontTx/>
                <a:buNone/>
              </a:pPr>
              <a:r>
                <a:rPr lang="en-US" altLang="zh-CN" sz="1000">
                  <a:solidFill>
                    <a:srgbClr val="000000"/>
                  </a:solidFill>
                  <a:latin typeface="Times New Roman" panose="02020603050405020304" pitchFamily="18" charset="0"/>
                  <a:ea typeface="宋体" panose="02010600030101010101" pitchFamily="2" charset="-122"/>
                </a:rPr>
                <a:t>C</a:t>
              </a:r>
              <a:endParaRPr lang="en-US" altLang="zh-CN" sz="1000">
                <a:solidFill>
                  <a:srgbClr val="000000"/>
                </a:solidFill>
                <a:latin typeface="Times New Roman" panose="02020603050405020304" pitchFamily="18" charset="0"/>
                <a:ea typeface="宋体" panose="02010600030101010101" pitchFamily="2" charset="-122"/>
              </a:endParaRPr>
            </a:p>
          </p:txBody>
        </p:sp>
        <p:sp>
          <p:nvSpPr>
            <p:cNvPr id="78" name="Rectangle 8"/>
            <p:cNvSpPr>
              <a:spLocks noChangeArrowheads="1"/>
            </p:cNvSpPr>
            <p:nvPr/>
          </p:nvSpPr>
          <p:spPr bwMode="auto">
            <a:xfrm>
              <a:off x="1486" y="1149"/>
              <a:ext cx="360" cy="667"/>
            </a:xfrm>
            <a:prstGeom prst="rect">
              <a:avLst/>
            </a:prstGeom>
            <a:solidFill>
              <a:srgbClr val="808080"/>
            </a:solidFill>
            <a:ln w="9525">
              <a:solidFill>
                <a:srgbClr val="FFFFFF"/>
              </a:solidFill>
              <a:miter lim="800000"/>
            </a:ln>
            <a:effectLst>
              <a:outerShdw dist="107763" dir="2700000" algn="ctr" rotWithShape="0">
                <a:srgbClr val="808080"/>
              </a:outerShdw>
            </a:effectLst>
          </p:spPr>
          <p:txBody>
            <a:bodyPr wrap="none" anchor="ct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000000"/>
                  </a:solidFill>
                  <a:latin typeface="Times New Roman" panose="02020603050405020304" pitchFamily="18" charset="0"/>
                  <a:ea typeface="宋体" panose="02010600030101010101" pitchFamily="2" charset="-122"/>
                </a:rPr>
                <a:t>职能</a:t>
              </a:r>
              <a:endParaRPr lang="en-US" altLang="zh-CN" sz="1000">
                <a:solidFill>
                  <a:srgbClr val="000000"/>
                </a:solidFill>
                <a:latin typeface="Times New Roman" panose="02020603050405020304" pitchFamily="18" charset="0"/>
                <a:ea typeface="宋体" panose="02010600030101010101" pitchFamily="2" charset="-122"/>
              </a:endParaRPr>
            </a:p>
            <a:p>
              <a:pPr algn="ctr" eaLnBrk="1" hangingPunct="1">
                <a:buClrTx/>
                <a:buFontTx/>
                <a:buNone/>
              </a:pPr>
              <a:r>
                <a:rPr lang="en-US" altLang="zh-CN" sz="1000">
                  <a:solidFill>
                    <a:srgbClr val="000000"/>
                  </a:solidFill>
                  <a:latin typeface="Times New Roman" panose="02020603050405020304" pitchFamily="18" charset="0"/>
                  <a:ea typeface="宋体" panose="02010600030101010101" pitchFamily="2" charset="-122"/>
                </a:rPr>
                <a:t>D</a:t>
              </a:r>
              <a:endParaRPr lang="en-US" altLang="zh-CN" sz="1000">
                <a:solidFill>
                  <a:srgbClr val="000000"/>
                </a:solidFill>
                <a:latin typeface="Times New Roman" panose="02020603050405020304" pitchFamily="18" charset="0"/>
                <a:ea typeface="宋体" panose="02010600030101010101" pitchFamily="2" charset="-122"/>
              </a:endParaRPr>
            </a:p>
          </p:txBody>
        </p:sp>
      </p:grpSp>
      <p:sp>
        <p:nvSpPr>
          <p:cNvPr id="79" name="Text Box 9"/>
          <p:cNvSpPr txBox="1">
            <a:spLocks noChangeArrowheads="1"/>
          </p:cNvSpPr>
          <p:nvPr/>
        </p:nvSpPr>
        <p:spPr bwMode="auto">
          <a:xfrm>
            <a:off x="603250" y="2846388"/>
            <a:ext cx="2711450" cy="646331"/>
          </a:xfrm>
          <a:prstGeom prst="rect">
            <a:avLst/>
          </a:prstGeom>
          <a:noFill/>
          <a:ln w="9525">
            <a:noFill/>
            <a:miter lim="800000"/>
          </a:ln>
          <a:effectLst/>
        </p:spPr>
        <p:txBody>
          <a:bodyPr>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200" dirty="0">
                <a:solidFill>
                  <a:srgbClr val="333333"/>
                </a:solidFill>
                <a:latin typeface="Times New Roman" panose="02020603050405020304" pitchFamily="18" charset="0"/>
                <a:ea typeface="宋体" panose="02010600030101010101" pitchFamily="2" charset="-122"/>
              </a:rPr>
              <a:t>业务驱动要素</a:t>
            </a:r>
            <a:r>
              <a:rPr lang="en-US" altLang="zh-CN" sz="1200" dirty="0">
                <a:solidFill>
                  <a:srgbClr val="333333"/>
                </a:solidFill>
                <a:latin typeface="Times New Roman" panose="02020603050405020304" pitchFamily="18" charset="0"/>
                <a:ea typeface="宋体" panose="02010600030101010101" pitchFamily="2" charset="-122"/>
              </a:rPr>
              <a:t>:</a:t>
            </a:r>
            <a:endParaRPr lang="en-US" altLang="zh-CN" sz="1200" dirty="0">
              <a:solidFill>
                <a:srgbClr val="333333"/>
              </a:solidFill>
              <a:latin typeface="Times New Roman" panose="02020603050405020304" pitchFamily="18" charset="0"/>
              <a:ea typeface="宋体" panose="02010600030101010101" pitchFamily="2" charset="-122"/>
            </a:endParaRPr>
          </a:p>
          <a:p>
            <a:pPr eaLnBrk="1" hangingPunct="1">
              <a:buClrTx/>
              <a:buFontTx/>
              <a:buChar char="•"/>
            </a:pPr>
            <a:r>
              <a:rPr lang="en-US" altLang="zh-CN" sz="1200" dirty="0">
                <a:solidFill>
                  <a:srgbClr val="333333"/>
                </a:solidFill>
                <a:latin typeface="Times New Roman" panose="02020603050405020304" pitchFamily="18" charset="0"/>
                <a:ea typeface="宋体" panose="02010600030101010101" pitchFamily="2" charset="-122"/>
              </a:rPr>
              <a:t> </a:t>
            </a:r>
            <a:r>
              <a:rPr lang="zh-CN" altLang="en-US" sz="1200" dirty="0">
                <a:solidFill>
                  <a:srgbClr val="333333"/>
                </a:solidFill>
                <a:latin typeface="Times New Roman" panose="02020603050405020304" pitchFamily="18" charset="0"/>
                <a:ea typeface="宋体" panose="02010600030101010101" pitchFamily="2" charset="-122"/>
              </a:rPr>
              <a:t>中小企业，专业化效率高</a:t>
            </a:r>
            <a:endParaRPr lang="en-US" altLang="zh-CN" sz="1200" dirty="0">
              <a:solidFill>
                <a:srgbClr val="333333"/>
              </a:solidFill>
              <a:latin typeface="Times New Roman" panose="02020603050405020304" pitchFamily="18" charset="0"/>
              <a:ea typeface="宋体" panose="02010600030101010101" pitchFamily="2" charset="-122"/>
            </a:endParaRPr>
          </a:p>
          <a:p>
            <a:pPr eaLnBrk="1" hangingPunct="1">
              <a:buClrTx/>
              <a:buFontTx/>
              <a:buChar char="•"/>
            </a:pPr>
            <a:r>
              <a:rPr lang="zh-CN" altLang="en-US" sz="1200" dirty="0">
                <a:solidFill>
                  <a:srgbClr val="333333"/>
                </a:solidFill>
                <a:latin typeface="Times New Roman" panose="02020603050405020304" pitchFamily="18" charset="0"/>
                <a:ea typeface="宋体" panose="02010600030101010101" pitchFamily="2" charset="-122"/>
              </a:rPr>
              <a:t>但跨部门</a:t>
            </a:r>
            <a:r>
              <a:rPr lang="zh-CN" altLang="en-US" sz="1200" dirty="0"/>
              <a:t>沟通成本高</a:t>
            </a:r>
            <a:endParaRPr lang="en-US" altLang="zh-CN" sz="1200" dirty="0">
              <a:solidFill>
                <a:srgbClr val="333333"/>
              </a:solidFill>
              <a:latin typeface="Times New Roman" panose="02020603050405020304" pitchFamily="18" charset="0"/>
              <a:ea typeface="宋体" panose="02010600030101010101" pitchFamily="2" charset="-122"/>
            </a:endParaRPr>
          </a:p>
        </p:txBody>
      </p:sp>
      <p:sp>
        <p:nvSpPr>
          <p:cNvPr id="80" name="Text Box 10"/>
          <p:cNvSpPr txBox="1">
            <a:spLocks noChangeArrowheads="1"/>
          </p:cNvSpPr>
          <p:nvPr/>
        </p:nvSpPr>
        <p:spPr bwMode="auto">
          <a:xfrm>
            <a:off x="4984750" y="1189038"/>
            <a:ext cx="2046288" cy="33972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600" u="sng">
                <a:solidFill>
                  <a:srgbClr val="333333"/>
                </a:solidFill>
                <a:latin typeface="Times New Roman" panose="02020603050405020304" pitchFamily="18" charset="0"/>
                <a:ea typeface="宋体" panose="02010600030101010101" pitchFamily="2" charset="-122"/>
              </a:rPr>
              <a:t>基于流程的组织类型</a:t>
            </a:r>
            <a:endParaRPr lang="zh-CN" altLang="en-US" sz="1600" u="sng">
              <a:solidFill>
                <a:srgbClr val="333333"/>
              </a:solidFill>
              <a:latin typeface="Times New Roman" panose="02020603050405020304" pitchFamily="18" charset="0"/>
              <a:ea typeface="宋体" panose="02010600030101010101" pitchFamily="2" charset="-122"/>
            </a:endParaRPr>
          </a:p>
        </p:txBody>
      </p:sp>
      <p:grpSp>
        <p:nvGrpSpPr>
          <p:cNvPr id="81" name="Group 11"/>
          <p:cNvGrpSpPr/>
          <p:nvPr/>
        </p:nvGrpSpPr>
        <p:grpSpPr bwMode="auto">
          <a:xfrm>
            <a:off x="4989513" y="1864445"/>
            <a:ext cx="2189162" cy="579437"/>
            <a:chOff x="4435" y="1324"/>
            <a:chExt cx="1493" cy="365"/>
          </a:xfrm>
          <a:solidFill>
            <a:srgbClr val="FFD200"/>
          </a:solidFill>
        </p:grpSpPr>
        <p:sp>
          <p:nvSpPr>
            <p:cNvPr id="82" name="AutoShape 12"/>
            <p:cNvSpPr>
              <a:spLocks noChangeArrowheads="1"/>
            </p:cNvSpPr>
            <p:nvPr/>
          </p:nvSpPr>
          <p:spPr bwMode="auto">
            <a:xfrm>
              <a:off x="4435" y="1324"/>
              <a:ext cx="1493" cy="365"/>
            </a:xfrm>
            <a:prstGeom prst="homePlate">
              <a:avLst>
                <a:gd name="adj" fmla="val 102260"/>
              </a:avLst>
            </a:prstGeom>
            <a:grpFill/>
            <a:ln w="9525">
              <a:solidFill>
                <a:srgbClr val="FFFFFF"/>
              </a:solidFill>
              <a:miter lim="800000"/>
            </a:ln>
            <a:effectLst>
              <a:outerShdw dist="107763" dir="2700000" algn="ctr" rotWithShape="0">
                <a:srgbClr val="808080"/>
              </a:outerShdw>
            </a:effectLst>
          </p:spPr>
          <p:txBody>
            <a:bodyPr wrap="none" anchor="ctr"/>
            <a:lstStyle/>
            <a:p>
              <a:pPr eaLnBrk="1" fontAlgn="auto" hangingPunct="1">
                <a:spcBef>
                  <a:spcPts val="0"/>
                </a:spcBef>
                <a:spcAft>
                  <a:spcPts val="0"/>
                </a:spcAft>
                <a:defRPr/>
              </a:pPr>
              <a:endParaRPr lang="en-US" kern="0">
                <a:solidFill>
                  <a:srgbClr val="333333"/>
                </a:solidFill>
                <a:latin typeface="Arial" panose="020B0604020202020204" pitchFamily="34" charset="0"/>
              </a:endParaRPr>
            </a:p>
          </p:txBody>
        </p:sp>
        <p:sp>
          <p:nvSpPr>
            <p:cNvPr id="83" name="Rectangle 13"/>
            <p:cNvSpPr>
              <a:spLocks noChangeArrowheads="1"/>
            </p:cNvSpPr>
            <p:nvPr/>
          </p:nvSpPr>
          <p:spPr bwMode="auto">
            <a:xfrm>
              <a:off x="4526" y="1420"/>
              <a:ext cx="154" cy="159"/>
            </a:xfrm>
            <a:prstGeom prst="rect">
              <a:avLst/>
            </a:prstGeom>
            <a:grpFill/>
            <a:ln w="9525">
              <a:solidFill>
                <a:srgbClr val="FFFFFF"/>
              </a:solidFill>
              <a:miter lim="800000"/>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A</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84" name="Rectangle 14"/>
            <p:cNvSpPr>
              <a:spLocks noChangeArrowheads="1"/>
            </p:cNvSpPr>
            <p:nvPr/>
          </p:nvSpPr>
          <p:spPr bwMode="auto">
            <a:xfrm>
              <a:off x="4802" y="1420"/>
              <a:ext cx="154" cy="159"/>
            </a:xfrm>
            <a:prstGeom prst="rect">
              <a:avLst/>
            </a:prstGeom>
            <a:grpFill/>
            <a:ln w="9525">
              <a:solidFill>
                <a:srgbClr val="FFFFFF"/>
              </a:solidFill>
              <a:miter lim="800000"/>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B</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85" name="Rectangle 15"/>
            <p:cNvSpPr>
              <a:spLocks noChangeArrowheads="1"/>
            </p:cNvSpPr>
            <p:nvPr/>
          </p:nvSpPr>
          <p:spPr bwMode="auto">
            <a:xfrm>
              <a:off x="5079" y="1420"/>
              <a:ext cx="154" cy="159"/>
            </a:xfrm>
            <a:prstGeom prst="rect">
              <a:avLst/>
            </a:prstGeom>
            <a:grpFill/>
            <a:ln w="9525">
              <a:solidFill>
                <a:srgbClr val="FFFFFF"/>
              </a:solidFill>
              <a:miter lim="800000"/>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C</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86" name="Rectangle 16"/>
            <p:cNvSpPr>
              <a:spLocks noChangeArrowheads="1"/>
            </p:cNvSpPr>
            <p:nvPr/>
          </p:nvSpPr>
          <p:spPr bwMode="auto">
            <a:xfrm>
              <a:off x="5356" y="1420"/>
              <a:ext cx="154" cy="159"/>
            </a:xfrm>
            <a:prstGeom prst="rect">
              <a:avLst/>
            </a:prstGeom>
            <a:grpFill/>
            <a:ln w="9525">
              <a:solidFill>
                <a:srgbClr val="FFFFFF"/>
              </a:solidFill>
              <a:miter lim="800000"/>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D</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87" name="Line 17"/>
            <p:cNvSpPr>
              <a:spLocks noChangeShapeType="1"/>
            </p:cNvSpPr>
            <p:nvPr/>
          </p:nvSpPr>
          <p:spPr bwMode="auto">
            <a:xfrm>
              <a:off x="4690" y="1493"/>
              <a:ext cx="110" cy="0"/>
            </a:xfrm>
            <a:prstGeom prst="line">
              <a:avLst/>
            </a:prstGeom>
            <a:grpFill/>
            <a:ln w="9525">
              <a:solidFill>
                <a:srgbClr val="FFFFFF"/>
              </a:solidFill>
              <a:round/>
              <a:tailEnd type="triangle" w="med" len="med"/>
            </a:ln>
            <a:effectLst/>
          </p:spPr>
          <p:txBody>
            <a:bodyPr wrap="none" anchor="ctr"/>
            <a:lstStyle/>
            <a:p>
              <a:pPr eaLnBrk="1" fontAlgn="auto" hangingPunct="1">
                <a:spcBef>
                  <a:spcPts val="0"/>
                </a:spcBef>
                <a:spcAft>
                  <a:spcPts val="0"/>
                </a:spcAft>
                <a:defRPr/>
              </a:pPr>
              <a:endParaRPr lang="en-US" kern="0">
                <a:solidFill>
                  <a:srgbClr val="333333"/>
                </a:solidFill>
                <a:latin typeface="Arial" panose="020B0604020202020204" pitchFamily="34" charset="0"/>
              </a:endParaRPr>
            </a:p>
          </p:txBody>
        </p:sp>
        <p:sp>
          <p:nvSpPr>
            <p:cNvPr id="88" name="Line 18"/>
            <p:cNvSpPr>
              <a:spLocks noChangeShapeType="1"/>
            </p:cNvSpPr>
            <p:nvPr/>
          </p:nvSpPr>
          <p:spPr bwMode="auto">
            <a:xfrm>
              <a:off x="4973" y="1493"/>
              <a:ext cx="110" cy="0"/>
            </a:xfrm>
            <a:prstGeom prst="line">
              <a:avLst/>
            </a:prstGeom>
            <a:grpFill/>
            <a:ln w="9525">
              <a:solidFill>
                <a:srgbClr val="FFFFFF"/>
              </a:solidFill>
              <a:round/>
              <a:tailEnd type="triangle" w="med" len="med"/>
            </a:ln>
            <a:effectLst/>
          </p:spPr>
          <p:txBody>
            <a:bodyPr wrap="none" anchor="ctr"/>
            <a:lstStyle/>
            <a:p>
              <a:pPr eaLnBrk="1" fontAlgn="auto" hangingPunct="1">
                <a:spcBef>
                  <a:spcPts val="0"/>
                </a:spcBef>
                <a:spcAft>
                  <a:spcPts val="0"/>
                </a:spcAft>
                <a:defRPr/>
              </a:pPr>
              <a:endParaRPr lang="en-US" kern="0">
                <a:solidFill>
                  <a:srgbClr val="333333"/>
                </a:solidFill>
                <a:latin typeface="Arial" panose="020B0604020202020204" pitchFamily="34" charset="0"/>
              </a:endParaRPr>
            </a:p>
          </p:txBody>
        </p:sp>
        <p:sp>
          <p:nvSpPr>
            <p:cNvPr id="89" name="Line 19"/>
            <p:cNvSpPr>
              <a:spLocks noChangeShapeType="1"/>
            </p:cNvSpPr>
            <p:nvPr/>
          </p:nvSpPr>
          <p:spPr bwMode="auto">
            <a:xfrm>
              <a:off x="5242" y="1493"/>
              <a:ext cx="110" cy="0"/>
            </a:xfrm>
            <a:prstGeom prst="line">
              <a:avLst/>
            </a:prstGeom>
            <a:grpFill/>
            <a:ln w="9525">
              <a:solidFill>
                <a:srgbClr val="FFFFFF"/>
              </a:solidFill>
              <a:round/>
              <a:tailEnd type="triangle" w="med" len="med"/>
            </a:ln>
            <a:effectLst/>
          </p:spPr>
          <p:txBody>
            <a:bodyPr wrap="none" anchor="ctr"/>
            <a:lstStyle/>
            <a:p>
              <a:pPr eaLnBrk="1" fontAlgn="auto" hangingPunct="1">
                <a:spcBef>
                  <a:spcPts val="0"/>
                </a:spcBef>
                <a:spcAft>
                  <a:spcPts val="0"/>
                </a:spcAft>
                <a:defRPr/>
              </a:pPr>
              <a:endParaRPr lang="en-US" kern="0">
                <a:solidFill>
                  <a:srgbClr val="333333"/>
                </a:solidFill>
                <a:latin typeface="Arial" panose="020B0604020202020204" pitchFamily="34" charset="0"/>
              </a:endParaRPr>
            </a:p>
          </p:txBody>
        </p:sp>
      </p:grpSp>
      <p:sp>
        <p:nvSpPr>
          <p:cNvPr id="90" name="Text Box 20"/>
          <p:cNvSpPr txBox="1">
            <a:spLocks noChangeArrowheads="1"/>
          </p:cNvSpPr>
          <p:nvPr/>
        </p:nvSpPr>
        <p:spPr bwMode="auto">
          <a:xfrm>
            <a:off x="4765050" y="2749719"/>
            <a:ext cx="2337499" cy="646331"/>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200" dirty="0">
                <a:solidFill>
                  <a:srgbClr val="333333"/>
                </a:solidFill>
                <a:latin typeface="Times New Roman" panose="02020603050405020304" pitchFamily="18" charset="0"/>
                <a:ea typeface="宋体" panose="02010600030101010101" pitchFamily="2" charset="-122"/>
              </a:rPr>
              <a:t>业务驱动要素</a:t>
            </a:r>
            <a:r>
              <a:rPr lang="en-US" altLang="zh-CN" sz="1200" dirty="0">
                <a:solidFill>
                  <a:srgbClr val="333333"/>
                </a:solidFill>
                <a:latin typeface="Times New Roman" panose="02020603050405020304" pitchFamily="18" charset="0"/>
                <a:ea typeface="宋体" panose="02010600030101010101" pitchFamily="2" charset="-122"/>
              </a:rPr>
              <a:t>:</a:t>
            </a:r>
            <a:endParaRPr lang="en-US" altLang="zh-CN" sz="1200" dirty="0">
              <a:solidFill>
                <a:srgbClr val="333333"/>
              </a:solidFill>
              <a:latin typeface="Times New Roman" panose="02020603050405020304" pitchFamily="18" charset="0"/>
              <a:ea typeface="宋体" panose="02010600030101010101" pitchFamily="2" charset="-122"/>
            </a:endParaRPr>
          </a:p>
          <a:p>
            <a:r>
              <a:rPr lang="en-US" altLang="zh-CN" sz="1200" dirty="0">
                <a:solidFill>
                  <a:srgbClr val="333333"/>
                </a:solidFill>
                <a:latin typeface="Times New Roman" panose="02020603050405020304" pitchFamily="18" charset="0"/>
                <a:ea typeface="宋体" panose="02010600030101010101" pitchFamily="2" charset="-122"/>
              </a:rPr>
              <a:t> </a:t>
            </a:r>
            <a:r>
              <a:rPr lang="zh-CN" altLang="en-US" sz="1200" dirty="0">
                <a:solidFill>
                  <a:srgbClr val="333333"/>
                </a:solidFill>
                <a:latin typeface="Times New Roman" panose="02020603050405020304" pitchFamily="18" charset="0"/>
                <a:ea typeface="宋体" panose="02010600030101010101" pitchFamily="2" charset="-122"/>
              </a:rPr>
              <a:t>快速响应时间，</a:t>
            </a:r>
            <a:r>
              <a:rPr lang="zh-CN" altLang="en-US" sz="1200" dirty="0"/>
              <a:t> 强调运营效率</a:t>
            </a:r>
            <a:endParaRPr lang="en-US" altLang="zh-CN" sz="1200" dirty="0"/>
          </a:p>
          <a:p>
            <a:r>
              <a:rPr lang="zh-CN" altLang="en-US" sz="1200" dirty="0">
                <a:solidFill>
                  <a:srgbClr val="333333"/>
                </a:solidFill>
                <a:latin typeface="Times New Roman" panose="02020603050405020304" pitchFamily="18" charset="0"/>
                <a:ea typeface="宋体" panose="02010600030101010101" pitchFamily="2" charset="-122"/>
              </a:rPr>
              <a:t>但跨团队资源重复和浪费</a:t>
            </a:r>
            <a:endParaRPr lang="en-US" altLang="zh-CN" sz="1200" dirty="0">
              <a:solidFill>
                <a:srgbClr val="333333"/>
              </a:solidFill>
              <a:latin typeface="Times New Roman" panose="02020603050405020304" pitchFamily="18" charset="0"/>
              <a:ea typeface="宋体" panose="02010600030101010101" pitchFamily="2" charset="-122"/>
            </a:endParaRPr>
          </a:p>
        </p:txBody>
      </p:sp>
      <p:sp>
        <p:nvSpPr>
          <p:cNvPr id="91" name="Text Box 21"/>
          <p:cNvSpPr txBox="1">
            <a:spLocks noChangeArrowheads="1"/>
          </p:cNvSpPr>
          <p:nvPr/>
        </p:nvSpPr>
        <p:spPr bwMode="auto">
          <a:xfrm>
            <a:off x="896938" y="3578226"/>
            <a:ext cx="2046287" cy="33972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600" u="sng">
                <a:solidFill>
                  <a:srgbClr val="333333"/>
                </a:solidFill>
                <a:latin typeface="Times New Roman" panose="02020603050405020304" pitchFamily="18" charset="0"/>
                <a:ea typeface="宋体" panose="02010600030101010101" pitchFamily="2" charset="-122"/>
              </a:rPr>
              <a:t>基于产品的组织类型</a:t>
            </a:r>
            <a:endParaRPr lang="zh-CN" altLang="en-US" sz="1600" u="sng">
              <a:solidFill>
                <a:srgbClr val="333333"/>
              </a:solidFill>
              <a:latin typeface="Times New Roman" panose="02020603050405020304" pitchFamily="18" charset="0"/>
              <a:ea typeface="宋体" panose="02010600030101010101" pitchFamily="2" charset="-122"/>
            </a:endParaRPr>
          </a:p>
        </p:txBody>
      </p:sp>
      <p:sp>
        <p:nvSpPr>
          <p:cNvPr id="92" name="Text Box 22"/>
          <p:cNvSpPr txBox="1">
            <a:spLocks noChangeArrowheads="1"/>
          </p:cNvSpPr>
          <p:nvPr/>
        </p:nvSpPr>
        <p:spPr bwMode="auto">
          <a:xfrm>
            <a:off x="885825" y="5634038"/>
            <a:ext cx="2411413" cy="830997"/>
          </a:xfrm>
          <a:prstGeom prst="rect">
            <a:avLst/>
          </a:prstGeom>
          <a:noFill/>
          <a:ln w="9525">
            <a:noFill/>
            <a:miter lim="800000"/>
          </a:ln>
          <a:effectLst/>
        </p:spPr>
        <p:txBody>
          <a:bodyPr>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200" dirty="0">
                <a:solidFill>
                  <a:srgbClr val="333333"/>
                </a:solidFill>
                <a:latin typeface="Times New Roman" panose="02020603050405020304" pitchFamily="18" charset="0"/>
                <a:ea typeface="宋体" panose="02010600030101010101" pitchFamily="2" charset="-122"/>
              </a:rPr>
              <a:t>业务驱动要素</a:t>
            </a:r>
            <a:r>
              <a:rPr lang="en-US" altLang="zh-CN" sz="1200" dirty="0">
                <a:solidFill>
                  <a:srgbClr val="333333"/>
                </a:solidFill>
                <a:latin typeface="Times New Roman" panose="02020603050405020304" pitchFamily="18" charset="0"/>
                <a:ea typeface="宋体" panose="02010600030101010101" pitchFamily="2" charset="-122"/>
              </a:rPr>
              <a:t>:</a:t>
            </a:r>
            <a:endParaRPr lang="en-US" altLang="zh-CN" sz="1200" dirty="0">
              <a:solidFill>
                <a:srgbClr val="333333"/>
              </a:solidFill>
              <a:latin typeface="Times New Roman" panose="02020603050405020304" pitchFamily="18" charset="0"/>
              <a:ea typeface="宋体" panose="02010600030101010101" pitchFamily="2" charset="-122"/>
            </a:endParaRPr>
          </a:p>
          <a:p>
            <a:pPr eaLnBrk="1" hangingPunct="1">
              <a:buClrTx/>
              <a:buFontTx/>
              <a:buChar char="•"/>
            </a:pPr>
            <a:r>
              <a:rPr lang="en-US" altLang="zh-CN" sz="1200" dirty="0">
                <a:solidFill>
                  <a:srgbClr val="333333"/>
                </a:solidFill>
                <a:latin typeface="Times New Roman" panose="02020603050405020304" pitchFamily="18" charset="0"/>
                <a:ea typeface="宋体" panose="02010600030101010101" pitchFamily="2" charset="-122"/>
              </a:rPr>
              <a:t> </a:t>
            </a:r>
            <a:r>
              <a:rPr lang="zh-CN" altLang="en-US" sz="1200" dirty="0">
                <a:solidFill>
                  <a:srgbClr val="333333"/>
                </a:solidFill>
                <a:latin typeface="Times New Roman" panose="02020603050405020304" pitchFamily="18" charset="0"/>
                <a:ea typeface="宋体" panose="02010600030101010101" pitchFamily="2" charset="-122"/>
              </a:rPr>
              <a:t>快速的产品开发</a:t>
            </a:r>
            <a:endParaRPr lang="en-US" altLang="zh-CN" sz="1200" dirty="0">
              <a:solidFill>
                <a:srgbClr val="333333"/>
              </a:solidFill>
              <a:latin typeface="Times New Roman" panose="02020603050405020304" pitchFamily="18" charset="0"/>
              <a:ea typeface="宋体" panose="02010600030101010101" pitchFamily="2" charset="-122"/>
            </a:endParaRPr>
          </a:p>
          <a:p>
            <a:pPr eaLnBrk="1" hangingPunct="1">
              <a:buClrTx/>
              <a:buFontTx/>
              <a:buChar char="•"/>
            </a:pPr>
            <a:r>
              <a:rPr lang="zh-CN" altLang="en-US" sz="1200" dirty="0">
                <a:solidFill>
                  <a:srgbClr val="333333"/>
                </a:solidFill>
                <a:latin typeface="Times New Roman" panose="02020603050405020304" pitchFamily="18" charset="0"/>
                <a:ea typeface="宋体" panose="02010600030101010101" pitchFamily="2" charset="-122"/>
              </a:rPr>
              <a:t> 多样化和复杂的产品结构</a:t>
            </a:r>
            <a:endParaRPr lang="en-US" altLang="zh-CN" sz="1200" dirty="0">
              <a:solidFill>
                <a:srgbClr val="333333"/>
              </a:solidFill>
              <a:latin typeface="Times New Roman" panose="02020603050405020304" pitchFamily="18" charset="0"/>
              <a:ea typeface="宋体" panose="02010600030101010101" pitchFamily="2" charset="-122"/>
            </a:endParaRPr>
          </a:p>
          <a:p>
            <a:pPr eaLnBrk="1" hangingPunct="1">
              <a:buClrTx/>
              <a:buFontTx/>
              <a:buChar char="•"/>
            </a:pPr>
            <a:r>
              <a:rPr lang="zh-CN" altLang="en-US" sz="1200" dirty="0">
                <a:solidFill>
                  <a:srgbClr val="333333"/>
                </a:solidFill>
                <a:latin typeface="Times New Roman" panose="02020603050405020304" pitchFamily="18" charset="0"/>
                <a:ea typeface="宋体" panose="02010600030101010101" pitchFamily="2" charset="-122"/>
              </a:rPr>
              <a:t>重复</a:t>
            </a:r>
            <a:r>
              <a:rPr lang="en-US" altLang="zh-CN" sz="1200" dirty="0">
                <a:solidFill>
                  <a:srgbClr val="333333"/>
                </a:solidFill>
                <a:latin typeface="Times New Roman" panose="02020603050405020304" pitchFamily="18" charset="0"/>
                <a:ea typeface="宋体" panose="02010600030101010101" pitchFamily="2" charset="-122"/>
              </a:rPr>
              <a:t>/</a:t>
            </a:r>
            <a:r>
              <a:rPr lang="zh-CN" altLang="en-US" sz="1200" dirty="0">
                <a:solidFill>
                  <a:srgbClr val="333333"/>
                </a:solidFill>
                <a:latin typeface="Times New Roman" panose="02020603050405020304" pitchFamily="18" charset="0"/>
                <a:ea typeface="宋体" panose="02010600030101010101" pitchFamily="2" charset="-122"/>
              </a:rPr>
              <a:t>浪费，内部竞争</a:t>
            </a:r>
            <a:endParaRPr lang="en-US" altLang="zh-CN" sz="1200" dirty="0">
              <a:solidFill>
                <a:srgbClr val="333333"/>
              </a:solidFill>
              <a:latin typeface="Times New Roman" panose="02020603050405020304" pitchFamily="18" charset="0"/>
              <a:ea typeface="宋体" panose="02010600030101010101" pitchFamily="2" charset="-122"/>
            </a:endParaRPr>
          </a:p>
        </p:txBody>
      </p:sp>
      <p:sp>
        <p:nvSpPr>
          <p:cNvPr id="135179" name="Rectangle 23"/>
          <p:cNvSpPr>
            <a:spLocks noChangeArrowheads="1"/>
          </p:cNvSpPr>
          <p:nvPr/>
        </p:nvSpPr>
        <p:spPr bwMode="auto">
          <a:xfrm>
            <a:off x="1033463" y="4327526"/>
            <a:ext cx="528637" cy="1058862"/>
          </a:xfrm>
          <a:prstGeom prst="rect">
            <a:avLst/>
          </a:prstGeom>
          <a:solidFill>
            <a:srgbClr val="FFD200"/>
          </a:solidFill>
          <a:ln w="9525">
            <a:solidFill>
              <a:srgbClr val="FFFFFF"/>
            </a:solidFill>
            <a:miter lim="800000"/>
          </a:ln>
          <a:effectLst>
            <a:outerShdw dist="107763" dir="2700000" algn="ctr" rotWithShape="0">
              <a:srgbClr val="808080"/>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en-US" altLang="zh-CN" sz="1800" b="0">
              <a:solidFill>
                <a:srgbClr val="333333"/>
              </a:solidFill>
              <a:ea typeface="宋体" panose="02010600030101010101" pitchFamily="2" charset="-122"/>
            </a:endParaRPr>
          </a:p>
        </p:txBody>
      </p:sp>
      <p:sp>
        <p:nvSpPr>
          <p:cNvPr id="135180" name="Rectangle 24"/>
          <p:cNvSpPr>
            <a:spLocks noChangeArrowheads="1"/>
          </p:cNvSpPr>
          <p:nvPr/>
        </p:nvSpPr>
        <p:spPr bwMode="auto">
          <a:xfrm>
            <a:off x="1660525" y="4327526"/>
            <a:ext cx="527050" cy="1058862"/>
          </a:xfrm>
          <a:prstGeom prst="rect">
            <a:avLst/>
          </a:prstGeom>
          <a:solidFill>
            <a:srgbClr val="FFD200"/>
          </a:solidFill>
          <a:ln w="9525">
            <a:solidFill>
              <a:srgbClr val="FFFFFF"/>
            </a:solidFill>
            <a:miter lim="800000"/>
          </a:ln>
          <a:effectLst>
            <a:outerShdw dist="107763" dir="2700000" algn="ctr" rotWithShape="0">
              <a:srgbClr val="808080"/>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en-US" altLang="zh-CN" sz="1800" b="0">
              <a:solidFill>
                <a:srgbClr val="333333"/>
              </a:solidFill>
              <a:ea typeface="宋体" panose="02010600030101010101" pitchFamily="2" charset="-122"/>
            </a:endParaRPr>
          </a:p>
        </p:txBody>
      </p:sp>
      <p:sp>
        <p:nvSpPr>
          <p:cNvPr id="135181" name="Rectangle 25"/>
          <p:cNvSpPr>
            <a:spLocks noChangeArrowheads="1"/>
          </p:cNvSpPr>
          <p:nvPr/>
        </p:nvSpPr>
        <p:spPr bwMode="auto">
          <a:xfrm>
            <a:off x="2286000" y="4327526"/>
            <a:ext cx="527050" cy="1058862"/>
          </a:xfrm>
          <a:prstGeom prst="rect">
            <a:avLst/>
          </a:prstGeom>
          <a:solidFill>
            <a:srgbClr val="FFD200"/>
          </a:solidFill>
          <a:ln w="9525">
            <a:solidFill>
              <a:srgbClr val="FFFFFF"/>
            </a:solidFill>
            <a:miter lim="800000"/>
          </a:ln>
          <a:effectLst>
            <a:outerShdw dist="107763" dir="2700000" algn="ctr" rotWithShape="0">
              <a:srgbClr val="808080"/>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en-US" altLang="zh-CN" sz="1800" b="0">
              <a:solidFill>
                <a:srgbClr val="333333"/>
              </a:solidFill>
              <a:ea typeface="宋体" panose="02010600030101010101" pitchFamily="2" charset="-122"/>
            </a:endParaRPr>
          </a:p>
        </p:txBody>
      </p:sp>
      <p:grpSp>
        <p:nvGrpSpPr>
          <p:cNvPr id="96" name="Group 26"/>
          <p:cNvGrpSpPr/>
          <p:nvPr/>
        </p:nvGrpSpPr>
        <p:grpSpPr bwMode="auto">
          <a:xfrm>
            <a:off x="1106488" y="4625107"/>
            <a:ext cx="357187" cy="441325"/>
            <a:chOff x="2747" y="3168"/>
            <a:chExt cx="244" cy="278"/>
          </a:xfrm>
          <a:solidFill>
            <a:srgbClr val="FFD200"/>
          </a:solidFill>
        </p:grpSpPr>
        <p:sp>
          <p:nvSpPr>
            <p:cNvPr id="97" name="Oval 27"/>
            <p:cNvSpPr>
              <a:spLocks noChangeArrowheads="1"/>
            </p:cNvSpPr>
            <p:nvPr/>
          </p:nvSpPr>
          <p:spPr bwMode="auto">
            <a:xfrm>
              <a:off x="2747" y="3336"/>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C</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98" name="Oval 28"/>
            <p:cNvSpPr>
              <a:spLocks noChangeArrowheads="1"/>
            </p:cNvSpPr>
            <p:nvPr/>
          </p:nvSpPr>
          <p:spPr bwMode="auto">
            <a:xfrm>
              <a:off x="2890" y="3336"/>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D</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99" name="Oval 29"/>
            <p:cNvSpPr>
              <a:spLocks noChangeArrowheads="1"/>
            </p:cNvSpPr>
            <p:nvPr/>
          </p:nvSpPr>
          <p:spPr bwMode="auto">
            <a:xfrm>
              <a:off x="2747" y="3168"/>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A</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00" name="Oval 30"/>
            <p:cNvSpPr>
              <a:spLocks noChangeArrowheads="1"/>
            </p:cNvSpPr>
            <p:nvPr/>
          </p:nvSpPr>
          <p:spPr bwMode="auto">
            <a:xfrm>
              <a:off x="2890" y="3168"/>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B</a:t>
              </a:r>
              <a:endParaRPr lang="en-US" altLang="zh-CN" kern="0">
                <a:solidFill>
                  <a:srgbClr val="333333"/>
                </a:solidFill>
                <a:latin typeface="Times New Roman" panose="02020603050405020304" pitchFamily="18" charset="0"/>
                <a:ea typeface="宋体" panose="02010600030101010101" pitchFamily="2" charset="-122"/>
              </a:endParaRPr>
            </a:p>
          </p:txBody>
        </p:sp>
      </p:grpSp>
      <p:grpSp>
        <p:nvGrpSpPr>
          <p:cNvPr id="101" name="Group 31"/>
          <p:cNvGrpSpPr/>
          <p:nvPr/>
        </p:nvGrpSpPr>
        <p:grpSpPr bwMode="auto">
          <a:xfrm>
            <a:off x="1730375" y="4625107"/>
            <a:ext cx="357188" cy="441325"/>
            <a:chOff x="2747" y="3168"/>
            <a:chExt cx="244" cy="278"/>
          </a:xfrm>
          <a:solidFill>
            <a:srgbClr val="FFD200"/>
          </a:solidFill>
        </p:grpSpPr>
        <p:sp>
          <p:nvSpPr>
            <p:cNvPr id="102" name="Oval 32"/>
            <p:cNvSpPr>
              <a:spLocks noChangeArrowheads="1"/>
            </p:cNvSpPr>
            <p:nvPr/>
          </p:nvSpPr>
          <p:spPr bwMode="auto">
            <a:xfrm>
              <a:off x="2747" y="3336"/>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C</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03" name="Oval 33"/>
            <p:cNvSpPr>
              <a:spLocks noChangeArrowheads="1"/>
            </p:cNvSpPr>
            <p:nvPr/>
          </p:nvSpPr>
          <p:spPr bwMode="auto">
            <a:xfrm>
              <a:off x="2890" y="3336"/>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D</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04" name="Oval 34"/>
            <p:cNvSpPr>
              <a:spLocks noChangeArrowheads="1"/>
            </p:cNvSpPr>
            <p:nvPr/>
          </p:nvSpPr>
          <p:spPr bwMode="auto">
            <a:xfrm>
              <a:off x="2747" y="3168"/>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A</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05" name="Oval 35"/>
            <p:cNvSpPr>
              <a:spLocks noChangeArrowheads="1"/>
            </p:cNvSpPr>
            <p:nvPr/>
          </p:nvSpPr>
          <p:spPr bwMode="auto">
            <a:xfrm>
              <a:off x="2890" y="3168"/>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B</a:t>
              </a:r>
              <a:endParaRPr lang="en-US" altLang="zh-CN" kern="0">
                <a:solidFill>
                  <a:srgbClr val="333333"/>
                </a:solidFill>
                <a:latin typeface="Times New Roman" panose="02020603050405020304" pitchFamily="18" charset="0"/>
                <a:ea typeface="宋体" panose="02010600030101010101" pitchFamily="2" charset="-122"/>
              </a:endParaRPr>
            </a:p>
          </p:txBody>
        </p:sp>
      </p:grpSp>
      <p:grpSp>
        <p:nvGrpSpPr>
          <p:cNvPr id="106" name="Group 36"/>
          <p:cNvGrpSpPr/>
          <p:nvPr/>
        </p:nvGrpSpPr>
        <p:grpSpPr bwMode="auto">
          <a:xfrm>
            <a:off x="2354263" y="4625107"/>
            <a:ext cx="357187" cy="441325"/>
            <a:chOff x="2747" y="3168"/>
            <a:chExt cx="244" cy="278"/>
          </a:xfrm>
          <a:solidFill>
            <a:srgbClr val="FFD200"/>
          </a:solidFill>
        </p:grpSpPr>
        <p:sp>
          <p:nvSpPr>
            <p:cNvPr id="107" name="Oval 37"/>
            <p:cNvSpPr>
              <a:spLocks noChangeArrowheads="1"/>
            </p:cNvSpPr>
            <p:nvPr/>
          </p:nvSpPr>
          <p:spPr bwMode="auto">
            <a:xfrm>
              <a:off x="2747" y="3336"/>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C</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08" name="Oval 38"/>
            <p:cNvSpPr>
              <a:spLocks noChangeArrowheads="1"/>
            </p:cNvSpPr>
            <p:nvPr/>
          </p:nvSpPr>
          <p:spPr bwMode="auto">
            <a:xfrm>
              <a:off x="2890" y="3336"/>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D</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09" name="Oval 39"/>
            <p:cNvSpPr>
              <a:spLocks noChangeArrowheads="1"/>
            </p:cNvSpPr>
            <p:nvPr/>
          </p:nvSpPr>
          <p:spPr bwMode="auto">
            <a:xfrm>
              <a:off x="2747" y="3168"/>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A</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10" name="Oval 40"/>
            <p:cNvSpPr>
              <a:spLocks noChangeArrowheads="1"/>
            </p:cNvSpPr>
            <p:nvPr/>
          </p:nvSpPr>
          <p:spPr bwMode="auto">
            <a:xfrm>
              <a:off x="2890" y="3168"/>
              <a:ext cx="101" cy="110"/>
            </a:xfrm>
            <a:prstGeom prst="ellipse">
              <a:avLst/>
            </a:prstGeom>
            <a:grp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B</a:t>
              </a:r>
              <a:endParaRPr lang="en-US" altLang="zh-CN" kern="0">
                <a:solidFill>
                  <a:srgbClr val="333333"/>
                </a:solidFill>
                <a:latin typeface="Times New Roman" panose="02020603050405020304" pitchFamily="18" charset="0"/>
                <a:ea typeface="宋体" panose="02010600030101010101" pitchFamily="2" charset="-122"/>
              </a:endParaRPr>
            </a:p>
          </p:txBody>
        </p:sp>
      </p:grpSp>
      <p:sp>
        <p:nvSpPr>
          <p:cNvPr id="111" name="Text Box 41"/>
          <p:cNvSpPr txBox="1">
            <a:spLocks noChangeArrowheads="1"/>
          </p:cNvSpPr>
          <p:nvPr/>
        </p:nvSpPr>
        <p:spPr bwMode="auto">
          <a:xfrm>
            <a:off x="1017588" y="3903663"/>
            <a:ext cx="565150" cy="39687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333333"/>
                </a:solidFill>
                <a:latin typeface="Times New Roman" panose="02020603050405020304" pitchFamily="18" charset="0"/>
                <a:ea typeface="宋体" panose="02010600030101010101" pitchFamily="2" charset="-122"/>
              </a:rPr>
              <a:t>产品组</a:t>
            </a:r>
            <a:endParaRPr lang="en-US" altLang="zh-CN" sz="1000">
              <a:solidFill>
                <a:srgbClr val="333333"/>
              </a:solidFill>
              <a:latin typeface="Times New Roman" panose="02020603050405020304" pitchFamily="18" charset="0"/>
              <a:ea typeface="宋体" panose="02010600030101010101" pitchFamily="2" charset="-122"/>
            </a:endParaRPr>
          </a:p>
          <a:p>
            <a:pPr algn="ctr" eaLnBrk="1" hangingPunct="1">
              <a:buClrTx/>
              <a:buFontTx/>
              <a:buNone/>
            </a:pPr>
            <a:r>
              <a:rPr lang="en-US" altLang="zh-CN" sz="1000">
                <a:solidFill>
                  <a:srgbClr val="333333"/>
                </a:solidFill>
                <a:latin typeface="Times New Roman" panose="02020603050405020304" pitchFamily="18" charset="0"/>
                <a:ea typeface="宋体" panose="02010600030101010101" pitchFamily="2" charset="-122"/>
              </a:rPr>
              <a:t>1</a:t>
            </a:r>
            <a:endParaRPr lang="en-US" altLang="zh-CN" sz="1000">
              <a:solidFill>
                <a:srgbClr val="333333"/>
              </a:solidFill>
              <a:latin typeface="Times New Roman" panose="02020603050405020304" pitchFamily="18" charset="0"/>
              <a:ea typeface="宋体" panose="02010600030101010101" pitchFamily="2" charset="-122"/>
            </a:endParaRPr>
          </a:p>
        </p:txBody>
      </p:sp>
      <p:sp>
        <p:nvSpPr>
          <p:cNvPr id="112" name="Text Box 42"/>
          <p:cNvSpPr txBox="1">
            <a:spLocks noChangeArrowheads="1"/>
          </p:cNvSpPr>
          <p:nvPr/>
        </p:nvSpPr>
        <p:spPr bwMode="auto">
          <a:xfrm>
            <a:off x="1655763" y="3903663"/>
            <a:ext cx="565150" cy="39687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333333"/>
                </a:solidFill>
                <a:latin typeface="Times New Roman" panose="02020603050405020304" pitchFamily="18" charset="0"/>
                <a:ea typeface="宋体" panose="02010600030101010101" pitchFamily="2" charset="-122"/>
              </a:rPr>
              <a:t>产品组</a:t>
            </a:r>
            <a:endParaRPr lang="en-US" altLang="zh-CN" sz="1000">
              <a:solidFill>
                <a:srgbClr val="333333"/>
              </a:solidFill>
              <a:latin typeface="Times New Roman" panose="02020603050405020304" pitchFamily="18" charset="0"/>
              <a:ea typeface="宋体" panose="02010600030101010101" pitchFamily="2" charset="-122"/>
            </a:endParaRPr>
          </a:p>
          <a:p>
            <a:pPr algn="ctr" eaLnBrk="1" hangingPunct="1">
              <a:buClrTx/>
              <a:buFontTx/>
              <a:buNone/>
            </a:pPr>
            <a:r>
              <a:rPr lang="en-US" altLang="zh-CN" sz="1000">
                <a:solidFill>
                  <a:srgbClr val="333333"/>
                </a:solidFill>
                <a:latin typeface="Times New Roman" panose="02020603050405020304" pitchFamily="18" charset="0"/>
                <a:ea typeface="宋体" panose="02010600030101010101" pitchFamily="2" charset="-122"/>
              </a:rPr>
              <a:t>2</a:t>
            </a:r>
            <a:endParaRPr lang="en-US" altLang="zh-CN" sz="1000">
              <a:solidFill>
                <a:srgbClr val="333333"/>
              </a:solidFill>
              <a:latin typeface="Times New Roman" panose="02020603050405020304" pitchFamily="18" charset="0"/>
              <a:ea typeface="宋体" panose="02010600030101010101" pitchFamily="2" charset="-122"/>
            </a:endParaRPr>
          </a:p>
        </p:txBody>
      </p:sp>
      <p:sp>
        <p:nvSpPr>
          <p:cNvPr id="113" name="Text Box 43"/>
          <p:cNvSpPr txBox="1">
            <a:spLocks noChangeArrowheads="1"/>
          </p:cNvSpPr>
          <p:nvPr/>
        </p:nvSpPr>
        <p:spPr bwMode="auto">
          <a:xfrm>
            <a:off x="2289175" y="3903663"/>
            <a:ext cx="565150" cy="39687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333333"/>
                </a:solidFill>
                <a:latin typeface="Times New Roman" panose="02020603050405020304" pitchFamily="18" charset="0"/>
                <a:ea typeface="宋体" panose="02010600030101010101" pitchFamily="2" charset="-122"/>
              </a:rPr>
              <a:t>产品组</a:t>
            </a:r>
            <a:endParaRPr lang="zh-CN" altLang="en-US" sz="1000">
              <a:solidFill>
                <a:srgbClr val="333333"/>
              </a:solidFill>
              <a:latin typeface="Times New Roman" panose="02020603050405020304" pitchFamily="18" charset="0"/>
              <a:ea typeface="宋体" panose="02010600030101010101" pitchFamily="2" charset="-122"/>
            </a:endParaRPr>
          </a:p>
          <a:p>
            <a:pPr algn="ctr" eaLnBrk="1" hangingPunct="1">
              <a:buClrTx/>
              <a:buFontTx/>
              <a:buNone/>
            </a:pPr>
            <a:r>
              <a:rPr lang="en-US" altLang="zh-CN" sz="1000">
                <a:solidFill>
                  <a:srgbClr val="333333"/>
                </a:solidFill>
                <a:latin typeface="Times New Roman" panose="02020603050405020304" pitchFamily="18" charset="0"/>
                <a:ea typeface="宋体" panose="02010600030101010101" pitchFamily="2" charset="-122"/>
              </a:rPr>
              <a:t>3</a:t>
            </a:r>
            <a:endParaRPr lang="en-US" altLang="zh-CN" sz="1000">
              <a:solidFill>
                <a:srgbClr val="333333"/>
              </a:solidFill>
              <a:latin typeface="Times New Roman" panose="02020603050405020304" pitchFamily="18" charset="0"/>
              <a:ea typeface="宋体" panose="02010600030101010101" pitchFamily="2" charset="-122"/>
            </a:endParaRPr>
          </a:p>
        </p:txBody>
      </p:sp>
      <p:sp>
        <p:nvSpPr>
          <p:cNvPr id="114" name="Text Box 44"/>
          <p:cNvSpPr txBox="1">
            <a:spLocks noChangeArrowheads="1"/>
          </p:cNvSpPr>
          <p:nvPr/>
        </p:nvSpPr>
        <p:spPr bwMode="auto">
          <a:xfrm>
            <a:off x="584200" y="5421313"/>
            <a:ext cx="438150" cy="24447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000">
                <a:solidFill>
                  <a:srgbClr val="333333"/>
                </a:solidFill>
                <a:latin typeface="Times New Roman" panose="02020603050405020304" pitchFamily="18" charset="0"/>
                <a:ea typeface="宋体" panose="02010600030101010101" pitchFamily="2" charset="-122"/>
              </a:rPr>
              <a:t>职能</a:t>
            </a:r>
            <a:endParaRPr lang="en-US" altLang="zh-CN" sz="1000">
              <a:solidFill>
                <a:srgbClr val="333333"/>
              </a:solidFill>
              <a:latin typeface="Times New Roman" panose="02020603050405020304" pitchFamily="18" charset="0"/>
              <a:ea typeface="宋体" panose="02010600030101010101" pitchFamily="2" charset="-122"/>
            </a:endParaRPr>
          </a:p>
        </p:txBody>
      </p:sp>
      <p:sp>
        <p:nvSpPr>
          <p:cNvPr id="115" name="Line 45"/>
          <p:cNvSpPr>
            <a:spLocks noChangeShapeType="1"/>
          </p:cNvSpPr>
          <p:nvPr/>
        </p:nvSpPr>
        <p:spPr bwMode="auto">
          <a:xfrm flipV="1">
            <a:off x="887413" y="5127626"/>
            <a:ext cx="352425" cy="334962"/>
          </a:xfrm>
          <a:prstGeom prst="line">
            <a:avLst/>
          </a:prstGeom>
          <a:noFill/>
          <a:ln w="9525">
            <a:solidFill>
              <a:srgbClr val="FFFFFF"/>
            </a:solidFill>
            <a:round/>
            <a:tailEnd type="triangle" w="med" len="med"/>
          </a:ln>
          <a:effectLst/>
        </p:spPr>
        <p:txBody>
          <a:bodyPr wrap="none" anchor="ctr"/>
          <a:lstStyle/>
          <a:p>
            <a:pPr eaLnBrk="1" fontAlgn="auto" hangingPunct="1">
              <a:spcBef>
                <a:spcPts val="0"/>
              </a:spcBef>
              <a:spcAft>
                <a:spcPts val="0"/>
              </a:spcAft>
              <a:defRPr/>
            </a:pPr>
            <a:endParaRPr lang="en-US" kern="0">
              <a:solidFill>
                <a:srgbClr val="333333"/>
              </a:solidFill>
              <a:latin typeface="Arial" panose="020B0604020202020204" pitchFamily="34" charset="0"/>
            </a:endParaRPr>
          </a:p>
        </p:txBody>
      </p:sp>
      <p:sp>
        <p:nvSpPr>
          <p:cNvPr id="116" name="Text Box 46"/>
          <p:cNvSpPr txBox="1">
            <a:spLocks noChangeArrowheads="1"/>
          </p:cNvSpPr>
          <p:nvPr/>
        </p:nvSpPr>
        <p:spPr bwMode="auto">
          <a:xfrm>
            <a:off x="4521200" y="3578226"/>
            <a:ext cx="2987675" cy="33972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600" u="sng">
                <a:solidFill>
                  <a:srgbClr val="333333"/>
                </a:solidFill>
                <a:latin typeface="Times New Roman" panose="02020603050405020304" pitchFamily="18" charset="0"/>
                <a:ea typeface="宋体" panose="02010600030101010101" pitchFamily="2" charset="-122"/>
              </a:rPr>
              <a:t>基于地域</a:t>
            </a:r>
            <a:r>
              <a:rPr lang="en-US" altLang="zh-CN" sz="1600" u="sng">
                <a:solidFill>
                  <a:srgbClr val="333333"/>
                </a:solidFill>
                <a:latin typeface="Times New Roman" panose="02020603050405020304" pitchFamily="18" charset="0"/>
                <a:ea typeface="宋体" panose="02010600030101010101" pitchFamily="2" charset="-122"/>
              </a:rPr>
              <a:t>/</a:t>
            </a:r>
            <a:r>
              <a:rPr lang="zh-CN" altLang="en-US" sz="1600" u="sng">
                <a:solidFill>
                  <a:srgbClr val="333333"/>
                </a:solidFill>
                <a:latin typeface="Times New Roman" panose="02020603050405020304" pitchFamily="18" charset="0"/>
                <a:ea typeface="宋体" panose="02010600030101010101" pitchFamily="2" charset="-122"/>
              </a:rPr>
              <a:t>市场</a:t>
            </a:r>
            <a:r>
              <a:rPr lang="en-US" altLang="zh-CN" sz="1600" u="sng">
                <a:solidFill>
                  <a:srgbClr val="333333"/>
                </a:solidFill>
                <a:latin typeface="Times New Roman" panose="02020603050405020304" pitchFamily="18" charset="0"/>
                <a:ea typeface="宋体" panose="02010600030101010101" pitchFamily="2" charset="-122"/>
              </a:rPr>
              <a:t>/</a:t>
            </a:r>
            <a:r>
              <a:rPr lang="zh-CN" altLang="en-US" sz="1600" u="sng">
                <a:solidFill>
                  <a:srgbClr val="333333"/>
                </a:solidFill>
                <a:latin typeface="Times New Roman" panose="02020603050405020304" pitchFamily="18" charset="0"/>
                <a:ea typeface="宋体" panose="02010600030101010101" pitchFamily="2" charset="-122"/>
              </a:rPr>
              <a:t>客户的组织类型</a:t>
            </a:r>
            <a:endParaRPr lang="zh-CN" altLang="en-US" sz="1600" u="sng">
              <a:solidFill>
                <a:srgbClr val="333333"/>
              </a:solidFill>
              <a:latin typeface="Times New Roman" panose="02020603050405020304" pitchFamily="18" charset="0"/>
              <a:ea typeface="宋体" panose="02010600030101010101" pitchFamily="2" charset="-122"/>
            </a:endParaRPr>
          </a:p>
        </p:txBody>
      </p:sp>
      <p:sp>
        <p:nvSpPr>
          <p:cNvPr id="135191" name="Rectangle 47"/>
          <p:cNvSpPr>
            <a:spLocks noChangeArrowheads="1"/>
          </p:cNvSpPr>
          <p:nvPr/>
        </p:nvSpPr>
        <p:spPr bwMode="auto">
          <a:xfrm>
            <a:off x="5073650" y="4376738"/>
            <a:ext cx="527050" cy="1058863"/>
          </a:xfrm>
          <a:prstGeom prst="rect">
            <a:avLst/>
          </a:prstGeom>
          <a:solidFill>
            <a:srgbClr val="C0C0C0"/>
          </a:solidFill>
          <a:ln w="9525">
            <a:solidFill>
              <a:srgbClr val="FFFFFF"/>
            </a:solidFill>
            <a:miter lim="800000"/>
          </a:ln>
          <a:effectLst>
            <a:outerShdw dist="107763" dir="2700000" algn="ctr" rotWithShape="0">
              <a:srgbClr val="808080"/>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en-US" altLang="zh-CN" sz="1800" b="0">
              <a:solidFill>
                <a:srgbClr val="333333"/>
              </a:solidFill>
              <a:ea typeface="宋体" panose="02010600030101010101" pitchFamily="2" charset="-122"/>
            </a:endParaRPr>
          </a:p>
        </p:txBody>
      </p:sp>
      <p:sp>
        <p:nvSpPr>
          <p:cNvPr id="135192" name="Rectangle 48"/>
          <p:cNvSpPr>
            <a:spLocks noChangeArrowheads="1"/>
          </p:cNvSpPr>
          <p:nvPr/>
        </p:nvSpPr>
        <p:spPr bwMode="auto">
          <a:xfrm>
            <a:off x="5699125" y="4376738"/>
            <a:ext cx="527050" cy="1058863"/>
          </a:xfrm>
          <a:prstGeom prst="rect">
            <a:avLst/>
          </a:prstGeom>
          <a:solidFill>
            <a:srgbClr val="C0C0C0"/>
          </a:solidFill>
          <a:ln w="9525">
            <a:solidFill>
              <a:srgbClr val="FFFFFF"/>
            </a:solidFill>
            <a:miter lim="800000"/>
          </a:ln>
          <a:effectLst>
            <a:outerShdw dist="107763" dir="2700000" algn="ctr" rotWithShape="0">
              <a:srgbClr val="808080"/>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en-US" altLang="zh-CN" sz="1800" b="0">
              <a:solidFill>
                <a:srgbClr val="333333"/>
              </a:solidFill>
              <a:ea typeface="宋体" panose="02010600030101010101" pitchFamily="2" charset="-122"/>
            </a:endParaRPr>
          </a:p>
        </p:txBody>
      </p:sp>
      <p:sp>
        <p:nvSpPr>
          <p:cNvPr id="135193" name="Rectangle 49"/>
          <p:cNvSpPr>
            <a:spLocks noChangeArrowheads="1"/>
          </p:cNvSpPr>
          <p:nvPr/>
        </p:nvSpPr>
        <p:spPr bwMode="auto">
          <a:xfrm>
            <a:off x="6324600" y="4376738"/>
            <a:ext cx="527050" cy="1058863"/>
          </a:xfrm>
          <a:prstGeom prst="rect">
            <a:avLst/>
          </a:prstGeom>
          <a:solidFill>
            <a:srgbClr val="C0C0C0"/>
          </a:solidFill>
          <a:ln w="9525">
            <a:solidFill>
              <a:srgbClr val="FFFFFF"/>
            </a:solidFill>
            <a:miter lim="800000"/>
          </a:ln>
          <a:effectLst>
            <a:outerShdw dist="107763" dir="2700000" algn="ctr" rotWithShape="0">
              <a:srgbClr val="808080"/>
            </a:outerShdw>
          </a:effec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ClrTx/>
              <a:buSzTx/>
              <a:buFontTx/>
              <a:buNone/>
            </a:pPr>
            <a:endParaRPr lang="en-US" altLang="zh-CN" sz="1800" b="0">
              <a:solidFill>
                <a:srgbClr val="333333"/>
              </a:solidFill>
              <a:ea typeface="宋体" panose="02010600030101010101" pitchFamily="2" charset="-122"/>
            </a:endParaRPr>
          </a:p>
        </p:txBody>
      </p:sp>
      <p:grpSp>
        <p:nvGrpSpPr>
          <p:cNvPr id="135194" name="Group 50"/>
          <p:cNvGrpSpPr/>
          <p:nvPr/>
        </p:nvGrpSpPr>
        <p:grpSpPr bwMode="auto">
          <a:xfrm>
            <a:off x="5145088" y="4673601"/>
            <a:ext cx="357187" cy="441325"/>
            <a:chOff x="2747" y="3168"/>
            <a:chExt cx="244" cy="278"/>
          </a:xfrm>
        </p:grpSpPr>
        <p:sp>
          <p:nvSpPr>
            <p:cNvPr id="121" name="Oval 51"/>
            <p:cNvSpPr>
              <a:spLocks noChangeArrowheads="1"/>
            </p:cNvSpPr>
            <p:nvPr/>
          </p:nvSpPr>
          <p:spPr bwMode="auto">
            <a:xfrm>
              <a:off x="2747" y="3336"/>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C</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22" name="Oval 52"/>
            <p:cNvSpPr>
              <a:spLocks noChangeArrowheads="1"/>
            </p:cNvSpPr>
            <p:nvPr/>
          </p:nvSpPr>
          <p:spPr bwMode="auto">
            <a:xfrm>
              <a:off x="2890" y="3336"/>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D</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23" name="Oval 53"/>
            <p:cNvSpPr>
              <a:spLocks noChangeArrowheads="1"/>
            </p:cNvSpPr>
            <p:nvPr/>
          </p:nvSpPr>
          <p:spPr bwMode="auto">
            <a:xfrm>
              <a:off x="2747" y="3168"/>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A</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24" name="Oval 54"/>
            <p:cNvSpPr>
              <a:spLocks noChangeArrowheads="1"/>
            </p:cNvSpPr>
            <p:nvPr/>
          </p:nvSpPr>
          <p:spPr bwMode="auto">
            <a:xfrm>
              <a:off x="2890" y="3168"/>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B</a:t>
              </a:r>
              <a:endParaRPr lang="en-US" altLang="zh-CN" kern="0">
                <a:solidFill>
                  <a:srgbClr val="333333"/>
                </a:solidFill>
                <a:latin typeface="Times New Roman" panose="02020603050405020304" pitchFamily="18" charset="0"/>
                <a:ea typeface="宋体" panose="02010600030101010101" pitchFamily="2" charset="-122"/>
              </a:endParaRPr>
            </a:p>
          </p:txBody>
        </p:sp>
      </p:grpSp>
      <p:grpSp>
        <p:nvGrpSpPr>
          <p:cNvPr id="135195" name="Group 55"/>
          <p:cNvGrpSpPr/>
          <p:nvPr/>
        </p:nvGrpSpPr>
        <p:grpSpPr bwMode="auto">
          <a:xfrm>
            <a:off x="5768975" y="4673601"/>
            <a:ext cx="357188" cy="441325"/>
            <a:chOff x="2747" y="3168"/>
            <a:chExt cx="244" cy="278"/>
          </a:xfrm>
        </p:grpSpPr>
        <p:sp>
          <p:nvSpPr>
            <p:cNvPr id="126" name="Oval 56"/>
            <p:cNvSpPr>
              <a:spLocks noChangeArrowheads="1"/>
            </p:cNvSpPr>
            <p:nvPr/>
          </p:nvSpPr>
          <p:spPr bwMode="auto">
            <a:xfrm>
              <a:off x="2747" y="3336"/>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C</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27" name="Oval 57"/>
            <p:cNvSpPr>
              <a:spLocks noChangeArrowheads="1"/>
            </p:cNvSpPr>
            <p:nvPr/>
          </p:nvSpPr>
          <p:spPr bwMode="auto">
            <a:xfrm>
              <a:off x="2890" y="3336"/>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D</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28" name="Oval 58"/>
            <p:cNvSpPr>
              <a:spLocks noChangeArrowheads="1"/>
            </p:cNvSpPr>
            <p:nvPr/>
          </p:nvSpPr>
          <p:spPr bwMode="auto">
            <a:xfrm>
              <a:off x="2747" y="3168"/>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A</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29" name="Oval 59"/>
            <p:cNvSpPr>
              <a:spLocks noChangeArrowheads="1"/>
            </p:cNvSpPr>
            <p:nvPr/>
          </p:nvSpPr>
          <p:spPr bwMode="auto">
            <a:xfrm>
              <a:off x="2890" y="3168"/>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B</a:t>
              </a:r>
              <a:endParaRPr lang="en-US" altLang="zh-CN" kern="0">
                <a:solidFill>
                  <a:srgbClr val="333333"/>
                </a:solidFill>
                <a:latin typeface="Times New Roman" panose="02020603050405020304" pitchFamily="18" charset="0"/>
                <a:ea typeface="宋体" panose="02010600030101010101" pitchFamily="2" charset="-122"/>
              </a:endParaRPr>
            </a:p>
          </p:txBody>
        </p:sp>
      </p:grpSp>
      <p:grpSp>
        <p:nvGrpSpPr>
          <p:cNvPr id="135196" name="Group 60"/>
          <p:cNvGrpSpPr/>
          <p:nvPr/>
        </p:nvGrpSpPr>
        <p:grpSpPr bwMode="auto">
          <a:xfrm>
            <a:off x="6392863" y="4673601"/>
            <a:ext cx="357187" cy="441325"/>
            <a:chOff x="2747" y="3168"/>
            <a:chExt cx="244" cy="278"/>
          </a:xfrm>
        </p:grpSpPr>
        <p:sp>
          <p:nvSpPr>
            <p:cNvPr id="131" name="Oval 61"/>
            <p:cNvSpPr>
              <a:spLocks noChangeArrowheads="1"/>
            </p:cNvSpPr>
            <p:nvPr/>
          </p:nvSpPr>
          <p:spPr bwMode="auto">
            <a:xfrm>
              <a:off x="2747" y="3336"/>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C</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32" name="Oval 62"/>
            <p:cNvSpPr>
              <a:spLocks noChangeArrowheads="1"/>
            </p:cNvSpPr>
            <p:nvPr/>
          </p:nvSpPr>
          <p:spPr bwMode="auto">
            <a:xfrm>
              <a:off x="2890" y="3336"/>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D</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33" name="Oval 63"/>
            <p:cNvSpPr>
              <a:spLocks noChangeArrowheads="1"/>
            </p:cNvSpPr>
            <p:nvPr/>
          </p:nvSpPr>
          <p:spPr bwMode="auto">
            <a:xfrm>
              <a:off x="2747" y="3168"/>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A</a:t>
              </a:r>
              <a:endParaRPr lang="en-US" altLang="zh-CN" kern="0">
                <a:solidFill>
                  <a:srgbClr val="333333"/>
                </a:solidFill>
                <a:latin typeface="Times New Roman" panose="02020603050405020304" pitchFamily="18" charset="0"/>
                <a:ea typeface="宋体" panose="02010600030101010101" pitchFamily="2" charset="-122"/>
              </a:endParaRPr>
            </a:p>
          </p:txBody>
        </p:sp>
        <p:sp>
          <p:nvSpPr>
            <p:cNvPr id="134" name="Oval 64"/>
            <p:cNvSpPr>
              <a:spLocks noChangeArrowheads="1"/>
            </p:cNvSpPr>
            <p:nvPr/>
          </p:nvSpPr>
          <p:spPr bwMode="auto">
            <a:xfrm>
              <a:off x="2890" y="3168"/>
              <a:ext cx="101" cy="110"/>
            </a:xfrm>
            <a:prstGeom prst="ellipse">
              <a:avLst/>
            </a:prstGeom>
            <a:solidFill>
              <a:srgbClr val="808080"/>
            </a:solidFill>
            <a:ln w="9525">
              <a:solidFill>
                <a:srgbClr val="FFFFFF"/>
              </a:solidFill>
              <a:round/>
            </a:ln>
            <a:effectLst/>
          </p:spPr>
          <p:txBody>
            <a:bodyPr wrap="none" anchor="ctr"/>
            <a:lstStyle/>
            <a:p>
              <a:pPr algn="ctr" eaLnBrk="1" fontAlgn="auto" hangingPunct="1">
                <a:spcBef>
                  <a:spcPts val="0"/>
                </a:spcBef>
                <a:spcAft>
                  <a:spcPts val="0"/>
                </a:spcAft>
                <a:defRPr/>
              </a:pPr>
              <a:r>
                <a:rPr lang="en-US" altLang="zh-CN" kern="0">
                  <a:solidFill>
                    <a:srgbClr val="333333"/>
                  </a:solidFill>
                  <a:latin typeface="Times New Roman" panose="02020603050405020304" pitchFamily="18" charset="0"/>
                  <a:ea typeface="宋体" panose="02010600030101010101" pitchFamily="2" charset="-122"/>
                </a:rPr>
                <a:t>B</a:t>
              </a:r>
              <a:endParaRPr lang="en-US" altLang="zh-CN" kern="0">
                <a:solidFill>
                  <a:srgbClr val="333333"/>
                </a:solidFill>
                <a:latin typeface="Times New Roman" panose="02020603050405020304" pitchFamily="18" charset="0"/>
                <a:ea typeface="宋体" panose="02010600030101010101" pitchFamily="2" charset="-122"/>
              </a:endParaRPr>
            </a:p>
          </p:txBody>
        </p:sp>
      </p:grpSp>
      <p:sp>
        <p:nvSpPr>
          <p:cNvPr id="135" name="Text Box 65"/>
          <p:cNvSpPr txBox="1">
            <a:spLocks noChangeArrowheads="1"/>
          </p:cNvSpPr>
          <p:nvPr/>
        </p:nvSpPr>
        <p:spPr bwMode="auto">
          <a:xfrm>
            <a:off x="4984750" y="3890963"/>
            <a:ext cx="727075" cy="54927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333333"/>
                </a:solidFill>
                <a:latin typeface="Times New Roman" panose="02020603050405020304" pitchFamily="18" charset="0"/>
                <a:ea typeface="宋体" panose="02010600030101010101" pitchFamily="2" charset="-122"/>
              </a:rPr>
              <a:t>地域</a:t>
            </a:r>
            <a:r>
              <a:rPr lang="en-US" altLang="zh-CN" sz="1000">
                <a:solidFill>
                  <a:srgbClr val="333333"/>
                </a:solidFill>
                <a:latin typeface="Times New Roman" panose="02020603050405020304" pitchFamily="18" charset="0"/>
                <a:ea typeface="宋体" panose="02010600030101010101" pitchFamily="2" charset="-122"/>
              </a:rPr>
              <a:t>/</a:t>
            </a:r>
            <a:endParaRPr lang="en-US" altLang="zh-CN" sz="1000">
              <a:solidFill>
                <a:srgbClr val="333333"/>
              </a:solidFill>
              <a:latin typeface="Times New Roman" panose="02020603050405020304" pitchFamily="18" charset="0"/>
              <a:ea typeface="宋体" panose="02010600030101010101" pitchFamily="2" charset="-122"/>
            </a:endParaRPr>
          </a:p>
          <a:p>
            <a:pPr algn="ctr" eaLnBrk="1" hangingPunct="1">
              <a:buClrTx/>
              <a:buFontTx/>
              <a:buNone/>
            </a:pPr>
            <a:r>
              <a:rPr lang="zh-CN" altLang="en-US" sz="1000">
                <a:solidFill>
                  <a:srgbClr val="333333"/>
                </a:solidFill>
                <a:latin typeface="Times New Roman" panose="02020603050405020304" pitchFamily="18" charset="0"/>
                <a:ea typeface="宋体" panose="02010600030101010101" pitchFamily="2" charset="-122"/>
              </a:rPr>
              <a:t>市场</a:t>
            </a:r>
            <a:r>
              <a:rPr lang="en-US" altLang="zh-CN" sz="1000">
                <a:solidFill>
                  <a:srgbClr val="333333"/>
                </a:solidFill>
                <a:latin typeface="Times New Roman" panose="02020603050405020304" pitchFamily="18" charset="0"/>
                <a:ea typeface="宋体" panose="02010600030101010101" pitchFamily="2" charset="-122"/>
              </a:rPr>
              <a:t>/</a:t>
            </a:r>
            <a:r>
              <a:rPr lang="zh-CN" altLang="en-US" sz="1000">
                <a:solidFill>
                  <a:srgbClr val="333333"/>
                </a:solidFill>
                <a:latin typeface="Times New Roman" panose="02020603050405020304" pitchFamily="18" charset="0"/>
                <a:ea typeface="宋体" panose="02010600030101010101" pitchFamily="2" charset="-122"/>
              </a:rPr>
              <a:t>客户</a:t>
            </a:r>
            <a:endParaRPr lang="en-US" altLang="zh-CN" sz="1000">
              <a:solidFill>
                <a:srgbClr val="333333"/>
              </a:solidFill>
              <a:latin typeface="Times New Roman" panose="02020603050405020304" pitchFamily="18" charset="0"/>
              <a:ea typeface="宋体" panose="02010600030101010101" pitchFamily="2" charset="-122"/>
            </a:endParaRPr>
          </a:p>
          <a:p>
            <a:pPr algn="ctr" eaLnBrk="1" hangingPunct="1">
              <a:buClrTx/>
              <a:buFontTx/>
              <a:buNone/>
            </a:pPr>
            <a:r>
              <a:rPr lang="en-US" altLang="zh-CN" sz="1000">
                <a:solidFill>
                  <a:srgbClr val="333333"/>
                </a:solidFill>
                <a:latin typeface="Times New Roman" panose="02020603050405020304" pitchFamily="18" charset="0"/>
                <a:ea typeface="宋体" panose="02010600030101010101" pitchFamily="2" charset="-122"/>
              </a:rPr>
              <a:t>1</a:t>
            </a:r>
            <a:endParaRPr lang="en-US" altLang="zh-CN" sz="1000">
              <a:solidFill>
                <a:srgbClr val="333333"/>
              </a:solidFill>
              <a:latin typeface="Times New Roman" panose="02020603050405020304" pitchFamily="18" charset="0"/>
              <a:ea typeface="宋体" panose="02010600030101010101" pitchFamily="2" charset="-122"/>
            </a:endParaRPr>
          </a:p>
        </p:txBody>
      </p:sp>
      <p:sp>
        <p:nvSpPr>
          <p:cNvPr id="136" name="Text Box 66"/>
          <p:cNvSpPr txBox="1">
            <a:spLocks noChangeArrowheads="1"/>
          </p:cNvSpPr>
          <p:nvPr/>
        </p:nvSpPr>
        <p:spPr bwMode="auto">
          <a:xfrm>
            <a:off x="5624513" y="3889376"/>
            <a:ext cx="727075" cy="54927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333333"/>
                </a:solidFill>
                <a:ea typeface="宋体" panose="02010600030101010101" pitchFamily="2" charset="-122"/>
              </a:rPr>
              <a:t>地域</a:t>
            </a:r>
            <a:r>
              <a:rPr lang="en-US" altLang="zh-CN" sz="1000">
                <a:solidFill>
                  <a:srgbClr val="333333"/>
                </a:solidFill>
                <a:ea typeface="宋体" panose="02010600030101010101" pitchFamily="2" charset="-122"/>
              </a:rPr>
              <a:t>/</a:t>
            </a:r>
            <a:endParaRPr lang="en-US" altLang="zh-CN" sz="1000">
              <a:solidFill>
                <a:srgbClr val="333333"/>
              </a:solidFill>
              <a:ea typeface="宋体" panose="02010600030101010101" pitchFamily="2" charset="-122"/>
            </a:endParaRPr>
          </a:p>
          <a:p>
            <a:pPr algn="ctr" eaLnBrk="1" hangingPunct="1">
              <a:buClrTx/>
              <a:buFontTx/>
              <a:buNone/>
            </a:pPr>
            <a:r>
              <a:rPr lang="zh-CN" altLang="en-US" sz="1000">
                <a:solidFill>
                  <a:srgbClr val="333333"/>
                </a:solidFill>
                <a:ea typeface="宋体" panose="02010600030101010101" pitchFamily="2" charset="-122"/>
              </a:rPr>
              <a:t>市场</a:t>
            </a:r>
            <a:r>
              <a:rPr lang="en-US" altLang="zh-CN" sz="1000">
                <a:solidFill>
                  <a:srgbClr val="333333"/>
                </a:solidFill>
                <a:ea typeface="宋体" panose="02010600030101010101" pitchFamily="2" charset="-122"/>
              </a:rPr>
              <a:t>/</a:t>
            </a:r>
            <a:r>
              <a:rPr lang="zh-CN" altLang="en-US" sz="1000">
                <a:solidFill>
                  <a:srgbClr val="333333"/>
                </a:solidFill>
                <a:ea typeface="宋体" panose="02010600030101010101" pitchFamily="2" charset="-122"/>
              </a:rPr>
              <a:t>客户</a:t>
            </a:r>
            <a:endParaRPr lang="zh-CN" altLang="en-US" sz="1000">
              <a:solidFill>
                <a:srgbClr val="333333"/>
              </a:solidFill>
              <a:ea typeface="宋体" panose="02010600030101010101" pitchFamily="2" charset="-122"/>
            </a:endParaRPr>
          </a:p>
          <a:p>
            <a:pPr algn="ctr" eaLnBrk="1" hangingPunct="1">
              <a:buClrTx/>
              <a:buFontTx/>
              <a:buNone/>
            </a:pPr>
            <a:r>
              <a:rPr lang="en-US" altLang="zh-CN" sz="1000">
                <a:solidFill>
                  <a:srgbClr val="333333"/>
                </a:solidFill>
                <a:latin typeface="Times New Roman" panose="02020603050405020304" pitchFamily="18" charset="0"/>
                <a:ea typeface="宋体" panose="02010600030101010101" pitchFamily="2" charset="-122"/>
              </a:rPr>
              <a:t>2</a:t>
            </a:r>
            <a:endParaRPr lang="en-US" altLang="zh-CN" sz="1000">
              <a:solidFill>
                <a:srgbClr val="333333"/>
              </a:solidFill>
              <a:latin typeface="Times New Roman" panose="02020603050405020304" pitchFamily="18" charset="0"/>
              <a:ea typeface="宋体" panose="02010600030101010101" pitchFamily="2" charset="-122"/>
            </a:endParaRPr>
          </a:p>
        </p:txBody>
      </p:sp>
      <p:sp>
        <p:nvSpPr>
          <p:cNvPr id="137" name="Text Box 67"/>
          <p:cNvSpPr txBox="1">
            <a:spLocks noChangeArrowheads="1"/>
          </p:cNvSpPr>
          <p:nvPr/>
        </p:nvSpPr>
        <p:spPr bwMode="auto">
          <a:xfrm>
            <a:off x="6259513" y="3889376"/>
            <a:ext cx="727075" cy="54927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Tx/>
              <a:buNone/>
            </a:pPr>
            <a:r>
              <a:rPr lang="zh-CN" altLang="en-US" sz="1000">
                <a:solidFill>
                  <a:srgbClr val="333333"/>
                </a:solidFill>
                <a:ea typeface="宋体" panose="02010600030101010101" pitchFamily="2" charset="-122"/>
              </a:rPr>
              <a:t>地域</a:t>
            </a:r>
            <a:r>
              <a:rPr lang="en-US" altLang="zh-CN" sz="1000">
                <a:solidFill>
                  <a:srgbClr val="333333"/>
                </a:solidFill>
                <a:ea typeface="宋体" panose="02010600030101010101" pitchFamily="2" charset="-122"/>
              </a:rPr>
              <a:t>/</a:t>
            </a:r>
            <a:endParaRPr lang="en-US" altLang="zh-CN" sz="1000">
              <a:solidFill>
                <a:srgbClr val="333333"/>
              </a:solidFill>
              <a:ea typeface="宋体" panose="02010600030101010101" pitchFamily="2" charset="-122"/>
            </a:endParaRPr>
          </a:p>
          <a:p>
            <a:pPr algn="ctr" eaLnBrk="1" hangingPunct="1">
              <a:buClrTx/>
              <a:buFontTx/>
              <a:buNone/>
            </a:pPr>
            <a:r>
              <a:rPr lang="zh-CN" altLang="en-US" sz="1000">
                <a:solidFill>
                  <a:srgbClr val="333333"/>
                </a:solidFill>
                <a:ea typeface="宋体" panose="02010600030101010101" pitchFamily="2" charset="-122"/>
              </a:rPr>
              <a:t>市场</a:t>
            </a:r>
            <a:r>
              <a:rPr lang="en-US" altLang="zh-CN" sz="1000">
                <a:solidFill>
                  <a:srgbClr val="333333"/>
                </a:solidFill>
                <a:ea typeface="宋体" panose="02010600030101010101" pitchFamily="2" charset="-122"/>
              </a:rPr>
              <a:t>/</a:t>
            </a:r>
            <a:r>
              <a:rPr lang="zh-CN" altLang="en-US" sz="1000">
                <a:solidFill>
                  <a:srgbClr val="333333"/>
                </a:solidFill>
                <a:ea typeface="宋体" panose="02010600030101010101" pitchFamily="2" charset="-122"/>
              </a:rPr>
              <a:t>客户</a:t>
            </a:r>
            <a:endParaRPr lang="zh-CN" altLang="en-US" sz="1000">
              <a:solidFill>
                <a:srgbClr val="333333"/>
              </a:solidFill>
              <a:ea typeface="宋体" panose="02010600030101010101" pitchFamily="2" charset="-122"/>
            </a:endParaRPr>
          </a:p>
          <a:p>
            <a:pPr algn="ctr" eaLnBrk="1" hangingPunct="1">
              <a:buClrTx/>
              <a:buFontTx/>
              <a:buNone/>
            </a:pPr>
            <a:r>
              <a:rPr lang="en-US" altLang="zh-CN" sz="1000">
                <a:solidFill>
                  <a:srgbClr val="333333"/>
                </a:solidFill>
                <a:latin typeface="Times New Roman" panose="02020603050405020304" pitchFamily="18" charset="0"/>
                <a:ea typeface="宋体" panose="02010600030101010101" pitchFamily="2" charset="-122"/>
              </a:rPr>
              <a:t>3</a:t>
            </a:r>
            <a:endParaRPr lang="en-US" altLang="zh-CN" sz="1000">
              <a:solidFill>
                <a:srgbClr val="333333"/>
              </a:solidFill>
              <a:latin typeface="Times New Roman" panose="02020603050405020304" pitchFamily="18" charset="0"/>
              <a:ea typeface="宋体" panose="02010600030101010101" pitchFamily="2" charset="-122"/>
            </a:endParaRPr>
          </a:p>
        </p:txBody>
      </p:sp>
      <p:sp>
        <p:nvSpPr>
          <p:cNvPr id="138" name="Text Box 68"/>
          <p:cNvSpPr txBox="1">
            <a:spLocks noChangeArrowheads="1"/>
          </p:cNvSpPr>
          <p:nvPr/>
        </p:nvSpPr>
        <p:spPr bwMode="auto">
          <a:xfrm>
            <a:off x="4624388" y="5470526"/>
            <a:ext cx="438150" cy="244475"/>
          </a:xfrm>
          <a:prstGeom prst="rect">
            <a:avLst/>
          </a:prstGeom>
          <a:noFill/>
          <a:ln w="9525">
            <a:noFill/>
            <a:miter lim="800000"/>
          </a:ln>
          <a:effectLst/>
        </p:spPr>
        <p:txBody>
          <a:bodyPr wrap="none">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000">
                <a:solidFill>
                  <a:srgbClr val="333333"/>
                </a:solidFill>
                <a:latin typeface="Times New Roman" panose="02020603050405020304" pitchFamily="18" charset="0"/>
                <a:ea typeface="宋体" panose="02010600030101010101" pitchFamily="2" charset="-122"/>
              </a:rPr>
              <a:t>职能</a:t>
            </a:r>
            <a:endParaRPr lang="en-US" altLang="zh-CN" sz="1000">
              <a:solidFill>
                <a:srgbClr val="333333"/>
              </a:solidFill>
              <a:latin typeface="Times New Roman" panose="02020603050405020304" pitchFamily="18" charset="0"/>
              <a:ea typeface="宋体" panose="02010600030101010101" pitchFamily="2" charset="-122"/>
            </a:endParaRPr>
          </a:p>
        </p:txBody>
      </p:sp>
      <p:sp>
        <p:nvSpPr>
          <p:cNvPr id="139" name="Line 69"/>
          <p:cNvSpPr>
            <a:spLocks noChangeShapeType="1"/>
          </p:cNvSpPr>
          <p:nvPr/>
        </p:nvSpPr>
        <p:spPr bwMode="auto">
          <a:xfrm flipV="1">
            <a:off x="4927600" y="5176838"/>
            <a:ext cx="350838" cy="334963"/>
          </a:xfrm>
          <a:prstGeom prst="line">
            <a:avLst/>
          </a:prstGeom>
          <a:noFill/>
          <a:ln w="9525">
            <a:solidFill>
              <a:srgbClr val="FFFFFF"/>
            </a:solidFill>
            <a:round/>
            <a:tailEnd type="triangle" w="med" len="med"/>
          </a:ln>
          <a:effectLst/>
        </p:spPr>
        <p:txBody>
          <a:bodyPr wrap="none" anchor="ctr"/>
          <a:lstStyle/>
          <a:p>
            <a:pPr eaLnBrk="1" fontAlgn="auto" hangingPunct="1">
              <a:spcBef>
                <a:spcPts val="0"/>
              </a:spcBef>
              <a:spcAft>
                <a:spcPts val="0"/>
              </a:spcAft>
              <a:defRPr/>
            </a:pPr>
            <a:endParaRPr lang="en-US" kern="0">
              <a:solidFill>
                <a:srgbClr val="333333"/>
              </a:solidFill>
              <a:latin typeface="Arial" panose="020B0604020202020204" pitchFamily="34" charset="0"/>
            </a:endParaRPr>
          </a:p>
        </p:txBody>
      </p:sp>
      <p:sp>
        <p:nvSpPr>
          <p:cNvPr id="140" name="Text Box 70"/>
          <p:cNvSpPr txBox="1">
            <a:spLocks noChangeArrowheads="1"/>
          </p:cNvSpPr>
          <p:nvPr/>
        </p:nvSpPr>
        <p:spPr bwMode="auto">
          <a:xfrm>
            <a:off x="4957763" y="5621338"/>
            <a:ext cx="3038475" cy="830997"/>
          </a:xfrm>
          <a:prstGeom prst="rect">
            <a:avLst/>
          </a:prstGeom>
          <a:noFill/>
          <a:ln w="9525">
            <a:noFill/>
            <a:miter lim="800000"/>
          </a:ln>
          <a:effectLst/>
        </p:spPr>
        <p:txBody>
          <a:bodyPr>
            <a:spAutoFit/>
          </a:bodyP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eaLnBrk="1" hangingPunct="1">
              <a:buClrTx/>
              <a:buFontTx/>
              <a:buNone/>
            </a:pPr>
            <a:r>
              <a:rPr lang="zh-CN" altLang="en-US" sz="1200" dirty="0">
                <a:solidFill>
                  <a:srgbClr val="333333"/>
                </a:solidFill>
                <a:latin typeface="Times New Roman" panose="02020603050405020304" pitchFamily="18" charset="0"/>
                <a:ea typeface="宋体" panose="02010600030101010101" pitchFamily="2" charset="-122"/>
              </a:rPr>
              <a:t>业务驱动要素</a:t>
            </a:r>
            <a:r>
              <a:rPr lang="en-US" altLang="zh-CN" sz="1200" dirty="0">
                <a:solidFill>
                  <a:srgbClr val="333333"/>
                </a:solidFill>
                <a:latin typeface="Times New Roman" panose="02020603050405020304" pitchFamily="18" charset="0"/>
                <a:ea typeface="宋体" panose="02010600030101010101" pitchFamily="2" charset="-122"/>
              </a:rPr>
              <a:t>:</a:t>
            </a:r>
            <a:endParaRPr lang="en-US" altLang="zh-CN" sz="1200" dirty="0">
              <a:solidFill>
                <a:srgbClr val="333333"/>
              </a:solidFill>
              <a:latin typeface="Times New Roman" panose="02020603050405020304" pitchFamily="18" charset="0"/>
              <a:ea typeface="宋体" panose="02010600030101010101" pitchFamily="2" charset="-122"/>
            </a:endParaRPr>
          </a:p>
          <a:p>
            <a:pPr eaLnBrk="1" hangingPunct="1">
              <a:buClrTx/>
              <a:buFontTx/>
              <a:buChar char="•"/>
            </a:pPr>
            <a:r>
              <a:rPr lang="en-US" altLang="zh-CN" sz="1200" dirty="0">
                <a:solidFill>
                  <a:srgbClr val="333333"/>
                </a:solidFill>
                <a:latin typeface="Times New Roman" panose="02020603050405020304" pitchFamily="18" charset="0"/>
                <a:ea typeface="宋体" panose="02010600030101010101" pitchFamily="2" charset="-122"/>
              </a:rPr>
              <a:t> </a:t>
            </a:r>
            <a:r>
              <a:rPr lang="zh-CN" altLang="en-US" sz="1200" dirty="0">
                <a:solidFill>
                  <a:srgbClr val="333333"/>
                </a:solidFill>
                <a:latin typeface="Times New Roman" panose="02020603050405020304" pitchFamily="18" charset="0"/>
                <a:ea typeface="宋体" panose="02010600030101010101" pitchFamily="2" charset="-122"/>
              </a:rPr>
              <a:t>对本地化要求的深入认知</a:t>
            </a:r>
            <a:endParaRPr lang="en-US" altLang="zh-CN" sz="1200" dirty="0">
              <a:solidFill>
                <a:srgbClr val="333333"/>
              </a:solidFill>
              <a:latin typeface="Times New Roman" panose="02020603050405020304" pitchFamily="18" charset="0"/>
              <a:ea typeface="宋体" panose="02010600030101010101" pitchFamily="2" charset="-122"/>
            </a:endParaRPr>
          </a:p>
          <a:p>
            <a:pPr eaLnBrk="1" hangingPunct="1">
              <a:buClrTx/>
              <a:buFontTx/>
              <a:buChar char="•"/>
            </a:pPr>
            <a:r>
              <a:rPr lang="zh-CN" altLang="en-US" sz="1200" dirty="0">
                <a:solidFill>
                  <a:srgbClr val="333333"/>
                </a:solidFill>
                <a:latin typeface="Times New Roman" panose="02020603050405020304" pitchFamily="18" charset="0"/>
                <a:ea typeface="宋体" panose="02010600030101010101" pitchFamily="2" charset="-122"/>
              </a:rPr>
              <a:t> 对本地化需求或市场机会的快速响应</a:t>
            </a:r>
            <a:endParaRPr lang="en-US" altLang="zh-CN" sz="1200" dirty="0">
              <a:solidFill>
                <a:srgbClr val="333333"/>
              </a:solidFill>
              <a:latin typeface="Times New Roman" panose="02020603050405020304" pitchFamily="18" charset="0"/>
              <a:ea typeface="宋体" panose="02010600030101010101" pitchFamily="2" charset="-122"/>
            </a:endParaRPr>
          </a:p>
          <a:p>
            <a:pPr eaLnBrk="1" hangingPunct="1">
              <a:buClrTx/>
              <a:buFontTx/>
              <a:buChar char="•"/>
            </a:pPr>
            <a:r>
              <a:rPr lang="zh-CN" altLang="en-US" sz="1200" dirty="0">
                <a:solidFill>
                  <a:srgbClr val="333333"/>
                </a:solidFill>
                <a:latin typeface="Times New Roman" panose="02020603050405020304" pitchFamily="18" charset="0"/>
                <a:ea typeface="宋体" panose="02010600030101010101" pitchFamily="2" charset="-122"/>
              </a:rPr>
              <a:t>各地区协调困难，</a:t>
            </a:r>
            <a:endParaRPr lang="zh-CN" altLang="en-US" sz="1200" dirty="0">
              <a:solidFill>
                <a:srgbClr val="333333"/>
              </a:solidFill>
              <a:latin typeface="Times New Roman" panose="02020603050405020304" pitchFamily="18" charset="0"/>
              <a:ea typeface="宋体" panose="02010600030101010101" pitchFamily="2" charset="-122"/>
            </a:endParaRPr>
          </a:p>
        </p:txBody>
      </p:sp>
      <p:sp>
        <p:nvSpPr>
          <p:cNvPr id="141" name="Line 71"/>
          <p:cNvSpPr>
            <a:spLocks noChangeShapeType="1"/>
          </p:cNvSpPr>
          <p:nvPr/>
        </p:nvSpPr>
        <p:spPr bwMode="auto">
          <a:xfrm flipV="1">
            <a:off x="-12700" y="3551238"/>
            <a:ext cx="7947025" cy="0"/>
          </a:xfrm>
          <a:prstGeom prst="line">
            <a:avLst/>
          </a:prstGeom>
          <a:noFill/>
          <a:ln w="28575">
            <a:solidFill>
              <a:srgbClr val="333333"/>
            </a:solidFill>
            <a:prstDash val="lgDash"/>
            <a:round/>
          </a:ln>
          <a:effectLst/>
        </p:spPr>
        <p:txBody>
          <a:bodyPr wrap="none" lIns="0" rIns="0" anchor="ctr"/>
          <a:lstStyle/>
          <a:p>
            <a:pPr eaLnBrk="1" fontAlgn="auto" hangingPunct="1">
              <a:spcBef>
                <a:spcPts val="0"/>
              </a:spcBef>
              <a:spcAft>
                <a:spcPts val="0"/>
              </a:spcAft>
              <a:defRPr/>
            </a:pPr>
            <a:endParaRPr lang="en-US" kern="0">
              <a:solidFill>
                <a:srgbClr val="333333"/>
              </a:solidFill>
              <a:latin typeface="Arial" panose="020B0604020202020204" pitchFamily="34" charset="0"/>
            </a:endParaRPr>
          </a:p>
        </p:txBody>
      </p:sp>
      <p:sp>
        <p:nvSpPr>
          <p:cNvPr id="142" name="Line 72"/>
          <p:cNvSpPr>
            <a:spLocks noChangeShapeType="1"/>
          </p:cNvSpPr>
          <p:nvPr/>
        </p:nvSpPr>
        <p:spPr bwMode="auto">
          <a:xfrm>
            <a:off x="3892550" y="1235076"/>
            <a:ext cx="0" cy="4886325"/>
          </a:xfrm>
          <a:prstGeom prst="line">
            <a:avLst/>
          </a:prstGeom>
          <a:noFill/>
          <a:ln w="28575">
            <a:solidFill>
              <a:srgbClr val="333333"/>
            </a:solidFill>
            <a:prstDash val="lgDash"/>
            <a:round/>
          </a:ln>
          <a:effectLst/>
        </p:spPr>
        <p:txBody>
          <a:bodyPr wrap="none" lIns="0" rIns="0" anchor="ctr"/>
          <a:lstStyle/>
          <a:p>
            <a:pPr eaLnBrk="1" fontAlgn="auto" hangingPunct="1">
              <a:spcBef>
                <a:spcPts val="0"/>
              </a:spcBef>
              <a:spcAft>
                <a:spcPts val="0"/>
              </a:spcAft>
              <a:defRPr/>
            </a:pPr>
            <a:endParaRPr lang="en-US" kern="0">
              <a:solidFill>
                <a:srgbClr val="333333"/>
              </a:solidFill>
              <a:latin typeface="Arial" panose="020B0604020202020204" pitchFamily="34" charset="0"/>
            </a:endParaRPr>
          </a:p>
        </p:txBody>
      </p:sp>
      <p:sp>
        <p:nvSpPr>
          <p:cNvPr id="2" name="TextBox 1"/>
          <p:cNvSpPr txBox="1"/>
          <p:nvPr/>
        </p:nvSpPr>
        <p:spPr>
          <a:xfrm>
            <a:off x="7842250" y="1378794"/>
            <a:ext cx="2073384" cy="5355312"/>
          </a:xfrm>
          <a:prstGeom prst="rect">
            <a:avLst/>
          </a:prstGeom>
          <a:noFill/>
        </p:spPr>
        <p:txBody>
          <a:bodyPr wrap="square" rtlCol="0">
            <a:spAutoFit/>
          </a:bodyPr>
          <a:lstStyle/>
          <a:p>
            <a:r>
              <a:rPr lang="zh-CN" altLang="en-US" b="1" dirty="0"/>
              <a:t>战略重点：</a:t>
            </a:r>
            <a:r>
              <a:rPr lang="zh-CN" altLang="en-US" dirty="0"/>
              <a:t> </a:t>
            </a:r>
            <a:endParaRPr lang="en-US" altLang="zh-CN" dirty="0"/>
          </a:p>
          <a:p>
            <a:r>
              <a:rPr lang="zh-CN" altLang="en-US" dirty="0"/>
              <a:t>是追求成本最低（职能型）、创新最快（产品型），还是客户最满意（市场</a:t>
            </a:r>
            <a:r>
              <a:rPr lang="en-US" altLang="zh-CN" dirty="0"/>
              <a:t>/</a:t>
            </a:r>
            <a:r>
              <a:rPr lang="zh-CN" altLang="en-US" dirty="0"/>
              <a:t>客户型）</a:t>
            </a:r>
            <a:endParaRPr lang="en-US" altLang="zh-CN" dirty="0"/>
          </a:p>
          <a:p>
            <a:endParaRPr lang="zh-CN" altLang="en-US" dirty="0"/>
          </a:p>
          <a:p>
            <a:r>
              <a:rPr lang="zh-CN" altLang="en-US" b="1" dirty="0"/>
              <a:t>环境不确定性：</a:t>
            </a:r>
            <a:endParaRPr lang="en-US" altLang="zh-CN" b="1" dirty="0"/>
          </a:p>
          <a:p>
            <a:r>
              <a:rPr lang="zh-CN" altLang="en-US" dirty="0"/>
              <a:t>环境越复杂多变，越倾向于分权的产品或地域结构</a:t>
            </a:r>
            <a:endParaRPr lang="en-US" altLang="zh-CN" dirty="0"/>
          </a:p>
          <a:p>
            <a:endParaRPr lang="zh-CN" altLang="en-US" dirty="0"/>
          </a:p>
          <a:p>
            <a:r>
              <a:rPr lang="zh-CN" altLang="en-US" b="1" dirty="0"/>
              <a:t>企业规模：</a:t>
            </a:r>
            <a:r>
              <a:rPr lang="zh-CN" altLang="en-US" dirty="0"/>
              <a:t> </a:t>
            </a:r>
            <a:endParaRPr lang="en-US" altLang="zh-CN" dirty="0"/>
          </a:p>
          <a:p>
            <a:r>
              <a:rPr lang="zh-CN" altLang="en-US" dirty="0"/>
              <a:t>规模越大，越需要多维度的组合来平衡效率与灵活性。</a:t>
            </a:r>
            <a:endParaRPr lang="en-US" altLang="zh-CN" dirty="0"/>
          </a:p>
          <a:p>
            <a:r>
              <a:rPr lang="zh-CN" altLang="en-US" dirty="0"/>
              <a:t>华为：产品</a:t>
            </a:r>
            <a:r>
              <a:rPr lang="en-US" altLang="zh-CN" dirty="0"/>
              <a:t>+</a:t>
            </a:r>
            <a:r>
              <a:rPr lang="zh-CN" altLang="en-US" dirty="0"/>
              <a:t>地域</a:t>
            </a:r>
            <a:endParaRPr lang="en-US" altLang="zh-CN" dirty="0"/>
          </a:p>
          <a:p>
            <a:r>
              <a:rPr lang="zh-CN" altLang="en-US" dirty="0"/>
              <a:t>平安：职能</a:t>
            </a:r>
            <a:r>
              <a:rPr lang="en-US" altLang="zh-CN" dirty="0"/>
              <a:t>+</a:t>
            </a:r>
            <a:r>
              <a:rPr lang="zh-CN" altLang="en-US" dirty="0"/>
              <a:t>地域</a:t>
            </a:r>
            <a:endParaRPr lang="zh-CN" alt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p:cNvSpPr>
            <a:spLocks noGrp="1" noChangeArrowheads="1"/>
          </p:cNvSpPr>
          <p:nvPr>
            <p:ph type="title"/>
          </p:nvPr>
        </p:nvSpPr>
        <p:spPr>
          <a:xfrm>
            <a:off x="247650" y="80963"/>
            <a:ext cx="8054975" cy="939800"/>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sz="2800" dirty="0"/>
              <a:t>在组织架构设计的过程中还应考虑四个方面的问题</a:t>
            </a:r>
            <a:endParaRPr lang="zh-CN" altLang="en-US" sz="2800" dirty="0"/>
          </a:p>
        </p:txBody>
      </p:sp>
      <p:sp>
        <p:nvSpPr>
          <p:cNvPr id="137219" name="Rectangle 24"/>
          <p:cNvSpPr>
            <a:spLocks noChangeArrowheads="1"/>
          </p:cNvSpPr>
          <p:nvPr>
            <p:custDataLst>
              <p:tags r:id="rId1"/>
            </p:custDataLst>
          </p:nvPr>
        </p:nvSpPr>
        <p:spPr bwMode="auto">
          <a:xfrm>
            <a:off x="4337050" y="1730375"/>
            <a:ext cx="4048125" cy="4075113"/>
          </a:xfrm>
          <a:prstGeom prst="rect">
            <a:avLst/>
          </a:prstGeom>
          <a:solidFill>
            <a:schemeClr val="bg1">
              <a:lumMod val="85000"/>
            </a:schemeClr>
          </a:solidFill>
          <a:ln w="9525" algn="ctr">
            <a:solidFill>
              <a:srgbClr val="EAEBE7"/>
            </a:solidFill>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buSzTx/>
            </a:pPr>
            <a:endParaRPr lang="zh-CN" altLang="zh-CN" sz="1800" b="0">
              <a:solidFill>
                <a:srgbClr val="000000"/>
              </a:solidFill>
              <a:latin typeface="宋体" panose="02010600030101010101" pitchFamily="2" charset="-122"/>
              <a:ea typeface="宋体" panose="02010600030101010101" pitchFamily="2" charset="-122"/>
            </a:endParaRPr>
          </a:p>
        </p:txBody>
      </p:sp>
      <p:sp>
        <p:nvSpPr>
          <p:cNvPr id="137220" name="Rectangle 25"/>
          <p:cNvSpPr>
            <a:spLocks noChangeArrowheads="1"/>
          </p:cNvSpPr>
          <p:nvPr>
            <p:custDataLst>
              <p:tags r:id="rId2"/>
            </p:custDataLst>
          </p:nvPr>
        </p:nvSpPr>
        <p:spPr bwMode="auto">
          <a:xfrm>
            <a:off x="825500" y="1730375"/>
            <a:ext cx="2809875" cy="876300"/>
          </a:xfrm>
          <a:prstGeom prst="rect">
            <a:avLst/>
          </a:prstGeom>
          <a:solidFill>
            <a:schemeClr val="bg1">
              <a:lumMod val="85000"/>
            </a:schemeClr>
          </a:solidFill>
          <a:ln w="9525" algn="ctr">
            <a:solidFill>
              <a:srgbClr val="EAEBE7"/>
            </a:solidFill>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spcAft>
                <a:spcPct val="0"/>
              </a:spcAft>
              <a:buSzTx/>
              <a:buFont typeface="Wingdings" panose="05000000000000000000" pitchFamily="2" charset="2"/>
              <a:buNone/>
            </a:pPr>
            <a:r>
              <a:rPr lang="zh-CN" altLang="en-US" sz="1800" b="0" dirty="0">
                <a:solidFill>
                  <a:srgbClr val="000000"/>
                </a:solidFill>
                <a:latin typeface="宋体" panose="02010600030101010101" pitchFamily="2" charset="-122"/>
                <a:ea typeface="宋体" panose="02010600030101010101" pitchFamily="2" charset="-122"/>
              </a:rPr>
              <a:t>集团</a:t>
            </a:r>
            <a:r>
              <a:rPr lang="en-US" altLang="zh-CN" sz="1800" b="0" dirty="0">
                <a:solidFill>
                  <a:srgbClr val="000000"/>
                </a:solidFill>
                <a:latin typeface="宋体" panose="02010600030101010101" pitchFamily="2" charset="-122"/>
                <a:ea typeface="宋体" panose="02010600030101010101" pitchFamily="2" charset="-122"/>
              </a:rPr>
              <a:t>/</a:t>
            </a:r>
            <a:r>
              <a:rPr lang="zh-CN" altLang="en-US" sz="1800" b="0" dirty="0">
                <a:solidFill>
                  <a:srgbClr val="000000"/>
                </a:solidFill>
                <a:latin typeface="宋体" panose="02010600030101010101" pitchFamily="2" charset="-122"/>
                <a:ea typeface="宋体" panose="02010600030101010101" pitchFamily="2" charset="-122"/>
              </a:rPr>
              <a:t>子公司的</a:t>
            </a:r>
            <a:endParaRPr lang="zh-CN" altLang="en-US" sz="1800" b="0" dirty="0">
              <a:solidFill>
                <a:srgbClr val="000000"/>
              </a:solidFill>
              <a:latin typeface="宋体" panose="02010600030101010101" pitchFamily="2" charset="-122"/>
              <a:ea typeface="宋体" panose="02010600030101010101" pitchFamily="2" charset="-122"/>
            </a:endParaRPr>
          </a:p>
          <a:p>
            <a:pPr algn="ctr">
              <a:lnSpc>
                <a:spcPct val="90000"/>
              </a:lnSpc>
              <a:spcBef>
                <a:spcPct val="0"/>
              </a:spcBef>
              <a:spcAft>
                <a:spcPct val="0"/>
              </a:spcAft>
              <a:buSzTx/>
              <a:buFont typeface="Wingdings" panose="05000000000000000000" pitchFamily="2" charset="2"/>
              <a:buNone/>
            </a:pPr>
            <a:r>
              <a:rPr lang="zh-CN" altLang="en-US" sz="1800" b="0" dirty="0">
                <a:solidFill>
                  <a:srgbClr val="000000"/>
                </a:solidFill>
                <a:latin typeface="宋体" panose="02010600030101010101" pitchFamily="2" charset="-122"/>
                <a:ea typeface="宋体" panose="02010600030101010101" pitchFamily="2" charset="-122"/>
              </a:rPr>
              <a:t>战略定位</a:t>
            </a:r>
            <a:endParaRPr lang="zh-CN" altLang="en-US" sz="1800" b="0" dirty="0">
              <a:solidFill>
                <a:srgbClr val="000000"/>
              </a:solidFill>
              <a:latin typeface="宋体" panose="02010600030101010101" pitchFamily="2" charset="-122"/>
              <a:ea typeface="宋体" panose="02010600030101010101" pitchFamily="2" charset="-122"/>
            </a:endParaRPr>
          </a:p>
        </p:txBody>
      </p:sp>
      <p:sp>
        <p:nvSpPr>
          <p:cNvPr id="137221" name="Rectangle 26"/>
          <p:cNvSpPr>
            <a:spLocks noChangeArrowheads="1"/>
          </p:cNvSpPr>
          <p:nvPr>
            <p:custDataLst>
              <p:tags r:id="rId3"/>
            </p:custDataLst>
          </p:nvPr>
        </p:nvSpPr>
        <p:spPr bwMode="auto">
          <a:xfrm>
            <a:off x="825500" y="3857625"/>
            <a:ext cx="2809875" cy="876300"/>
          </a:xfrm>
          <a:prstGeom prst="rect">
            <a:avLst/>
          </a:prstGeom>
          <a:solidFill>
            <a:schemeClr val="bg1">
              <a:lumMod val="85000"/>
            </a:schemeClr>
          </a:solidFill>
          <a:ln w="9525" algn="ctr">
            <a:solidFill>
              <a:srgbClr val="EAEBE7"/>
            </a:solidFill>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buSzTx/>
            </a:pPr>
            <a:r>
              <a:rPr lang="zh-CN" altLang="en-US" sz="1800" b="0">
                <a:solidFill>
                  <a:srgbClr val="000000"/>
                </a:solidFill>
                <a:latin typeface="宋体" panose="02010600030101010101" pitchFamily="2" charset="-122"/>
                <a:ea typeface="宋体" panose="02010600030101010101" pitchFamily="2" charset="-122"/>
              </a:rPr>
              <a:t>能够提升综合能力的</a:t>
            </a:r>
            <a:endParaRPr lang="zh-CN" altLang="en-US" sz="1800" b="0">
              <a:solidFill>
                <a:srgbClr val="000000"/>
              </a:solidFill>
              <a:latin typeface="宋体" panose="02010600030101010101" pitchFamily="2" charset="-122"/>
              <a:ea typeface="宋体" panose="02010600030101010101" pitchFamily="2" charset="-122"/>
            </a:endParaRPr>
          </a:p>
          <a:p>
            <a:pPr algn="ctr">
              <a:lnSpc>
                <a:spcPct val="90000"/>
              </a:lnSpc>
              <a:buSzTx/>
            </a:pPr>
            <a:r>
              <a:rPr lang="zh-CN" altLang="en-US" sz="1800" b="0">
                <a:solidFill>
                  <a:srgbClr val="000000"/>
                </a:solidFill>
                <a:latin typeface="宋体" panose="02010600030101010101" pitchFamily="2" charset="-122"/>
                <a:ea typeface="宋体" panose="02010600030101010101" pitchFamily="2" charset="-122"/>
              </a:rPr>
              <a:t>管理模式</a:t>
            </a:r>
            <a:endParaRPr lang="zh-CN" altLang="en-US" sz="1800" b="0">
              <a:solidFill>
                <a:srgbClr val="000000"/>
              </a:solidFill>
              <a:latin typeface="宋体" panose="02010600030101010101" pitchFamily="2" charset="-122"/>
              <a:ea typeface="宋体" panose="02010600030101010101" pitchFamily="2" charset="-122"/>
            </a:endParaRPr>
          </a:p>
        </p:txBody>
      </p:sp>
      <p:sp>
        <p:nvSpPr>
          <p:cNvPr id="137222" name="Rectangle 27"/>
          <p:cNvSpPr>
            <a:spLocks noChangeArrowheads="1"/>
          </p:cNvSpPr>
          <p:nvPr>
            <p:custDataLst>
              <p:tags r:id="rId4"/>
            </p:custDataLst>
          </p:nvPr>
        </p:nvSpPr>
        <p:spPr bwMode="auto">
          <a:xfrm>
            <a:off x="825500" y="2794000"/>
            <a:ext cx="2809875" cy="876300"/>
          </a:xfrm>
          <a:prstGeom prst="rect">
            <a:avLst/>
          </a:prstGeom>
          <a:solidFill>
            <a:schemeClr val="bg1">
              <a:lumMod val="85000"/>
            </a:schemeClr>
          </a:solidFill>
          <a:ln w="9525" algn="ctr">
            <a:solidFill>
              <a:srgbClr val="EAEBE7"/>
            </a:solidFill>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buSzTx/>
            </a:pPr>
            <a:r>
              <a:rPr lang="zh-CN" altLang="en-US" sz="1800" b="0" dirty="0">
                <a:solidFill>
                  <a:srgbClr val="000000"/>
                </a:solidFill>
                <a:latin typeface="宋体" panose="02010600030101010101" pitchFamily="2" charset="-122"/>
                <a:ea typeface="宋体" panose="02010600030101010101" pitchFamily="2" charset="-122"/>
              </a:rPr>
              <a:t>实现定位所需要的</a:t>
            </a:r>
            <a:endParaRPr lang="en-US" altLang="zh-CN" sz="1800" b="0" dirty="0">
              <a:solidFill>
                <a:srgbClr val="000000"/>
              </a:solidFill>
              <a:latin typeface="宋体" panose="02010600030101010101" pitchFamily="2" charset="-122"/>
              <a:ea typeface="宋体" panose="02010600030101010101" pitchFamily="2" charset="-122"/>
            </a:endParaRPr>
          </a:p>
          <a:p>
            <a:pPr algn="ctr">
              <a:lnSpc>
                <a:spcPct val="90000"/>
              </a:lnSpc>
              <a:buSzTx/>
            </a:pPr>
            <a:r>
              <a:rPr lang="zh-CN" altLang="en-US" sz="1800" b="0" dirty="0">
                <a:solidFill>
                  <a:srgbClr val="000000"/>
                </a:solidFill>
                <a:latin typeface="宋体" panose="02010600030101010101" pitchFamily="2" charset="-122"/>
                <a:ea typeface="宋体" panose="02010600030101010101" pitchFamily="2" charset="-122"/>
              </a:rPr>
              <a:t>业务能力</a:t>
            </a:r>
            <a:endParaRPr lang="zh-CN" altLang="en-US" sz="1800" b="0" dirty="0">
              <a:solidFill>
                <a:srgbClr val="000000"/>
              </a:solidFill>
              <a:latin typeface="宋体" panose="02010600030101010101" pitchFamily="2" charset="-122"/>
              <a:ea typeface="宋体" panose="02010600030101010101" pitchFamily="2" charset="-122"/>
            </a:endParaRPr>
          </a:p>
        </p:txBody>
      </p:sp>
      <p:sp>
        <p:nvSpPr>
          <p:cNvPr id="137223" name="Rectangle 28"/>
          <p:cNvSpPr>
            <a:spLocks noChangeArrowheads="1"/>
          </p:cNvSpPr>
          <p:nvPr>
            <p:custDataLst>
              <p:tags r:id="rId5"/>
            </p:custDataLst>
          </p:nvPr>
        </p:nvSpPr>
        <p:spPr bwMode="auto">
          <a:xfrm>
            <a:off x="825500" y="4921250"/>
            <a:ext cx="2809875" cy="876300"/>
          </a:xfrm>
          <a:prstGeom prst="rect">
            <a:avLst/>
          </a:prstGeom>
          <a:solidFill>
            <a:schemeClr val="bg1">
              <a:lumMod val="85000"/>
            </a:schemeClr>
          </a:solidFill>
          <a:ln w="9525" algn="ctr">
            <a:solidFill>
              <a:srgbClr val="EAEBE7"/>
            </a:solidFill>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buSzTx/>
            </a:pPr>
            <a:r>
              <a:rPr lang="zh-CN" altLang="en-US" sz="1800" b="0">
                <a:solidFill>
                  <a:srgbClr val="000000"/>
                </a:solidFill>
                <a:latin typeface="宋体" panose="02010600030101010101" pitchFamily="2" charset="-122"/>
                <a:ea typeface="宋体" panose="02010600030101010101" pitchFamily="2" charset="-122"/>
              </a:rPr>
              <a:t>领先实践的启示</a:t>
            </a:r>
            <a:endParaRPr lang="zh-CN" altLang="en-US" sz="1800" b="0">
              <a:solidFill>
                <a:srgbClr val="000000"/>
              </a:solidFill>
              <a:latin typeface="宋体" panose="02010600030101010101" pitchFamily="2" charset="-122"/>
              <a:ea typeface="宋体" panose="02010600030101010101" pitchFamily="2" charset="-122"/>
            </a:endParaRPr>
          </a:p>
        </p:txBody>
      </p:sp>
      <p:sp>
        <p:nvSpPr>
          <p:cNvPr id="30" name="AutoShape 8"/>
          <p:cNvSpPr>
            <a:spLocks noChangeArrowheads="1"/>
          </p:cNvSpPr>
          <p:nvPr>
            <p:custDataLst>
              <p:tags r:id="rId6"/>
            </p:custDataLst>
          </p:nvPr>
        </p:nvSpPr>
        <p:spPr bwMode="gray">
          <a:xfrm rot="5400000">
            <a:off x="2254250" y="3740150"/>
            <a:ext cx="3505200" cy="266700"/>
          </a:xfrm>
          <a:prstGeom prst="triangle">
            <a:avLst>
              <a:gd name="adj" fmla="val 50000"/>
            </a:avLst>
          </a:prstGeom>
          <a:solidFill>
            <a:srgbClr val="E2E2E2"/>
          </a:solidFill>
          <a:ln w="9525" algn="ctr">
            <a:solidFill>
              <a:srgbClr val="E2E2E2"/>
            </a:solidFill>
            <a:miter lim="800000"/>
          </a:ln>
          <a:effectLst/>
        </p:spPr>
        <p:txBody>
          <a:bodyPr rot="10800000" vert="eaVert" wrap="none" anchor="ctr"/>
          <a:lstStyle>
            <a:lvl1pPr>
              <a:buClr>
                <a:schemeClr val="accent1"/>
              </a:buClr>
              <a:buFont typeface="Wingdings" panose="05000000000000000000" pitchFamily="2" charset="2"/>
              <a:buChar char="§"/>
              <a:defRPr>
                <a:solidFill>
                  <a:schemeClr val="tx1"/>
                </a:solidFill>
                <a:latin typeface="Arial" panose="020B0604020202020204" pitchFamily="34" charset="0"/>
              </a:defRPr>
            </a:lvl1pPr>
            <a:lvl2pPr marL="742950" indent="-285750">
              <a:buClr>
                <a:schemeClr val="accent1"/>
              </a:buClr>
              <a:buFont typeface="Wingdings" panose="05000000000000000000" pitchFamily="2" charset="2"/>
              <a:buChar char="§"/>
              <a:defRPr>
                <a:solidFill>
                  <a:schemeClr val="tx1"/>
                </a:solidFill>
                <a:latin typeface="Arial" panose="020B0604020202020204" pitchFamily="34" charset="0"/>
              </a:defRPr>
            </a:lvl2pPr>
            <a:lvl3pPr marL="1143000" indent="-228600">
              <a:buClr>
                <a:schemeClr val="accent1"/>
              </a:buClr>
              <a:buFont typeface="Wingdings" panose="05000000000000000000" pitchFamily="2" charset="2"/>
              <a:buChar char="§"/>
              <a:defRPr>
                <a:solidFill>
                  <a:schemeClr val="tx1"/>
                </a:solidFill>
                <a:latin typeface="Arial" panose="020B0604020202020204" pitchFamily="34" charset="0"/>
              </a:defRPr>
            </a:lvl3pPr>
            <a:lvl4pPr marL="1600200" indent="-228600">
              <a:buClr>
                <a:schemeClr val="accent1"/>
              </a:buClr>
              <a:buFont typeface="Wingdings" panose="05000000000000000000" pitchFamily="2" charset="2"/>
              <a:buChar char="§"/>
              <a:defRPr>
                <a:solidFill>
                  <a:schemeClr val="tx1"/>
                </a:solidFill>
                <a:latin typeface="Arial" panose="020B0604020202020204" pitchFamily="34" charset="0"/>
              </a:defRPr>
            </a:lvl4pPr>
            <a:lvl5pPr marL="2057400" indent="-228600">
              <a:buClr>
                <a:schemeClr val="accent1"/>
              </a:buClr>
              <a:buFont typeface="Wingdings" panose="05000000000000000000" pitchFamily="2" charset="2"/>
              <a:buChar char="§"/>
              <a:defRPr>
                <a:solidFill>
                  <a:schemeClr val="tx1"/>
                </a:solidFill>
                <a:latin typeface="Arial" panose="020B0604020202020204" pitchFamily="34" charset="0"/>
              </a:defRPr>
            </a:lvl5pPr>
            <a:lvl6pPr marL="25146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6pPr>
            <a:lvl7pPr marL="29718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7pPr>
            <a:lvl8pPr marL="34290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8pPr>
            <a:lvl9pPr marL="3886200" indent="-228600" eaLnBrk="0" fontAlgn="base" hangingPunct="0">
              <a:spcBef>
                <a:spcPct val="0"/>
              </a:spcBef>
              <a:spcAft>
                <a:spcPct val="0"/>
              </a:spcAft>
              <a:buClr>
                <a:schemeClr val="accent1"/>
              </a:buClr>
              <a:buFont typeface="Wingdings" panose="05000000000000000000" pitchFamily="2" charset="2"/>
              <a:buChar char="§"/>
              <a:defRPr>
                <a:solidFill>
                  <a:schemeClr val="tx1"/>
                </a:solidFill>
                <a:latin typeface="Arial" panose="020B0604020202020204" pitchFamily="34" charset="0"/>
              </a:defRPr>
            </a:lvl9pPr>
          </a:lstStyle>
          <a:p>
            <a:pPr algn="ctr" eaLnBrk="1" hangingPunct="1">
              <a:buClrTx/>
              <a:buFont typeface="Wingdings" panose="05000000000000000000" pitchFamily="2" charset="2"/>
              <a:buNone/>
            </a:pPr>
            <a:endParaRPr lang="en-AU" altLang="zh-CN">
              <a:solidFill>
                <a:srgbClr val="FFFFFF"/>
              </a:solidFill>
              <a:latin typeface="宋体" panose="02010600030101010101" pitchFamily="2" charset="-122"/>
              <a:ea typeface="宋体" panose="02010600030101010101" pitchFamily="2" charset="-122"/>
              <a:cs typeface="Arial" panose="020B0604020202020204" pitchFamily="34" charset="0"/>
            </a:endParaRPr>
          </a:p>
        </p:txBody>
      </p:sp>
      <p:sp>
        <p:nvSpPr>
          <p:cNvPr id="137225" name="Rectangle 30"/>
          <p:cNvSpPr>
            <a:spLocks noChangeArrowheads="1"/>
          </p:cNvSpPr>
          <p:nvPr>
            <p:custDataLst>
              <p:tags r:id="rId7"/>
            </p:custDataLst>
          </p:nvPr>
        </p:nvSpPr>
        <p:spPr bwMode="auto">
          <a:xfrm>
            <a:off x="4427538" y="2149475"/>
            <a:ext cx="1620837" cy="3143250"/>
          </a:xfrm>
          <a:prstGeom prst="rect">
            <a:avLst/>
          </a:prstGeom>
          <a:solidFill>
            <a:srgbClr val="C0C0C0"/>
          </a:solidFill>
          <a:ln w="9525" algn="ctr">
            <a:solidFill>
              <a:srgbClr val="808080"/>
            </a:solidFill>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spcAft>
                <a:spcPct val="0"/>
              </a:spcAft>
              <a:buSzTx/>
              <a:buFont typeface="Wingdings" panose="05000000000000000000" pitchFamily="2" charset="2"/>
              <a:buNone/>
            </a:pPr>
            <a:r>
              <a:rPr lang="zh-CN" altLang="en-US" sz="1800" b="0">
                <a:solidFill>
                  <a:srgbClr val="000000"/>
                </a:solidFill>
                <a:latin typeface="宋体" panose="02010600030101010101" pitchFamily="2" charset="-122"/>
                <a:ea typeface="宋体" panose="02010600030101010101" pitchFamily="2" charset="-122"/>
              </a:rPr>
              <a:t>公司的</a:t>
            </a:r>
            <a:br>
              <a:rPr lang="zh-CN" altLang="en-US" sz="1800" b="0">
                <a:solidFill>
                  <a:srgbClr val="000000"/>
                </a:solidFill>
                <a:latin typeface="宋体" panose="02010600030101010101" pitchFamily="2" charset="-122"/>
                <a:ea typeface="宋体" panose="02010600030101010101" pitchFamily="2" charset="-122"/>
              </a:rPr>
            </a:br>
            <a:r>
              <a:rPr lang="zh-CN" altLang="en-US" sz="1800" b="0">
                <a:solidFill>
                  <a:srgbClr val="000000"/>
                </a:solidFill>
                <a:latin typeface="宋体" panose="02010600030101010101" pitchFamily="2" charset="-122"/>
                <a:ea typeface="宋体" panose="02010600030101010101" pitchFamily="2" charset="-122"/>
              </a:rPr>
              <a:t>组织架构</a:t>
            </a:r>
            <a:endParaRPr lang="zh-CN" altLang="en-US" sz="1800" b="0">
              <a:solidFill>
                <a:srgbClr val="000000"/>
              </a:solidFill>
              <a:latin typeface="宋体" panose="02010600030101010101" pitchFamily="2" charset="-122"/>
              <a:ea typeface="宋体" panose="02010600030101010101" pitchFamily="2" charset="-122"/>
            </a:endParaRPr>
          </a:p>
        </p:txBody>
      </p:sp>
      <p:sp>
        <p:nvSpPr>
          <p:cNvPr id="137226" name="Rectangle 31"/>
          <p:cNvSpPr>
            <a:spLocks noChangeArrowheads="1"/>
          </p:cNvSpPr>
          <p:nvPr>
            <p:custDataLst>
              <p:tags r:id="rId8"/>
            </p:custDataLst>
          </p:nvPr>
        </p:nvSpPr>
        <p:spPr bwMode="auto">
          <a:xfrm>
            <a:off x="6650038" y="1901825"/>
            <a:ext cx="1562100" cy="666750"/>
          </a:xfrm>
          <a:prstGeom prst="rect">
            <a:avLst/>
          </a:prstGeom>
          <a:solidFill>
            <a:srgbClr val="C0C0C0"/>
          </a:solidFill>
          <a:ln w="9525" algn="ctr">
            <a:solidFill>
              <a:srgbClr val="808080"/>
            </a:solidFill>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spcAft>
                <a:spcPct val="0"/>
              </a:spcAft>
              <a:buSzTx/>
              <a:buFont typeface="Wingdings" panose="05000000000000000000" pitchFamily="2" charset="2"/>
              <a:buNone/>
            </a:pPr>
            <a:r>
              <a:rPr lang="zh-CN" altLang="en-US" sz="1600" b="0">
                <a:solidFill>
                  <a:srgbClr val="000000"/>
                </a:solidFill>
                <a:latin typeface="宋体" panose="02010600030101010101" pitchFamily="2" charset="-122"/>
                <a:ea typeface="宋体" panose="02010600030101010101" pitchFamily="2" charset="-122"/>
              </a:rPr>
              <a:t>机构设置</a:t>
            </a:r>
            <a:endParaRPr lang="zh-CN" altLang="en-US" sz="1600" b="0">
              <a:solidFill>
                <a:srgbClr val="000000"/>
              </a:solidFill>
              <a:latin typeface="宋体" panose="02010600030101010101" pitchFamily="2" charset="-122"/>
              <a:ea typeface="宋体" panose="02010600030101010101" pitchFamily="2" charset="-122"/>
            </a:endParaRPr>
          </a:p>
        </p:txBody>
      </p:sp>
      <p:sp>
        <p:nvSpPr>
          <p:cNvPr id="137227" name="Rectangle 32"/>
          <p:cNvSpPr>
            <a:spLocks noChangeArrowheads="1"/>
          </p:cNvSpPr>
          <p:nvPr>
            <p:custDataLst>
              <p:tags r:id="rId9"/>
            </p:custDataLst>
          </p:nvPr>
        </p:nvSpPr>
        <p:spPr bwMode="auto">
          <a:xfrm>
            <a:off x="6650038" y="2644775"/>
            <a:ext cx="1562100" cy="666750"/>
          </a:xfrm>
          <a:prstGeom prst="rect">
            <a:avLst/>
          </a:prstGeom>
          <a:solidFill>
            <a:srgbClr val="C0C0C0"/>
          </a:solidFill>
          <a:ln w="9525" algn="ctr">
            <a:solidFill>
              <a:srgbClr val="808080"/>
            </a:solidFill>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spcAft>
                <a:spcPct val="0"/>
              </a:spcAft>
              <a:buSzTx/>
              <a:buFont typeface="Wingdings" panose="05000000000000000000" pitchFamily="2" charset="2"/>
              <a:buNone/>
            </a:pPr>
            <a:r>
              <a:rPr lang="zh-CN" altLang="en-US" sz="1600" b="0">
                <a:solidFill>
                  <a:srgbClr val="000000"/>
                </a:solidFill>
                <a:latin typeface="宋体" panose="02010600030101010101" pitchFamily="2" charset="-122"/>
                <a:ea typeface="宋体" panose="02010600030101010101" pitchFamily="2" charset="-122"/>
              </a:rPr>
              <a:t>职责职能</a:t>
            </a:r>
            <a:endParaRPr lang="zh-CN" altLang="en-US" sz="1600" b="0">
              <a:solidFill>
                <a:srgbClr val="000000"/>
              </a:solidFill>
              <a:latin typeface="宋体" panose="02010600030101010101" pitchFamily="2" charset="-122"/>
              <a:ea typeface="宋体" panose="02010600030101010101" pitchFamily="2" charset="-122"/>
            </a:endParaRPr>
          </a:p>
        </p:txBody>
      </p:sp>
      <p:sp>
        <p:nvSpPr>
          <p:cNvPr id="137228" name="Rectangle 33"/>
          <p:cNvSpPr>
            <a:spLocks noChangeArrowheads="1"/>
          </p:cNvSpPr>
          <p:nvPr>
            <p:custDataLst>
              <p:tags r:id="rId10"/>
            </p:custDataLst>
          </p:nvPr>
        </p:nvSpPr>
        <p:spPr bwMode="auto">
          <a:xfrm>
            <a:off x="6650038" y="3387725"/>
            <a:ext cx="1562100" cy="666750"/>
          </a:xfrm>
          <a:prstGeom prst="rect">
            <a:avLst/>
          </a:prstGeom>
          <a:solidFill>
            <a:srgbClr val="EAEBE7"/>
          </a:solidFill>
          <a:ln w="9525" algn="ctr">
            <a:solidFill>
              <a:srgbClr val="808080"/>
            </a:solidFill>
            <a:prstDash val="dash"/>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spcAft>
                <a:spcPct val="0"/>
              </a:spcAft>
              <a:buSzTx/>
              <a:buFont typeface="Wingdings" panose="05000000000000000000" pitchFamily="2" charset="2"/>
              <a:buNone/>
            </a:pPr>
            <a:r>
              <a:rPr lang="zh-CN" altLang="en-US" sz="1600" b="0">
                <a:solidFill>
                  <a:srgbClr val="000000"/>
                </a:solidFill>
                <a:latin typeface="宋体" panose="02010600030101010101" pitchFamily="2" charset="-122"/>
                <a:ea typeface="宋体" panose="02010600030101010101" pitchFamily="2" charset="-122"/>
              </a:rPr>
              <a:t>组织绩效</a:t>
            </a:r>
            <a:endParaRPr lang="zh-CN" altLang="en-US" sz="1600" b="0">
              <a:solidFill>
                <a:srgbClr val="000000"/>
              </a:solidFill>
              <a:latin typeface="宋体" panose="02010600030101010101" pitchFamily="2" charset="-122"/>
              <a:ea typeface="宋体" panose="02010600030101010101" pitchFamily="2" charset="-122"/>
            </a:endParaRPr>
          </a:p>
        </p:txBody>
      </p:sp>
      <p:sp>
        <p:nvSpPr>
          <p:cNvPr id="137229" name="Rectangle 34"/>
          <p:cNvSpPr>
            <a:spLocks noChangeArrowheads="1"/>
          </p:cNvSpPr>
          <p:nvPr>
            <p:custDataLst>
              <p:tags r:id="rId11"/>
            </p:custDataLst>
          </p:nvPr>
        </p:nvSpPr>
        <p:spPr bwMode="auto">
          <a:xfrm>
            <a:off x="6650038" y="4130675"/>
            <a:ext cx="1562100" cy="666750"/>
          </a:xfrm>
          <a:prstGeom prst="rect">
            <a:avLst/>
          </a:prstGeom>
          <a:solidFill>
            <a:srgbClr val="EAEBE7"/>
          </a:solidFill>
          <a:ln w="9525" algn="ctr">
            <a:solidFill>
              <a:srgbClr val="808080"/>
            </a:solidFill>
            <a:prstDash val="dash"/>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spcAft>
                <a:spcPct val="0"/>
              </a:spcAft>
              <a:buSzTx/>
              <a:buFont typeface="Wingdings" panose="05000000000000000000" pitchFamily="2" charset="2"/>
              <a:buNone/>
            </a:pPr>
            <a:r>
              <a:rPr lang="zh-CN" altLang="en-US" sz="1600" b="0">
                <a:solidFill>
                  <a:srgbClr val="000000"/>
                </a:solidFill>
                <a:latin typeface="宋体" panose="02010600030101010101" pitchFamily="2" charset="-122"/>
                <a:ea typeface="宋体" panose="02010600030101010101" pitchFamily="2" charset="-122"/>
              </a:rPr>
              <a:t>合作机制</a:t>
            </a:r>
            <a:endParaRPr lang="zh-CN" altLang="en-US" sz="1600" b="0">
              <a:solidFill>
                <a:srgbClr val="000000"/>
              </a:solidFill>
              <a:latin typeface="宋体" panose="02010600030101010101" pitchFamily="2" charset="-122"/>
              <a:ea typeface="宋体" panose="02010600030101010101" pitchFamily="2" charset="-122"/>
            </a:endParaRPr>
          </a:p>
        </p:txBody>
      </p:sp>
      <p:sp>
        <p:nvSpPr>
          <p:cNvPr id="137230" name="Rectangle 35"/>
          <p:cNvSpPr>
            <a:spLocks noChangeArrowheads="1"/>
          </p:cNvSpPr>
          <p:nvPr>
            <p:custDataLst>
              <p:tags r:id="rId12"/>
            </p:custDataLst>
          </p:nvPr>
        </p:nvSpPr>
        <p:spPr bwMode="auto">
          <a:xfrm>
            <a:off x="6650038" y="4873625"/>
            <a:ext cx="1562100" cy="666750"/>
          </a:xfrm>
          <a:prstGeom prst="rect">
            <a:avLst/>
          </a:prstGeom>
          <a:solidFill>
            <a:srgbClr val="EAEBE7"/>
          </a:solidFill>
          <a:ln w="9525" algn="ctr">
            <a:solidFill>
              <a:srgbClr val="808080"/>
            </a:solidFill>
            <a:prstDash val="dash"/>
            <a:miter lim="800000"/>
          </a:ln>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spcAft>
                <a:spcPct val="0"/>
              </a:spcAft>
              <a:buSzTx/>
              <a:buFont typeface="Wingdings" panose="05000000000000000000" pitchFamily="2" charset="2"/>
              <a:buNone/>
            </a:pPr>
            <a:r>
              <a:rPr lang="zh-CN" altLang="en-US" sz="1600" b="0">
                <a:solidFill>
                  <a:srgbClr val="000000"/>
                </a:solidFill>
                <a:latin typeface="宋体" panose="02010600030101010101" pitchFamily="2" charset="-122"/>
                <a:ea typeface="宋体" panose="02010600030101010101" pitchFamily="2" charset="-122"/>
              </a:rPr>
              <a:t>监管流程</a:t>
            </a:r>
            <a:endParaRPr lang="zh-CN" altLang="en-US" sz="1600" b="0">
              <a:solidFill>
                <a:srgbClr val="000000"/>
              </a:solidFill>
              <a:latin typeface="宋体" panose="02010600030101010101" pitchFamily="2" charset="-122"/>
              <a:ea typeface="宋体" panose="02010600030101010101" pitchFamily="2" charset="-122"/>
            </a:endParaRPr>
          </a:p>
        </p:txBody>
      </p:sp>
      <p:sp>
        <p:nvSpPr>
          <p:cNvPr id="137231" name="Oval 36"/>
          <p:cNvSpPr>
            <a:spLocks noChangeArrowheads="1"/>
          </p:cNvSpPr>
          <p:nvPr>
            <p:custDataLst>
              <p:tags r:id="rId13"/>
            </p:custDataLst>
          </p:nvPr>
        </p:nvSpPr>
        <p:spPr bwMode="gray">
          <a:xfrm>
            <a:off x="414908" y="2025650"/>
            <a:ext cx="295275" cy="295275"/>
          </a:xfrm>
          <a:prstGeom prst="ellipse">
            <a:avLst/>
          </a:prstGeom>
          <a:solidFill>
            <a:srgbClr val="EAEBE7"/>
          </a:solidFill>
          <a:ln w="9525" algn="ctr">
            <a:solidFill>
              <a:srgbClr val="808080"/>
            </a:solidFill>
            <a:round/>
          </a:ln>
        </p:spPr>
        <p:txBody>
          <a:bodyPr wrap="none" lIns="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en-US" altLang="zh-CN" sz="1800" b="0">
                <a:solidFill>
                  <a:srgbClr val="000000"/>
                </a:solidFill>
                <a:latin typeface="宋体" panose="02010600030101010101" pitchFamily="2" charset="-122"/>
                <a:ea typeface="宋体" panose="02010600030101010101" pitchFamily="2" charset="-122"/>
                <a:cs typeface="Arial" panose="020B0604020202020204" pitchFamily="34" charset="0"/>
              </a:rPr>
              <a:t>1</a:t>
            </a:r>
            <a:endParaRPr lang="en-US" altLang="zh-CN" sz="1800" b="0">
              <a:solidFill>
                <a:srgbClr val="000000"/>
              </a:solidFill>
              <a:latin typeface="宋体" panose="02010600030101010101" pitchFamily="2" charset="-122"/>
              <a:ea typeface="宋体" panose="02010600030101010101" pitchFamily="2" charset="-122"/>
              <a:cs typeface="Arial" panose="020B0604020202020204" pitchFamily="34" charset="0"/>
            </a:endParaRPr>
          </a:p>
        </p:txBody>
      </p:sp>
      <p:sp>
        <p:nvSpPr>
          <p:cNvPr id="137232" name="Oval 37"/>
          <p:cNvSpPr>
            <a:spLocks noChangeArrowheads="1"/>
          </p:cNvSpPr>
          <p:nvPr>
            <p:custDataLst>
              <p:tags r:id="rId14"/>
            </p:custDataLst>
          </p:nvPr>
        </p:nvSpPr>
        <p:spPr bwMode="gray">
          <a:xfrm>
            <a:off x="414908" y="3146425"/>
            <a:ext cx="295275" cy="295275"/>
          </a:xfrm>
          <a:prstGeom prst="ellipse">
            <a:avLst/>
          </a:prstGeom>
          <a:solidFill>
            <a:srgbClr val="EAEBE7"/>
          </a:solidFill>
          <a:ln w="9525" algn="ctr">
            <a:solidFill>
              <a:srgbClr val="808080"/>
            </a:solidFill>
            <a:round/>
          </a:ln>
        </p:spPr>
        <p:txBody>
          <a:bodyPr wrap="none" lIns="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en-US" altLang="zh-CN" sz="1800" b="0">
                <a:solidFill>
                  <a:srgbClr val="000000"/>
                </a:solidFill>
                <a:latin typeface="宋体" panose="02010600030101010101" pitchFamily="2" charset="-122"/>
                <a:ea typeface="宋体" panose="02010600030101010101" pitchFamily="2" charset="-122"/>
                <a:cs typeface="Arial" panose="020B0604020202020204" pitchFamily="34" charset="0"/>
              </a:rPr>
              <a:t>2</a:t>
            </a:r>
            <a:endParaRPr lang="en-US" altLang="zh-CN" sz="1800" b="0">
              <a:solidFill>
                <a:srgbClr val="000000"/>
              </a:solidFill>
              <a:latin typeface="宋体" panose="02010600030101010101" pitchFamily="2" charset="-122"/>
              <a:ea typeface="宋体" panose="02010600030101010101" pitchFamily="2" charset="-122"/>
              <a:cs typeface="Arial" panose="020B0604020202020204" pitchFamily="34" charset="0"/>
            </a:endParaRPr>
          </a:p>
        </p:txBody>
      </p:sp>
      <p:sp>
        <p:nvSpPr>
          <p:cNvPr id="137233" name="Oval 38"/>
          <p:cNvSpPr>
            <a:spLocks noChangeArrowheads="1"/>
          </p:cNvSpPr>
          <p:nvPr>
            <p:custDataLst>
              <p:tags r:id="rId15"/>
            </p:custDataLst>
          </p:nvPr>
        </p:nvSpPr>
        <p:spPr bwMode="gray">
          <a:xfrm>
            <a:off x="414908" y="4186238"/>
            <a:ext cx="295275" cy="295275"/>
          </a:xfrm>
          <a:prstGeom prst="ellipse">
            <a:avLst/>
          </a:prstGeom>
          <a:solidFill>
            <a:srgbClr val="EAEBE7"/>
          </a:solidFill>
          <a:ln w="9525" algn="ctr">
            <a:solidFill>
              <a:srgbClr val="808080"/>
            </a:solidFill>
            <a:round/>
          </a:ln>
        </p:spPr>
        <p:txBody>
          <a:bodyPr wrap="none" lIns="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en-US" altLang="zh-CN" sz="1800" b="0">
                <a:solidFill>
                  <a:srgbClr val="000000"/>
                </a:solidFill>
                <a:latin typeface="宋体" panose="02010600030101010101" pitchFamily="2" charset="-122"/>
                <a:ea typeface="宋体" panose="02010600030101010101" pitchFamily="2" charset="-122"/>
                <a:cs typeface="Arial" panose="020B0604020202020204" pitchFamily="34" charset="0"/>
              </a:rPr>
              <a:t>3</a:t>
            </a:r>
            <a:endParaRPr lang="en-US" altLang="zh-CN" sz="1800" b="0">
              <a:solidFill>
                <a:srgbClr val="000000"/>
              </a:solidFill>
              <a:latin typeface="宋体" panose="02010600030101010101" pitchFamily="2" charset="-122"/>
              <a:ea typeface="宋体" panose="02010600030101010101" pitchFamily="2" charset="-122"/>
              <a:cs typeface="Arial" panose="020B0604020202020204" pitchFamily="34" charset="0"/>
            </a:endParaRPr>
          </a:p>
        </p:txBody>
      </p:sp>
      <p:sp>
        <p:nvSpPr>
          <p:cNvPr id="137234" name="Oval 39"/>
          <p:cNvSpPr>
            <a:spLocks noChangeArrowheads="1"/>
          </p:cNvSpPr>
          <p:nvPr>
            <p:custDataLst>
              <p:tags r:id="rId16"/>
            </p:custDataLst>
          </p:nvPr>
        </p:nvSpPr>
        <p:spPr bwMode="gray">
          <a:xfrm>
            <a:off x="414908" y="5254625"/>
            <a:ext cx="295275" cy="295275"/>
          </a:xfrm>
          <a:prstGeom prst="ellipse">
            <a:avLst/>
          </a:prstGeom>
          <a:solidFill>
            <a:srgbClr val="EAEBE7"/>
          </a:solidFill>
          <a:ln w="9525" algn="ctr">
            <a:solidFill>
              <a:srgbClr val="808080"/>
            </a:solidFill>
            <a:round/>
          </a:ln>
        </p:spPr>
        <p:txBody>
          <a:bodyPr wrap="none" lIns="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en-US" altLang="zh-CN" sz="1800" b="0">
                <a:solidFill>
                  <a:srgbClr val="000000"/>
                </a:solidFill>
                <a:latin typeface="宋体" panose="02010600030101010101" pitchFamily="2" charset="-122"/>
                <a:ea typeface="宋体" panose="02010600030101010101" pitchFamily="2" charset="-122"/>
                <a:cs typeface="Arial" panose="020B0604020202020204" pitchFamily="34" charset="0"/>
              </a:rPr>
              <a:t>4</a:t>
            </a:r>
            <a:endParaRPr lang="en-US" altLang="zh-CN" sz="1800" b="0">
              <a:solidFill>
                <a:srgbClr val="000000"/>
              </a:solidFill>
              <a:latin typeface="宋体" panose="02010600030101010101" pitchFamily="2" charset="-122"/>
              <a:ea typeface="宋体" panose="02010600030101010101" pitchFamily="2" charset="-122"/>
              <a:cs typeface="Arial" panose="020B0604020202020204" pitchFamily="34" charset="0"/>
            </a:endParaRPr>
          </a:p>
        </p:txBody>
      </p:sp>
      <p:cxnSp>
        <p:nvCxnSpPr>
          <p:cNvPr id="137235" name="AutoShape 19"/>
          <p:cNvCxnSpPr>
            <a:cxnSpLocks noChangeShapeType="1"/>
          </p:cNvCxnSpPr>
          <p:nvPr>
            <p:custDataLst>
              <p:tags r:id="rId17"/>
            </p:custDataLst>
          </p:nvPr>
        </p:nvCxnSpPr>
        <p:spPr bwMode="auto">
          <a:xfrm rot="10800000" flipV="1">
            <a:off x="6078538" y="2235200"/>
            <a:ext cx="547687" cy="1485900"/>
          </a:xfrm>
          <a:prstGeom prst="bentConnector3">
            <a:avLst>
              <a:gd name="adj1" fmla="val 49856"/>
            </a:avLst>
          </a:prstGeom>
          <a:noFill/>
          <a:ln w="9525">
            <a:solidFill>
              <a:srgbClr val="808080"/>
            </a:solidFill>
            <a:miter lim="800000"/>
          </a:ln>
          <a:extLst>
            <a:ext uri="{909E8E84-426E-40DD-AFC4-6F175D3DCCD1}">
              <a14:hiddenFill xmlns:a14="http://schemas.microsoft.com/office/drawing/2010/main">
                <a:noFill/>
              </a14:hiddenFill>
            </a:ext>
          </a:extLst>
        </p:spPr>
      </p:cxnSp>
      <p:cxnSp>
        <p:nvCxnSpPr>
          <p:cNvPr id="137236" name="AutoShape 20"/>
          <p:cNvCxnSpPr>
            <a:cxnSpLocks noChangeShapeType="1"/>
          </p:cNvCxnSpPr>
          <p:nvPr>
            <p:custDataLst>
              <p:tags r:id="rId18"/>
            </p:custDataLst>
          </p:nvPr>
        </p:nvCxnSpPr>
        <p:spPr bwMode="auto">
          <a:xfrm rot="10800000" flipV="1">
            <a:off x="6078538" y="2978150"/>
            <a:ext cx="547687" cy="742950"/>
          </a:xfrm>
          <a:prstGeom prst="bentConnector3">
            <a:avLst>
              <a:gd name="adj1" fmla="val 49856"/>
            </a:avLst>
          </a:prstGeom>
          <a:noFill/>
          <a:ln w="9525">
            <a:solidFill>
              <a:srgbClr val="808080"/>
            </a:solidFill>
            <a:miter lim="800000"/>
          </a:ln>
          <a:extLst>
            <a:ext uri="{909E8E84-426E-40DD-AFC4-6F175D3DCCD1}">
              <a14:hiddenFill xmlns:a14="http://schemas.microsoft.com/office/drawing/2010/main">
                <a:noFill/>
              </a14:hiddenFill>
            </a:ext>
          </a:extLst>
        </p:spPr>
      </p:cxnSp>
      <p:cxnSp>
        <p:nvCxnSpPr>
          <p:cNvPr id="137237" name="AutoShape 21"/>
          <p:cNvCxnSpPr>
            <a:cxnSpLocks noChangeShapeType="1"/>
          </p:cNvCxnSpPr>
          <p:nvPr>
            <p:custDataLst>
              <p:tags r:id="rId19"/>
            </p:custDataLst>
          </p:nvPr>
        </p:nvCxnSpPr>
        <p:spPr bwMode="auto">
          <a:xfrm rot="10800000">
            <a:off x="6078538" y="3721100"/>
            <a:ext cx="547687" cy="0"/>
          </a:xfrm>
          <a:prstGeom prst="straightConnector1">
            <a:avLst/>
          </a:prstGeom>
          <a:noFill/>
          <a:ln w="9525">
            <a:solidFill>
              <a:srgbClr val="808080"/>
            </a:solidFill>
            <a:round/>
          </a:ln>
          <a:extLst>
            <a:ext uri="{909E8E84-426E-40DD-AFC4-6F175D3DCCD1}">
              <a14:hiddenFill xmlns:a14="http://schemas.microsoft.com/office/drawing/2010/main">
                <a:noFill/>
              </a14:hiddenFill>
            </a:ext>
          </a:extLst>
        </p:spPr>
      </p:cxnSp>
      <p:cxnSp>
        <p:nvCxnSpPr>
          <p:cNvPr id="137238" name="AutoShape 22"/>
          <p:cNvCxnSpPr>
            <a:cxnSpLocks noChangeShapeType="1"/>
          </p:cNvCxnSpPr>
          <p:nvPr>
            <p:custDataLst>
              <p:tags r:id="rId20"/>
            </p:custDataLst>
          </p:nvPr>
        </p:nvCxnSpPr>
        <p:spPr bwMode="auto">
          <a:xfrm rot="10800000">
            <a:off x="6078538" y="3721100"/>
            <a:ext cx="547687" cy="742950"/>
          </a:xfrm>
          <a:prstGeom prst="bentConnector3">
            <a:avLst>
              <a:gd name="adj1" fmla="val 49856"/>
            </a:avLst>
          </a:prstGeom>
          <a:noFill/>
          <a:ln w="9525">
            <a:solidFill>
              <a:srgbClr val="808080"/>
            </a:solidFill>
            <a:miter lim="800000"/>
          </a:ln>
          <a:extLst>
            <a:ext uri="{909E8E84-426E-40DD-AFC4-6F175D3DCCD1}">
              <a14:hiddenFill xmlns:a14="http://schemas.microsoft.com/office/drawing/2010/main">
                <a:noFill/>
              </a14:hiddenFill>
            </a:ext>
          </a:extLst>
        </p:spPr>
      </p:cxnSp>
      <p:cxnSp>
        <p:nvCxnSpPr>
          <p:cNvPr id="137239" name="AutoShape 23"/>
          <p:cNvCxnSpPr>
            <a:cxnSpLocks noChangeShapeType="1"/>
          </p:cNvCxnSpPr>
          <p:nvPr>
            <p:custDataLst>
              <p:tags r:id="rId21"/>
            </p:custDataLst>
          </p:nvPr>
        </p:nvCxnSpPr>
        <p:spPr bwMode="auto">
          <a:xfrm rot="10800000">
            <a:off x="6078538" y="3721100"/>
            <a:ext cx="547687" cy="1485900"/>
          </a:xfrm>
          <a:prstGeom prst="bentConnector3">
            <a:avLst>
              <a:gd name="adj1" fmla="val 49856"/>
            </a:avLst>
          </a:prstGeom>
          <a:noFill/>
          <a:ln w="9525">
            <a:solidFill>
              <a:srgbClr val="808080"/>
            </a:solidFill>
            <a:miter lim="800000"/>
          </a:ln>
          <a:extLst>
            <a:ext uri="{909E8E84-426E-40DD-AFC4-6F175D3DCCD1}">
              <a14:hiddenFill xmlns:a14="http://schemas.microsoft.com/office/drawing/2010/main">
                <a:noFill/>
              </a14:hiddenFill>
            </a:ext>
          </a:extLst>
        </p:spPr>
      </p:cxnSp>
      <p:sp>
        <p:nvSpPr>
          <p:cNvPr id="137240" name="Rectangle 45"/>
          <p:cNvSpPr>
            <a:spLocks noChangeArrowheads="1"/>
          </p:cNvSpPr>
          <p:nvPr/>
        </p:nvSpPr>
        <p:spPr bwMode="auto">
          <a:xfrm>
            <a:off x="1089025" y="1301750"/>
            <a:ext cx="7391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None/>
            </a:pPr>
            <a:r>
              <a:rPr lang="zh-CN" altLang="en-US" sz="1800" b="0">
                <a:solidFill>
                  <a:srgbClr val="4D4D4D"/>
                </a:solidFill>
                <a:latin typeface="宋体" panose="02010600030101010101" pitchFamily="2" charset="-122"/>
                <a:ea typeface="宋体" panose="02010600030101010101" pitchFamily="2" charset="-122"/>
              </a:rPr>
              <a:t>以四个方面为设计依据，综合设计组织架构及其所应包含的体制和流程</a:t>
            </a:r>
            <a:endParaRPr lang="zh-CN" altLang="en-US" sz="1800" b="0">
              <a:solidFill>
                <a:srgbClr val="4D4D4D"/>
              </a:solidFill>
              <a:latin typeface="宋体" panose="02010600030101010101" pitchFamily="2" charset="-122"/>
              <a:ea typeface="宋体" panose="02010600030101010101" pitchFamily="2" charset="-122"/>
            </a:endParaRPr>
          </a:p>
        </p:txBody>
      </p:sp>
      <p:sp>
        <p:nvSpPr>
          <p:cNvPr id="3" name="TextBox 2"/>
          <p:cNvSpPr txBox="1"/>
          <p:nvPr/>
        </p:nvSpPr>
        <p:spPr>
          <a:xfrm>
            <a:off x="827216" y="5908175"/>
            <a:ext cx="2808159" cy="600164"/>
          </a:xfrm>
          <a:prstGeom prst="rect">
            <a:avLst/>
          </a:prstGeom>
          <a:solidFill>
            <a:schemeClr val="bg1"/>
          </a:solidFill>
          <a:ln>
            <a:noFill/>
          </a:ln>
        </p:spPr>
        <p:txBody>
          <a:bodyPr wrap="square" rtlCol="0" anchor="ctr">
            <a:spAutoFit/>
          </a:bodyPr>
          <a:lstStyle/>
          <a:p>
            <a:pPr algn="ctr"/>
            <a:r>
              <a:rPr lang="zh-CN" altLang="en-US" sz="1100" dirty="0"/>
              <a:t>市场和客户、业务流程和需求、人力资源、系统和技术、法律合规、财务和成本、组织历史情况</a:t>
            </a:r>
            <a:endParaRPr lang="en-GB"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260647"/>
            <a:ext cx="7161213" cy="760115"/>
          </a:xfrm>
        </p:spPr>
        <p:txBody>
          <a:bodyPr/>
          <a:lstStyle/>
          <a:p>
            <a:r>
              <a:rPr lang="zh-CN" altLang="en-US" dirty="0"/>
              <a:t>集团</a:t>
            </a:r>
            <a:r>
              <a:rPr lang="en-US" altLang="zh-CN" dirty="0"/>
              <a:t>/</a:t>
            </a:r>
            <a:r>
              <a:rPr lang="zh-CN" altLang="en-US" dirty="0"/>
              <a:t>子公司管控模式分析</a:t>
            </a:r>
            <a:endParaRPr lang="en-GB" dirty="0"/>
          </a:p>
        </p:txBody>
      </p:sp>
      <p:cxnSp>
        <p:nvCxnSpPr>
          <p:cNvPr id="4" name="Straight Connector 3"/>
          <p:cNvCxnSpPr/>
          <p:nvPr/>
        </p:nvCxnSpPr>
        <p:spPr bwMode="auto">
          <a:xfrm>
            <a:off x="702940" y="5517232"/>
            <a:ext cx="8316924" cy="0"/>
          </a:xfrm>
          <a:prstGeom prst="line">
            <a:avLst/>
          </a:prstGeom>
        </p:spPr>
        <p:style>
          <a:lnRef idx="1">
            <a:schemeClr val="accent6"/>
          </a:lnRef>
          <a:fillRef idx="0">
            <a:schemeClr val="accent6"/>
          </a:fillRef>
          <a:effectRef idx="0">
            <a:schemeClr val="accent6"/>
          </a:effectRef>
          <a:fontRef idx="minor">
            <a:schemeClr val="tx1"/>
          </a:fontRef>
        </p:style>
      </p:cxnSp>
      <p:sp>
        <p:nvSpPr>
          <p:cNvPr id="5" name="Rectangle 4"/>
          <p:cNvSpPr/>
          <p:nvPr/>
        </p:nvSpPr>
        <p:spPr bwMode="auto">
          <a:xfrm>
            <a:off x="1026976" y="1844824"/>
            <a:ext cx="2376264" cy="3240360"/>
          </a:xfrm>
          <a:prstGeom prst="rect">
            <a:avLst/>
          </a:prstGeom>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0070C0"/>
              </a:buClr>
              <a:buSzTx/>
              <a:buFont typeface="Wingdings" panose="05000000000000000000" pitchFamily="2" charset="2"/>
              <a:buChar char="§"/>
            </a:pPr>
            <a:r>
              <a:rPr lang="zh-CN" altLang="en-US" b="1" i="0" dirty="0">
                <a:solidFill>
                  <a:srgbClr val="333333"/>
                </a:solidFill>
                <a:effectLst/>
                <a:latin typeface="PingFang SC"/>
              </a:rPr>
              <a:t>财务管控型</a:t>
            </a:r>
            <a:r>
              <a:rPr lang="zh-CN" altLang="en-US" b="0" i="0" dirty="0">
                <a:solidFill>
                  <a:srgbClr val="333333"/>
                </a:solidFill>
                <a:effectLst/>
                <a:latin typeface="PingFang SC"/>
              </a:rPr>
              <a:t>‌</a:t>
            </a:r>
            <a:endParaRPr lang="en-US" altLang="zh-CN" b="0" i="0" dirty="0">
              <a:solidFill>
                <a:srgbClr val="333333"/>
              </a:solidFill>
              <a:effectLst/>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r>
              <a:rPr kumimoji="0" lang="zh-CN" altLang="en-US" sz="1400" b="0" i="0" u="none" strike="noStrike" cap="none" normalizeH="0" baseline="0" dirty="0">
                <a:ln>
                  <a:noFill/>
                </a:ln>
                <a:solidFill>
                  <a:schemeClr val="tx1"/>
                </a:solidFill>
                <a:effectLst/>
                <a:latin typeface="Arial" panose="020B0604020202020204" pitchFamily="34" charset="0"/>
              </a:rPr>
              <a:t>分权的管控模式，子公司相对独立，集团总部主要关注子公司的财务和资本运营工作，不过多干涉下属企业</a:t>
            </a:r>
            <a:endParaRPr kumimoji="0" lang="en-US" altLang="zh-CN" sz="1400" b="0" i="0" u="none" strike="noStrike" cap="none" normalizeH="0" baseline="0" dirty="0">
              <a:ln>
                <a:noFill/>
              </a:ln>
              <a:solidFill>
                <a:schemeClr val="tx1"/>
              </a:solidFill>
              <a:effectLst/>
              <a:latin typeface="Arial" panose="020B0604020202020204" pitchFamily="34" charset="0"/>
            </a:endParaRPr>
          </a:p>
          <a:p>
            <a:pPr marL="0" marR="0" indent="0" algn="l" defTabSz="914400" rtl="0" eaLnBrk="1" fontAlgn="base" latinLnBrk="0" hangingPunct="1">
              <a:lnSpc>
                <a:spcPct val="100000"/>
              </a:lnSpc>
              <a:spcBef>
                <a:spcPct val="0"/>
              </a:spcBef>
              <a:spcAft>
                <a:spcPct val="0"/>
              </a:spcAft>
              <a:buClr>
                <a:schemeClr val="accent1"/>
              </a:buClr>
              <a:buSzTx/>
            </a:pPr>
            <a:endParaRPr lang="en-US" sz="1400" dirty="0">
              <a:solidFill>
                <a:schemeClr val="tx1"/>
              </a:solidFill>
              <a:latin typeface="Arial" panose="020B0604020202020204" pitchFamily="34" charset="0"/>
            </a:endParaRPr>
          </a:p>
          <a:p>
            <a:pPr marL="0" marR="0" indent="0" algn="l" defTabSz="914400" rtl="0" eaLnBrk="1" fontAlgn="base" latinLnBrk="0" hangingPunct="1">
              <a:lnSpc>
                <a:spcPct val="100000"/>
              </a:lnSpc>
              <a:spcBef>
                <a:spcPct val="0"/>
              </a:spcBef>
              <a:spcAft>
                <a:spcPct val="0"/>
              </a:spcAft>
              <a:buClr>
                <a:schemeClr val="accent1"/>
              </a:buClr>
              <a:buSzTx/>
            </a:pPr>
            <a:r>
              <a:rPr lang="zh-CN" altLang="en-US" sz="1400" b="0" i="0" dirty="0">
                <a:solidFill>
                  <a:srgbClr val="333333"/>
                </a:solidFill>
                <a:effectLst/>
                <a:latin typeface="PingFang SC"/>
              </a:rPr>
              <a:t>以财务指标对成员企业进行管理和考核，通过投资业务组合的结构优化来追求公司价值最大化‌</a:t>
            </a:r>
            <a:endParaRPr lang="en-US" altLang="zh-CN" sz="1400" b="0" i="0" dirty="0">
              <a:solidFill>
                <a:srgbClr val="333333"/>
              </a:solidFill>
              <a:effectLst/>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endParaRPr kumimoji="0" lang="en-US" sz="1400" u="none" strike="noStrike" cap="none" normalizeH="0" baseline="0" dirty="0">
              <a:ln>
                <a:noFill/>
              </a:ln>
              <a:solidFill>
                <a:srgbClr val="333333"/>
              </a:solidFill>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endParaRPr lang="en-US" sz="1400" b="0" i="0" dirty="0">
              <a:solidFill>
                <a:srgbClr val="333333"/>
              </a:solidFill>
              <a:effectLst/>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endParaRPr kumimoji="0" lang="en-US" sz="1400" u="none" strike="noStrike" cap="none" normalizeH="0" baseline="0" dirty="0">
              <a:ln>
                <a:noFill/>
              </a:ln>
              <a:solidFill>
                <a:srgbClr val="333333"/>
              </a:solidFill>
              <a:latin typeface="PingFang SC"/>
            </a:endParaRPr>
          </a:p>
          <a:p>
            <a:pPr eaLnBrk="1" hangingPunct="1">
              <a:buClr>
                <a:schemeClr val="accent1"/>
              </a:buClr>
            </a:pPr>
            <a:r>
              <a:rPr lang="zh-CN" altLang="en-US" sz="1400" b="1" dirty="0"/>
              <a:t>华润集团、中信集团</a:t>
            </a:r>
            <a:endParaRPr lang="zh-CN" altLang="en-US" sz="1400" b="1" dirty="0"/>
          </a:p>
          <a:p>
            <a:pPr marL="0" marR="0" indent="0" algn="l" defTabSz="914400" rtl="0" eaLnBrk="1" fontAlgn="base" latinLnBrk="0" hangingPunct="1">
              <a:lnSpc>
                <a:spcPct val="100000"/>
              </a:lnSpc>
              <a:spcBef>
                <a:spcPct val="0"/>
              </a:spcBef>
              <a:spcAft>
                <a:spcPct val="0"/>
              </a:spcAft>
              <a:buClr>
                <a:schemeClr val="accent1"/>
              </a:buClr>
              <a:buSzTx/>
            </a:pPr>
            <a:endParaRPr kumimoji="0" lang="en-GB" sz="14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bwMode="auto">
          <a:xfrm>
            <a:off x="3763280" y="1844824"/>
            <a:ext cx="2376264" cy="3240360"/>
          </a:xfrm>
          <a:prstGeom prst="rect">
            <a:avLst/>
          </a:prstGeom>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0070C0"/>
              </a:buClr>
              <a:buSzTx/>
              <a:buFont typeface="Wingdings" panose="05000000000000000000" pitchFamily="2" charset="2"/>
              <a:buChar char="§"/>
            </a:pPr>
            <a:r>
              <a:rPr lang="zh-CN" altLang="en-US" b="0" i="0" dirty="0">
                <a:solidFill>
                  <a:srgbClr val="333333"/>
                </a:solidFill>
                <a:effectLst/>
                <a:latin typeface="PingFang SC"/>
              </a:rPr>
              <a:t>‌</a:t>
            </a:r>
            <a:r>
              <a:rPr lang="zh-CN" altLang="en-US" b="1" i="0" dirty="0">
                <a:solidFill>
                  <a:srgbClr val="333333"/>
                </a:solidFill>
                <a:effectLst/>
                <a:latin typeface="PingFang SC"/>
              </a:rPr>
              <a:t>战略管控型</a:t>
            </a:r>
            <a:endParaRPr lang="en-US" altLang="zh-CN" b="1" i="0" dirty="0">
              <a:solidFill>
                <a:srgbClr val="333333"/>
              </a:solidFill>
              <a:effectLst/>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r>
              <a:rPr kumimoji="0" lang="zh-CN" altLang="en-US" sz="1400" b="0" i="0" u="none" strike="noStrike" cap="none" normalizeH="0" baseline="0" dirty="0">
                <a:ln>
                  <a:noFill/>
                </a:ln>
                <a:solidFill>
                  <a:schemeClr val="tx1"/>
                </a:solidFill>
                <a:effectLst/>
                <a:latin typeface="Arial" panose="020B0604020202020204" pitchFamily="34" charset="0"/>
              </a:rPr>
              <a:t>主要以战略规划为主，集团总部会设置具体业务部门，但不干预子公司的日常经营活动。集团关注业务协调发展、战略优化，以及战略协同效应</a:t>
            </a:r>
            <a:endParaRPr kumimoji="0" lang="en-US" altLang="zh-CN" sz="1400" b="0" i="0" u="none" strike="noStrike" cap="none" normalizeH="0" baseline="0" dirty="0">
              <a:ln>
                <a:noFill/>
              </a:ln>
              <a:solidFill>
                <a:schemeClr val="tx1"/>
              </a:solidFill>
              <a:effectLst/>
              <a:latin typeface="Arial" panose="020B0604020202020204" pitchFamily="34" charset="0"/>
            </a:endParaRPr>
          </a:p>
          <a:p>
            <a:pPr marL="0" marR="0" indent="0" algn="l" defTabSz="914400" rtl="0" eaLnBrk="1" fontAlgn="base" latinLnBrk="0" hangingPunct="1">
              <a:lnSpc>
                <a:spcPct val="100000"/>
              </a:lnSpc>
              <a:spcBef>
                <a:spcPct val="0"/>
              </a:spcBef>
              <a:spcAft>
                <a:spcPct val="0"/>
              </a:spcAft>
              <a:buClr>
                <a:schemeClr val="accent1"/>
              </a:buClr>
              <a:buSzTx/>
            </a:pPr>
            <a:endParaRPr lang="en-US" sz="1400" dirty="0">
              <a:solidFill>
                <a:schemeClr val="tx1"/>
              </a:solidFill>
              <a:latin typeface="Arial" panose="020B0604020202020204" pitchFamily="34" charset="0"/>
            </a:endParaRPr>
          </a:p>
          <a:p>
            <a:pPr marL="0" marR="0" indent="0" algn="l" defTabSz="914400" rtl="0" eaLnBrk="1" fontAlgn="base" latinLnBrk="0" hangingPunct="1">
              <a:lnSpc>
                <a:spcPct val="100000"/>
              </a:lnSpc>
              <a:spcBef>
                <a:spcPct val="0"/>
              </a:spcBef>
              <a:spcAft>
                <a:spcPct val="0"/>
              </a:spcAft>
              <a:buClr>
                <a:schemeClr val="accent1"/>
              </a:buClr>
              <a:buSzTx/>
            </a:pPr>
            <a:r>
              <a:rPr lang="zh-CN" altLang="en-US" sz="1400" b="0" i="0" dirty="0">
                <a:solidFill>
                  <a:srgbClr val="333333"/>
                </a:solidFill>
                <a:effectLst/>
                <a:latin typeface="PingFang SC"/>
              </a:rPr>
              <a:t>通过财务控制、战略规划与控制、人力资源控制以及部分重点业务的管理来实现对子公司的管控</a:t>
            </a:r>
            <a:endParaRPr lang="en-US" altLang="zh-CN" sz="1400" b="0" i="0" dirty="0">
              <a:solidFill>
                <a:srgbClr val="333333"/>
              </a:solidFill>
              <a:effectLst/>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endParaRPr kumimoji="0" lang="en-US" sz="1400" u="none" strike="noStrike" cap="none" normalizeH="0" baseline="0" dirty="0">
              <a:ln>
                <a:noFill/>
              </a:ln>
              <a:solidFill>
                <a:srgbClr val="333333"/>
              </a:solidFill>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r>
              <a:rPr lang="zh-CN" altLang="en-US" sz="1400" b="1" i="0" dirty="0">
                <a:solidFill>
                  <a:srgbClr val="333333"/>
                </a:solidFill>
                <a:effectLst/>
                <a:latin typeface="PingFang SC"/>
              </a:rPr>
              <a:t>中国人寿、华为、招商集团</a:t>
            </a:r>
            <a:endParaRPr kumimoji="0" lang="en-GB" sz="1400" b="1" i="0" u="none" strike="noStrike" cap="none" normalizeH="0" baseline="0" dirty="0">
              <a:ln>
                <a:noFill/>
              </a:ln>
              <a:solidFill>
                <a:schemeClr val="tx1"/>
              </a:solidFill>
              <a:effectLst/>
              <a:latin typeface="Arial" panose="020B0604020202020204" pitchFamily="34" charset="0"/>
            </a:endParaRPr>
          </a:p>
        </p:txBody>
      </p:sp>
      <p:sp>
        <p:nvSpPr>
          <p:cNvPr id="7" name="Rectangle 6"/>
          <p:cNvSpPr/>
          <p:nvPr/>
        </p:nvSpPr>
        <p:spPr bwMode="auto">
          <a:xfrm>
            <a:off x="6571592" y="1844824"/>
            <a:ext cx="2196244" cy="3240360"/>
          </a:xfrm>
          <a:prstGeom prst="rect">
            <a:avLst/>
          </a:prstGeom>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
                <a:srgbClr val="0070C0"/>
              </a:buClr>
              <a:buSzTx/>
              <a:buFont typeface="Wingdings" panose="05000000000000000000" pitchFamily="2" charset="2"/>
              <a:buChar char="§"/>
            </a:pPr>
            <a:r>
              <a:rPr lang="zh-CN" altLang="en-US" b="1" i="0" dirty="0">
                <a:solidFill>
                  <a:srgbClr val="333333"/>
                </a:solidFill>
                <a:effectLst/>
                <a:latin typeface="PingFang SC"/>
              </a:rPr>
              <a:t>运营管控型</a:t>
            </a:r>
            <a:endParaRPr lang="en-US" altLang="zh-CN" b="1" i="0" dirty="0">
              <a:solidFill>
                <a:srgbClr val="333333"/>
              </a:solidFill>
              <a:effectLst/>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r>
              <a:rPr lang="zh-CN" altLang="en-US" sz="1400" b="0" i="0" dirty="0">
                <a:solidFill>
                  <a:srgbClr val="333333"/>
                </a:solidFill>
                <a:effectLst/>
                <a:latin typeface="PingFang SC"/>
              </a:rPr>
              <a:t>通过母公司的业务管理部门对控股子公司的日常经营运作进行直接管理，强调公司经营行为的统一、公司整体协调成长和对行业成功因素的集中控制与管理‌</a:t>
            </a:r>
            <a:endParaRPr lang="en-US" altLang="zh-CN" sz="1400" b="0" i="0" dirty="0">
              <a:solidFill>
                <a:srgbClr val="333333"/>
              </a:solidFill>
              <a:effectLst/>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r>
              <a:rPr lang="zh-CN" altLang="en-US" sz="1400" b="0" i="0" dirty="0">
                <a:solidFill>
                  <a:srgbClr val="333333"/>
                </a:solidFill>
                <a:effectLst/>
                <a:latin typeface="PingFang SC"/>
              </a:rPr>
              <a:t>日常经营运作有直接的干预和管理权，确保子公司的业务活动服从于集团的整体战略和运营目标‌</a:t>
            </a:r>
            <a:br>
              <a:rPr lang="zh-CN" altLang="en-US" sz="1400" b="0" i="0" dirty="0">
                <a:solidFill>
                  <a:srgbClr val="333333"/>
                </a:solidFill>
                <a:effectLst/>
                <a:latin typeface="PingFang SC"/>
              </a:rPr>
            </a:br>
            <a:endParaRPr lang="en-US" altLang="zh-CN" sz="1400" b="0" i="0" dirty="0">
              <a:solidFill>
                <a:srgbClr val="333333"/>
              </a:solidFill>
              <a:effectLst/>
              <a:latin typeface="PingFang SC"/>
            </a:endParaRPr>
          </a:p>
          <a:p>
            <a:pPr marL="0" marR="0" indent="0" algn="l" defTabSz="914400" rtl="0" eaLnBrk="1" fontAlgn="base" latinLnBrk="0" hangingPunct="1">
              <a:lnSpc>
                <a:spcPct val="100000"/>
              </a:lnSpc>
              <a:spcBef>
                <a:spcPct val="0"/>
              </a:spcBef>
              <a:spcAft>
                <a:spcPct val="0"/>
              </a:spcAft>
              <a:buClr>
                <a:schemeClr val="accent1"/>
              </a:buClr>
              <a:buSzTx/>
            </a:pPr>
            <a:r>
              <a:rPr kumimoji="0" lang="zh-CN" altLang="en-US" sz="1400" b="1" u="none" strike="noStrike" cap="none" normalizeH="0" baseline="0" dirty="0">
                <a:ln>
                  <a:noFill/>
                </a:ln>
                <a:solidFill>
                  <a:srgbClr val="333333"/>
                </a:solidFill>
                <a:latin typeface="PingFang SC"/>
              </a:rPr>
              <a:t>平安集团、电网、万科</a:t>
            </a:r>
            <a:endParaRPr kumimoji="0" lang="en-GB" sz="1400" b="1"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247650" y="80963"/>
            <a:ext cx="8159750" cy="939800"/>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t>对国内外领先公司组织架构深入研究，总结对本公司运营组织架构设计的启示</a:t>
            </a:r>
            <a:endParaRPr lang="zh-CN" altLang="en-US" dirty="0"/>
          </a:p>
        </p:txBody>
      </p:sp>
      <p:sp>
        <p:nvSpPr>
          <p:cNvPr id="139267" name="Rectangle 3"/>
          <p:cNvSpPr>
            <a:spLocks noChangeArrowheads="1"/>
          </p:cNvSpPr>
          <p:nvPr/>
        </p:nvSpPr>
        <p:spPr bwMode="gray">
          <a:xfrm>
            <a:off x="442913" y="1766888"/>
            <a:ext cx="4205287" cy="4467225"/>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118800" rIns="90000" bIns="46800"/>
          <a:lstStyle>
            <a:lvl1pPr marL="342900" indent="-3429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189230" indent="-18732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457200" indent="-1543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lnSpc>
                <a:spcPct val="115000"/>
              </a:lnSpc>
              <a:spcBef>
                <a:spcPct val="0"/>
              </a:spcBef>
              <a:spcAft>
                <a:spcPct val="0"/>
              </a:spcAft>
              <a:buClr>
                <a:schemeClr val="tx1"/>
              </a:buClr>
            </a:pPr>
            <a:r>
              <a:rPr lang="zh-CN" altLang="de-DE" sz="1400" b="1" dirty="0">
                <a:latin typeface="微软雅黑" panose="020B0503020204020204" pitchFamily="34" charset="-122"/>
                <a:ea typeface="微软雅黑" panose="020B0503020204020204" pitchFamily="34" charset="-122"/>
                <a:cs typeface="Arial" panose="020B0604020202020204" pitchFamily="34" charset="0"/>
              </a:rPr>
              <a:t>销售前置</a:t>
            </a:r>
            <a:endParaRPr lang="zh-CN" altLang="de-DE" sz="1400" b="1" dirty="0">
              <a:latin typeface="微软雅黑" panose="020B0503020204020204" pitchFamily="34" charset="-122"/>
              <a:ea typeface="微软雅黑" panose="020B0503020204020204" pitchFamily="34" charset="-122"/>
              <a:cs typeface="Arial" panose="020B0604020202020204" pitchFamily="34" charset="0"/>
            </a:endParaRPr>
          </a:p>
          <a:p>
            <a:pPr lvl="2">
              <a:lnSpc>
                <a:spcPct val="115000"/>
              </a:lnSpc>
              <a:spcBef>
                <a:spcPct val="0"/>
              </a:spcBef>
              <a:spcAft>
                <a:spcPct val="0"/>
              </a:spcAft>
              <a:buClr>
                <a:schemeClr val="tx1"/>
              </a:buClr>
              <a:buFont typeface="Wingdings" panose="05000000000000000000" pitchFamily="2" charset="2"/>
              <a:buChar char="Ø"/>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销售和需求搜集紧密配合，甚至成立独立的销售子公司，对销售收入和销售质量负责</a:t>
            </a:r>
            <a:endParaRPr lang="de-DE" altLang="zh-CN"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15000"/>
              </a:lnSpc>
              <a:spcBef>
                <a:spcPct val="0"/>
              </a:spcBef>
              <a:spcAft>
                <a:spcPct val="0"/>
              </a:spcAft>
              <a:buClr>
                <a:schemeClr val="tx1"/>
              </a:buClr>
            </a:pPr>
            <a:r>
              <a:rPr lang="zh-CN" altLang="de-DE" sz="1400" b="1" dirty="0">
                <a:latin typeface="微软雅黑" panose="020B0503020204020204" pitchFamily="34" charset="-122"/>
                <a:ea typeface="微软雅黑" panose="020B0503020204020204" pitchFamily="34" charset="-122"/>
                <a:cs typeface="Arial" panose="020B0604020202020204" pitchFamily="34" charset="0"/>
              </a:rPr>
              <a:t>产品支持服务集中</a:t>
            </a:r>
            <a:endParaRPr lang="zh-CN" altLang="de-DE" sz="1400" b="1" dirty="0">
              <a:latin typeface="微软雅黑" panose="020B0503020204020204" pitchFamily="34" charset="-122"/>
              <a:ea typeface="微软雅黑" panose="020B0503020204020204" pitchFamily="34" charset="-122"/>
              <a:cs typeface="Arial" panose="020B0604020202020204" pitchFamily="34" charset="0"/>
            </a:endParaRPr>
          </a:p>
          <a:p>
            <a:pPr lvl="2">
              <a:lnSpc>
                <a:spcPct val="115000"/>
              </a:lnSpc>
              <a:spcBef>
                <a:spcPct val="0"/>
              </a:spcBef>
              <a:spcAft>
                <a:spcPct val="0"/>
              </a:spcAft>
              <a:buClr>
                <a:schemeClr val="tx1"/>
              </a:buClr>
              <a:buFont typeface="Wingdings" panose="05000000000000000000" pitchFamily="2" charset="2"/>
              <a:buChar char="Ø"/>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建立统一的产品支持服务团队，统一标准和服务水平</a:t>
            </a:r>
            <a:endParaRPr lang="zh-CN" altLang="de-DE"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15000"/>
              </a:lnSpc>
              <a:spcBef>
                <a:spcPct val="0"/>
              </a:spcBef>
              <a:spcAft>
                <a:spcPct val="0"/>
              </a:spcAft>
              <a:buClr>
                <a:schemeClr val="tx1"/>
              </a:buClr>
            </a:pPr>
            <a:r>
              <a:rPr lang="zh-CN" altLang="de-DE" sz="1400" b="1" dirty="0">
                <a:latin typeface="微软雅黑" panose="020B0503020204020204" pitchFamily="34" charset="-122"/>
                <a:ea typeface="微软雅黑" panose="020B0503020204020204" pitchFamily="34" charset="-122"/>
                <a:cs typeface="Arial" panose="020B0604020202020204" pitchFamily="34" charset="0"/>
              </a:rPr>
              <a:t>专业化分工</a:t>
            </a:r>
            <a:endParaRPr lang="zh-CN" altLang="de-DE" sz="1400" b="1" dirty="0">
              <a:latin typeface="微软雅黑" panose="020B0503020204020204" pitchFamily="34" charset="-122"/>
              <a:ea typeface="微软雅黑" panose="020B0503020204020204" pitchFamily="34" charset="-122"/>
              <a:cs typeface="Arial" panose="020B0604020202020204" pitchFamily="34" charset="0"/>
            </a:endParaRPr>
          </a:p>
          <a:p>
            <a:pPr lvl="2">
              <a:lnSpc>
                <a:spcPct val="115000"/>
              </a:lnSpc>
              <a:spcBef>
                <a:spcPct val="0"/>
              </a:spcBef>
              <a:spcAft>
                <a:spcPct val="0"/>
              </a:spcAft>
              <a:buClr>
                <a:schemeClr val="tx1"/>
              </a:buClr>
              <a:buFont typeface="Wingdings" panose="05000000000000000000" pitchFamily="2" charset="2"/>
              <a:buChar char="Ø"/>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前后线分离</a:t>
            </a:r>
            <a:endParaRPr lang="zh-CN" altLang="de-DE" sz="1400" dirty="0">
              <a:latin typeface="微软雅黑" panose="020B0503020204020204" pitchFamily="34" charset="-122"/>
              <a:ea typeface="微软雅黑" panose="020B0503020204020204" pitchFamily="34" charset="-122"/>
              <a:cs typeface="Arial" panose="020B0604020202020204" pitchFamily="34" charset="0"/>
            </a:endParaRPr>
          </a:p>
          <a:p>
            <a:pPr lvl="2">
              <a:lnSpc>
                <a:spcPct val="115000"/>
              </a:lnSpc>
              <a:spcBef>
                <a:spcPct val="0"/>
              </a:spcBef>
              <a:spcAft>
                <a:spcPct val="0"/>
              </a:spcAft>
              <a:buClr>
                <a:schemeClr val="tx1"/>
              </a:buClr>
              <a:buFont typeface="Wingdings" panose="05000000000000000000" pitchFamily="2" charset="2"/>
              <a:buChar char="Ø"/>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按照客户行业、复杂程度等标准，对价值链中的环节进行分类管理</a:t>
            </a:r>
            <a:endParaRPr lang="zh-CN" altLang="de-DE"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15000"/>
              </a:lnSpc>
              <a:spcBef>
                <a:spcPct val="0"/>
              </a:spcBef>
              <a:spcAft>
                <a:spcPct val="0"/>
              </a:spcAft>
              <a:buClr>
                <a:schemeClr val="tx1"/>
              </a:buClr>
            </a:pPr>
            <a:r>
              <a:rPr lang="zh-CN" altLang="de-DE" sz="1400" b="1" dirty="0">
                <a:latin typeface="微软雅黑" panose="020B0503020204020204" pitchFamily="34" charset="-122"/>
                <a:ea typeface="微软雅黑" panose="020B0503020204020204" pitchFamily="34" charset="-122"/>
                <a:cs typeface="Arial" panose="020B0604020202020204" pitchFamily="34" charset="0"/>
              </a:rPr>
              <a:t>关注客户满意度和忠诚度</a:t>
            </a:r>
            <a:endParaRPr lang="zh-CN" altLang="de-DE" sz="1400" b="1" dirty="0">
              <a:latin typeface="微软雅黑" panose="020B0503020204020204" pitchFamily="34" charset="-122"/>
              <a:ea typeface="微软雅黑" panose="020B0503020204020204" pitchFamily="34" charset="-122"/>
              <a:cs typeface="Arial" panose="020B0604020202020204" pitchFamily="34" charset="0"/>
            </a:endParaRPr>
          </a:p>
          <a:p>
            <a:pPr lvl="2">
              <a:lnSpc>
                <a:spcPct val="115000"/>
              </a:lnSpc>
              <a:spcBef>
                <a:spcPct val="0"/>
              </a:spcBef>
              <a:spcAft>
                <a:spcPct val="0"/>
              </a:spcAft>
              <a:buClr>
                <a:schemeClr val="tx1"/>
              </a:buClr>
              <a:buFont typeface="Wingdings" panose="05000000000000000000" pitchFamily="2" charset="2"/>
              <a:buChar char="Ø"/>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了解客户需求并提供相应的产品和服务</a:t>
            </a:r>
            <a:endParaRPr lang="zh-CN" altLang="de-DE" sz="1400" dirty="0">
              <a:latin typeface="微软雅黑" panose="020B0503020204020204" pitchFamily="34" charset="-122"/>
              <a:ea typeface="微软雅黑" panose="020B0503020204020204" pitchFamily="34" charset="-122"/>
              <a:cs typeface="Arial" panose="020B0604020202020204" pitchFamily="34" charset="0"/>
            </a:endParaRPr>
          </a:p>
          <a:p>
            <a:pPr lvl="2">
              <a:lnSpc>
                <a:spcPct val="115000"/>
              </a:lnSpc>
              <a:spcBef>
                <a:spcPct val="0"/>
              </a:spcBef>
              <a:spcAft>
                <a:spcPct val="0"/>
              </a:spcAft>
              <a:buClr>
                <a:schemeClr val="tx1"/>
              </a:buClr>
              <a:buFont typeface="Wingdings" panose="05000000000000000000" pitchFamily="2" charset="2"/>
              <a:buChar char="Ø"/>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不断强化与客户满意度直接关联服务，建立各自的差异化优势</a:t>
            </a:r>
            <a:endParaRPr lang="zh-CN" altLang="de-DE"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15000"/>
              </a:lnSpc>
              <a:spcBef>
                <a:spcPct val="0"/>
              </a:spcBef>
              <a:spcAft>
                <a:spcPct val="0"/>
              </a:spcAft>
              <a:buClr>
                <a:schemeClr val="tx1"/>
              </a:buClr>
            </a:pPr>
            <a:r>
              <a:rPr lang="zh-CN" altLang="de-DE" sz="1400" b="1" dirty="0">
                <a:latin typeface="微软雅黑" panose="020B0503020204020204" pitchFamily="34" charset="-122"/>
                <a:ea typeface="微软雅黑" panose="020B0503020204020204" pitchFamily="34" charset="-122"/>
                <a:cs typeface="Arial" panose="020B0604020202020204" pitchFamily="34" charset="0"/>
              </a:rPr>
              <a:t>持续改革</a:t>
            </a:r>
            <a:endParaRPr lang="zh-CN" altLang="de-DE" sz="1400" b="1" dirty="0">
              <a:latin typeface="微软雅黑" panose="020B0503020204020204" pitchFamily="34" charset="-122"/>
              <a:ea typeface="微软雅黑" panose="020B0503020204020204" pitchFamily="34" charset="-122"/>
              <a:cs typeface="Arial" panose="020B0604020202020204" pitchFamily="34" charset="0"/>
            </a:endParaRPr>
          </a:p>
          <a:p>
            <a:pPr lvl="2">
              <a:lnSpc>
                <a:spcPct val="115000"/>
              </a:lnSpc>
              <a:spcBef>
                <a:spcPct val="0"/>
              </a:spcBef>
              <a:spcAft>
                <a:spcPct val="0"/>
              </a:spcAft>
              <a:buClr>
                <a:schemeClr val="tx1"/>
              </a:buClr>
              <a:buFont typeface="Wingdings" panose="05000000000000000000" pitchFamily="2" charset="2"/>
              <a:buChar char="Ø"/>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国际上领先的公司仍在不断进行运营模式和组织的调整</a:t>
            </a:r>
            <a:endParaRPr lang="zh-CN" altLang="de-DE"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15000"/>
              </a:lnSpc>
              <a:spcBef>
                <a:spcPct val="0"/>
              </a:spcBef>
              <a:spcAft>
                <a:spcPct val="0"/>
              </a:spcAft>
              <a:buClr>
                <a:schemeClr val="tx1"/>
              </a:buClr>
            </a:pPr>
            <a:endParaRPr lang="zh-CN" altLang="de-DE" sz="140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39268" name="Rectangle 4"/>
          <p:cNvSpPr>
            <a:spLocks noChangeArrowheads="1"/>
          </p:cNvSpPr>
          <p:nvPr/>
        </p:nvSpPr>
        <p:spPr bwMode="auto">
          <a:xfrm>
            <a:off x="441325" y="1341438"/>
            <a:ext cx="4206875" cy="449262"/>
          </a:xfrm>
          <a:prstGeom prst="rect">
            <a:avLst/>
          </a:prstGeom>
          <a:solidFill>
            <a:srgbClr val="6699CC"/>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39269" name="Text Box 5"/>
          <p:cNvSpPr txBox="1">
            <a:spLocks noChangeArrowheads="1"/>
          </p:cNvSpPr>
          <p:nvPr/>
        </p:nvSpPr>
        <p:spPr bwMode="auto">
          <a:xfrm>
            <a:off x="390525" y="1379538"/>
            <a:ext cx="43561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 typeface="Wingdings" panose="05000000000000000000" pitchFamily="2" charset="2"/>
              <a:buNone/>
            </a:pPr>
            <a:r>
              <a:rPr lang="zh-CN" altLang="en-US" sz="1600">
                <a:solidFill>
                  <a:schemeClr val="bg1"/>
                </a:solidFill>
                <a:latin typeface="宋体" panose="02010600030101010101" pitchFamily="2" charset="-122"/>
                <a:ea typeface="黑体" panose="02010609060101010101" pitchFamily="49" charset="-122"/>
                <a:cs typeface="Arial" panose="020B0604020202020204" pitchFamily="34" charset="0"/>
              </a:rPr>
              <a:t>先进实践要点归纳</a:t>
            </a:r>
            <a:endParaRPr lang="zh-CN" altLang="en-US" sz="1600">
              <a:solidFill>
                <a:schemeClr val="bg1"/>
              </a:solidFill>
              <a:latin typeface="宋体" panose="02010600030101010101" pitchFamily="2" charset="-122"/>
              <a:ea typeface="黑体" panose="02010609060101010101" pitchFamily="49" charset="-122"/>
              <a:cs typeface="Arial" panose="020B0604020202020204" pitchFamily="34" charset="0"/>
            </a:endParaRPr>
          </a:p>
        </p:txBody>
      </p:sp>
      <p:sp>
        <p:nvSpPr>
          <p:cNvPr id="139270" name="Rectangle 6"/>
          <p:cNvSpPr>
            <a:spLocks noChangeArrowheads="1"/>
          </p:cNvSpPr>
          <p:nvPr/>
        </p:nvSpPr>
        <p:spPr bwMode="gray">
          <a:xfrm>
            <a:off x="5367338" y="1863725"/>
            <a:ext cx="4040187" cy="4373563"/>
          </a:xfrm>
          <a:prstGeom prst="rect">
            <a:avLst/>
          </a:prstGeom>
          <a:solidFill>
            <a:schemeClr val="bg1"/>
          </a:solidFill>
          <a:ln w="31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118800" rIns="90000" bIns="46800"/>
          <a:lstStyle>
            <a:lvl1pPr marL="342900" indent="-3429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189230" indent="-18732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lnSpc>
                <a:spcPct val="120000"/>
              </a:lnSpc>
              <a:spcBef>
                <a:spcPct val="0"/>
              </a:spcBef>
              <a:spcAft>
                <a:spcPct val="80000"/>
              </a:spcAft>
              <a:buClr>
                <a:schemeClr val="tx1"/>
              </a:buClr>
              <a:buSzPct val="70000"/>
            </a:pPr>
            <a:r>
              <a:rPr lang="zh-CN" altLang="zh-CN" sz="1400" dirty="0">
                <a:latin typeface="微软雅黑" panose="020B0503020204020204" pitchFamily="34" charset="-122"/>
                <a:ea typeface="微软雅黑" panose="020B0503020204020204" pitchFamily="34" charset="-122"/>
                <a:cs typeface="Arial" panose="020B0604020202020204" pitchFamily="34" charset="0"/>
              </a:rPr>
              <a:t>本公司组织设计中要</a:t>
            </a:r>
            <a:r>
              <a:rPr lang="zh-CN" altLang="en-US" sz="1400" dirty="0">
                <a:latin typeface="微软雅黑" panose="020B0503020204020204" pitchFamily="34" charset="-122"/>
                <a:ea typeface="微软雅黑" panose="020B0503020204020204" pitchFamily="34" charset="-122"/>
                <a:cs typeface="Arial" panose="020B0604020202020204" pitchFamily="34" charset="0"/>
              </a:rPr>
              <a:t>体现销售和产品线的协同配合，做到业务开拓和产品匹配</a:t>
            </a:r>
            <a:endParaRPr lang="zh-CN" altLang="en-US"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20000"/>
              </a:lnSpc>
              <a:spcBef>
                <a:spcPct val="0"/>
              </a:spcBef>
              <a:spcAft>
                <a:spcPct val="80000"/>
              </a:spcAft>
              <a:buClr>
                <a:schemeClr val="tx1"/>
              </a:buClr>
              <a:buSzPct val="70000"/>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组织设计要体现“集中”和“共享”的思想</a:t>
            </a:r>
            <a:endParaRPr lang="zh-CN" altLang="de-DE"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20000"/>
              </a:lnSpc>
              <a:spcBef>
                <a:spcPct val="0"/>
              </a:spcBef>
              <a:spcAft>
                <a:spcPct val="80000"/>
              </a:spcAft>
              <a:buClr>
                <a:schemeClr val="tx1"/>
              </a:buClr>
              <a:buSzPct val="70000"/>
            </a:pPr>
            <a:r>
              <a:rPr lang="zh-CN" altLang="de-DE" sz="1400" dirty="0">
                <a:latin typeface="微软雅黑" panose="020B0503020204020204" pitchFamily="34" charset="-122"/>
                <a:ea typeface="微软雅黑" panose="020B0503020204020204" pitchFamily="34" charset="-122"/>
                <a:cs typeface="Arial" panose="020B0604020202020204" pitchFamily="34" charset="0"/>
              </a:rPr>
              <a:t>本公司应该在组织设计中突出体现运营专业化分工的思想，把后台运营逐步从销售中剥离</a:t>
            </a:r>
            <a:endParaRPr lang="zh-CN" altLang="de-DE"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20000"/>
              </a:lnSpc>
              <a:spcBef>
                <a:spcPct val="0"/>
              </a:spcBef>
              <a:spcAft>
                <a:spcPct val="80000"/>
              </a:spcAft>
              <a:buClr>
                <a:schemeClr val="tx1"/>
              </a:buClr>
              <a:buSzPct val="70000"/>
            </a:pPr>
            <a:r>
              <a:rPr lang="zh-CN" altLang="en-US" sz="1400" dirty="0">
                <a:latin typeface="微软雅黑" panose="020B0503020204020204" pitchFamily="34" charset="-122"/>
                <a:ea typeface="微软雅黑" panose="020B0503020204020204" pitchFamily="34" charset="-122"/>
                <a:cs typeface="Arial" panose="020B0604020202020204" pitchFamily="34" charset="0"/>
              </a:rPr>
              <a:t>组织设计要体现</a:t>
            </a:r>
            <a:r>
              <a:rPr lang="zh-CN" altLang="zh-CN" sz="1400" dirty="0">
                <a:latin typeface="微软雅黑" panose="020B0503020204020204" pitchFamily="34" charset="-122"/>
                <a:ea typeface="微软雅黑" panose="020B0503020204020204" pitchFamily="34" charset="-122"/>
                <a:cs typeface="Arial" panose="020B0604020202020204" pitchFamily="34" charset="0"/>
              </a:rPr>
              <a:t>围绕客户的思想</a:t>
            </a:r>
            <a:r>
              <a:rPr lang="zh-CN" altLang="en-US" sz="1400" dirty="0">
                <a:latin typeface="微软雅黑" panose="020B0503020204020204" pitchFamily="34" charset="-122"/>
                <a:ea typeface="微软雅黑" panose="020B0503020204020204" pitchFamily="34" charset="-122"/>
                <a:cs typeface="Arial" panose="020B0604020202020204" pitchFamily="34" charset="0"/>
              </a:rPr>
              <a:t>，注重客户的差异化需求</a:t>
            </a:r>
            <a:endParaRPr lang="zh-CN" altLang="en-US"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20000"/>
              </a:lnSpc>
              <a:spcBef>
                <a:spcPct val="0"/>
              </a:spcBef>
              <a:spcAft>
                <a:spcPct val="80000"/>
              </a:spcAft>
              <a:buClr>
                <a:schemeClr val="tx1"/>
              </a:buClr>
              <a:buSzPct val="70000"/>
            </a:pPr>
            <a:r>
              <a:rPr lang="zh-CN" altLang="en-US" sz="1400" dirty="0">
                <a:latin typeface="微软雅黑" panose="020B0503020204020204" pitchFamily="34" charset="-122"/>
                <a:ea typeface="微软雅黑" panose="020B0503020204020204" pitchFamily="34" charset="-122"/>
                <a:cs typeface="Arial" panose="020B0604020202020204" pitchFamily="34" charset="0"/>
              </a:rPr>
              <a:t>本公司运营组织设计在借鉴国外先进实践时，要特别关注目标企业所在行业监管特点和行业成熟度以及企业所处发展阶段，有选择的进行吸收</a:t>
            </a:r>
            <a:endParaRPr lang="zh-CN" altLang="en-US" sz="14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20000"/>
              </a:lnSpc>
              <a:spcBef>
                <a:spcPct val="0"/>
              </a:spcBef>
              <a:spcAft>
                <a:spcPct val="80000"/>
              </a:spcAft>
              <a:buSzPct val="70000"/>
            </a:pPr>
            <a:endParaRPr lang="zh-CN" altLang="en-US" sz="14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39271" name="Rectangle 7"/>
          <p:cNvSpPr>
            <a:spLocks noChangeArrowheads="1"/>
          </p:cNvSpPr>
          <p:nvPr/>
        </p:nvSpPr>
        <p:spPr bwMode="auto">
          <a:xfrm>
            <a:off x="5365750" y="1341438"/>
            <a:ext cx="4040188" cy="449262"/>
          </a:xfrm>
          <a:prstGeom prst="rect">
            <a:avLst/>
          </a:prstGeom>
          <a:solidFill>
            <a:srgbClr val="6699CC"/>
          </a:solidFill>
          <a:ln w="6350"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39272" name="Text Box 8"/>
          <p:cNvSpPr txBox="1">
            <a:spLocks noChangeArrowheads="1"/>
          </p:cNvSpPr>
          <p:nvPr/>
        </p:nvSpPr>
        <p:spPr bwMode="auto">
          <a:xfrm>
            <a:off x="5327650" y="1392238"/>
            <a:ext cx="406558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 typeface="Wingdings" panose="05000000000000000000" pitchFamily="2" charset="2"/>
              <a:buNone/>
            </a:pPr>
            <a:r>
              <a:rPr lang="zh-CN" altLang="en-US" sz="1600">
                <a:solidFill>
                  <a:schemeClr val="bg1"/>
                </a:solidFill>
                <a:latin typeface="宋体" panose="02010600030101010101" pitchFamily="2" charset="-122"/>
                <a:ea typeface="黑体" panose="02010609060101010101" pitchFamily="49" charset="-122"/>
                <a:cs typeface="Arial" panose="020B0604020202020204" pitchFamily="34" charset="0"/>
              </a:rPr>
              <a:t>对本公司业务组织设计的启示</a:t>
            </a:r>
            <a:endParaRPr lang="zh-CN" altLang="en-US" sz="1600">
              <a:solidFill>
                <a:schemeClr val="bg1"/>
              </a:solidFill>
              <a:latin typeface="宋体" panose="02010600030101010101" pitchFamily="2" charset="-122"/>
              <a:ea typeface="黑体" panose="02010609060101010101" pitchFamily="49" charset="-122"/>
              <a:cs typeface="Arial" panose="020B0604020202020204" pitchFamily="34" charset="0"/>
            </a:endParaRPr>
          </a:p>
        </p:txBody>
      </p:sp>
      <p:sp>
        <p:nvSpPr>
          <p:cNvPr id="139273" name="AutoShape 9"/>
          <p:cNvSpPr>
            <a:spLocks noChangeArrowheads="1"/>
          </p:cNvSpPr>
          <p:nvPr/>
        </p:nvSpPr>
        <p:spPr bwMode="auto">
          <a:xfrm rot="5400000">
            <a:off x="3433763" y="3662363"/>
            <a:ext cx="3189287" cy="312737"/>
          </a:xfrm>
          <a:prstGeom prst="triangle">
            <a:avLst>
              <a:gd name="adj" fmla="val 50000"/>
            </a:avLst>
          </a:prstGeom>
          <a:solidFill>
            <a:schemeClr val="bg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39274" name="Text Box 10"/>
          <p:cNvSpPr txBox="1">
            <a:spLocks noChangeArrowheads="1"/>
          </p:cNvSpPr>
          <p:nvPr/>
        </p:nvSpPr>
        <p:spPr bwMode="auto">
          <a:xfrm rot="-1706038">
            <a:off x="1878013" y="3887788"/>
            <a:ext cx="5735637" cy="37623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folHlink"/>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800" b="0">
                <a:ea typeface="宋体" panose="02010600030101010101" pitchFamily="2" charset="-122"/>
              </a:rPr>
              <a:t>示	意	图</a:t>
            </a:r>
            <a:endParaRPr lang="zh-CN" altLang="en-US" sz="1800" b="0">
              <a:ea typeface="宋体" panose="0201060003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495300" y="274638"/>
            <a:ext cx="8978900" cy="706437"/>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sz="2800" dirty="0"/>
              <a:t>组织设计原则需要从公司战略和卓越绩效提升出发</a:t>
            </a:r>
            <a:endParaRPr lang="en-US" altLang="zh-CN" sz="2800" dirty="0"/>
          </a:p>
        </p:txBody>
      </p:sp>
      <p:sp>
        <p:nvSpPr>
          <p:cNvPr id="141315" name="Rectangle 3"/>
          <p:cNvSpPr>
            <a:spLocks noChangeArrowheads="1"/>
          </p:cNvSpPr>
          <p:nvPr/>
        </p:nvSpPr>
        <p:spPr bwMode="auto">
          <a:xfrm>
            <a:off x="2690813" y="3290888"/>
            <a:ext cx="6237287" cy="3089275"/>
          </a:xfrm>
          <a:prstGeom prst="rect">
            <a:avLst/>
          </a:prstGeom>
          <a:solidFill>
            <a:schemeClr val="bg1"/>
          </a:solidFill>
          <a:ln w="6350">
            <a:solidFill>
              <a:schemeClr val="tx1"/>
            </a:solidFill>
            <a:miter lim="800000"/>
          </a:ln>
          <a:effectLst/>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1316" name="AutoShape 4"/>
          <p:cNvSpPr>
            <a:spLocks noChangeArrowheads="1"/>
          </p:cNvSpPr>
          <p:nvPr/>
        </p:nvSpPr>
        <p:spPr bwMode="auto">
          <a:xfrm>
            <a:off x="798513" y="4170363"/>
            <a:ext cx="2203450" cy="457200"/>
          </a:xfrm>
          <a:prstGeom prst="homePlate">
            <a:avLst>
              <a:gd name="adj" fmla="val 11424"/>
            </a:avLst>
          </a:prstGeom>
          <a:solidFill>
            <a:srgbClr val="6699CC"/>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rPr>
              <a:t>战略和发展的要求</a:t>
            </a:r>
            <a:endPar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sp>
        <p:nvSpPr>
          <p:cNvPr id="141317" name="AutoShape 5"/>
          <p:cNvSpPr>
            <a:spLocks noChangeArrowheads="1"/>
          </p:cNvSpPr>
          <p:nvPr/>
        </p:nvSpPr>
        <p:spPr bwMode="auto">
          <a:xfrm>
            <a:off x="798513" y="4975225"/>
            <a:ext cx="2203450" cy="457200"/>
          </a:xfrm>
          <a:prstGeom prst="homePlate">
            <a:avLst>
              <a:gd name="adj" fmla="val 11424"/>
            </a:avLst>
          </a:prstGeom>
          <a:solidFill>
            <a:srgbClr val="6699CC"/>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rPr>
              <a:t>目标运营模式的要求</a:t>
            </a:r>
            <a:endPar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sp>
        <p:nvSpPr>
          <p:cNvPr id="141318" name="AutoShape 6"/>
          <p:cNvSpPr>
            <a:spLocks noChangeArrowheads="1"/>
          </p:cNvSpPr>
          <p:nvPr/>
        </p:nvSpPr>
        <p:spPr bwMode="auto">
          <a:xfrm>
            <a:off x="798513" y="5780088"/>
            <a:ext cx="2203450" cy="457200"/>
          </a:xfrm>
          <a:prstGeom prst="homePlate">
            <a:avLst>
              <a:gd name="adj" fmla="val 11424"/>
            </a:avLst>
          </a:prstGeom>
          <a:solidFill>
            <a:srgbClr val="6699CC"/>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rPr>
              <a:t>组织文化和内部能力的要求</a:t>
            </a:r>
            <a:endPar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sp>
        <p:nvSpPr>
          <p:cNvPr id="141319" name="Text Box 7"/>
          <p:cNvSpPr txBox="1">
            <a:spLocks noChangeArrowheads="1"/>
          </p:cNvSpPr>
          <p:nvPr/>
        </p:nvSpPr>
        <p:spPr bwMode="auto">
          <a:xfrm>
            <a:off x="3001963" y="3316288"/>
            <a:ext cx="5848350" cy="30654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7800" indent="-1778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20000"/>
              </a:spcBef>
              <a:spcAft>
                <a:spcPct val="0"/>
              </a:spcAft>
              <a:buClr>
                <a:schemeClr val="tx1"/>
              </a:buClr>
              <a:buSzTx/>
              <a:buFontTx/>
              <a:buChar char="•"/>
            </a:pPr>
            <a:r>
              <a:rPr lang="zh-CN" altLang="en-US" sz="1400" b="0">
                <a:ea typeface="黑体" panose="02010609060101010101" pitchFamily="49" charset="-122"/>
                <a:cs typeface="Arial" panose="020B0604020202020204" pitchFamily="34" charset="0"/>
              </a:rPr>
              <a:t>行业竞争状况决定了组织的设计必须强调贴近客户与市场，能够支持迅速、优质、高效地回应客户需求</a:t>
            </a:r>
            <a:endParaRPr lang="zh-CN" altLang="en-US" sz="1400" b="0">
              <a:ea typeface="黑体" panose="02010609060101010101" pitchFamily="49" charset="-122"/>
              <a:cs typeface="Arial" panose="020B0604020202020204" pitchFamily="34" charset="0"/>
            </a:endParaRPr>
          </a:p>
          <a:p>
            <a:pPr eaLnBrk="1" hangingPunct="1">
              <a:lnSpc>
                <a:spcPct val="60000"/>
              </a:lnSpc>
              <a:spcBef>
                <a:spcPct val="20000"/>
              </a:spcBef>
              <a:spcAft>
                <a:spcPct val="0"/>
              </a:spcAft>
              <a:buClr>
                <a:schemeClr val="tx1"/>
              </a:buClr>
              <a:buSzTx/>
              <a:buFontTx/>
              <a:buChar char="•"/>
            </a:pPr>
            <a:endParaRPr lang="zh-CN" altLang="en-US" sz="1400" b="0">
              <a:ea typeface="黑体" panose="02010609060101010101" pitchFamily="49" charset="-122"/>
              <a:cs typeface="Arial" panose="020B0604020202020204" pitchFamily="34" charset="0"/>
            </a:endParaRPr>
          </a:p>
          <a:p>
            <a:pPr eaLnBrk="1" hangingPunct="1">
              <a:lnSpc>
                <a:spcPct val="120000"/>
              </a:lnSpc>
              <a:spcBef>
                <a:spcPct val="20000"/>
              </a:spcBef>
              <a:spcAft>
                <a:spcPct val="0"/>
              </a:spcAft>
              <a:buClr>
                <a:schemeClr val="tx1"/>
              </a:buClr>
              <a:buSzTx/>
              <a:buFontTx/>
              <a:buChar char="•"/>
            </a:pPr>
            <a:r>
              <a:rPr lang="zh-CN" altLang="en-US" sz="1400" b="0">
                <a:ea typeface="黑体" panose="02010609060101010101" pitchFamily="49" charset="-122"/>
                <a:cs typeface="Arial" panose="020B0604020202020204" pitchFamily="34" charset="0"/>
              </a:rPr>
              <a:t>既定的发展战略要求组织设计紧紧围绕贴近市场、提高效率、降低成本、提升客户服务水平展开，明确界定业务前线、运营、后援服务各者之间的关系</a:t>
            </a:r>
            <a:endParaRPr lang="zh-CN" altLang="en-US" sz="1400" b="0">
              <a:ea typeface="黑体" panose="02010609060101010101" pitchFamily="49" charset="-122"/>
              <a:cs typeface="Arial" panose="020B0604020202020204" pitchFamily="34" charset="0"/>
            </a:endParaRPr>
          </a:p>
          <a:p>
            <a:pPr eaLnBrk="1" hangingPunct="1">
              <a:lnSpc>
                <a:spcPct val="40000"/>
              </a:lnSpc>
              <a:spcBef>
                <a:spcPct val="20000"/>
              </a:spcBef>
              <a:spcAft>
                <a:spcPct val="0"/>
              </a:spcAft>
              <a:buClr>
                <a:schemeClr val="tx1"/>
              </a:buClr>
              <a:buSzTx/>
              <a:buFontTx/>
              <a:buChar char="•"/>
            </a:pPr>
            <a:endParaRPr lang="zh-CN" altLang="en-US" sz="1400" b="0">
              <a:ea typeface="黑体" panose="02010609060101010101" pitchFamily="49" charset="-122"/>
              <a:cs typeface="Arial" panose="020B0604020202020204" pitchFamily="34" charset="0"/>
            </a:endParaRPr>
          </a:p>
          <a:p>
            <a:pPr eaLnBrk="1" hangingPunct="1">
              <a:lnSpc>
                <a:spcPct val="120000"/>
              </a:lnSpc>
              <a:spcBef>
                <a:spcPct val="20000"/>
              </a:spcBef>
              <a:spcAft>
                <a:spcPct val="0"/>
              </a:spcAft>
              <a:buClr>
                <a:schemeClr val="tx1"/>
              </a:buClr>
              <a:buSzTx/>
              <a:buFontTx/>
              <a:buChar char="•"/>
            </a:pPr>
            <a:r>
              <a:rPr lang="zh-CN" altLang="en-US" sz="1400" b="0">
                <a:ea typeface="黑体" panose="02010609060101010101" pitchFamily="49" charset="-122"/>
                <a:cs typeface="Arial" panose="020B0604020202020204" pitchFamily="34" charset="0"/>
              </a:rPr>
              <a:t>组织架构的设计必须能满足运营模式设计的主要目标，包括集中运营和中远期的共享服务</a:t>
            </a:r>
            <a:endParaRPr lang="zh-CN" altLang="en-US" sz="1400" b="0">
              <a:ea typeface="黑体" panose="02010609060101010101" pitchFamily="49" charset="-122"/>
              <a:cs typeface="Arial" panose="020B0604020202020204" pitchFamily="34" charset="0"/>
            </a:endParaRPr>
          </a:p>
          <a:p>
            <a:pPr eaLnBrk="1" hangingPunct="1">
              <a:lnSpc>
                <a:spcPct val="70000"/>
              </a:lnSpc>
              <a:spcBef>
                <a:spcPct val="20000"/>
              </a:spcBef>
              <a:spcAft>
                <a:spcPct val="0"/>
              </a:spcAft>
              <a:buClr>
                <a:schemeClr val="tx1"/>
              </a:buClr>
              <a:buSzTx/>
              <a:buFontTx/>
              <a:buChar char="•"/>
            </a:pPr>
            <a:endParaRPr lang="zh-CN" altLang="en-US" sz="1400" b="0">
              <a:ea typeface="黑体" panose="02010609060101010101" pitchFamily="49" charset="-122"/>
              <a:cs typeface="Arial" panose="020B0604020202020204" pitchFamily="34" charset="0"/>
            </a:endParaRPr>
          </a:p>
          <a:p>
            <a:pPr eaLnBrk="1" hangingPunct="1">
              <a:lnSpc>
                <a:spcPct val="120000"/>
              </a:lnSpc>
              <a:spcBef>
                <a:spcPct val="20000"/>
              </a:spcBef>
              <a:spcAft>
                <a:spcPct val="0"/>
              </a:spcAft>
              <a:buClr>
                <a:schemeClr val="tx1"/>
              </a:buClr>
              <a:buSzTx/>
              <a:buFontTx/>
              <a:buChar char="•"/>
            </a:pPr>
            <a:r>
              <a:rPr lang="zh-CN" altLang="en-US" sz="1400" b="0">
                <a:ea typeface="黑体" panose="02010609060101010101" pitchFamily="49" charset="-122"/>
                <a:cs typeface="Arial" panose="020B0604020202020204" pitchFamily="34" charset="0"/>
              </a:rPr>
              <a:t>组织架构的设计和最终确定还要充分考虑内部能力和实施的可行性</a:t>
            </a:r>
            <a:endParaRPr lang="zh-CN" altLang="en-US" sz="1400" b="0">
              <a:ea typeface="黑体" panose="02010609060101010101" pitchFamily="49" charset="-122"/>
              <a:cs typeface="Arial" panose="020B0604020202020204" pitchFamily="34" charset="0"/>
            </a:endParaRPr>
          </a:p>
        </p:txBody>
      </p:sp>
      <p:sp>
        <p:nvSpPr>
          <p:cNvPr id="141320" name="AutoShape 8"/>
          <p:cNvSpPr>
            <a:spLocks noChangeArrowheads="1"/>
          </p:cNvSpPr>
          <p:nvPr/>
        </p:nvSpPr>
        <p:spPr bwMode="auto">
          <a:xfrm>
            <a:off x="798513" y="3367088"/>
            <a:ext cx="2203450" cy="457200"/>
          </a:xfrm>
          <a:prstGeom prst="homePlate">
            <a:avLst>
              <a:gd name="adj" fmla="val 11424"/>
            </a:avLst>
          </a:prstGeom>
          <a:solidFill>
            <a:srgbClr val="6699CC"/>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 typeface="Wingdings" panose="05000000000000000000" pitchFamily="2" charset="2"/>
              <a:buNone/>
            </a:pPr>
            <a:r>
              <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rPr>
              <a:t>客户与市场的要求</a:t>
            </a:r>
            <a:endPar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sp>
        <p:nvSpPr>
          <p:cNvPr id="141321" name="Rectangle 9"/>
          <p:cNvSpPr>
            <a:spLocks noChangeAspect="1" noChangeArrowheads="1"/>
          </p:cNvSpPr>
          <p:nvPr/>
        </p:nvSpPr>
        <p:spPr bwMode="auto">
          <a:xfrm>
            <a:off x="661988" y="3240088"/>
            <a:ext cx="276225" cy="223837"/>
          </a:xfrm>
          <a:prstGeom prst="rect">
            <a:avLst/>
          </a:prstGeom>
          <a:solidFill>
            <a:schemeClr val="bg1"/>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kumimoji="1" lang="en-US" altLang="zh-CN" sz="1400">
                <a:latin typeface="黑体" panose="02010609060101010101" pitchFamily="49" charset="-122"/>
                <a:ea typeface="黑体" panose="02010609060101010101" pitchFamily="49" charset="-122"/>
                <a:cs typeface="Arial" panose="020B0604020202020204" pitchFamily="34" charset="0"/>
              </a:rPr>
              <a:t>1</a:t>
            </a:r>
            <a:endParaRPr kumimoji="1" lang="en-US" altLang="zh-CN" sz="1400">
              <a:latin typeface="黑体" panose="02010609060101010101" pitchFamily="49" charset="-122"/>
              <a:ea typeface="黑体" panose="02010609060101010101" pitchFamily="49" charset="-122"/>
              <a:cs typeface="Arial" panose="020B0604020202020204" pitchFamily="34" charset="0"/>
            </a:endParaRPr>
          </a:p>
        </p:txBody>
      </p:sp>
      <p:sp>
        <p:nvSpPr>
          <p:cNvPr id="141322" name="Rectangle 10"/>
          <p:cNvSpPr>
            <a:spLocks noChangeAspect="1" noChangeArrowheads="1"/>
          </p:cNvSpPr>
          <p:nvPr/>
        </p:nvSpPr>
        <p:spPr bwMode="auto">
          <a:xfrm>
            <a:off x="661988" y="4078288"/>
            <a:ext cx="276225" cy="223837"/>
          </a:xfrm>
          <a:prstGeom prst="rect">
            <a:avLst/>
          </a:prstGeom>
          <a:solidFill>
            <a:schemeClr val="bg1"/>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kumimoji="1" lang="en-US" altLang="zh-CN" sz="1400">
                <a:latin typeface="黑体" panose="02010609060101010101" pitchFamily="49" charset="-122"/>
                <a:ea typeface="黑体" panose="02010609060101010101" pitchFamily="49" charset="-122"/>
                <a:cs typeface="Arial" panose="020B0604020202020204" pitchFamily="34" charset="0"/>
              </a:rPr>
              <a:t>2</a:t>
            </a:r>
            <a:endParaRPr kumimoji="1" lang="en-US" altLang="zh-CN" sz="1400">
              <a:latin typeface="黑体" panose="02010609060101010101" pitchFamily="49" charset="-122"/>
              <a:ea typeface="黑体" panose="02010609060101010101" pitchFamily="49" charset="-122"/>
              <a:cs typeface="Arial" panose="020B0604020202020204" pitchFamily="34" charset="0"/>
            </a:endParaRPr>
          </a:p>
        </p:txBody>
      </p:sp>
      <p:sp>
        <p:nvSpPr>
          <p:cNvPr id="141323" name="Rectangle 11"/>
          <p:cNvSpPr>
            <a:spLocks noChangeAspect="1" noChangeArrowheads="1"/>
          </p:cNvSpPr>
          <p:nvPr/>
        </p:nvSpPr>
        <p:spPr bwMode="auto">
          <a:xfrm>
            <a:off x="661988" y="4868863"/>
            <a:ext cx="276225" cy="223837"/>
          </a:xfrm>
          <a:prstGeom prst="rect">
            <a:avLst/>
          </a:prstGeom>
          <a:solidFill>
            <a:schemeClr val="bg1"/>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kumimoji="1" lang="en-US" altLang="zh-CN" sz="1400">
                <a:latin typeface="黑体" panose="02010609060101010101" pitchFamily="49" charset="-122"/>
                <a:ea typeface="黑体" panose="02010609060101010101" pitchFamily="49" charset="-122"/>
                <a:cs typeface="Arial" panose="020B0604020202020204" pitchFamily="34" charset="0"/>
              </a:rPr>
              <a:t>3</a:t>
            </a:r>
            <a:endParaRPr kumimoji="1" lang="en-US" altLang="zh-CN" sz="1400">
              <a:latin typeface="黑体" panose="02010609060101010101" pitchFamily="49" charset="-122"/>
              <a:ea typeface="黑体" panose="02010609060101010101" pitchFamily="49" charset="-122"/>
              <a:cs typeface="Arial" panose="020B0604020202020204" pitchFamily="34" charset="0"/>
            </a:endParaRPr>
          </a:p>
        </p:txBody>
      </p:sp>
      <p:sp>
        <p:nvSpPr>
          <p:cNvPr id="141324" name="Rectangle 12"/>
          <p:cNvSpPr>
            <a:spLocks noChangeAspect="1" noChangeArrowheads="1"/>
          </p:cNvSpPr>
          <p:nvPr/>
        </p:nvSpPr>
        <p:spPr bwMode="auto">
          <a:xfrm>
            <a:off x="661988" y="5661025"/>
            <a:ext cx="276225" cy="223838"/>
          </a:xfrm>
          <a:prstGeom prst="rect">
            <a:avLst/>
          </a:prstGeom>
          <a:solidFill>
            <a:schemeClr val="bg1"/>
          </a:solidFill>
          <a:ln w="63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kumimoji="1" lang="en-US" altLang="zh-CN" sz="1400">
                <a:latin typeface="黑体" panose="02010609060101010101" pitchFamily="49" charset="-122"/>
                <a:ea typeface="黑体" panose="02010609060101010101" pitchFamily="49" charset="-122"/>
                <a:cs typeface="Arial" panose="020B0604020202020204" pitchFamily="34" charset="0"/>
              </a:rPr>
              <a:t>4</a:t>
            </a:r>
            <a:endParaRPr kumimoji="1" lang="en-US" altLang="zh-CN" sz="1400">
              <a:latin typeface="黑体" panose="02010609060101010101" pitchFamily="49" charset="-122"/>
              <a:ea typeface="黑体" panose="02010609060101010101" pitchFamily="49" charset="-122"/>
              <a:cs typeface="Arial" panose="020B0604020202020204" pitchFamily="34" charset="0"/>
            </a:endParaRPr>
          </a:p>
        </p:txBody>
      </p:sp>
      <p:sp>
        <p:nvSpPr>
          <p:cNvPr id="141325" name="AutoShape 13"/>
          <p:cNvSpPr>
            <a:spLocks noChangeArrowheads="1"/>
          </p:cNvSpPr>
          <p:nvPr/>
        </p:nvSpPr>
        <p:spPr bwMode="auto">
          <a:xfrm rot="10800000">
            <a:off x="741363" y="2565400"/>
            <a:ext cx="8186737" cy="215900"/>
          </a:xfrm>
          <a:prstGeom prst="triangle">
            <a:avLst>
              <a:gd name="adj" fmla="val 50000"/>
            </a:avLst>
          </a:prstGeom>
          <a:solidFill>
            <a:schemeClr val="bg2"/>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1326" name="Text Box 14"/>
          <p:cNvSpPr txBox="1">
            <a:spLocks noChangeArrowheads="1"/>
          </p:cNvSpPr>
          <p:nvPr/>
        </p:nvSpPr>
        <p:spPr bwMode="auto">
          <a:xfrm>
            <a:off x="2243138" y="2781300"/>
            <a:ext cx="5905500" cy="409575"/>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130000"/>
              </a:lnSpc>
              <a:spcBef>
                <a:spcPct val="50000"/>
              </a:spcBef>
              <a:spcAft>
                <a:spcPct val="0"/>
              </a:spcAft>
              <a:buClrTx/>
              <a:buSzPct val="80000"/>
              <a:buFont typeface="Arial" panose="020B0604020202020204" pitchFamily="34" charset="0"/>
              <a:buNone/>
            </a:pPr>
            <a:r>
              <a:rPr lang="zh-CN" altLang="en-US" sz="1600">
                <a:latin typeface="黑体" panose="02010609060101010101" pitchFamily="49" charset="-122"/>
                <a:ea typeface="黑体" panose="02010609060101010101" pitchFamily="49" charset="-122"/>
              </a:rPr>
              <a:t>组织设计的目标</a:t>
            </a:r>
            <a:endParaRPr lang="zh-CN" altLang="en-US" sz="1600">
              <a:latin typeface="黑体" panose="02010609060101010101" pitchFamily="49" charset="-122"/>
              <a:ea typeface="黑体" panose="02010609060101010101" pitchFamily="49" charset="-122"/>
            </a:endParaRPr>
          </a:p>
        </p:txBody>
      </p:sp>
      <p:sp>
        <p:nvSpPr>
          <p:cNvPr id="141327" name="Rectangle 15"/>
          <p:cNvSpPr>
            <a:spLocks noChangeArrowheads="1"/>
          </p:cNvSpPr>
          <p:nvPr/>
        </p:nvSpPr>
        <p:spPr bwMode="auto">
          <a:xfrm>
            <a:off x="739775" y="1700213"/>
            <a:ext cx="3978275" cy="527050"/>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spcAft>
                <a:spcPct val="0"/>
              </a:spcAft>
              <a:buClrTx/>
              <a:buSzTx/>
              <a:buFontTx/>
              <a:buNone/>
            </a:pPr>
            <a:r>
              <a:rPr lang="zh-CN" altLang="en-US" sz="1400" b="0">
                <a:solidFill>
                  <a:schemeClr val="tx2"/>
                </a:solidFill>
                <a:latin typeface="黑体" panose="02010609060101010101" pitchFamily="49" charset="-122"/>
                <a:ea typeface="黑体" panose="02010609060101010101" pitchFamily="49" charset="-122"/>
              </a:rPr>
              <a:t>未来</a:t>
            </a:r>
            <a:r>
              <a:rPr lang="en-US" altLang="zh-CN" sz="1400" b="0">
                <a:solidFill>
                  <a:schemeClr val="tx2"/>
                </a:solidFill>
                <a:latin typeface="黑体" panose="02010609060101010101" pitchFamily="49" charset="-122"/>
                <a:ea typeface="黑体" panose="02010609060101010101" pitchFamily="49" charset="-122"/>
              </a:rPr>
              <a:t>3</a:t>
            </a:r>
            <a:r>
              <a:rPr lang="zh-CN" altLang="en-US" sz="1400" b="0">
                <a:solidFill>
                  <a:schemeClr val="tx2"/>
                </a:solidFill>
                <a:latin typeface="黑体" panose="02010609060101010101" pitchFamily="49" charset="-122"/>
                <a:ea typeface="黑体" panose="02010609060101010101" pitchFamily="49" charset="-122"/>
              </a:rPr>
              <a:t>年的的战略目标是</a:t>
            </a:r>
            <a:r>
              <a:rPr lang="zh-CN" altLang="en-US" sz="1400" b="0">
                <a:solidFill>
                  <a:srgbClr val="000000"/>
                </a:solidFill>
                <a:latin typeface="黑体" panose="02010609060101010101" pitchFamily="49" charset="-122"/>
                <a:ea typeface="黑体" panose="02010609060101010101" pitchFamily="49" charset="-122"/>
              </a:rPr>
              <a:t>在保持盈利的前提下，以提高市场占有率</a:t>
            </a:r>
            <a:endParaRPr lang="zh-CN" altLang="en-US" sz="1400" b="0">
              <a:solidFill>
                <a:srgbClr val="000000"/>
              </a:solidFill>
              <a:latin typeface="黑体" panose="02010609060101010101" pitchFamily="49" charset="-122"/>
              <a:ea typeface="黑体" panose="02010609060101010101" pitchFamily="49" charset="-122"/>
            </a:endParaRPr>
          </a:p>
        </p:txBody>
      </p:sp>
      <p:sp>
        <p:nvSpPr>
          <p:cNvPr id="141328" name="Text Box 16"/>
          <p:cNvSpPr txBox="1">
            <a:spLocks noChangeArrowheads="1"/>
          </p:cNvSpPr>
          <p:nvPr/>
        </p:nvSpPr>
        <p:spPr bwMode="auto">
          <a:xfrm>
            <a:off x="1831975" y="1268413"/>
            <a:ext cx="16367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spcAft>
                <a:spcPct val="0"/>
              </a:spcAft>
              <a:buClrTx/>
              <a:buSzTx/>
              <a:buFontTx/>
              <a:buNone/>
            </a:pPr>
            <a:r>
              <a:rPr lang="zh-CN" altLang="en-US" sz="1600">
                <a:ea typeface="黑体" panose="02010609060101010101" pitchFamily="49" charset="-122"/>
              </a:rPr>
              <a:t>战略目标</a:t>
            </a:r>
            <a:endParaRPr lang="zh-CN" altLang="en-US" sz="1600">
              <a:ea typeface="黑体" panose="02010609060101010101" pitchFamily="49" charset="-122"/>
            </a:endParaRPr>
          </a:p>
        </p:txBody>
      </p:sp>
      <p:sp>
        <p:nvSpPr>
          <p:cNvPr id="141329" name="Text Box 17"/>
          <p:cNvSpPr txBox="1">
            <a:spLocks noChangeArrowheads="1"/>
          </p:cNvSpPr>
          <p:nvPr/>
        </p:nvSpPr>
        <p:spPr bwMode="auto">
          <a:xfrm>
            <a:off x="6043613" y="1268413"/>
            <a:ext cx="16367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spcAft>
                <a:spcPct val="0"/>
              </a:spcAft>
              <a:buClrTx/>
              <a:buSzTx/>
              <a:buFontTx/>
              <a:buNone/>
            </a:pPr>
            <a:r>
              <a:rPr lang="zh-CN" altLang="en-US" sz="1600">
                <a:ea typeface="黑体" panose="02010609060101010101" pitchFamily="49" charset="-122"/>
              </a:rPr>
              <a:t>运营目标</a:t>
            </a:r>
            <a:endParaRPr lang="zh-CN" altLang="en-US" sz="1600">
              <a:ea typeface="黑体" panose="02010609060101010101" pitchFamily="49" charset="-122"/>
            </a:endParaRPr>
          </a:p>
        </p:txBody>
      </p:sp>
      <p:sp>
        <p:nvSpPr>
          <p:cNvPr id="141330" name="Rectangle 18"/>
          <p:cNvSpPr>
            <a:spLocks noChangeArrowheads="1"/>
          </p:cNvSpPr>
          <p:nvPr/>
        </p:nvSpPr>
        <p:spPr bwMode="auto">
          <a:xfrm>
            <a:off x="4951413" y="1700213"/>
            <a:ext cx="3978275" cy="527050"/>
          </a:xfrm>
          <a:prstGeom prst="rect">
            <a:avLst/>
          </a:prstGeom>
          <a:noFill/>
          <a:ln w="9525" algn="ctr">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spcAft>
                <a:spcPct val="0"/>
              </a:spcAft>
              <a:buClrTx/>
              <a:buSzTx/>
              <a:buFontTx/>
              <a:buNone/>
            </a:pPr>
            <a:r>
              <a:rPr lang="zh-CN" altLang="en-US" sz="1400" b="0">
                <a:solidFill>
                  <a:srgbClr val="000000"/>
                </a:solidFill>
                <a:latin typeface="黑体" panose="02010609060101010101" pitchFamily="49" charset="-122"/>
                <a:ea typeface="黑体" panose="02010609060101010101" pitchFamily="49" charset="-122"/>
              </a:rPr>
              <a:t>建立运营体系，进行流程的简化和标准化，大力推进集中运营，中远期实现跨产品线的共享服务</a:t>
            </a:r>
            <a:endParaRPr lang="zh-CN" altLang="en-US" sz="1400" b="0">
              <a:solidFill>
                <a:srgbClr val="000000"/>
              </a:solidFill>
              <a:latin typeface="黑体" panose="02010609060101010101" pitchFamily="49" charset="-122"/>
              <a:ea typeface="黑体" panose="02010609060101010101" pitchFamily="49" charset="-122"/>
            </a:endParaRPr>
          </a:p>
        </p:txBody>
      </p:sp>
      <p:sp>
        <p:nvSpPr>
          <p:cNvPr id="141331" name="Text Box 20"/>
          <p:cNvSpPr txBox="1">
            <a:spLocks noChangeArrowheads="1"/>
          </p:cNvSpPr>
          <p:nvPr/>
        </p:nvSpPr>
        <p:spPr bwMode="auto">
          <a:xfrm rot="-1706038">
            <a:off x="1403350" y="4170363"/>
            <a:ext cx="5735638" cy="37623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folHlink"/>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800" b="0">
                <a:ea typeface="宋体" panose="02010600030101010101" pitchFamily="2" charset="-122"/>
              </a:rPr>
              <a:t>示	意	图</a:t>
            </a:r>
            <a:endParaRPr lang="zh-CN" altLang="en-US" sz="1800" b="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descr="浅色下对角线"/>
          <p:cNvSpPr>
            <a:spLocks noChangeArrowheads="1"/>
          </p:cNvSpPr>
          <p:nvPr/>
        </p:nvSpPr>
        <p:spPr bwMode="auto">
          <a:xfrm>
            <a:off x="3632200" y="1700213"/>
            <a:ext cx="701675" cy="2557462"/>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63" name="Rectangle 3" descr="浅色下对角线"/>
          <p:cNvSpPr>
            <a:spLocks noChangeArrowheads="1"/>
          </p:cNvSpPr>
          <p:nvPr/>
        </p:nvSpPr>
        <p:spPr bwMode="auto">
          <a:xfrm>
            <a:off x="4414838" y="1700213"/>
            <a:ext cx="701675" cy="2557462"/>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64" name="Rectangle 4" descr="浅色下对角线"/>
          <p:cNvSpPr>
            <a:spLocks noChangeArrowheads="1"/>
          </p:cNvSpPr>
          <p:nvPr/>
        </p:nvSpPr>
        <p:spPr bwMode="auto">
          <a:xfrm>
            <a:off x="5195888" y="1700213"/>
            <a:ext cx="701675" cy="2557462"/>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65" name="Rectangle 5" descr="浅色下对角线"/>
          <p:cNvSpPr>
            <a:spLocks noChangeArrowheads="1"/>
          </p:cNvSpPr>
          <p:nvPr/>
        </p:nvSpPr>
        <p:spPr bwMode="auto">
          <a:xfrm>
            <a:off x="5978525" y="1700213"/>
            <a:ext cx="700088" cy="2557462"/>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66" name="Rectangle 6" descr="浅色下对角线"/>
          <p:cNvSpPr>
            <a:spLocks noChangeArrowheads="1"/>
          </p:cNvSpPr>
          <p:nvPr/>
        </p:nvSpPr>
        <p:spPr bwMode="auto">
          <a:xfrm>
            <a:off x="6759575" y="1700213"/>
            <a:ext cx="701675" cy="2557462"/>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67" name="Rectangle 7" descr="浅色下对角线"/>
          <p:cNvSpPr>
            <a:spLocks noChangeArrowheads="1"/>
          </p:cNvSpPr>
          <p:nvPr/>
        </p:nvSpPr>
        <p:spPr bwMode="auto">
          <a:xfrm>
            <a:off x="7540625" y="1700213"/>
            <a:ext cx="701675" cy="2557462"/>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68" name="Rectangle 8" descr="浅色下对角线"/>
          <p:cNvSpPr>
            <a:spLocks noChangeArrowheads="1"/>
          </p:cNvSpPr>
          <p:nvPr/>
        </p:nvSpPr>
        <p:spPr bwMode="auto">
          <a:xfrm>
            <a:off x="8323263" y="1700213"/>
            <a:ext cx="701675" cy="2557462"/>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69" name="Rectangle 9" descr="浅色下对角线"/>
          <p:cNvSpPr>
            <a:spLocks noChangeArrowheads="1"/>
          </p:cNvSpPr>
          <p:nvPr/>
        </p:nvSpPr>
        <p:spPr bwMode="auto">
          <a:xfrm>
            <a:off x="9104313" y="1700213"/>
            <a:ext cx="701675" cy="2557462"/>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70" name="Rectangle 10"/>
          <p:cNvSpPr>
            <a:spLocks noChangeArrowheads="1"/>
          </p:cNvSpPr>
          <p:nvPr/>
        </p:nvSpPr>
        <p:spPr bwMode="auto">
          <a:xfrm>
            <a:off x="506413" y="4365625"/>
            <a:ext cx="2962275" cy="2016125"/>
          </a:xfrm>
          <a:prstGeom prst="rect">
            <a:avLst/>
          </a:prstGeom>
          <a:solidFill>
            <a:schemeClr val="accent1">
              <a:alpha val="25098"/>
            </a:schemeClr>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3371" name="Rectangle 11"/>
          <p:cNvSpPr>
            <a:spLocks noGrp="1" noChangeArrowheads="1"/>
          </p:cNvSpPr>
          <p:nvPr>
            <p:ph type="title"/>
          </p:nvPr>
        </p:nvSpPr>
        <p:spPr>
          <a:xfrm>
            <a:off x="247650" y="80963"/>
            <a:ext cx="7823200" cy="939800"/>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t>案例：集团共享中心建设组织架构调整</a:t>
            </a:r>
            <a:br>
              <a:rPr lang="en-US" altLang="zh-CN" dirty="0"/>
            </a:br>
            <a:r>
              <a:rPr lang="zh-CN" altLang="en-US" sz="2000" b="0" dirty="0"/>
              <a:t>设计方案比较－提出多种可行性方案讨论，选择最佳方案</a:t>
            </a:r>
            <a:endParaRPr lang="zh-CN" altLang="en-US" b="0" dirty="0"/>
          </a:p>
        </p:txBody>
      </p:sp>
      <p:sp>
        <p:nvSpPr>
          <p:cNvPr id="143372" name="Rectangle 12" descr="浅色下对角线"/>
          <p:cNvSpPr>
            <a:spLocks noChangeArrowheads="1"/>
          </p:cNvSpPr>
          <p:nvPr/>
        </p:nvSpPr>
        <p:spPr bwMode="auto">
          <a:xfrm>
            <a:off x="506413" y="1663700"/>
            <a:ext cx="701675" cy="2557463"/>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73" name="Rectangle 13" descr="浅色下对角线"/>
          <p:cNvSpPr>
            <a:spLocks noChangeArrowheads="1"/>
          </p:cNvSpPr>
          <p:nvPr/>
        </p:nvSpPr>
        <p:spPr bwMode="auto">
          <a:xfrm>
            <a:off x="1287463" y="1663700"/>
            <a:ext cx="701675" cy="2557463"/>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74" name="Rectangle 14" descr="浅色下对角线"/>
          <p:cNvSpPr>
            <a:spLocks noChangeArrowheads="1"/>
          </p:cNvSpPr>
          <p:nvPr/>
        </p:nvSpPr>
        <p:spPr bwMode="auto">
          <a:xfrm>
            <a:off x="2070100" y="1663700"/>
            <a:ext cx="701675" cy="2557463"/>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75" name="Rectangle 15" descr="浅色下对角线"/>
          <p:cNvSpPr>
            <a:spLocks noChangeArrowheads="1"/>
          </p:cNvSpPr>
          <p:nvPr/>
        </p:nvSpPr>
        <p:spPr bwMode="auto">
          <a:xfrm>
            <a:off x="2851150" y="1663700"/>
            <a:ext cx="700088" cy="2557463"/>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spcAft>
                <a:spcPct val="0"/>
              </a:spcAft>
              <a:buClrTx/>
              <a:buSzTx/>
              <a:buFontTx/>
              <a:buNone/>
            </a:pPr>
            <a:endParaRPr lang="zh-CN" altLang="en-GB" sz="1000" b="0">
              <a:latin typeface="宋体" panose="02010600030101010101" pitchFamily="2" charset="-122"/>
              <a:ea typeface="宋体" panose="02010600030101010101" pitchFamily="2" charset="-122"/>
            </a:endParaRPr>
          </a:p>
        </p:txBody>
      </p:sp>
      <p:sp>
        <p:nvSpPr>
          <p:cNvPr id="143376" name="Line 16"/>
          <p:cNvSpPr>
            <a:spLocks noChangeShapeType="1"/>
          </p:cNvSpPr>
          <p:nvPr/>
        </p:nvSpPr>
        <p:spPr bwMode="auto">
          <a:xfrm>
            <a:off x="139700" y="2781300"/>
            <a:ext cx="9569450" cy="3175"/>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GB"/>
          </a:p>
        </p:txBody>
      </p:sp>
      <p:sp>
        <p:nvSpPr>
          <p:cNvPr id="143377" name="Rectangle 17"/>
          <p:cNvSpPr>
            <a:spLocks noChangeArrowheads="1"/>
          </p:cNvSpPr>
          <p:nvPr/>
        </p:nvSpPr>
        <p:spPr bwMode="auto">
          <a:xfrm>
            <a:off x="588963" y="1700213"/>
            <a:ext cx="385762"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产品</a:t>
            </a:r>
            <a:endParaRPr lang="zh-CN" altLang="en-US" sz="1400">
              <a:latin typeface="黑体" panose="02010609060101010101" pitchFamily="49" charset="-122"/>
              <a:ea typeface="黑体" panose="02010609060101010101" pitchFamily="49" charset="-122"/>
            </a:endParaRPr>
          </a:p>
        </p:txBody>
      </p:sp>
      <p:sp>
        <p:nvSpPr>
          <p:cNvPr id="143378" name="Rectangle 18"/>
          <p:cNvSpPr>
            <a:spLocks noChangeArrowheads="1"/>
          </p:cNvSpPr>
          <p:nvPr/>
        </p:nvSpPr>
        <p:spPr bwMode="auto">
          <a:xfrm>
            <a:off x="1370013" y="1700213"/>
            <a:ext cx="385762"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销售</a:t>
            </a:r>
            <a:endParaRPr lang="zh-CN" altLang="en-US" sz="1400">
              <a:latin typeface="黑体" panose="02010609060101010101" pitchFamily="49" charset="-122"/>
              <a:ea typeface="黑体" panose="02010609060101010101" pitchFamily="49" charset="-122"/>
            </a:endParaRPr>
          </a:p>
        </p:txBody>
      </p:sp>
      <p:sp>
        <p:nvSpPr>
          <p:cNvPr id="143379" name="Rectangle 19"/>
          <p:cNvSpPr>
            <a:spLocks noChangeArrowheads="1"/>
          </p:cNvSpPr>
          <p:nvPr/>
        </p:nvSpPr>
        <p:spPr bwMode="auto">
          <a:xfrm>
            <a:off x="2149475" y="1700213"/>
            <a:ext cx="384175"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运营</a:t>
            </a:r>
            <a:endParaRPr lang="zh-CN" altLang="en-US" sz="1400">
              <a:latin typeface="黑体" panose="02010609060101010101" pitchFamily="49" charset="-122"/>
              <a:ea typeface="黑体" panose="02010609060101010101" pitchFamily="49" charset="-122"/>
            </a:endParaRPr>
          </a:p>
        </p:txBody>
      </p:sp>
      <p:sp>
        <p:nvSpPr>
          <p:cNvPr id="143380" name="Rectangle 20"/>
          <p:cNvSpPr>
            <a:spLocks noChangeArrowheads="1"/>
          </p:cNvSpPr>
          <p:nvPr/>
        </p:nvSpPr>
        <p:spPr bwMode="auto">
          <a:xfrm>
            <a:off x="2768600" y="1700213"/>
            <a:ext cx="769938"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共享资源</a:t>
            </a:r>
            <a:endParaRPr lang="zh-CN" altLang="en-US" sz="1400">
              <a:latin typeface="黑体" panose="02010609060101010101" pitchFamily="49" charset="-122"/>
              <a:ea typeface="黑体" panose="02010609060101010101" pitchFamily="49" charset="-122"/>
            </a:endParaRPr>
          </a:p>
        </p:txBody>
      </p:sp>
      <p:sp>
        <p:nvSpPr>
          <p:cNvPr id="143381" name="Rectangle 21"/>
          <p:cNvSpPr>
            <a:spLocks noChangeArrowheads="1"/>
          </p:cNvSpPr>
          <p:nvPr/>
        </p:nvSpPr>
        <p:spPr bwMode="auto">
          <a:xfrm>
            <a:off x="130025" y="2171700"/>
            <a:ext cx="359073"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b="0" dirty="0">
                <a:solidFill>
                  <a:srgbClr val="0070C0"/>
                </a:solidFill>
                <a:latin typeface="黑体" panose="02010609060101010101" pitchFamily="49" charset="-122"/>
                <a:ea typeface="黑体" panose="02010609060101010101" pitchFamily="49" charset="-122"/>
              </a:rPr>
              <a:t>集团</a:t>
            </a:r>
            <a:endParaRPr lang="zh-CN" altLang="en-US" sz="1400" b="0" dirty="0">
              <a:solidFill>
                <a:srgbClr val="0070C0"/>
              </a:solidFill>
              <a:latin typeface="黑体" panose="02010609060101010101" pitchFamily="49" charset="-122"/>
              <a:ea typeface="黑体" panose="02010609060101010101" pitchFamily="49" charset="-122"/>
            </a:endParaRPr>
          </a:p>
        </p:txBody>
      </p:sp>
      <p:sp>
        <p:nvSpPr>
          <p:cNvPr id="143382" name="Rectangle 22"/>
          <p:cNvSpPr>
            <a:spLocks noChangeArrowheads="1"/>
          </p:cNvSpPr>
          <p:nvPr/>
        </p:nvSpPr>
        <p:spPr bwMode="auto">
          <a:xfrm>
            <a:off x="40258" y="3257550"/>
            <a:ext cx="538610"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b="0" dirty="0">
                <a:solidFill>
                  <a:srgbClr val="0070C0"/>
                </a:solidFill>
                <a:latin typeface="黑体" panose="02010609060101010101" pitchFamily="49" charset="-122"/>
                <a:ea typeface="黑体" panose="02010609060101010101" pitchFamily="49" charset="-122"/>
              </a:rPr>
              <a:t>子公司</a:t>
            </a:r>
            <a:endParaRPr lang="zh-CN" altLang="en-US" sz="1400" b="0" dirty="0">
              <a:solidFill>
                <a:srgbClr val="0070C0"/>
              </a:solidFill>
              <a:latin typeface="黑体" panose="02010609060101010101" pitchFamily="49" charset="-122"/>
              <a:ea typeface="黑体" panose="02010609060101010101" pitchFamily="49" charset="-122"/>
            </a:endParaRPr>
          </a:p>
        </p:txBody>
      </p:sp>
      <p:sp>
        <p:nvSpPr>
          <p:cNvPr id="143383" name="Oval 23"/>
          <p:cNvSpPr>
            <a:spLocks noChangeArrowheads="1"/>
          </p:cNvSpPr>
          <p:nvPr/>
        </p:nvSpPr>
        <p:spPr bwMode="auto">
          <a:xfrm>
            <a:off x="584200" y="2024063"/>
            <a:ext cx="538163" cy="441325"/>
          </a:xfrm>
          <a:prstGeom prst="ellipse">
            <a:avLst/>
          </a:prstGeom>
          <a:solidFill>
            <a:srgbClr val="FFCC00"/>
          </a:solidFill>
          <a:ln w="9525" algn="ctr">
            <a:solidFill>
              <a:srgbClr val="FF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000">
                <a:ea typeface="黑体" panose="02010609060101010101" pitchFamily="49" charset="-122"/>
              </a:rPr>
              <a:t>专业指导</a:t>
            </a:r>
            <a:endParaRPr lang="zh-CN" altLang="en-US" sz="1000">
              <a:ea typeface="黑体" panose="02010609060101010101" pitchFamily="49" charset="-122"/>
            </a:endParaRPr>
          </a:p>
        </p:txBody>
      </p:sp>
      <p:sp>
        <p:nvSpPr>
          <p:cNvPr id="143384" name="Oval 24"/>
          <p:cNvSpPr>
            <a:spLocks noChangeArrowheads="1"/>
          </p:cNvSpPr>
          <p:nvPr/>
        </p:nvSpPr>
        <p:spPr bwMode="auto">
          <a:xfrm>
            <a:off x="1208088" y="3357563"/>
            <a:ext cx="828675" cy="517525"/>
          </a:xfrm>
          <a:prstGeom prst="ellipse">
            <a:avLst/>
          </a:prstGeom>
          <a:solidFill>
            <a:srgbClr val="C0C0C0"/>
          </a:solidFill>
          <a:ln>
            <a:noFill/>
          </a:ln>
          <a:effectLst/>
          <a:extLst>
            <a:ext uri="{91240B29-F687-4F45-9708-019B960494DF}">
              <a14:hiddenLine xmlns:a14="http://schemas.microsoft.com/office/drawing/2010/main" w="9525">
                <a:solidFill>
                  <a:srgbClr val="FFCC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200">
                <a:ea typeface="黑体" panose="02010609060101010101" pitchFamily="49" charset="-122"/>
              </a:rPr>
              <a:t>关键职能</a:t>
            </a:r>
            <a:endParaRPr lang="zh-CN" altLang="en-US" sz="1200">
              <a:ea typeface="黑体" panose="02010609060101010101" pitchFamily="49" charset="-122"/>
            </a:endParaRPr>
          </a:p>
        </p:txBody>
      </p:sp>
      <p:sp>
        <p:nvSpPr>
          <p:cNvPr id="143385" name="Oval 25"/>
          <p:cNvSpPr>
            <a:spLocks noChangeArrowheads="1"/>
          </p:cNvSpPr>
          <p:nvPr/>
        </p:nvSpPr>
        <p:spPr bwMode="auto">
          <a:xfrm>
            <a:off x="2208213" y="2852738"/>
            <a:ext cx="560387" cy="647700"/>
          </a:xfrm>
          <a:prstGeom prst="ellipse">
            <a:avLst/>
          </a:prstGeom>
          <a:solidFill>
            <a:schemeClr val="accent1"/>
          </a:solidFill>
          <a:ln>
            <a:noFill/>
          </a:ln>
          <a:effectLst/>
          <a:extLst>
            <a:ext uri="{91240B29-F687-4F45-9708-019B960494DF}">
              <a14:hiddenLine xmlns:a14="http://schemas.microsoft.com/office/drawing/2010/main" w="9525">
                <a:solidFill>
                  <a:schemeClr val="bg2"/>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000">
                <a:ea typeface="黑体" panose="02010609060101010101" pitchFamily="49" charset="-122"/>
              </a:rPr>
              <a:t>辅助运营支持</a:t>
            </a:r>
            <a:endParaRPr lang="zh-CN" altLang="en-US" sz="1000">
              <a:ea typeface="黑体" panose="02010609060101010101" pitchFamily="49" charset="-122"/>
            </a:endParaRPr>
          </a:p>
        </p:txBody>
      </p:sp>
      <p:cxnSp>
        <p:nvCxnSpPr>
          <p:cNvPr id="143386" name="AutoShape 26"/>
          <p:cNvCxnSpPr>
            <a:cxnSpLocks noChangeShapeType="1"/>
            <a:stCxn id="143383" idx="4"/>
            <a:endCxn id="143384" idx="2"/>
          </p:cNvCxnSpPr>
          <p:nvPr/>
        </p:nvCxnSpPr>
        <p:spPr bwMode="auto">
          <a:xfrm>
            <a:off x="854075" y="2465388"/>
            <a:ext cx="354013" cy="1150937"/>
          </a:xfrm>
          <a:prstGeom prst="straightConnector1">
            <a:avLst/>
          </a:prstGeom>
          <a:noFill/>
          <a:ln w="9525">
            <a:solidFill>
              <a:schemeClr val="bg2"/>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387" name="AutoShape 27"/>
          <p:cNvCxnSpPr>
            <a:cxnSpLocks noChangeShapeType="1"/>
            <a:stCxn id="143385" idx="4"/>
            <a:endCxn id="143384" idx="6"/>
          </p:cNvCxnSpPr>
          <p:nvPr/>
        </p:nvCxnSpPr>
        <p:spPr bwMode="auto">
          <a:xfrm flipH="1">
            <a:off x="1881188" y="3500438"/>
            <a:ext cx="415925" cy="115887"/>
          </a:xfrm>
          <a:prstGeom prst="straightConnector1">
            <a:avLst/>
          </a:prstGeom>
          <a:noFill/>
          <a:ln w="9525">
            <a:solidFill>
              <a:schemeClr val="bg2"/>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388" name="Rectangle 28"/>
          <p:cNvSpPr>
            <a:spLocks noChangeArrowheads="1"/>
          </p:cNvSpPr>
          <p:nvPr/>
        </p:nvSpPr>
        <p:spPr bwMode="auto">
          <a:xfrm>
            <a:off x="584200" y="4437063"/>
            <a:ext cx="2963863" cy="15763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dirty="0">
                <a:latin typeface="黑体" panose="02010609060101010101" pitchFamily="49" charset="-122"/>
                <a:ea typeface="黑体" panose="02010609060101010101" pitchFamily="49" charset="-122"/>
                <a:cs typeface="Arial" panose="020B0604020202020204" pitchFamily="34" charset="0"/>
              </a:rPr>
              <a:t>销售线负责人同时担当起风险官的职能，不仅对销售收入负责还应对销售质量</a:t>
            </a:r>
            <a:r>
              <a:rPr lang="en-US" altLang="zh-CN" sz="1400" b="0" dirty="0">
                <a:latin typeface="黑体" panose="02010609060101010101" pitchFamily="49" charset="-122"/>
                <a:ea typeface="黑体" panose="02010609060101010101" pitchFamily="49" charset="-122"/>
                <a:cs typeface="Arial" panose="020B0604020202020204" pitchFamily="34" charset="0"/>
              </a:rPr>
              <a:t>/</a:t>
            </a:r>
            <a:r>
              <a:rPr lang="zh-CN" altLang="en-US" sz="1400" b="0" dirty="0">
                <a:latin typeface="黑体" panose="02010609060101010101" pitchFamily="49" charset="-122"/>
                <a:ea typeface="黑体" panose="02010609060101010101" pitchFamily="49" charset="-122"/>
                <a:cs typeface="Arial" panose="020B0604020202020204" pitchFamily="34" charset="0"/>
              </a:rPr>
              <a:t>风险负责；</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dirty="0">
                <a:latin typeface="黑体" panose="02010609060101010101" pitchFamily="49" charset="-122"/>
                <a:ea typeface="黑体" panose="02010609060101010101" pitchFamily="49" charset="-122"/>
                <a:cs typeface="Arial" panose="020B0604020202020204" pitchFamily="34" charset="0"/>
              </a:rPr>
              <a:t>销售线从总部设在产品中心下的风险专家获取专业指导，同时从运营中心内获取必要的操作服务。</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p:txBody>
      </p:sp>
      <p:sp>
        <p:nvSpPr>
          <p:cNvPr id="143389" name="Rectangle 29"/>
          <p:cNvSpPr>
            <a:spLocks noChangeArrowheads="1"/>
          </p:cNvSpPr>
          <p:nvPr/>
        </p:nvSpPr>
        <p:spPr bwMode="auto">
          <a:xfrm>
            <a:off x="1157414" y="1268413"/>
            <a:ext cx="1615827"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dirty="0">
                <a:latin typeface="黑体" panose="02010609060101010101" pitchFamily="49" charset="-122"/>
                <a:ea typeface="黑体" panose="02010609060101010101" pitchFamily="49" charset="-122"/>
              </a:rPr>
              <a:t>方案一（管理共担）</a:t>
            </a:r>
            <a:endParaRPr lang="zh-CN" altLang="en-US" sz="1400" dirty="0">
              <a:latin typeface="黑体" panose="02010609060101010101" pitchFamily="49" charset="-122"/>
              <a:ea typeface="黑体" panose="02010609060101010101" pitchFamily="49" charset="-122"/>
            </a:endParaRPr>
          </a:p>
        </p:txBody>
      </p:sp>
      <p:sp>
        <p:nvSpPr>
          <p:cNvPr id="143390" name="Line 30"/>
          <p:cNvSpPr>
            <a:spLocks noChangeShapeType="1"/>
          </p:cNvSpPr>
          <p:nvPr/>
        </p:nvSpPr>
        <p:spPr bwMode="auto">
          <a:xfrm>
            <a:off x="3625850" y="1268413"/>
            <a:ext cx="0" cy="5327650"/>
          </a:xfrm>
          <a:prstGeom prst="line">
            <a:avLst/>
          </a:prstGeom>
          <a:noFill/>
          <a:ln w="19050">
            <a:solidFill>
              <a:schemeClr val="bg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GB"/>
          </a:p>
        </p:txBody>
      </p:sp>
      <p:sp>
        <p:nvSpPr>
          <p:cNvPr id="143391" name="Rectangle 31"/>
          <p:cNvSpPr>
            <a:spLocks noChangeArrowheads="1"/>
          </p:cNvSpPr>
          <p:nvPr/>
        </p:nvSpPr>
        <p:spPr bwMode="auto">
          <a:xfrm>
            <a:off x="3708400" y="1700213"/>
            <a:ext cx="385763"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产品</a:t>
            </a:r>
            <a:endParaRPr lang="zh-CN" altLang="en-US" sz="1400">
              <a:latin typeface="黑体" panose="02010609060101010101" pitchFamily="49" charset="-122"/>
              <a:ea typeface="黑体" panose="02010609060101010101" pitchFamily="49" charset="-122"/>
            </a:endParaRPr>
          </a:p>
        </p:txBody>
      </p:sp>
      <p:sp>
        <p:nvSpPr>
          <p:cNvPr id="143392" name="Rectangle 32"/>
          <p:cNvSpPr>
            <a:spLocks noChangeArrowheads="1"/>
          </p:cNvSpPr>
          <p:nvPr/>
        </p:nvSpPr>
        <p:spPr bwMode="auto">
          <a:xfrm>
            <a:off x="4489450" y="1700213"/>
            <a:ext cx="384175"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销售</a:t>
            </a:r>
            <a:endParaRPr lang="zh-CN" altLang="en-US" sz="1400">
              <a:latin typeface="黑体" panose="02010609060101010101" pitchFamily="49" charset="-122"/>
              <a:ea typeface="黑体" panose="02010609060101010101" pitchFamily="49" charset="-122"/>
            </a:endParaRPr>
          </a:p>
        </p:txBody>
      </p:sp>
      <p:sp>
        <p:nvSpPr>
          <p:cNvPr id="143393" name="Rectangle 33"/>
          <p:cNvSpPr>
            <a:spLocks noChangeArrowheads="1"/>
          </p:cNvSpPr>
          <p:nvPr/>
        </p:nvSpPr>
        <p:spPr bwMode="auto">
          <a:xfrm>
            <a:off x="5267325" y="1700213"/>
            <a:ext cx="385763"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运营</a:t>
            </a:r>
            <a:endParaRPr lang="zh-CN" altLang="en-US" sz="1400">
              <a:latin typeface="黑体" panose="02010609060101010101" pitchFamily="49" charset="-122"/>
              <a:ea typeface="黑体" panose="02010609060101010101" pitchFamily="49" charset="-122"/>
            </a:endParaRPr>
          </a:p>
        </p:txBody>
      </p:sp>
      <p:sp>
        <p:nvSpPr>
          <p:cNvPr id="143394" name="Rectangle 34"/>
          <p:cNvSpPr>
            <a:spLocks noChangeArrowheads="1"/>
          </p:cNvSpPr>
          <p:nvPr/>
        </p:nvSpPr>
        <p:spPr bwMode="auto">
          <a:xfrm>
            <a:off x="5886450" y="1700213"/>
            <a:ext cx="769938"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共享资源</a:t>
            </a:r>
            <a:endParaRPr lang="zh-CN" altLang="en-US" sz="1400">
              <a:latin typeface="黑体" panose="02010609060101010101" pitchFamily="49" charset="-122"/>
              <a:ea typeface="黑体" panose="02010609060101010101" pitchFamily="49" charset="-122"/>
            </a:endParaRPr>
          </a:p>
        </p:txBody>
      </p:sp>
      <p:sp>
        <p:nvSpPr>
          <p:cNvPr id="143395" name="Rectangle 35"/>
          <p:cNvSpPr>
            <a:spLocks noChangeArrowheads="1"/>
          </p:cNvSpPr>
          <p:nvPr/>
        </p:nvSpPr>
        <p:spPr bwMode="auto">
          <a:xfrm>
            <a:off x="6750050" y="1700213"/>
            <a:ext cx="384175"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产品</a:t>
            </a:r>
            <a:endParaRPr lang="zh-CN" altLang="en-US" sz="1400">
              <a:latin typeface="黑体" panose="02010609060101010101" pitchFamily="49" charset="-122"/>
              <a:ea typeface="黑体" panose="02010609060101010101" pitchFamily="49" charset="-122"/>
            </a:endParaRPr>
          </a:p>
        </p:txBody>
      </p:sp>
      <p:sp>
        <p:nvSpPr>
          <p:cNvPr id="143396" name="Rectangle 36"/>
          <p:cNvSpPr>
            <a:spLocks noChangeArrowheads="1"/>
          </p:cNvSpPr>
          <p:nvPr/>
        </p:nvSpPr>
        <p:spPr bwMode="auto">
          <a:xfrm>
            <a:off x="7685088" y="1700213"/>
            <a:ext cx="385762"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销售</a:t>
            </a:r>
            <a:endParaRPr lang="zh-CN" altLang="en-US" sz="1400">
              <a:latin typeface="黑体" panose="02010609060101010101" pitchFamily="49" charset="-122"/>
              <a:ea typeface="黑体" panose="02010609060101010101" pitchFamily="49" charset="-122"/>
            </a:endParaRPr>
          </a:p>
        </p:txBody>
      </p:sp>
      <p:sp>
        <p:nvSpPr>
          <p:cNvPr id="143397" name="Rectangle 37"/>
          <p:cNvSpPr>
            <a:spLocks noChangeArrowheads="1"/>
          </p:cNvSpPr>
          <p:nvPr/>
        </p:nvSpPr>
        <p:spPr bwMode="auto">
          <a:xfrm>
            <a:off x="8466138" y="1700213"/>
            <a:ext cx="384175"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运营</a:t>
            </a:r>
            <a:endParaRPr lang="zh-CN" altLang="en-US" sz="1400">
              <a:latin typeface="黑体" panose="02010609060101010101" pitchFamily="49" charset="-122"/>
              <a:ea typeface="黑体" panose="02010609060101010101" pitchFamily="49" charset="-122"/>
            </a:endParaRPr>
          </a:p>
        </p:txBody>
      </p:sp>
      <p:sp>
        <p:nvSpPr>
          <p:cNvPr id="143398" name="Rectangle 38"/>
          <p:cNvSpPr>
            <a:spLocks noChangeArrowheads="1"/>
          </p:cNvSpPr>
          <p:nvPr/>
        </p:nvSpPr>
        <p:spPr bwMode="auto">
          <a:xfrm>
            <a:off x="9094788" y="1700213"/>
            <a:ext cx="769937"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a:latin typeface="黑体" panose="02010609060101010101" pitchFamily="49" charset="-122"/>
                <a:ea typeface="黑体" panose="02010609060101010101" pitchFamily="49" charset="-122"/>
              </a:rPr>
              <a:t>共享资源</a:t>
            </a:r>
            <a:endParaRPr lang="zh-CN" altLang="en-US" sz="1400">
              <a:latin typeface="黑体" panose="02010609060101010101" pitchFamily="49" charset="-122"/>
              <a:ea typeface="黑体" panose="02010609060101010101" pitchFamily="49" charset="-122"/>
            </a:endParaRPr>
          </a:p>
        </p:txBody>
      </p:sp>
      <p:sp>
        <p:nvSpPr>
          <p:cNvPr id="143399" name="Line 39"/>
          <p:cNvSpPr>
            <a:spLocks noChangeShapeType="1"/>
          </p:cNvSpPr>
          <p:nvPr/>
        </p:nvSpPr>
        <p:spPr bwMode="auto">
          <a:xfrm>
            <a:off x="6667500" y="1268413"/>
            <a:ext cx="0" cy="5327650"/>
          </a:xfrm>
          <a:prstGeom prst="line">
            <a:avLst/>
          </a:prstGeom>
          <a:noFill/>
          <a:ln w="19050">
            <a:solidFill>
              <a:schemeClr val="bg2"/>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GB"/>
          </a:p>
        </p:txBody>
      </p:sp>
      <p:sp>
        <p:nvSpPr>
          <p:cNvPr id="143400" name="Rectangle 40"/>
          <p:cNvSpPr>
            <a:spLocks noChangeArrowheads="1"/>
          </p:cNvSpPr>
          <p:nvPr/>
        </p:nvSpPr>
        <p:spPr bwMode="auto">
          <a:xfrm>
            <a:off x="4510215" y="1268413"/>
            <a:ext cx="1615827"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dirty="0">
                <a:latin typeface="黑体" panose="02010609060101010101" pitchFamily="49" charset="-122"/>
                <a:ea typeface="黑体" panose="02010609060101010101" pitchFamily="49" charset="-122"/>
              </a:rPr>
              <a:t>方案二（运营主导）</a:t>
            </a:r>
            <a:endParaRPr lang="zh-CN" altLang="en-US" sz="1400" dirty="0">
              <a:latin typeface="黑体" panose="02010609060101010101" pitchFamily="49" charset="-122"/>
              <a:ea typeface="黑体" panose="02010609060101010101" pitchFamily="49" charset="-122"/>
            </a:endParaRPr>
          </a:p>
        </p:txBody>
      </p:sp>
      <p:sp>
        <p:nvSpPr>
          <p:cNvPr id="143401" name="Rectangle 41"/>
          <p:cNvSpPr>
            <a:spLocks noChangeArrowheads="1"/>
          </p:cNvSpPr>
          <p:nvPr/>
        </p:nvSpPr>
        <p:spPr bwMode="auto">
          <a:xfrm>
            <a:off x="7551070" y="1268413"/>
            <a:ext cx="1615827"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400" dirty="0">
                <a:latin typeface="黑体" panose="02010609060101010101" pitchFamily="49" charset="-122"/>
                <a:ea typeface="黑体" panose="02010609060101010101" pitchFamily="49" charset="-122"/>
              </a:rPr>
              <a:t>方案三（销售主导）</a:t>
            </a:r>
            <a:endParaRPr lang="zh-CN" altLang="en-US" sz="1400" dirty="0">
              <a:latin typeface="黑体" panose="02010609060101010101" pitchFamily="49" charset="-122"/>
              <a:ea typeface="黑体" panose="02010609060101010101" pitchFamily="49" charset="-122"/>
            </a:endParaRPr>
          </a:p>
        </p:txBody>
      </p:sp>
      <p:sp>
        <p:nvSpPr>
          <p:cNvPr id="143402" name="Oval 42"/>
          <p:cNvSpPr>
            <a:spLocks noChangeArrowheads="1"/>
          </p:cNvSpPr>
          <p:nvPr/>
        </p:nvSpPr>
        <p:spPr bwMode="auto">
          <a:xfrm>
            <a:off x="3783013" y="2024063"/>
            <a:ext cx="538162" cy="441325"/>
          </a:xfrm>
          <a:prstGeom prst="ellipse">
            <a:avLst/>
          </a:prstGeom>
          <a:solidFill>
            <a:srgbClr val="FFCC00"/>
          </a:solidFill>
          <a:ln w="9525" algn="ctr">
            <a:solidFill>
              <a:srgbClr val="FF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000">
                <a:ea typeface="黑体" panose="02010609060101010101" pitchFamily="49" charset="-122"/>
              </a:rPr>
              <a:t>专业指导</a:t>
            </a:r>
            <a:endParaRPr lang="zh-CN" altLang="en-US" sz="1000">
              <a:ea typeface="黑体" panose="02010609060101010101" pitchFamily="49" charset="-122"/>
            </a:endParaRPr>
          </a:p>
        </p:txBody>
      </p:sp>
      <p:sp>
        <p:nvSpPr>
          <p:cNvPr id="143403" name="Oval 43"/>
          <p:cNvSpPr>
            <a:spLocks noChangeArrowheads="1"/>
          </p:cNvSpPr>
          <p:nvPr/>
        </p:nvSpPr>
        <p:spPr bwMode="auto">
          <a:xfrm>
            <a:off x="5108575" y="3559175"/>
            <a:ext cx="828675" cy="517525"/>
          </a:xfrm>
          <a:prstGeom prst="ellipse">
            <a:avLst/>
          </a:prstGeom>
          <a:solidFill>
            <a:srgbClr val="C0C0C0"/>
          </a:solidFill>
          <a:ln>
            <a:noFill/>
          </a:ln>
          <a:effectLst/>
          <a:extLst>
            <a:ext uri="{91240B29-F687-4F45-9708-019B960494DF}">
              <a14:hiddenLine xmlns:a14="http://schemas.microsoft.com/office/drawing/2010/main" w="9525">
                <a:solidFill>
                  <a:srgbClr val="FFCC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200">
                <a:ea typeface="黑体" panose="02010609060101010101" pitchFamily="49" charset="-122"/>
              </a:rPr>
              <a:t>关键职能</a:t>
            </a:r>
            <a:endParaRPr lang="zh-CN" altLang="en-US" sz="1200">
              <a:ea typeface="黑体" panose="02010609060101010101" pitchFamily="49" charset="-122"/>
            </a:endParaRPr>
          </a:p>
        </p:txBody>
      </p:sp>
      <p:sp>
        <p:nvSpPr>
          <p:cNvPr id="143404" name="Oval 44"/>
          <p:cNvSpPr>
            <a:spLocks noChangeArrowheads="1"/>
          </p:cNvSpPr>
          <p:nvPr/>
        </p:nvSpPr>
        <p:spPr bwMode="auto">
          <a:xfrm>
            <a:off x="5326063" y="2779713"/>
            <a:ext cx="560387" cy="647700"/>
          </a:xfrm>
          <a:prstGeom prst="ellipse">
            <a:avLst/>
          </a:prstGeom>
          <a:solidFill>
            <a:schemeClr val="accent1"/>
          </a:solidFill>
          <a:ln>
            <a:noFill/>
          </a:ln>
          <a:effectLst/>
          <a:extLst>
            <a:ext uri="{91240B29-F687-4F45-9708-019B960494DF}">
              <a14:hiddenLine xmlns:a14="http://schemas.microsoft.com/office/drawing/2010/main" w="9525">
                <a:solidFill>
                  <a:schemeClr val="bg2"/>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000">
                <a:ea typeface="黑体" panose="02010609060101010101" pitchFamily="49" charset="-122"/>
              </a:rPr>
              <a:t>辅助运营支持</a:t>
            </a:r>
            <a:endParaRPr lang="zh-CN" altLang="en-US" sz="1000">
              <a:ea typeface="黑体" panose="02010609060101010101" pitchFamily="49" charset="-122"/>
            </a:endParaRPr>
          </a:p>
        </p:txBody>
      </p:sp>
      <p:cxnSp>
        <p:nvCxnSpPr>
          <p:cNvPr id="143405" name="AutoShape 45"/>
          <p:cNvCxnSpPr>
            <a:cxnSpLocks noChangeShapeType="1"/>
            <a:stCxn id="143402" idx="4"/>
            <a:endCxn id="143403" idx="2"/>
          </p:cNvCxnSpPr>
          <p:nvPr/>
        </p:nvCxnSpPr>
        <p:spPr bwMode="auto">
          <a:xfrm>
            <a:off x="4052888" y="2465388"/>
            <a:ext cx="1055687" cy="1352550"/>
          </a:xfrm>
          <a:prstGeom prst="straightConnector1">
            <a:avLst/>
          </a:prstGeom>
          <a:noFill/>
          <a:ln w="9525">
            <a:solidFill>
              <a:schemeClr val="bg2"/>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406" name="AutoShape 46"/>
          <p:cNvCxnSpPr>
            <a:cxnSpLocks noChangeShapeType="1"/>
            <a:endCxn id="143403" idx="0"/>
          </p:cNvCxnSpPr>
          <p:nvPr/>
        </p:nvCxnSpPr>
        <p:spPr bwMode="auto">
          <a:xfrm flipH="1">
            <a:off x="5522913" y="3235325"/>
            <a:ext cx="130175" cy="323850"/>
          </a:xfrm>
          <a:prstGeom prst="straightConnector1">
            <a:avLst/>
          </a:prstGeom>
          <a:noFill/>
          <a:ln w="9525">
            <a:solidFill>
              <a:schemeClr val="bg2"/>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407" name="Oval 47"/>
          <p:cNvSpPr>
            <a:spLocks noChangeArrowheads="1"/>
          </p:cNvSpPr>
          <p:nvPr/>
        </p:nvSpPr>
        <p:spPr bwMode="auto">
          <a:xfrm>
            <a:off x="6823075" y="2024063"/>
            <a:ext cx="538163" cy="441325"/>
          </a:xfrm>
          <a:prstGeom prst="ellipse">
            <a:avLst/>
          </a:prstGeom>
          <a:solidFill>
            <a:srgbClr val="FFCC00"/>
          </a:solidFill>
          <a:ln w="9525" algn="ctr">
            <a:solidFill>
              <a:srgbClr val="FFCC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000">
                <a:ea typeface="黑体" panose="02010609060101010101" pitchFamily="49" charset="-122"/>
              </a:rPr>
              <a:t>专业指导</a:t>
            </a:r>
            <a:endParaRPr lang="zh-CN" altLang="en-US" sz="1000">
              <a:ea typeface="黑体" panose="02010609060101010101" pitchFamily="49" charset="-122"/>
            </a:endParaRPr>
          </a:p>
        </p:txBody>
      </p:sp>
      <p:sp>
        <p:nvSpPr>
          <p:cNvPr id="143408" name="Oval 48"/>
          <p:cNvSpPr>
            <a:spLocks noChangeArrowheads="1"/>
          </p:cNvSpPr>
          <p:nvPr/>
        </p:nvSpPr>
        <p:spPr bwMode="auto">
          <a:xfrm>
            <a:off x="7446963" y="3573463"/>
            <a:ext cx="828675" cy="517525"/>
          </a:xfrm>
          <a:prstGeom prst="ellipse">
            <a:avLst/>
          </a:prstGeom>
          <a:solidFill>
            <a:srgbClr val="C0C0C0"/>
          </a:solidFill>
          <a:ln>
            <a:noFill/>
          </a:ln>
          <a:effectLst/>
          <a:extLst>
            <a:ext uri="{91240B29-F687-4F45-9708-019B960494DF}">
              <a14:hiddenLine xmlns:a14="http://schemas.microsoft.com/office/drawing/2010/main" w="9525">
                <a:solidFill>
                  <a:srgbClr val="FFCC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200">
                <a:ea typeface="黑体" panose="02010609060101010101" pitchFamily="49" charset="-122"/>
              </a:rPr>
              <a:t>关键职能</a:t>
            </a:r>
            <a:endParaRPr lang="zh-CN" altLang="en-US" sz="1200">
              <a:ea typeface="黑体" panose="02010609060101010101" pitchFamily="49" charset="-122"/>
            </a:endParaRPr>
          </a:p>
        </p:txBody>
      </p:sp>
      <p:sp>
        <p:nvSpPr>
          <p:cNvPr id="143409" name="Oval 49"/>
          <p:cNvSpPr>
            <a:spLocks noChangeArrowheads="1"/>
          </p:cNvSpPr>
          <p:nvPr/>
        </p:nvSpPr>
        <p:spPr bwMode="auto">
          <a:xfrm>
            <a:off x="7602538" y="2781300"/>
            <a:ext cx="560387" cy="647700"/>
          </a:xfrm>
          <a:prstGeom prst="ellipse">
            <a:avLst/>
          </a:prstGeom>
          <a:solidFill>
            <a:schemeClr val="accent1"/>
          </a:solidFill>
          <a:ln>
            <a:noFill/>
          </a:ln>
          <a:effectLst/>
          <a:extLst>
            <a:ext uri="{91240B29-F687-4F45-9708-019B960494DF}">
              <a14:hiddenLine xmlns:a14="http://schemas.microsoft.com/office/drawing/2010/main" w="9525">
                <a:solidFill>
                  <a:schemeClr val="bg2"/>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spcAft>
                <a:spcPct val="0"/>
              </a:spcAft>
              <a:buClrTx/>
              <a:buSzTx/>
              <a:buFontTx/>
              <a:buNone/>
            </a:pPr>
            <a:r>
              <a:rPr lang="zh-CN" altLang="en-US" sz="1000">
                <a:ea typeface="黑体" panose="02010609060101010101" pitchFamily="49" charset="-122"/>
              </a:rPr>
              <a:t>辅助运营支持</a:t>
            </a:r>
            <a:endParaRPr lang="zh-CN" altLang="en-US" sz="1000">
              <a:ea typeface="黑体" panose="02010609060101010101" pitchFamily="49" charset="-122"/>
            </a:endParaRPr>
          </a:p>
        </p:txBody>
      </p:sp>
      <p:cxnSp>
        <p:nvCxnSpPr>
          <p:cNvPr id="143410" name="AutoShape 50"/>
          <p:cNvCxnSpPr>
            <a:cxnSpLocks noChangeShapeType="1"/>
            <a:stCxn id="143407" idx="4"/>
            <a:endCxn id="143408" idx="2"/>
          </p:cNvCxnSpPr>
          <p:nvPr/>
        </p:nvCxnSpPr>
        <p:spPr bwMode="auto">
          <a:xfrm>
            <a:off x="7092950" y="2465388"/>
            <a:ext cx="354013" cy="1366837"/>
          </a:xfrm>
          <a:prstGeom prst="straightConnector1">
            <a:avLst/>
          </a:prstGeom>
          <a:noFill/>
          <a:ln w="9525">
            <a:solidFill>
              <a:schemeClr val="bg2"/>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411" name="AutoShape 51"/>
          <p:cNvCxnSpPr>
            <a:cxnSpLocks noChangeShapeType="1"/>
            <a:stCxn id="143409" idx="4"/>
          </p:cNvCxnSpPr>
          <p:nvPr/>
        </p:nvCxnSpPr>
        <p:spPr bwMode="auto">
          <a:xfrm flipH="1">
            <a:off x="7794625" y="3429000"/>
            <a:ext cx="88107" cy="269875"/>
          </a:xfrm>
          <a:prstGeom prst="straightConnector1">
            <a:avLst/>
          </a:prstGeom>
          <a:noFill/>
          <a:ln w="9525">
            <a:solidFill>
              <a:schemeClr val="bg2"/>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412" name="Rectangle 52"/>
          <p:cNvSpPr>
            <a:spLocks noChangeArrowheads="1"/>
          </p:cNvSpPr>
          <p:nvPr/>
        </p:nvSpPr>
        <p:spPr bwMode="auto">
          <a:xfrm>
            <a:off x="3625850" y="4365625"/>
            <a:ext cx="2962275" cy="2016125"/>
          </a:xfrm>
          <a:prstGeom prst="rect">
            <a:avLst/>
          </a:prstGeom>
          <a:solidFill>
            <a:schemeClr val="accent1">
              <a:alpha val="25098"/>
            </a:schemeClr>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dirty="0">
              <a:ea typeface="宋体" panose="02010600030101010101" pitchFamily="2" charset="-122"/>
            </a:endParaRPr>
          </a:p>
        </p:txBody>
      </p:sp>
      <p:sp>
        <p:nvSpPr>
          <p:cNvPr id="143413" name="Rectangle 53"/>
          <p:cNvSpPr>
            <a:spLocks noChangeArrowheads="1"/>
          </p:cNvSpPr>
          <p:nvPr/>
        </p:nvSpPr>
        <p:spPr bwMode="auto">
          <a:xfrm>
            <a:off x="3703638" y="4437063"/>
            <a:ext cx="2963862" cy="15599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dirty="0">
                <a:latin typeface="黑体" panose="02010609060101010101" pitchFamily="49" charset="-122"/>
                <a:ea typeface="黑体" panose="02010609060101010101" pitchFamily="49" charset="-122"/>
                <a:cs typeface="Arial" panose="020B0604020202020204" pitchFamily="34" charset="0"/>
              </a:rPr>
              <a:t>风险控制和部分客服职能一并纳入运营体系；</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dirty="0">
                <a:latin typeface="黑体" panose="02010609060101010101" pitchFamily="49" charset="-122"/>
                <a:ea typeface="黑体" panose="02010609060101010101" pitchFamily="49" charset="-122"/>
                <a:cs typeface="Arial" panose="020B0604020202020204" pitchFamily="34" charset="0"/>
              </a:rPr>
              <a:t>剥离出的销售线承担较为单纯的销售收入职能，销售质量</a:t>
            </a:r>
            <a:r>
              <a:rPr lang="en-US" altLang="zh-CN" sz="1400" b="0" dirty="0">
                <a:latin typeface="黑体" panose="02010609060101010101" pitchFamily="49" charset="-122"/>
                <a:ea typeface="黑体" panose="02010609060101010101" pitchFamily="49" charset="-122"/>
                <a:cs typeface="Arial" panose="020B0604020202020204" pitchFamily="34" charset="0"/>
              </a:rPr>
              <a:t>/</a:t>
            </a:r>
            <a:r>
              <a:rPr lang="zh-CN" altLang="en-US" sz="1400" b="0" dirty="0">
                <a:latin typeface="黑体" panose="02010609060101010101" pitchFamily="49" charset="-122"/>
                <a:ea typeface="黑体" panose="02010609060101010101" pitchFamily="49" charset="-122"/>
                <a:cs typeface="Arial" panose="020B0604020202020204" pitchFamily="34" charset="0"/>
              </a:rPr>
              <a:t>风险由运营中心的专业人员负责把关。比较清晰平衡。</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p:txBody>
      </p:sp>
      <p:sp>
        <p:nvSpPr>
          <p:cNvPr id="143414" name="Rectangle 54"/>
          <p:cNvSpPr>
            <a:spLocks noChangeArrowheads="1"/>
          </p:cNvSpPr>
          <p:nvPr/>
        </p:nvSpPr>
        <p:spPr bwMode="auto">
          <a:xfrm>
            <a:off x="6667500" y="4365625"/>
            <a:ext cx="2962275" cy="2016125"/>
          </a:xfrm>
          <a:prstGeom prst="rect">
            <a:avLst/>
          </a:prstGeom>
          <a:solidFill>
            <a:schemeClr val="accent1">
              <a:alpha val="25098"/>
            </a:schemeClr>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3415" name="Rectangle 55"/>
          <p:cNvSpPr>
            <a:spLocks noChangeArrowheads="1"/>
          </p:cNvSpPr>
          <p:nvPr/>
        </p:nvSpPr>
        <p:spPr bwMode="auto">
          <a:xfrm>
            <a:off x="6745288" y="4437063"/>
            <a:ext cx="2963862" cy="15599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88900" indent="-889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dirty="0">
                <a:latin typeface="黑体" panose="02010609060101010101" pitchFamily="49" charset="-122"/>
                <a:ea typeface="黑体" panose="02010609060101010101" pitchFamily="49" charset="-122"/>
                <a:cs typeface="Arial" panose="020B0604020202020204" pitchFamily="34" charset="0"/>
              </a:rPr>
              <a:t>彻底将销售服务相关的功能全部划归为销售条线，销售条线对销售收入和销售质量负责</a:t>
            </a:r>
            <a:endParaRPr lang="en-US" altLang="zh-CN" sz="1400" b="0" dirty="0">
              <a:latin typeface="黑体" panose="02010609060101010101" pitchFamily="49" charset="-122"/>
              <a:ea typeface="黑体" panose="02010609060101010101" pitchFamily="49" charset="-122"/>
              <a:cs typeface="Arial" panose="020B0604020202020204" pitchFamily="34" charset="0"/>
            </a:endParaRPr>
          </a:p>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dirty="0">
                <a:latin typeface="黑体" panose="02010609060101010101" pitchFamily="49" charset="-122"/>
                <a:ea typeface="黑体" panose="02010609060101010101" pitchFamily="49" charset="-122"/>
                <a:cs typeface="Arial" panose="020B0604020202020204" pitchFamily="34" charset="0"/>
              </a:rPr>
              <a:t>同时还要负责合同、服务等辅助运营支持工作。当然销售可外包给后援、运营条线的服务能力。比较扁平。</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p:txBody>
      </p:sp>
      <p:sp>
        <p:nvSpPr>
          <p:cNvPr id="143417" name="Text Box 57"/>
          <p:cNvSpPr txBox="1">
            <a:spLocks noChangeArrowheads="1"/>
          </p:cNvSpPr>
          <p:nvPr/>
        </p:nvSpPr>
        <p:spPr bwMode="auto">
          <a:xfrm>
            <a:off x="8313583" y="2110185"/>
            <a:ext cx="1523410" cy="369332"/>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folHlink"/>
                  </a:outerShdw>
                </a:effectLst>
              </a14:hiddenEffects>
            </a:ext>
          </a:extLst>
        </p:spPr>
        <p:txBody>
          <a:bodyPr wrap="squar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800" b="0" dirty="0">
                <a:solidFill>
                  <a:srgbClr val="FF0000"/>
                </a:solidFill>
                <a:ea typeface="宋体" panose="02010600030101010101" pitchFamily="2" charset="-122"/>
              </a:rPr>
              <a:t>举     例</a:t>
            </a:r>
            <a:endParaRPr lang="zh-CN" altLang="en-US" sz="1800" b="0" dirty="0">
              <a:solidFill>
                <a:srgbClr val="FF0000"/>
              </a:solidFill>
              <a:ea typeface="宋体" panose="02010600030101010101" pitchFamily="2" charset="-122"/>
            </a:endParaRPr>
          </a:p>
        </p:txBody>
      </p:sp>
      <p:sp>
        <p:nvSpPr>
          <p:cNvPr id="9" name="TextBox 8"/>
          <p:cNvSpPr txBox="1"/>
          <p:nvPr/>
        </p:nvSpPr>
        <p:spPr>
          <a:xfrm>
            <a:off x="702940" y="6302425"/>
            <a:ext cx="2844048" cy="307777"/>
          </a:xfrm>
          <a:prstGeom prst="rect">
            <a:avLst/>
          </a:prstGeom>
          <a:noFill/>
        </p:spPr>
        <p:txBody>
          <a:bodyPr wrap="none" rtlCol="0">
            <a:spAutoFit/>
          </a:bodyPr>
          <a:lstStyle/>
          <a:p>
            <a:r>
              <a:rPr lang="zh-CN" altLang="en-US" sz="1400" dirty="0"/>
              <a:t>风控         销售自主        复杂度    </a:t>
            </a:r>
            <a:endParaRPr lang="en-US" sz="1400" dirty="0"/>
          </a:p>
        </p:txBody>
      </p:sp>
      <p:sp>
        <p:nvSpPr>
          <p:cNvPr id="10" name="Star: 5 Points 9"/>
          <p:cNvSpPr/>
          <p:nvPr/>
        </p:nvSpPr>
        <p:spPr bwMode="auto">
          <a:xfrm>
            <a:off x="778702" y="6525468"/>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1" name="Star: 5 Points 10"/>
          <p:cNvSpPr/>
          <p:nvPr/>
        </p:nvSpPr>
        <p:spPr bwMode="auto">
          <a:xfrm>
            <a:off x="994726" y="6525344"/>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2" name="Star: 5 Points 11"/>
          <p:cNvSpPr/>
          <p:nvPr/>
        </p:nvSpPr>
        <p:spPr bwMode="auto">
          <a:xfrm>
            <a:off x="1711052" y="6539756"/>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3" name="Star: 5 Points 12"/>
          <p:cNvSpPr/>
          <p:nvPr/>
        </p:nvSpPr>
        <p:spPr bwMode="auto">
          <a:xfrm>
            <a:off x="3151212" y="6525344"/>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4" name="Star: 5 Points 13"/>
          <p:cNvSpPr/>
          <p:nvPr/>
        </p:nvSpPr>
        <p:spPr bwMode="auto">
          <a:xfrm>
            <a:off x="2719164" y="6525468"/>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5" name="Star: 5 Points 14"/>
          <p:cNvSpPr/>
          <p:nvPr/>
        </p:nvSpPr>
        <p:spPr bwMode="auto">
          <a:xfrm>
            <a:off x="2935188" y="6525344"/>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6" name="TextBox 15"/>
          <p:cNvSpPr txBox="1"/>
          <p:nvPr/>
        </p:nvSpPr>
        <p:spPr>
          <a:xfrm>
            <a:off x="3845301" y="6297404"/>
            <a:ext cx="2844048" cy="307777"/>
          </a:xfrm>
          <a:prstGeom prst="rect">
            <a:avLst/>
          </a:prstGeom>
          <a:noFill/>
        </p:spPr>
        <p:txBody>
          <a:bodyPr wrap="none" rtlCol="0">
            <a:spAutoFit/>
          </a:bodyPr>
          <a:lstStyle/>
          <a:p>
            <a:r>
              <a:rPr lang="zh-CN" altLang="en-US" sz="1400" dirty="0"/>
              <a:t>风控         销售自主        复杂度    </a:t>
            </a:r>
            <a:endParaRPr lang="en-US" sz="1400" dirty="0"/>
          </a:p>
        </p:txBody>
      </p:sp>
      <p:sp>
        <p:nvSpPr>
          <p:cNvPr id="17" name="Star: 5 Points 16"/>
          <p:cNvSpPr/>
          <p:nvPr/>
        </p:nvSpPr>
        <p:spPr bwMode="auto">
          <a:xfrm>
            <a:off x="3744401" y="6520447"/>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8" name="Star: 5 Points 17"/>
          <p:cNvSpPr/>
          <p:nvPr/>
        </p:nvSpPr>
        <p:spPr bwMode="auto">
          <a:xfrm>
            <a:off x="3960425" y="6520323"/>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9" name="Star: 5 Points 18"/>
          <p:cNvSpPr/>
          <p:nvPr/>
        </p:nvSpPr>
        <p:spPr bwMode="auto">
          <a:xfrm>
            <a:off x="4853413" y="6534735"/>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0" name="Star: 5 Points 19"/>
          <p:cNvSpPr/>
          <p:nvPr/>
        </p:nvSpPr>
        <p:spPr bwMode="auto">
          <a:xfrm>
            <a:off x="5069437" y="6534611"/>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1" name="Star: 5 Points 20"/>
          <p:cNvSpPr/>
          <p:nvPr/>
        </p:nvSpPr>
        <p:spPr bwMode="auto">
          <a:xfrm>
            <a:off x="5861525" y="6520447"/>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2" name="Star: 5 Points 21"/>
          <p:cNvSpPr/>
          <p:nvPr/>
        </p:nvSpPr>
        <p:spPr bwMode="auto">
          <a:xfrm>
            <a:off x="6077549" y="6520323"/>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3" name="TextBox 22"/>
          <p:cNvSpPr txBox="1"/>
          <p:nvPr/>
        </p:nvSpPr>
        <p:spPr>
          <a:xfrm>
            <a:off x="6905373" y="6304609"/>
            <a:ext cx="2844048" cy="307777"/>
          </a:xfrm>
          <a:prstGeom prst="rect">
            <a:avLst/>
          </a:prstGeom>
          <a:noFill/>
        </p:spPr>
        <p:txBody>
          <a:bodyPr wrap="none" rtlCol="0">
            <a:spAutoFit/>
          </a:bodyPr>
          <a:lstStyle/>
          <a:p>
            <a:r>
              <a:rPr lang="zh-CN" altLang="en-US" sz="1400" dirty="0"/>
              <a:t>风控         销售自主        复杂度    </a:t>
            </a:r>
            <a:endParaRPr lang="en-US" sz="1400" dirty="0"/>
          </a:p>
        </p:txBody>
      </p:sp>
      <p:sp>
        <p:nvSpPr>
          <p:cNvPr id="24" name="Star: 5 Points 23"/>
          <p:cNvSpPr/>
          <p:nvPr/>
        </p:nvSpPr>
        <p:spPr bwMode="auto">
          <a:xfrm>
            <a:off x="6981135" y="6527652"/>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5" name="Star: 5 Points 24"/>
          <p:cNvSpPr/>
          <p:nvPr/>
        </p:nvSpPr>
        <p:spPr bwMode="auto">
          <a:xfrm>
            <a:off x="4159324" y="6513363"/>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6" name="Star: 5 Points 25"/>
          <p:cNvSpPr/>
          <p:nvPr/>
        </p:nvSpPr>
        <p:spPr bwMode="auto">
          <a:xfrm>
            <a:off x="7913485" y="6541940"/>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7" name="Star: 5 Points 26"/>
          <p:cNvSpPr/>
          <p:nvPr/>
        </p:nvSpPr>
        <p:spPr bwMode="auto">
          <a:xfrm>
            <a:off x="8129509" y="6541816"/>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8" name="Star: 5 Points 27"/>
          <p:cNvSpPr/>
          <p:nvPr/>
        </p:nvSpPr>
        <p:spPr bwMode="auto">
          <a:xfrm>
            <a:off x="9055868" y="6527652"/>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29" name="Star: 5 Points 28"/>
          <p:cNvSpPr/>
          <p:nvPr/>
        </p:nvSpPr>
        <p:spPr bwMode="auto">
          <a:xfrm>
            <a:off x="8335788" y="6539756"/>
            <a:ext cx="216024" cy="201612"/>
          </a:xfrm>
          <a:prstGeom prst="star5">
            <a:avLst/>
          </a:prstGeom>
          <a:solidFill>
            <a:srgbClr val="FF0000"/>
          </a:solidFill>
          <a:ln>
            <a:noFill/>
          </a:ln>
          <a:effectLst>
            <a:outerShdw dist="35921" dir="2700000" algn="ctr" rotWithShape="0">
              <a:schemeClr val="bg1"/>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pPr>
            <a:endParaRPr kumimoji="0" lang="en-US" sz="1800" b="0" i="0" u="none" strike="noStrike" cap="none" normalizeH="0" baseline="0">
              <a:ln>
                <a:noFill/>
              </a:ln>
              <a:solidFill>
                <a:schemeClr val="tx1"/>
              </a:solidFill>
              <a:effectLst/>
              <a:latin typeface="Arial" panose="020B0604020202020204" pitchFamily="34" charset="0"/>
            </a:endParaRPr>
          </a:p>
        </p:txBody>
      </p:sp>
      <p:cxnSp>
        <p:nvCxnSpPr>
          <p:cNvPr id="31" name="AutoShape 51"/>
          <p:cNvCxnSpPr>
            <a:cxnSpLocks noChangeShapeType="1"/>
            <a:endCxn id="143409" idx="5"/>
          </p:cNvCxnSpPr>
          <p:nvPr/>
        </p:nvCxnSpPr>
        <p:spPr bwMode="auto">
          <a:xfrm flipH="1">
            <a:off x="8080858" y="3141663"/>
            <a:ext cx="534504" cy="192484"/>
          </a:xfrm>
          <a:prstGeom prst="straightConnector1">
            <a:avLst/>
          </a:prstGeom>
          <a:noFill/>
          <a:ln w="9525">
            <a:solidFill>
              <a:schemeClr val="bg2"/>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ChangeArrowheads="1"/>
          </p:cNvSpPr>
          <p:nvPr/>
        </p:nvSpPr>
        <p:spPr bwMode="auto">
          <a:xfrm>
            <a:off x="350838" y="5445125"/>
            <a:ext cx="9280525" cy="10795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5411" name="Rectangle 3"/>
          <p:cNvSpPr>
            <a:spLocks noGrp="1" noChangeArrowheads="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t>最终确定最佳组织框架方案</a:t>
            </a:r>
            <a:endParaRPr lang="zh-CN" altLang="en-US" dirty="0"/>
          </a:p>
        </p:txBody>
      </p:sp>
      <p:sp>
        <p:nvSpPr>
          <p:cNvPr id="145412" name="Rectangle 4"/>
          <p:cNvSpPr>
            <a:spLocks noChangeArrowheads="1"/>
          </p:cNvSpPr>
          <p:nvPr/>
        </p:nvSpPr>
        <p:spPr bwMode="auto">
          <a:xfrm>
            <a:off x="428625" y="4497388"/>
            <a:ext cx="1149350" cy="731837"/>
          </a:xfrm>
          <a:prstGeom prst="rect">
            <a:avLst/>
          </a:prstGeom>
          <a:solidFill>
            <a:srgbClr val="EAEAEA"/>
          </a:solidFill>
          <a:ln w="9525" algn="ctr">
            <a:solidFill>
              <a:schemeClr val="tx1"/>
            </a:solidFill>
            <a:miter lim="800000"/>
          </a:ln>
          <a:effectLst>
            <a:outerShdw dist="35921" dir="2700000" algn="ctr" rotWithShape="0">
              <a:schemeClr val="bg2"/>
            </a:outerShdw>
          </a:effectLst>
        </p:spPr>
        <p:txBody>
          <a:bodyPr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600" b="0">
                <a:latin typeface="黑体" panose="02010609060101010101" pitchFamily="49" charset="-122"/>
                <a:ea typeface="黑体" panose="02010609060101010101" pitchFamily="49" charset="-122"/>
                <a:cs typeface="Arial" panose="020B0604020202020204" pitchFamily="34" charset="0"/>
              </a:rPr>
              <a:t>适用企业</a:t>
            </a:r>
            <a:endParaRPr lang="zh-CN" altLang="en-US" sz="1600" b="0">
              <a:latin typeface="黑体" panose="02010609060101010101" pitchFamily="49" charset="-122"/>
              <a:ea typeface="黑体" panose="02010609060101010101" pitchFamily="49" charset="-122"/>
              <a:cs typeface="Arial" panose="020B0604020202020204" pitchFamily="34" charset="0"/>
            </a:endParaRPr>
          </a:p>
        </p:txBody>
      </p:sp>
      <p:sp>
        <p:nvSpPr>
          <p:cNvPr id="145413" name="Rectangle 5"/>
          <p:cNvSpPr>
            <a:spLocks noChangeArrowheads="1"/>
          </p:cNvSpPr>
          <p:nvPr/>
        </p:nvSpPr>
        <p:spPr bwMode="auto">
          <a:xfrm>
            <a:off x="428625" y="2120900"/>
            <a:ext cx="1149350" cy="731838"/>
          </a:xfrm>
          <a:prstGeom prst="rect">
            <a:avLst/>
          </a:prstGeom>
          <a:solidFill>
            <a:srgbClr val="EAEAEA"/>
          </a:solidFill>
          <a:ln w="9525" algn="ctr">
            <a:solidFill>
              <a:schemeClr val="tx1"/>
            </a:solidFill>
            <a:miter lim="800000"/>
          </a:ln>
          <a:effectLst>
            <a:outerShdw dist="35921" dir="2700000" algn="ctr" rotWithShape="0">
              <a:schemeClr val="bg2"/>
            </a:outerShdw>
          </a:effectLst>
        </p:spPr>
        <p:txBody>
          <a:bodyPr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600" b="0">
                <a:latin typeface="黑体" panose="02010609060101010101" pitchFamily="49" charset="-122"/>
                <a:ea typeface="黑体" panose="02010609060101010101" pitchFamily="49" charset="-122"/>
                <a:cs typeface="Arial" panose="020B0604020202020204" pitchFamily="34" charset="0"/>
              </a:rPr>
              <a:t>优势</a:t>
            </a:r>
            <a:endParaRPr lang="zh-CN" altLang="en-US" sz="1600" b="0">
              <a:latin typeface="黑体" panose="02010609060101010101" pitchFamily="49" charset="-122"/>
              <a:ea typeface="黑体" panose="02010609060101010101" pitchFamily="49" charset="-122"/>
              <a:cs typeface="Arial" panose="020B0604020202020204" pitchFamily="34" charset="0"/>
            </a:endParaRPr>
          </a:p>
        </p:txBody>
      </p:sp>
      <p:sp>
        <p:nvSpPr>
          <p:cNvPr id="145414" name="Rectangle 6"/>
          <p:cNvSpPr>
            <a:spLocks noChangeArrowheads="1"/>
          </p:cNvSpPr>
          <p:nvPr/>
        </p:nvSpPr>
        <p:spPr bwMode="auto">
          <a:xfrm>
            <a:off x="428625" y="3429000"/>
            <a:ext cx="1149350" cy="731838"/>
          </a:xfrm>
          <a:prstGeom prst="rect">
            <a:avLst/>
          </a:prstGeom>
          <a:solidFill>
            <a:srgbClr val="EAEAEA"/>
          </a:solidFill>
          <a:ln w="9525" algn="ctr">
            <a:solidFill>
              <a:schemeClr val="tx1"/>
            </a:solidFill>
            <a:miter lim="800000"/>
          </a:ln>
          <a:effectLst>
            <a:outerShdw dist="35921" dir="2700000" algn="ctr" rotWithShape="0">
              <a:schemeClr val="bg2"/>
            </a:outerShdw>
          </a:effectLst>
        </p:spPr>
        <p:txBody>
          <a:bodyPr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600" b="0">
                <a:latin typeface="黑体" panose="02010609060101010101" pitchFamily="49" charset="-122"/>
                <a:ea typeface="黑体" panose="02010609060101010101" pitchFamily="49" charset="-122"/>
              </a:rPr>
              <a:t>劣势</a:t>
            </a:r>
            <a:r>
              <a:rPr lang="en-US" altLang="zh-CN" sz="1600" b="0">
                <a:latin typeface="黑体" panose="02010609060101010101" pitchFamily="49" charset="-122"/>
                <a:ea typeface="黑体" panose="02010609060101010101" pitchFamily="49" charset="-122"/>
              </a:rPr>
              <a:t>/</a:t>
            </a:r>
            <a:r>
              <a:rPr lang="zh-CN" altLang="en-US" sz="1600" b="0">
                <a:latin typeface="黑体" panose="02010609060101010101" pitchFamily="49" charset="-122"/>
                <a:ea typeface="黑体" panose="02010609060101010101" pitchFamily="49" charset="-122"/>
              </a:rPr>
              <a:t>限制</a:t>
            </a:r>
            <a:endParaRPr lang="zh-CN" altLang="en-US" sz="1600" b="0">
              <a:latin typeface="黑体" panose="02010609060101010101" pitchFamily="49" charset="-122"/>
              <a:ea typeface="黑体" panose="02010609060101010101" pitchFamily="49" charset="-122"/>
            </a:endParaRPr>
          </a:p>
        </p:txBody>
      </p:sp>
      <p:sp>
        <p:nvSpPr>
          <p:cNvPr id="145415" name="Rectangle 7"/>
          <p:cNvSpPr>
            <a:spLocks noChangeArrowheads="1"/>
          </p:cNvSpPr>
          <p:nvPr/>
        </p:nvSpPr>
        <p:spPr bwMode="auto">
          <a:xfrm>
            <a:off x="2825750" y="1555750"/>
            <a:ext cx="66040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600" b="0">
                <a:latin typeface="黑体" panose="02010609060101010101" pitchFamily="49" charset="-122"/>
                <a:ea typeface="黑体" panose="02010609060101010101" pitchFamily="49" charset="-122"/>
              </a:rPr>
              <a:t>方案一</a:t>
            </a:r>
            <a:endParaRPr lang="zh-CN" altLang="en-US" sz="1600" b="0">
              <a:latin typeface="黑体" panose="02010609060101010101" pitchFamily="49" charset="-122"/>
              <a:ea typeface="黑体" panose="02010609060101010101" pitchFamily="49" charset="-122"/>
            </a:endParaRPr>
          </a:p>
        </p:txBody>
      </p:sp>
      <p:sp>
        <p:nvSpPr>
          <p:cNvPr id="145416" name="Rectangle 8"/>
          <p:cNvSpPr>
            <a:spLocks noChangeArrowheads="1"/>
          </p:cNvSpPr>
          <p:nvPr/>
        </p:nvSpPr>
        <p:spPr bwMode="auto">
          <a:xfrm>
            <a:off x="5408613" y="1555750"/>
            <a:ext cx="60960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600" b="0">
                <a:latin typeface="黑体" panose="02010609060101010101" pitchFamily="49" charset="-122"/>
                <a:ea typeface="黑体" panose="02010609060101010101" pitchFamily="49" charset="-122"/>
                <a:cs typeface="Arial" panose="020B0604020202020204" pitchFamily="34" charset="0"/>
              </a:rPr>
              <a:t>方案二</a:t>
            </a:r>
            <a:endParaRPr lang="zh-CN" altLang="en-US" sz="1600" b="0">
              <a:latin typeface="黑体" panose="02010609060101010101" pitchFamily="49" charset="-122"/>
              <a:ea typeface="黑体" panose="02010609060101010101" pitchFamily="49" charset="-122"/>
              <a:cs typeface="Arial" panose="020B0604020202020204" pitchFamily="34" charset="0"/>
            </a:endParaRPr>
          </a:p>
        </p:txBody>
      </p:sp>
      <p:sp>
        <p:nvSpPr>
          <p:cNvPr id="145417" name="Line 9"/>
          <p:cNvSpPr>
            <a:spLocks noChangeShapeType="1"/>
          </p:cNvSpPr>
          <p:nvPr/>
        </p:nvSpPr>
        <p:spPr bwMode="auto">
          <a:xfrm>
            <a:off x="4560888" y="1882775"/>
            <a:ext cx="237013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GB"/>
          </a:p>
        </p:txBody>
      </p:sp>
      <p:sp>
        <p:nvSpPr>
          <p:cNvPr id="145418" name="Rectangle 10"/>
          <p:cNvSpPr>
            <a:spLocks noChangeArrowheads="1"/>
          </p:cNvSpPr>
          <p:nvPr/>
        </p:nvSpPr>
        <p:spPr bwMode="auto">
          <a:xfrm>
            <a:off x="1987550" y="1963738"/>
            <a:ext cx="2417763" cy="1022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实现支持和销售的天然绑定，对前端销售的支持力度强；销售线同时对销售收入负责和销售质量负责</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5419" name="Rectangle 11"/>
          <p:cNvSpPr>
            <a:spLocks noChangeArrowheads="1"/>
          </p:cNvSpPr>
          <p:nvPr/>
        </p:nvSpPr>
        <p:spPr bwMode="auto">
          <a:xfrm>
            <a:off x="4560888" y="1963738"/>
            <a:ext cx="2379662" cy="106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设置销售和支持环节的制衡，有利于风险管控</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支持、客户</a:t>
            </a:r>
            <a:r>
              <a:rPr lang="en-US" altLang="zh-CN" sz="1400" b="0">
                <a:latin typeface="黑体" panose="02010609060101010101" pitchFamily="49" charset="-122"/>
                <a:ea typeface="黑体" panose="02010609060101010101" pitchFamily="49" charset="-122"/>
                <a:cs typeface="Arial" panose="020B0604020202020204" pitchFamily="34" charset="0"/>
              </a:rPr>
              <a:t>/</a:t>
            </a:r>
            <a:r>
              <a:rPr lang="zh-CN" altLang="en-US" sz="1400" b="0">
                <a:latin typeface="黑体" panose="02010609060101010101" pitchFamily="49" charset="-122"/>
                <a:ea typeface="黑体" panose="02010609060101010101" pitchFamily="49" charset="-122"/>
                <a:cs typeface="Arial" panose="020B0604020202020204" pitchFamily="34" charset="0"/>
              </a:rPr>
              <a:t>服务可实现高效协作</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5420" name="Rectangle 12"/>
          <p:cNvSpPr>
            <a:spLocks noChangeArrowheads="1"/>
          </p:cNvSpPr>
          <p:nvPr/>
        </p:nvSpPr>
        <p:spPr bwMode="auto">
          <a:xfrm>
            <a:off x="1987550" y="3284538"/>
            <a:ext cx="2276475" cy="511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销售负责人的考核与风险显现存在不匹配（滞后）</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5421" name="Rectangle 13"/>
          <p:cNvSpPr>
            <a:spLocks noChangeArrowheads="1"/>
          </p:cNvSpPr>
          <p:nvPr/>
        </p:nvSpPr>
        <p:spPr bwMode="auto">
          <a:xfrm>
            <a:off x="4560888" y="3284538"/>
            <a:ext cx="2489200" cy="766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尽管可以通过流程环节和考核机制的设计达到紧密支持销售的目的，但执行效果受限</a:t>
            </a:r>
            <a:endParaRPr lang="zh-CN" altLang="en-US" sz="1000" b="0">
              <a:latin typeface="黑体" panose="02010609060101010101" pitchFamily="49" charset="-122"/>
              <a:ea typeface="黑体" panose="02010609060101010101" pitchFamily="49" charset="-122"/>
              <a:cs typeface="Arial" panose="020B0604020202020204" pitchFamily="34" charset="0"/>
            </a:endParaRPr>
          </a:p>
        </p:txBody>
      </p:sp>
      <p:sp>
        <p:nvSpPr>
          <p:cNvPr id="145422" name="Line 14"/>
          <p:cNvSpPr>
            <a:spLocks noChangeShapeType="1"/>
          </p:cNvSpPr>
          <p:nvPr/>
        </p:nvSpPr>
        <p:spPr bwMode="auto">
          <a:xfrm>
            <a:off x="2159000" y="3195638"/>
            <a:ext cx="74136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GB"/>
          </a:p>
        </p:txBody>
      </p:sp>
      <p:sp>
        <p:nvSpPr>
          <p:cNvPr id="145423" name="Rectangle 15"/>
          <p:cNvSpPr>
            <a:spLocks noChangeArrowheads="1"/>
          </p:cNvSpPr>
          <p:nvPr/>
        </p:nvSpPr>
        <p:spPr bwMode="auto">
          <a:xfrm>
            <a:off x="2043113" y="4652963"/>
            <a:ext cx="2206625" cy="511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处于大力拓展市场阶段的企业</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5424" name="Rectangle 16"/>
          <p:cNvSpPr>
            <a:spLocks noChangeArrowheads="1"/>
          </p:cNvSpPr>
          <p:nvPr/>
        </p:nvSpPr>
        <p:spPr bwMode="auto">
          <a:xfrm>
            <a:off x="428625" y="5505450"/>
            <a:ext cx="1149350" cy="731838"/>
          </a:xfrm>
          <a:prstGeom prst="rect">
            <a:avLst/>
          </a:prstGeom>
          <a:solidFill>
            <a:srgbClr val="EAEAEA"/>
          </a:solidFill>
          <a:ln w="9525" algn="ctr">
            <a:solidFill>
              <a:schemeClr val="tx1"/>
            </a:solidFill>
            <a:miter lim="800000"/>
          </a:ln>
          <a:effectLst>
            <a:outerShdw dist="35921" dir="2700000" algn="ctr" rotWithShape="0">
              <a:schemeClr val="bg2"/>
            </a:outerShdw>
          </a:effectLst>
        </p:spPr>
        <p:txBody>
          <a:bodyPr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ClrTx/>
              <a:buSzTx/>
              <a:buFontTx/>
              <a:buNone/>
            </a:pPr>
            <a:r>
              <a:rPr lang="zh-CN" altLang="en-US" sz="1600" b="0" dirty="0">
                <a:latin typeface="黑体" panose="02010609060101010101" pitchFamily="49" charset="-122"/>
                <a:ea typeface="黑体" panose="02010609060101010101" pitchFamily="49" charset="-122"/>
                <a:cs typeface="Arial" panose="020B0604020202020204" pitchFamily="34" charset="0"/>
              </a:rPr>
              <a:t>推荐方案三</a:t>
            </a:r>
            <a:endParaRPr lang="zh-CN" altLang="en-US" sz="1600" b="0" dirty="0">
              <a:latin typeface="黑体" panose="02010609060101010101" pitchFamily="49" charset="-122"/>
              <a:ea typeface="黑体" panose="02010609060101010101" pitchFamily="49" charset="-122"/>
              <a:cs typeface="Arial" panose="020B0604020202020204" pitchFamily="34" charset="0"/>
            </a:endParaRPr>
          </a:p>
        </p:txBody>
      </p:sp>
      <p:sp>
        <p:nvSpPr>
          <p:cNvPr id="145425" name="Rectangle 17"/>
          <p:cNvSpPr>
            <a:spLocks noChangeArrowheads="1"/>
          </p:cNvSpPr>
          <p:nvPr/>
        </p:nvSpPr>
        <p:spPr bwMode="auto">
          <a:xfrm>
            <a:off x="4567238" y="4652963"/>
            <a:ext cx="2490787" cy="511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处于进入发展稳定期或运营能力突出的企业</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5426" name="Line 18"/>
          <p:cNvSpPr>
            <a:spLocks noChangeShapeType="1"/>
          </p:cNvSpPr>
          <p:nvPr/>
        </p:nvSpPr>
        <p:spPr bwMode="auto">
          <a:xfrm>
            <a:off x="2143125" y="4437063"/>
            <a:ext cx="74136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GB"/>
          </a:p>
        </p:txBody>
      </p:sp>
      <p:sp>
        <p:nvSpPr>
          <p:cNvPr id="145427" name="Line 19"/>
          <p:cNvSpPr>
            <a:spLocks noChangeShapeType="1"/>
          </p:cNvSpPr>
          <p:nvPr/>
        </p:nvSpPr>
        <p:spPr bwMode="auto">
          <a:xfrm>
            <a:off x="2143125" y="5373688"/>
            <a:ext cx="741362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GB"/>
          </a:p>
        </p:txBody>
      </p:sp>
      <p:sp>
        <p:nvSpPr>
          <p:cNvPr id="145428" name="Rectangle 20"/>
          <p:cNvSpPr>
            <a:spLocks noChangeArrowheads="1"/>
          </p:cNvSpPr>
          <p:nvPr/>
        </p:nvSpPr>
        <p:spPr bwMode="auto">
          <a:xfrm>
            <a:off x="2043113" y="5516563"/>
            <a:ext cx="6392862" cy="8524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 支持功能纳入销售组织体系内</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 销售负责人同时对销售收入和销售质量（风险）负责</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 支持、风控人员直线汇报给销售负责人</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5429" name="Rectangle 21"/>
          <p:cNvSpPr>
            <a:spLocks noChangeArrowheads="1"/>
          </p:cNvSpPr>
          <p:nvPr/>
        </p:nvSpPr>
        <p:spPr bwMode="auto">
          <a:xfrm>
            <a:off x="7172325" y="1963738"/>
            <a:ext cx="2379663" cy="106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权责切割明晰，可为进一步拉直销售线，甚至剥离销售为独立子公司奠定基础</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120000"/>
              </a:lnSpc>
              <a:spcBef>
                <a:spcPct val="0"/>
              </a:spcBef>
              <a:spcAft>
                <a:spcPct val="20000"/>
              </a:spcAft>
              <a:buClr>
                <a:schemeClr val="tx2"/>
              </a:buClr>
              <a:buSzPct val="70000"/>
              <a:buFont typeface="Wingdings" panose="05000000000000000000" pitchFamily="2" charset="2"/>
              <a:buChar char="n"/>
            </a:pP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5430" name="Rectangle 22"/>
          <p:cNvSpPr>
            <a:spLocks noChangeArrowheads="1"/>
          </p:cNvSpPr>
          <p:nvPr/>
        </p:nvSpPr>
        <p:spPr bwMode="auto">
          <a:xfrm>
            <a:off x="7172325" y="3284538"/>
            <a:ext cx="2489200" cy="766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销售条线要分出一部分精力考虑如何做自己的支持相关的运营操作</a:t>
            </a:r>
            <a:endParaRPr lang="zh-CN" altLang="en-US" sz="1000" b="0">
              <a:latin typeface="黑体" panose="02010609060101010101" pitchFamily="49" charset="-122"/>
              <a:ea typeface="黑体" panose="02010609060101010101" pitchFamily="49" charset="-122"/>
              <a:cs typeface="Arial" panose="020B0604020202020204" pitchFamily="34" charset="0"/>
            </a:endParaRPr>
          </a:p>
        </p:txBody>
      </p:sp>
      <p:sp>
        <p:nvSpPr>
          <p:cNvPr id="145431" name="Rectangle 23"/>
          <p:cNvSpPr>
            <a:spLocks noChangeArrowheads="1"/>
          </p:cNvSpPr>
          <p:nvPr/>
        </p:nvSpPr>
        <p:spPr bwMode="auto">
          <a:xfrm>
            <a:off x="7180263" y="4652963"/>
            <a:ext cx="2489200" cy="2555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销售强势的企业</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5432" name="Rectangle 24"/>
          <p:cNvSpPr>
            <a:spLocks noChangeArrowheads="1"/>
          </p:cNvSpPr>
          <p:nvPr/>
        </p:nvSpPr>
        <p:spPr bwMode="auto">
          <a:xfrm>
            <a:off x="7904163" y="1555750"/>
            <a:ext cx="60960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Tx/>
              <a:buSzTx/>
              <a:buFontTx/>
              <a:buNone/>
            </a:pPr>
            <a:r>
              <a:rPr lang="zh-CN" altLang="en-US" sz="1600" b="0">
                <a:latin typeface="黑体" panose="02010609060101010101" pitchFamily="49" charset="-122"/>
                <a:ea typeface="黑体" panose="02010609060101010101" pitchFamily="49" charset="-122"/>
                <a:cs typeface="Arial" panose="020B0604020202020204" pitchFamily="34" charset="0"/>
              </a:rPr>
              <a:t>方案三</a:t>
            </a:r>
            <a:endParaRPr lang="zh-CN" altLang="en-US" sz="1600" b="0">
              <a:latin typeface="黑体" panose="02010609060101010101" pitchFamily="49" charset="-122"/>
              <a:ea typeface="黑体" panose="02010609060101010101" pitchFamily="49" charset="-122"/>
              <a:cs typeface="Arial" panose="020B0604020202020204" pitchFamily="34" charset="0"/>
            </a:endParaRPr>
          </a:p>
        </p:txBody>
      </p:sp>
      <p:sp>
        <p:nvSpPr>
          <p:cNvPr id="145433" name="Line 25"/>
          <p:cNvSpPr>
            <a:spLocks noChangeShapeType="1"/>
          </p:cNvSpPr>
          <p:nvPr/>
        </p:nvSpPr>
        <p:spPr bwMode="auto">
          <a:xfrm>
            <a:off x="7134225" y="1882775"/>
            <a:ext cx="23701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GB"/>
          </a:p>
        </p:txBody>
      </p:sp>
      <p:sp>
        <p:nvSpPr>
          <p:cNvPr id="145435" name="Line 27"/>
          <p:cNvSpPr>
            <a:spLocks noChangeShapeType="1"/>
          </p:cNvSpPr>
          <p:nvPr/>
        </p:nvSpPr>
        <p:spPr bwMode="auto">
          <a:xfrm>
            <a:off x="1987550" y="1882775"/>
            <a:ext cx="236855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GB"/>
          </a:p>
        </p:txBody>
      </p:sp>
      <p:sp>
        <p:nvSpPr>
          <p:cNvPr id="3" name="Text Box 57"/>
          <p:cNvSpPr txBox="1">
            <a:spLocks noChangeArrowheads="1"/>
          </p:cNvSpPr>
          <p:nvPr/>
        </p:nvSpPr>
        <p:spPr bwMode="auto">
          <a:xfrm>
            <a:off x="8355249" y="1142921"/>
            <a:ext cx="1523410" cy="369332"/>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folHlink"/>
                  </a:outerShdw>
                </a:effectLst>
              </a14:hiddenEffects>
            </a:ext>
          </a:extLst>
        </p:spPr>
        <p:txBody>
          <a:bodyPr wrap="squar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800" b="0" dirty="0">
                <a:solidFill>
                  <a:srgbClr val="FF0000"/>
                </a:solidFill>
                <a:ea typeface="宋体" panose="02010600030101010101" pitchFamily="2" charset="-122"/>
              </a:rPr>
              <a:t>举     例</a:t>
            </a:r>
            <a:endParaRPr lang="zh-CN" altLang="en-US" sz="1800" b="0" dirty="0">
              <a:solidFill>
                <a:srgbClr val="FF0000"/>
              </a:solidFill>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8304162" cy="939800"/>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zh-CN" sz="2800" dirty="0"/>
              <a:t>大型集团公司的</a:t>
            </a:r>
            <a:r>
              <a:rPr lang="zh-CN" altLang="en-US" sz="2800" dirty="0"/>
              <a:t>数字化团队的</a:t>
            </a:r>
            <a:r>
              <a:rPr lang="zh-CN" altLang="zh-CN" sz="2800" dirty="0"/>
              <a:t>几种</a:t>
            </a:r>
            <a:r>
              <a:rPr lang="zh-CN" altLang="en-US" sz="2800" dirty="0"/>
              <a:t>模式</a:t>
            </a:r>
            <a:r>
              <a:rPr lang="zh-CN" altLang="zh-CN" sz="2800" dirty="0"/>
              <a:t>：分散式，代管式，</a:t>
            </a:r>
            <a:r>
              <a:rPr lang="zh-CN" altLang="en-US" sz="2800" dirty="0"/>
              <a:t>混合共享式，</a:t>
            </a:r>
            <a:r>
              <a:rPr lang="zh-CN" altLang="zh-CN" sz="2800" dirty="0"/>
              <a:t>完全</a:t>
            </a:r>
            <a:r>
              <a:rPr lang="zh-CN" altLang="en-US" sz="2800" dirty="0"/>
              <a:t>共享式</a:t>
            </a:r>
            <a:endParaRPr lang="en-GB" sz="2800" dirty="0"/>
          </a:p>
        </p:txBody>
      </p:sp>
      <p:sp>
        <p:nvSpPr>
          <p:cNvPr id="3" name="Rectangle 3"/>
          <p:cNvSpPr>
            <a:spLocks noChangeArrowheads="1"/>
          </p:cNvSpPr>
          <p:nvPr/>
        </p:nvSpPr>
        <p:spPr bwMode="auto">
          <a:xfrm>
            <a:off x="4621319" y="2053874"/>
            <a:ext cx="3852818" cy="1599521"/>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4" name="Rectangle 56"/>
          <p:cNvSpPr>
            <a:spLocks noChangeArrowheads="1"/>
          </p:cNvSpPr>
          <p:nvPr/>
        </p:nvSpPr>
        <p:spPr bwMode="auto">
          <a:xfrm>
            <a:off x="5573778" y="2153568"/>
            <a:ext cx="17295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200" b="1" dirty="0">
                <a:cs typeface="Arial" panose="020B0604020202020204" pitchFamily="34" charset="0"/>
              </a:rPr>
              <a:t>委托提供服务</a:t>
            </a:r>
            <a:endParaRPr lang="zh-CN" altLang="en-US" sz="1200" b="1" dirty="0">
              <a:cs typeface="Arial" panose="020B0604020202020204" pitchFamily="34" charset="0"/>
            </a:endParaRPr>
          </a:p>
        </p:txBody>
      </p:sp>
      <p:sp>
        <p:nvSpPr>
          <p:cNvPr id="5" name="Freeform 4"/>
          <p:cNvSpPr/>
          <p:nvPr/>
        </p:nvSpPr>
        <p:spPr bwMode="auto">
          <a:xfrm>
            <a:off x="6019060" y="2338234"/>
            <a:ext cx="950741" cy="959713"/>
          </a:xfrm>
          <a:custGeom>
            <a:avLst/>
            <a:gdLst>
              <a:gd name="T0" fmla="*/ 0 w 552"/>
              <a:gd name="T1" fmla="*/ 0 h 1082"/>
              <a:gd name="T2" fmla="*/ 0 w 552"/>
              <a:gd name="T3" fmla="*/ 1081 h 1082"/>
              <a:gd name="T4" fmla="*/ 551 w 552"/>
              <a:gd name="T5" fmla="*/ 1081 h 1082"/>
              <a:gd name="T6" fmla="*/ 551 w 552"/>
              <a:gd name="T7" fmla="*/ 0 h 1082"/>
              <a:gd name="T8" fmla="*/ 0 w 552"/>
              <a:gd name="T9" fmla="*/ 0 h 1082"/>
              <a:gd name="T10" fmla="*/ 0 w 552"/>
              <a:gd name="T11" fmla="*/ 0 h 1082"/>
            </a:gdLst>
            <a:ahLst/>
            <a:cxnLst>
              <a:cxn ang="0">
                <a:pos x="T0" y="T1"/>
              </a:cxn>
              <a:cxn ang="0">
                <a:pos x="T2" y="T3"/>
              </a:cxn>
              <a:cxn ang="0">
                <a:pos x="T4" y="T5"/>
              </a:cxn>
              <a:cxn ang="0">
                <a:pos x="T6" y="T7"/>
              </a:cxn>
              <a:cxn ang="0">
                <a:pos x="T8" y="T9"/>
              </a:cxn>
              <a:cxn ang="0">
                <a:pos x="T10" y="T11"/>
              </a:cxn>
            </a:cxnLst>
            <a:rect l="0" t="0" r="r" b="b"/>
            <a:pathLst>
              <a:path w="552" h="1082">
                <a:moveTo>
                  <a:pt x="0" y="0"/>
                </a:moveTo>
                <a:lnTo>
                  <a:pt x="0" y="1081"/>
                </a:lnTo>
                <a:lnTo>
                  <a:pt x="551" y="1081"/>
                </a:lnTo>
                <a:lnTo>
                  <a:pt x="551" y="0"/>
                </a:lnTo>
                <a:lnTo>
                  <a:pt x="0" y="0"/>
                </a:lnTo>
                <a:lnTo>
                  <a:pt x="0" y="0"/>
                </a:lnTo>
              </a:path>
            </a:pathLst>
          </a:custGeom>
          <a:solidFill>
            <a:srgbClr val="FFFFFF"/>
          </a:solidFill>
          <a:ln w="9525" cap="rnd">
            <a:solidFill>
              <a:schemeClr val="bg2"/>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6" name="Line 5"/>
          <p:cNvSpPr>
            <a:spLocks noChangeShapeType="1"/>
          </p:cNvSpPr>
          <p:nvPr/>
        </p:nvSpPr>
        <p:spPr bwMode="auto">
          <a:xfrm>
            <a:off x="6032815" y="2345722"/>
            <a:ext cx="0" cy="54912"/>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7" name="Line 6"/>
          <p:cNvSpPr>
            <a:spLocks noChangeShapeType="1"/>
          </p:cNvSpPr>
          <p:nvPr/>
        </p:nvSpPr>
        <p:spPr bwMode="auto">
          <a:xfrm>
            <a:off x="6032815" y="2444314"/>
            <a:ext cx="0" cy="57408"/>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8" name="Line 7"/>
          <p:cNvSpPr>
            <a:spLocks noChangeShapeType="1"/>
          </p:cNvSpPr>
          <p:nvPr/>
        </p:nvSpPr>
        <p:spPr bwMode="auto">
          <a:xfrm>
            <a:off x="6032815" y="2545402"/>
            <a:ext cx="0" cy="57408"/>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9" name="Line 8"/>
          <p:cNvSpPr>
            <a:spLocks noChangeShapeType="1"/>
          </p:cNvSpPr>
          <p:nvPr/>
        </p:nvSpPr>
        <p:spPr bwMode="auto">
          <a:xfrm>
            <a:off x="6032815" y="2646490"/>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0" name="Line 9"/>
          <p:cNvSpPr>
            <a:spLocks noChangeShapeType="1"/>
          </p:cNvSpPr>
          <p:nvPr/>
        </p:nvSpPr>
        <p:spPr bwMode="auto">
          <a:xfrm>
            <a:off x="6032815" y="2746330"/>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1" name="Line 10"/>
          <p:cNvSpPr>
            <a:spLocks noChangeShapeType="1"/>
          </p:cNvSpPr>
          <p:nvPr/>
        </p:nvSpPr>
        <p:spPr bwMode="auto">
          <a:xfrm>
            <a:off x="6032815" y="2847418"/>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2" name="Line 11"/>
          <p:cNvSpPr>
            <a:spLocks noChangeShapeType="1"/>
          </p:cNvSpPr>
          <p:nvPr/>
        </p:nvSpPr>
        <p:spPr bwMode="auto">
          <a:xfrm>
            <a:off x="6032815" y="2947258"/>
            <a:ext cx="0" cy="57408"/>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3" name="Line 12"/>
          <p:cNvSpPr>
            <a:spLocks noChangeShapeType="1"/>
          </p:cNvSpPr>
          <p:nvPr/>
        </p:nvSpPr>
        <p:spPr bwMode="auto">
          <a:xfrm>
            <a:off x="6032815" y="3048346"/>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4" name="Line 13"/>
          <p:cNvSpPr>
            <a:spLocks noChangeShapeType="1"/>
          </p:cNvSpPr>
          <p:nvPr/>
        </p:nvSpPr>
        <p:spPr bwMode="auto">
          <a:xfrm>
            <a:off x="6032815" y="3148186"/>
            <a:ext cx="0" cy="57408"/>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5" name="Line 14"/>
          <p:cNvSpPr>
            <a:spLocks noChangeShapeType="1"/>
          </p:cNvSpPr>
          <p:nvPr/>
        </p:nvSpPr>
        <p:spPr bwMode="auto">
          <a:xfrm>
            <a:off x="6032815" y="3249274"/>
            <a:ext cx="0" cy="39936"/>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6" name="Line 15"/>
          <p:cNvSpPr>
            <a:spLocks noChangeShapeType="1"/>
          </p:cNvSpPr>
          <p:nvPr/>
        </p:nvSpPr>
        <p:spPr bwMode="auto">
          <a:xfrm>
            <a:off x="6032816" y="3289210"/>
            <a:ext cx="32666"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7" name="Line 16"/>
          <p:cNvSpPr>
            <a:spLocks noChangeShapeType="1"/>
          </p:cNvSpPr>
          <p:nvPr/>
        </p:nvSpPr>
        <p:spPr bwMode="auto">
          <a:xfrm>
            <a:off x="6151443" y="3289210"/>
            <a:ext cx="108312"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8" name="Line 17"/>
          <p:cNvSpPr>
            <a:spLocks noChangeShapeType="1"/>
          </p:cNvSpPr>
          <p:nvPr/>
        </p:nvSpPr>
        <p:spPr bwMode="auto">
          <a:xfrm>
            <a:off x="6343998" y="3289210"/>
            <a:ext cx="111751"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9" name="Line 18"/>
          <p:cNvSpPr>
            <a:spLocks noChangeShapeType="1"/>
          </p:cNvSpPr>
          <p:nvPr/>
        </p:nvSpPr>
        <p:spPr bwMode="auto">
          <a:xfrm>
            <a:off x="6541711" y="3289210"/>
            <a:ext cx="106593"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0" name="Line 19"/>
          <p:cNvSpPr>
            <a:spLocks noChangeShapeType="1"/>
          </p:cNvSpPr>
          <p:nvPr/>
        </p:nvSpPr>
        <p:spPr bwMode="auto">
          <a:xfrm>
            <a:off x="6734266" y="3289210"/>
            <a:ext cx="110031"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1" name="Line 20"/>
          <p:cNvSpPr>
            <a:spLocks noChangeShapeType="1"/>
          </p:cNvSpPr>
          <p:nvPr/>
        </p:nvSpPr>
        <p:spPr bwMode="auto">
          <a:xfrm>
            <a:off x="6930260" y="3289210"/>
            <a:ext cx="24069"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2" name="Line 21"/>
          <p:cNvSpPr>
            <a:spLocks noChangeShapeType="1"/>
          </p:cNvSpPr>
          <p:nvPr/>
        </p:nvSpPr>
        <p:spPr bwMode="auto">
          <a:xfrm flipV="1">
            <a:off x="6954328" y="3245530"/>
            <a:ext cx="0" cy="4368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3" name="Line 22"/>
          <p:cNvSpPr>
            <a:spLocks noChangeShapeType="1"/>
          </p:cNvSpPr>
          <p:nvPr/>
        </p:nvSpPr>
        <p:spPr bwMode="auto">
          <a:xfrm flipV="1">
            <a:off x="6954328" y="3145690"/>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4" name="Line 23"/>
          <p:cNvSpPr>
            <a:spLocks noChangeShapeType="1"/>
          </p:cNvSpPr>
          <p:nvPr/>
        </p:nvSpPr>
        <p:spPr bwMode="auto">
          <a:xfrm flipV="1">
            <a:off x="6954328" y="3044602"/>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5" name="Line 24"/>
          <p:cNvSpPr>
            <a:spLocks noChangeShapeType="1"/>
          </p:cNvSpPr>
          <p:nvPr/>
        </p:nvSpPr>
        <p:spPr bwMode="auto">
          <a:xfrm flipV="1">
            <a:off x="6954328" y="2944762"/>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6" name="Line 25"/>
          <p:cNvSpPr>
            <a:spLocks noChangeShapeType="1"/>
          </p:cNvSpPr>
          <p:nvPr/>
        </p:nvSpPr>
        <p:spPr bwMode="auto">
          <a:xfrm flipV="1">
            <a:off x="6954328" y="2843674"/>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7" name="Line 26"/>
          <p:cNvSpPr>
            <a:spLocks noChangeShapeType="1"/>
          </p:cNvSpPr>
          <p:nvPr/>
        </p:nvSpPr>
        <p:spPr bwMode="auto">
          <a:xfrm flipV="1">
            <a:off x="6954328" y="2743834"/>
            <a:ext cx="0" cy="54912"/>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8" name="Line 27"/>
          <p:cNvSpPr>
            <a:spLocks noChangeShapeType="1"/>
          </p:cNvSpPr>
          <p:nvPr/>
        </p:nvSpPr>
        <p:spPr bwMode="auto">
          <a:xfrm flipV="1">
            <a:off x="6954328" y="2642746"/>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29" name="Line 28"/>
          <p:cNvSpPr>
            <a:spLocks noChangeShapeType="1"/>
          </p:cNvSpPr>
          <p:nvPr/>
        </p:nvSpPr>
        <p:spPr bwMode="auto">
          <a:xfrm flipV="1">
            <a:off x="6954328" y="2541658"/>
            <a:ext cx="0" cy="57408"/>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0" name="Line 29"/>
          <p:cNvSpPr>
            <a:spLocks noChangeShapeType="1"/>
          </p:cNvSpPr>
          <p:nvPr/>
        </p:nvSpPr>
        <p:spPr bwMode="auto">
          <a:xfrm flipV="1">
            <a:off x="6954328" y="2441818"/>
            <a:ext cx="0" cy="5616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1" name="Line 30"/>
          <p:cNvSpPr>
            <a:spLocks noChangeShapeType="1"/>
          </p:cNvSpPr>
          <p:nvPr/>
        </p:nvSpPr>
        <p:spPr bwMode="auto">
          <a:xfrm flipV="1">
            <a:off x="6954328" y="2345722"/>
            <a:ext cx="0" cy="52416"/>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2" name="Line 31"/>
          <p:cNvSpPr>
            <a:spLocks noChangeShapeType="1"/>
          </p:cNvSpPr>
          <p:nvPr/>
        </p:nvSpPr>
        <p:spPr bwMode="auto">
          <a:xfrm flipH="1">
            <a:off x="6947451" y="2345720"/>
            <a:ext cx="6877"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3" name="Line 32"/>
          <p:cNvSpPr>
            <a:spLocks noChangeShapeType="1"/>
          </p:cNvSpPr>
          <p:nvPr/>
        </p:nvSpPr>
        <p:spPr bwMode="auto">
          <a:xfrm flipH="1">
            <a:off x="6751458" y="2345720"/>
            <a:ext cx="108312"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4" name="Line 33"/>
          <p:cNvSpPr>
            <a:spLocks noChangeShapeType="1"/>
          </p:cNvSpPr>
          <p:nvPr/>
        </p:nvSpPr>
        <p:spPr bwMode="auto">
          <a:xfrm flipH="1">
            <a:off x="6558903" y="2345720"/>
            <a:ext cx="108312"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5" name="Line 34"/>
          <p:cNvSpPr>
            <a:spLocks noChangeShapeType="1"/>
          </p:cNvSpPr>
          <p:nvPr/>
        </p:nvSpPr>
        <p:spPr bwMode="auto">
          <a:xfrm flipH="1">
            <a:off x="6361191" y="2345720"/>
            <a:ext cx="110031"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6" name="Line 35"/>
          <p:cNvSpPr>
            <a:spLocks noChangeShapeType="1"/>
          </p:cNvSpPr>
          <p:nvPr/>
        </p:nvSpPr>
        <p:spPr bwMode="auto">
          <a:xfrm flipH="1">
            <a:off x="6168635" y="2345720"/>
            <a:ext cx="108312"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7" name="Line 36"/>
          <p:cNvSpPr>
            <a:spLocks noChangeShapeType="1"/>
          </p:cNvSpPr>
          <p:nvPr/>
        </p:nvSpPr>
        <p:spPr bwMode="auto">
          <a:xfrm flipH="1">
            <a:off x="6032815" y="2345720"/>
            <a:ext cx="48139" cy="0"/>
          </a:xfrm>
          <a:prstGeom prst="line">
            <a:avLst/>
          </a:prstGeom>
          <a:noFill/>
          <a:ln w="12699">
            <a:solidFill>
              <a:srgbClr val="2C8DD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8" name="AutoShape 37"/>
          <p:cNvSpPr>
            <a:spLocks noChangeArrowheads="1"/>
          </p:cNvSpPr>
          <p:nvPr/>
        </p:nvSpPr>
        <p:spPr bwMode="auto">
          <a:xfrm>
            <a:off x="4765736" y="2846170"/>
            <a:ext cx="737554" cy="254592"/>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39" name="AutoShape 38"/>
          <p:cNvSpPr>
            <a:spLocks noChangeArrowheads="1"/>
          </p:cNvSpPr>
          <p:nvPr/>
        </p:nvSpPr>
        <p:spPr bwMode="auto">
          <a:xfrm>
            <a:off x="7485574" y="2846170"/>
            <a:ext cx="740993" cy="254592"/>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40" name="Oval 39"/>
          <p:cNvSpPr>
            <a:spLocks noChangeArrowheads="1"/>
          </p:cNvSpPr>
          <p:nvPr/>
        </p:nvSpPr>
        <p:spPr bwMode="auto">
          <a:xfrm>
            <a:off x="6127516" y="2772461"/>
            <a:ext cx="728958" cy="212160"/>
          </a:xfrm>
          <a:prstGeom prst="ellipse">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41" name="Oval 40"/>
          <p:cNvSpPr>
            <a:spLocks noChangeArrowheads="1"/>
          </p:cNvSpPr>
          <p:nvPr/>
        </p:nvSpPr>
        <p:spPr bwMode="auto">
          <a:xfrm>
            <a:off x="6125654" y="3048346"/>
            <a:ext cx="728958" cy="164736"/>
          </a:xfrm>
          <a:prstGeom prst="ellipse">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42" name="Freeform 42"/>
          <p:cNvSpPr/>
          <p:nvPr/>
        </p:nvSpPr>
        <p:spPr bwMode="auto">
          <a:xfrm>
            <a:off x="6969801" y="2989690"/>
            <a:ext cx="407461" cy="14976"/>
          </a:xfrm>
          <a:custGeom>
            <a:avLst/>
            <a:gdLst>
              <a:gd name="T0" fmla="*/ 0 w 238"/>
              <a:gd name="T1" fmla="*/ 16 h 17"/>
              <a:gd name="T2" fmla="*/ 237 w 238"/>
              <a:gd name="T3" fmla="*/ 0 h 17"/>
              <a:gd name="T4" fmla="*/ 0 w 238"/>
              <a:gd name="T5" fmla="*/ 16 h 17"/>
            </a:gdLst>
            <a:ahLst/>
            <a:cxnLst>
              <a:cxn ang="0">
                <a:pos x="T0" y="T1"/>
              </a:cxn>
              <a:cxn ang="0">
                <a:pos x="T2" y="T3"/>
              </a:cxn>
              <a:cxn ang="0">
                <a:pos x="T4" y="T5"/>
              </a:cxn>
            </a:cxnLst>
            <a:rect l="0" t="0" r="r" b="b"/>
            <a:pathLst>
              <a:path w="238" h="17">
                <a:moveTo>
                  <a:pt x="0" y="16"/>
                </a:moveTo>
                <a:lnTo>
                  <a:pt x="237" y="0"/>
                </a:lnTo>
                <a:lnTo>
                  <a:pt x="0" y="16"/>
                </a:lnTo>
              </a:path>
            </a:pathLst>
          </a:custGeom>
          <a:noFill/>
          <a:ln w="25399"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43" name="Freeform 43"/>
          <p:cNvSpPr/>
          <p:nvPr/>
        </p:nvSpPr>
        <p:spPr bwMode="auto">
          <a:xfrm>
            <a:off x="7274108" y="2958490"/>
            <a:ext cx="209747" cy="63648"/>
          </a:xfrm>
          <a:custGeom>
            <a:avLst/>
            <a:gdLst>
              <a:gd name="T0" fmla="*/ 120 w 121"/>
              <a:gd name="T1" fmla="*/ 34 h 71"/>
              <a:gd name="T2" fmla="*/ 0 w 121"/>
              <a:gd name="T3" fmla="*/ 0 h 71"/>
              <a:gd name="T4" fmla="*/ 0 w 121"/>
              <a:gd name="T5" fmla="*/ 70 h 71"/>
              <a:gd name="T6" fmla="*/ 120 w 121"/>
              <a:gd name="T7" fmla="*/ 34 h 71"/>
              <a:gd name="T8" fmla="*/ 120 w 121"/>
              <a:gd name="T9" fmla="*/ 34 h 71"/>
            </a:gdLst>
            <a:ahLst/>
            <a:cxnLst>
              <a:cxn ang="0">
                <a:pos x="T0" y="T1"/>
              </a:cxn>
              <a:cxn ang="0">
                <a:pos x="T2" y="T3"/>
              </a:cxn>
              <a:cxn ang="0">
                <a:pos x="T4" y="T5"/>
              </a:cxn>
              <a:cxn ang="0">
                <a:pos x="T6" y="T7"/>
              </a:cxn>
              <a:cxn ang="0">
                <a:pos x="T8" y="T9"/>
              </a:cxn>
            </a:cxnLst>
            <a:rect l="0" t="0" r="r" b="b"/>
            <a:pathLst>
              <a:path w="121" h="71">
                <a:moveTo>
                  <a:pt x="120" y="34"/>
                </a:moveTo>
                <a:lnTo>
                  <a:pt x="0" y="0"/>
                </a:lnTo>
                <a:lnTo>
                  <a:pt x="0" y="70"/>
                </a:lnTo>
                <a:lnTo>
                  <a:pt x="120" y="34"/>
                </a:lnTo>
                <a:lnTo>
                  <a:pt x="120" y="34"/>
                </a:lnTo>
              </a:path>
            </a:pathLst>
          </a:custGeom>
          <a:solidFill>
            <a:srgbClr val="0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44" name="Freeform 44"/>
          <p:cNvSpPr/>
          <p:nvPr/>
        </p:nvSpPr>
        <p:spPr bwMode="auto">
          <a:xfrm>
            <a:off x="6866648" y="2958490"/>
            <a:ext cx="211467" cy="64896"/>
          </a:xfrm>
          <a:custGeom>
            <a:avLst/>
            <a:gdLst>
              <a:gd name="T0" fmla="*/ 0 w 123"/>
              <a:gd name="T1" fmla="*/ 37 h 73"/>
              <a:gd name="T2" fmla="*/ 122 w 123"/>
              <a:gd name="T3" fmla="*/ 72 h 73"/>
              <a:gd name="T4" fmla="*/ 122 w 123"/>
              <a:gd name="T5" fmla="*/ 0 h 73"/>
              <a:gd name="T6" fmla="*/ 0 w 123"/>
              <a:gd name="T7" fmla="*/ 37 h 73"/>
              <a:gd name="T8" fmla="*/ 0 w 123"/>
              <a:gd name="T9" fmla="*/ 37 h 73"/>
            </a:gdLst>
            <a:ahLst/>
            <a:cxnLst>
              <a:cxn ang="0">
                <a:pos x="T0" y="T1"/>
              </a:cxn>
              <a:cxn ang="0">
                <a:pos x="T2" y="T3"/>
              </a:cxn>
              <a:cxn ang="0">
                <a:pos x="T4" y="T5"/>
              </a:cxn>
              <a:cxn ang="0">
                <a:pos x="T6" y="T7"/>
              </a:cxn>
              <a:cxn ang="0">
                <a:pos x="T8" y="T9"/>
              </a:cxn>
            </a:cxnLst>
            <a:rect l="0" t="0" r="r" b="b"/>
            <a:pathLst>
              <a:path w="123" h="73">
                <a:moveTo>
                  <a:pt x="0" y="37"/>
                </a:moveTo>
                <a:lnTo>
                  <a:pt x="122" y="72"/>
                </a:lnTo>
                <a:lnTo>
                  <a:pt x="122" y="0"/>
                </a:lnTo>
                <a:lnTo>
                  <a:pt x="0" y="37"/>
                </a:lnTo>
                <a:lnTo>
                  <a:pt x="0" y="37"/>
                </a:lnTo>
              </a:path>
            </a:pathLst>
          </a:custGeom>
          <a:solidFill>
            <a:srgbClr val="0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45" name="Freeform 45"/>
          <p:cNvSpPr/>
          <p:nvPr/>
        </p:nvSpPr>
        <p:spPr bwMode="auto">
          <a:xfrm>
            <a:off x="5609882" y="2994682"/>
            <a:ext cx="407461" cy="0"/>
          </a:xfrm>
          <a:custGeom>
            <a:avLst/>
            <a:gdLst>
              <a:gd name="T0" fmla="*/ 0 w 238"/>
              <a:gd name="T1" fmla="*/ 0 h 1"/>
              <a:gd name="T2" fmla="*/ 237 w 238"/>
              <a:gd name="T3" fmla="*/ 0 h 1"/>
              <a:gd name="T4" fmla="*/ 0 w 238"/>
              <a:gd name="T5" fmla="*/ 0 h 1"/>
            </a:gdLst>
            <a:ahLst/>
            <a:cxnLst>
              <a:cxn ang="0">
                <a:pos x="T0" y="T1"/>
              </a:cxn>
              <a:cxn ang="0">
                <a:pos x="T2" y="T3"/>
              </a:cxn>
              <a:cxn ang="0">
                <a:pos x="T4" y="T5"/>
              </a:cxn>
            </a:cxnLst>
            <a:rect l="0" t="0" r="r" b="b"/>
            <a:pathLst>
              <a:path w="238" h="1">
                <a:moveTo>
                  <a:pt x="0" y="0"/>
                </a:moveTo>
                <a:lnTo>
                  <a:pt x="237" y="0"/>
                </a:lnTo>
                <a:lnTo>
                  <a:pt x="0" y="0"/>
                </a:lnTo>
              </a:path>
            </a:pathLst>
          </a:custGeom>
          <a:noFill/>
          <a:ln w="25399"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46" name="Freeform 46"/>
          <p:cNvSpPr/>
          <p:nvPr/>
        </p:nvSpPr>
        <p:spPr bwMode="auto">
          <a:xfrm>
            <a:off x="5912469" y="2963482"/>
            <a:ext cx="209747" cy="63648"/>
          </a:xfrm>
          <a:custGeom>
            <a:avLst/>
            <a:gdLst>
              <a:gd name="T0" fmla="*/ 121 w 122"/>
              <a:gd name="T1" fmla="*/ 36 h 72"/>
              <a:gd name="T2" fmla="*/ 0 w 122"/>
              <a:gd name="T3" fmla="*/ 0 h 72"/>
              <a:gd name="T4" fmla="*/ 0 w 122"/>
              <a:gd name="T5" fmla="*/ 71 h 72"/>
              <a:gd name="T6" fmla="*/ 121 w 122"/>
              <a:gd name="T7" fmla="*/ 36 h 72"/>
              <a:gd name="T8" fmla="*/ 121 w 122"/>
              <a:gd name="T9" fmla="*/ 36 h 72"/>
            </a:gdLst>
            <a:ahLst/>
            <a:cxnLst>
              <a:cxn ang="0">
                <a:pos x="T0" y="T1"/>
              </a:cxn>
              <a:cxn ang="0">
                <a:pos x="T2" y="T3"/>
              </a:cxn>
              <a:cxn ang="0">
                <a:pos x="T4" y="T5"/>
              </a:cxn>
              <a:cxn ang="0">
                <a:pos x="T6" y="T7"/>
              </a:cxn>
              <a:cxn ang="0">
                <a:pos x="T8" y="T9"/>
              </a:cxn>
            </a:cxnLst>
            <a:rect l="0" t="0" r="r" b="b"/>
            <a:pathLst>
              <a:path w="122" h="72">
                <a:moveTo>
                  <a:pt x="121" y="36"/>
                </a:moveTo>
                <a:lnTo>
                  <a:pt x="0" y="0"/>
                </a:lnTo>
                <a:lnTo>
                  <a:pt x="0" y="71"/>
                </a:lnTo>
                <a:lnTo>
                  <a:pt x="121" y="36"/>
                </a:lnTo>
                <a:lnTo>
                  <a:pt x="121" y="36"/>
                </a:lnTo>
              </a:path>
            </a:pathLst>
          </a:custGeom>
          <a:solidFill>
            <a:srgbClr val="0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47" name="Freeform 47"/>
          <p:cNvSpPr/>
          <p:nvPr/>
        </p:nvSpPr>
        <p:spPr bwMode="auto">
          <a:xfrm>
            <a:off x="5508448" y="2962234"/>
            <a:ext cx="209747" cy="63648"/>
          </a:xfrm>
          <a:custGeom>
            <a:avLst/>
            <a:gdLst>
              <a:gd name="T0" fmla="*/ 0 w 122"/>
              <a:gd name="T1" fmla="*/ 36 h 72"/>
              <a:gd name="T2" fmla="*/ 121 w 122"/>
              <a:gd name="T3" fmla="*/ 71 h 72"/>
              <a:gd name="T4" fmla="*/ 121 w 122"/>
              <a:gd name="T5" fmla="*/ 0 h 72"/>
              <a:gd name="T6" fmla="*/ 0 w 122"/>
              <a:gd name="T7" fmla="*/ 36 h 72"/>
              <a:gd name="T8" fmla="*/ 0 w 122"/>
              <a:gd name="T9" fmla="*/ 36 h 72"/>
            </a:gdLst>
            <a:ahLst/>
            <a:cxnLst>
              <a:cxn ang="0">
                <a:pos x="T0" y="T1"/>
              </a:cxn>
              <a:cxn ang="0">
                <a:pos x="T2" y="T3"/>
              </a:cxn>
              <a:cxn ang="0">
                <a:pos x="T4" y="T5"/>
              </a:cxn>
              <a:cxn ang="0">
                <a:pos x="T6" y="T7"/>
              </a:cxn>
              <a:cxn ang="0">
                <a:pos x="T8" y="T9"/>
              </a:cxn>
            </a:cxnLst>
            <a:rect l="0" t="0" r="r" b="b"/>
            <a:pathLst>
              <a:path w="122" h="72">
                <a:moveTo>
                  <a:pt x="0" y="36"/>
                </a:moveTo>
                <a:lnTo>
                  <a:pt x="121" y="71"/>
                </a:lnTo>
                <a:lnTo>
                  <a:pt x="121" y="0"/>
                </a:lnTo>
                <a:lnTo>
                  <a:pt x="0" y="36"/>
                </a:lnTo>
                <a:lnTo>
                  <a:pt x="0" y="36"/>
                </a:lnTo>
              </a:path>
            </a:pathLst>
          </a:custGeom>
          <a:solidFill>
            <a:srgbClr val="0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48" name="Freeform 48"/>
          <p:cNvSpPr/>
          <p:nvPr/>
        </p:nvSpPr>
        <p:spPr bwMode="auto">
          <a:xfrm>
            <a:off x="5701003" y="2864890"/>
            <a:ext cx="306025" cy="129792"/>
          </a:xfrm>
          <a:custGeom>
            <a:avLst/>
            <a:gdLst>
              <a:gd name="T0" fmla="*/ 0 w 177"/>
              <a:gd name="T1" fmla="*/ 146 h 147"/>
              <a:gd name="T2" fmla="*/ 176 w 177"/>
              <a:gd name="T3" fmla="*/ 0 h 147"/>
              <a:gd name="T4" fmla="*/ 0 w 177"/>
              <a:gd name="T5" fmla="*/ 146 h 147"/>
            </a:gdLst>
            <a:ahLst/>
            <a:cxnLst>
              <a:cxn ang="0">
                <a:pos x="T0" y="T1"/>
              </a:cxn>
              <a:cxn ang="0">
                <a:pos x="T2" y="T3"/>
              </a:cxn>
              <a:cxn ang="0">
                <a:pos x="T4" y="T5"/>
              </a:cxn>
            </a:cxnLst>
            <a:rect l="0" t="0" r="r" b="b"/>
            <a:pathLst>
              <a:path w="177" h="147">
                <a:moveTo>
                  <a:pt x="0" y="146"/>
                </a:moveTo>
                <a:lnTo>
                  <a:pt x="176" y="0"/>
                </a:lnTo>
                <a:lnTo>
                  <a:pt x="0" y="146"/>
                </a:lnTo>
              </a:path>
            </a:pathLst>
          </a:custGeom>
          <a:noFill/>
          <a:ln w="25399"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49" name="Freeform 49"/>
          <p:cNvSpPr/>
          <p:nvPr/>
        </p:nvSpPr>
        <p:spPr bwMode="auto">
          <a:xfrm>
            <a:off x="5909031" y="2818714"/>
            <a:ext cx="201151" cy="93600"/>
          </a:xfrm>
          <a:custGeom>
            <a:avLst/>
            <a:gdLst>
              <a:gd name="T0" fmla="*/ 115 w 116"/>
              <a:gd name="T1" fmla="*/ 0 h 106"/>
              <a:gd name="T2" fmla="*/ 0 w 116"/>
              <a:gd name="T3" fmla="*/ 50 h 106"/>
              <a:gd name="T4" fmla="*/ 47 w 116"/>
              <a:gd name="T5" fmla="*/ 105 h 106"/>
              <a:gd name="T6" fmla="*/ 115 w 116"/>
              <a:gd name="T7" fmla="*/ 0 h 106"/>
              <a:gd name="T8" fmla="*/ 115 w 116"/>
              <a:gd name="T9" fmla="*/ 0 h 106"/>
            </a:gdLst>
            <a:ahLst/>
            <a:cxnLst>
              <a:cxn ang="0">
                <a:pos x="T0" y="T1"/>
              </a:cxn>
              <a:cxn ang="0">
                <a:pos x="T2" y="T3"/>
              </a:cxn>
              <a:cxn ang="0">
                <a:pos x="T4" y="T5"/>
              </a:cxn>
              <a:cxn ang="0">
                <a:pos x="T6" y="T7"/>
              </a:cxn>
              <a:cxn ang="0">
                <a:pos x="T8" y="T9"/>
              </a:cxn>
            </a:cxnLst>
            <a:rect l="0" t="0" r="r" b="b"/>
            <a:pathLst>
              <a:path w="116" h="106">
                <a:moveTo>
                  <a:pt x="115" y="0"/>
                </a:moveTo>
                <a:lnTo>
                  <a:pt x="0" y="50"/>
                </a:lnTo>
                <a:lnTo>
                  <a:pt x="47" y="105"/>
                </a:lnTo>
                <a:lnTo>
                  <a:pt x="115" y="0"/>
                </a:lnTo>
                <a:lnTo>
                  <a:pt x="115" y="0"/>
                </a:lnTo>
              </a:path>
            </a:pathLst>
          </a:custGeom>
          <a:solidFill>
            <a:srgbClr val="0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50" name="Freeform 50"/>
          <p:cNvSpPr/>
          <p:nvPr/>
        </p:nvSpPr>
        <p:spPr bwMode="auto">
          <a:xfrm>
            <a:off x="5682090" y="2994682"/>
            <a:ext cx="311183" cy="118560"/>
          </a:xfrm>
          <a:custGeom>
            <a:avLst/>
            <a:gdLst>
              <a:gd name="T0" fmla="*/ 0 w 181"/>
              <a:gd name="T1" fmla="*/ 0 h 134"/>
              <a:gd name="T2" fmla="*/ 180 w 181"/>
              <a:gd name="T3" fmla="*/ 133 h 134"/>
              <a:gd name="T4" fmla="*/ 0 w 181"/>
              <a:gd name="T5" fmla="*/ 0 h 134"/>
            </a:gdLst>
            <a:ahLst/>
            <a:cxnLst>
              <a:cxn ang="0">
                <a:pos x="T0" y="T1"/>
              </a:cxn>
              <a:cxn ang="0">
                <a:pos x="T2" y="T3"/>
              </a:cxn>
              <a:cxn ang="0">
                <a:pos x="T4" y="T5"/>
              </a:cxn>
            </a:cxnLst>
            <a:rect l="0" t="0" r="r" b="b"/>
            <a:pathLst>
              <a:path w="181" h="134">
                <a:moveTo>
                  <a:pt x="0" y="0"/>
                </a:moveTo>
                <a:lnTo>
                  <a:pt x="180" y="133"/>
                </a:lnTo>
                <a:lnTo>
                  <a:pt x="0" y="0"/>
                </a:lnTo>
              </a:path>
            </a:pathLst>
          </a:custGeom>
          <a:noFill/>
          <a:ln w="25399"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51" name="Freeform 51"/>
          <p:cNvSpPr/>
          <p:nvPr/>
        </p:nvSpPr>
        <p:spPr bwMode="auto">
          <a:xfrm>
            <a:off x="5893557" y="3065818"/>
            <a:ext cx="206309" cy="88608"/>
          </a:xfrm>
          <a:custGeom>
            <a:avLst/>
            <a:gdLst>
              <a:gd name="T0" fmla="*/ 119 w 120"/>
              <a:gd name="T1" fmla="*/ 100 h 101"/>
              <a:gd name="T2" fmla="*/ 43 w 120"/>
              <a:gd name="T3" fmla="*/ 0 h 101"/>
              <a:gd name="T4" fmla="*/ 0 w 120"/>
              <a:gd name="T5" fmla="*/ 56 h 101"/>
              <a:gd name="T6" fmla="*/ 119 w 120"/>
              <a:gd name="T7" fmla="*/ 100 h 101"/>
              <a:gd name="T8" fmla="*/ 119 w 120"/>
              <a:gd name="T9" fmla="*/ 100 h 101"/>
            </a:gdLst>
            <a:ahLst/>
            <a:cxnLst>
              <a:cxn ang="0">
                <a:pos x="T0" y="T1"/>
              </a:cxn>
              <a:cxn ang="0">
                <a:pos x="T2" y="T3"/>
              </a:cxn>
              <a:cxn ang="0">
                <a:pos x="T4" y="T5"/>
              </a:cxn>
              <a:cxn ang="0">
                <a:pos x="T6" y="T7"/>
              </a:cxn>
              <a:cxn ang="0">
                <a:pos x="T8" y="T9"/>
              </a:cxn>
            </a:cxnLst>
            <a:rect l="0" t="0" r="r" b="b"/>
            <a:pathLst>
              <a:path w="120" h="101">
                <a:moveTo>
                  <a:pt x="119" y="100"/>
                </a:moveTo>
                <a:lnTo>
                  <a:pt x="43" y="0"/>
                </a:lnTo>
                <a:lnTo>
                  <a:pt x="0" y="56"/>
                </a:lnTo>
                <a:lnTo>
                  <a:pt x="119" y="100"/>
                </a:lnTo>
                <a:lnTo>
                  <a:pt x="119" y="100"/>
                </a:lnTo>
              </a:path>
            </a:pathLst>
          </a:custGeom>
          <a:solidFill>
            <a:srgbClr val="0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52" name="Freeform 52"/>
          <p:cNvSpPr/>
          <p:nvPr/>
        </p:nvSpPr>
        <p:spPr bwMode="auto">
          <a:xfrm>
            <a:off x="6980118" y="2863642"/>
            <a:ext cx="319779" cy="137280"/>
          </a:xfrm>
          <a:custGeom>
            <a:avLst/>
            <a:gdLst>
              <a:gd name="T0" fmla="*/ 184 w 185"/>
              <a:gd name="T1" fmla="*/ 153 h 154"/>
              <a:gd name="T2" fmla="*/ 0 w 185"/>
              <a:gd name="T3" fmla="*/ 0 h 154"/>
              <a:gd name="T4" fmla="*/ 184 w 185"/>
              <a:gd name="T5" fmla="*/ 153 h 154"/>
            </a:gdLst>
            <a:ahLst/>
            <a:cxnLst>
              <a:cxn ang="0">
                <a:pos x="T0" y="T1"/>
              </a:cxn>
              <a:cxn ang="0">
                <a:pos x="T2" y="T3"/>
              </a:cxn>
              <a:cxn ang="0">
                <a:pos x="T4" y="T5"/>
              </a:cxn>
            </a:cxnLst>
            <a:rect l="0" t="0" r="r" b="b"/>
            <a:pathLst>
              <a:path w="185" h="154">
                <a:moveTo>
                  <a:pt x="184" y="153"/>
                </a:moveTo>
                <a:lnTo>
                  <a:pt x="0" y="0"/>
                </a:lnTo>
                <a:lnTo>
                  <a:pt x="184" y="153"/>
                </a:lnTo>
              </a:path>
            </a:pathLst>
          </a:custGeom>
          <a:noFill/>
          <a:ln w="25399"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53" name="Freeform 53"/>
          <p:cNvSpPr/>
          <p:nvPr/>
        </p:nvSpPr>
        <p:spPr bwMode="auto">
          <a:xfrm>
            <a:off x="6878682" y="2818714"/>
            <a:ext cx="201151" cy="93600"/>
          </a:xfrm>
          <a:custGeom>
            <a:avLst/>
            <a:gdLst>
              <a:gd name="T0" fmla="*/ 0 w 116"/>
              <a:gd name="T1" fmla="*/ 0 h 106"/>
              <a:gd name="T2" fmla="*/ 68 w 116"/>
              <a:gd name="T3" fmla="*/ 105 h 106"/>
              <a:gd name="T4" fmla="*/ 115 w 116"/>
              <a:gd name="T5" fmla="*/ 50 h 106"/>
              <a:gd name="T6" fmla="*/ 0 w 116"/>
              <a:gd name="T7" fmla="*/ 0 h 106"/>
              <a:gd name="T8" fmla="*/ 0 w 116"/>
              <a:gd name="T9" fmla="*/ 0 h 106"/>
            </a:gdLst>
            <a:ahLst/>
            <a:cxnLst>
              <a:cxn ang="0">
                <a:pos x="T0" y="T1"/>
              </a:cxn>
              <a:cxn ang="0">
                <a:pos x="T2" y="T3"/>
              </a:cxn>
              <a:cxn ang="0">
                <a:pos x="T4" y="T5"/>
              </a:cxn>
              <a:cxn ang="0">
                <a:pos x="T6" y="T7"/>
              </a:cxn>
              <a:cxn ang="0">
                <a:pos x="T8" y="T9"/>
              </a:cxn>
            </a:cxnLst>
            <a:rect l="0" t="0" r="r" b="b"/>
            <a:pathLst>
              <a:path w="116" h="106">
                <a:moveTo>
                  <a:pt x="0" y="0"/>
                </a:moveTo>
                <a:lnTo>
                  <a:pt x="68" y="105"/>
                </a:lnTo>
                <a:lnTo>
                  <a:pt x="115" y="50"/>
                </a:lnTo>
                <a:lnTo>
                  <a:pt x="0" y="0"/>
                </a:lnTo>
                <a:lnTo>
                  <a:pt x="0" y="0"/>
                </a:lnTo>
              </a:path>
            </a:pathLst>
          </a:custGeom>
          <a:solidFill>
            <a:srgbClr val="0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54" name="Freeform 54"/>
          <p:cNvSpPr/>
          <p:nvPr/>
        </p:nvSpPr>
        <p:spPr bwMode="auto">
          <a:xfrm>
            <a:off x="6959487" y="2994682"/>
            <a:ext cx="314620" cy="119808"/>
          </a:xfrm>
          <a:custGeom>
            <a:avLst/>
            <a:gdLst>
              <a:gd name="T0" fmla="*/ 182 w 183"/>
              <a:gd name="T1" fmla="*/ 0 h 135"/>
              <a:gd name="T2" fmla="*/ 0 w 183"/>
              <a:gd name="T3" fmla="*/ 134 h 135"/>
              <a:gd name="T4" fmla="*/ 182 w 183"/>
              <a:gd name="T5" fmla="*/ 0 h 135"/>
            </a:gdLst>
            <a:ahLst/>
            <a:cxnLst>
              <a:cxn ang="0">
                <a:pos x="T0" y="T1"/>
              </a:cxn>
              <a:cxn ang="0">
                <a:pos x="T2" y="T3"/>
              </a:cxn>
              <a:cxn ang="0">
                <a:pos x="T4" y="T5"/>
              </a:cxn>
            </a:cxnLst>
            <a:rect l="0" t="0" r="r" b="b"/>
            <a:pathLst>
              <a:path w="183" h="135">
                <a:moveTo>
                  <a:pt x="182" y="0"/>
                </a:moveTo>
                <a:lnTo>
                  <a:pt x="0" y="134"/>
                </a:lnTo>
                <a:lnTo>
                  <a:pt x="182" y="0"/>
                </a:lnTo>
              </a:path>
            </a:pathLst>
          </a:custGeom>
          <a:noFill/>
          <a:ln w="25399" cap="rnd" cmpd="sng">
            <a:solidFill>
              <a:srgbClr val="000000"/>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55" name="Freeform 55"/>
          <p:cNvSpPr/>
          <p:nvPr/>
        </p:nvSpPr>
        <p:spPr bwMode="auto">
          <a:xfrm>
            <a:off x="6858051" y="3064570"/>
            <a:ext cx="204590" cy="89856"/>
          </a:xfrm>
          <a:custGeom>
            <a:avLst/>
            <a:gdLst>
              <a:gd name="T0" fmla="*/ 0 w 119"/>
              <a:gd name="T1" fmla="*/ 101 h 102"/>
              <a:gd name="T2" fmla="*/ 118 w 119"/>
              <a:gd name="T3" fmla="*/ 57 h 102"/>
              <a:gd name="T4" fmla="*/ 76 w 119"/>
              <a:gd name="T5" fmla="*/ 0 h 102"/>
              <a:gd name="T6" fmla="*/ 0 w 119"/>
              <a:gd name="T7" fmla="*/ 101 h 102"/>
              <a:gd name="T8" fmla="*/ 0 w 119"/>
              <a:gd name="T9" fmla="*/ 101 h 102"/>
            </a:gdLst>
            <a:ahLst/>
            <a:cxnLst>
              <a:cxn ang="0">
                <a:pos x="T0" y="T1"/>
              </a:cxn>
              <a:cxn ang="0">
                <a:pos x="T2" y="T3"/>
              </a:cxn>
              <a:cxn ang="0">
                <a:pos x="T4" y="T5"/>
              </a:cxn>
              <a:cxn ang="0">
                <a:pos x="T6" y="T7"/>
              </a:cxn>
              <a:cxn ang="0">
                <a:pos x="T8" y="T9"/>
              </a:cxn>
            </a:cxnLst>
            <a:rect l="0" t="0" r="r" b="b"/>
            <a:pathLst>
              <a:path w="119" h="102">
                <a:moveTo>
                  <a:pt x="0" y="101"/>
                </a:moveTo>
                <a:lnTo>
                  <a:pt x="118" y="57"/>
                </a:lnTo>
                <a:lnTo>
                  <a:pt x="76" y="0"/>
                </a:lnTo>
                <a:lnTo>
                  <a:pt x="0" y="101"/>
                </a:lnTo>
                <a:lnTo>
                  <a:pt x="0" y="101"/>
                </a:lnTo>
              </a:path>
            </a:pathLst>
          </a:custGeom>
          <a:solidFill>
            <a:srgbClr val="000000"/>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lstStyle/>
          <a:p>
            <a:pPr algn="ctr">
              <a:buClrTx/>
              <a:buFontTx/>
              <a:buNone/>
            </a:pPr>
            <a:endParaRPr lang="zh-CN" altLang="en-US" sz="1200">
              <a:latin typeface="Arial" panose="020B0604020202020204" pitchFamily="34" charset="0"/>
            </a:endParaRPr>
          </a:p>
        </p:txBody>
      </p:sp>
      <p:sp>
        <p:nvSpPr>
          <p:cNvPr id="56" name="Rectangle 57"/>
          <p:cNvSpPr>
            <a:spLocks noChangeArrowheads="1"/>
          </p:cNvSpPr>
          <p:nvPr/>
        </p:nvSpPr>
        <p:spPr bwMode="auto">
          <a:xfrm>
            <a:off x="4753701" y="2847418"/>
            <a:ext cx="761624" cy="24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业务线</a:t>
            </a:r>
            <a:endParaRPr lang="zh-CN" altLang="en-US" sz="1100" dirty="0">
              <a:latin typeface="Arial Narrow" panose="020B0606020202030204" pitchFamily="34" charset="0"/>
              <a:cs typeface="Arial" panose="020B0604020202020204" pitchFamily="34" charset="0"/>
            </a:endParaRPr>
          </a:p>
        </p:txBody>
      </p:sp>
      <p:sp>
        <p:nvSpPr>
          <p:cNvPr id="57" name="Rectangle 58"/>
          <p:cNvSpPr>
            <a:spLocks noChangeArrowheads="1"/>
          </p:cNvSpPr>
          <p:nvPr/>
        </p:nvSpPr>
        <p:spPr bwMode="auto">
          <a:xfrm>
            <a:off x="7490731" y="2843674"/>
            <a:ext cx="742712" cy="258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业务线</a:t>
            </a:r>
            <a:endParaRPr lang="zh-CN" altLang="en-US" sz="1100" dirty="0">
              <a:latin typeface="Arial Narrow" panose="020B0606020202030204" pitchFamily="34" charset="0"/>
              <a:cs typeface="Arial" panose="020B0604020202020204" pitchFamily="34" charset="0"/>
            </a:endParaRPr>
          </a:p>
        </p:txBody>
      </p:sp>
      <p:sp>
        <p:nvSpPr>
          <p:cNvPr id="58" name="Rectangle 59"/>
          <p:cNvSpPr>
            <a:spLocks noChangeArrowheads="1"/>
          </p:cNvSpPr>
          <p:nvPr/>
        </p:nvSpPr>
        <p:spPr bwMode="auto">
          <a:xfrm>
            <a:off x="6208332" y="3030077"/>
            <a:ext cx="543280"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en-US" altLang="zh-CN" sz="1100" dirty="0">
                <a:latin typeface="Arial Narrow" panose="020B0606020202030204" pitchFamily="34" charset="0"/>
                <a:cs typeface="Arial" panose="020B0604020202020204" pitchFamily="34" charset="0"/>
              </a:rPr>
              <a:t>AI</a:t>
            </a:r>
            <a:endParaRPr lang="zh-CN" altLang="en-US" sz="1100" dirty="0">
              <a:latin typeface="Arial Narrow" panose="020B0606020202030204" pitchFamily="34" charset="0"/>
              <a:cs typeface="Arial" panose="020B0604020202020204" pitchFamily="34" charset="0"/>
            </a:endParaRPr>
          </a:p>
        </p:txBody>
      </p:sp>
      <p:sp>
        <p:nvSpPr>
          <p:cNvPr id="59" name="AutoShape 61"/>
          <p:cNvSpPr>
            <a:spLocks noChangeArrowheads="1"/>
          </p:cNvSpPr>
          <p:nvPr/>
        </p:nvSpPr>
        <p:spPr bwMode="auto">
          <a:xfrm>
            <a:off x="6122216" y="2389402"/>
            <a:ext cx="742712" cy="255840"/>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60" name="Rectangle 62"/>
          <p:cNvSpPr>
            <a:spLocks noChangeArrowheads="1"/>
          </p:cNvSpPr>
          <p:nvPr/>
        </p:nvSpPr>
        <p:spPr bwMode="auto">
          <a:xfrm>
            <a:off x="6209898" y="2422301"/>
            <a:ext cx="541561"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en-US" altLang="zh-CN" sz="1100" dirty="0">
                <a:latin typeface="Arial Narrow" panose="020B0606020202030204" pitchFamily="34" charset="0"/>
                <a:cs typeface="Arial" panose="020B0604020202020204" pitchFamily="34" charset="0"/>
              </a:rPr>
              <a:t>IT</a:t>
            </a:r>
            <a:r>
              <a:rPr lang="zh-CN" altLang="en-US" sz="1100" dirty="0">
                <a:latin typeface="Arial Narrow" panose="020B0606020202030204" pitchFamily="34" charset="0"/>
                <a:cs typeface="Arial" panose="020B0604020202020204" pitchFamily="34" charset="0"/>
              </a:rPr>
              <a:t>部门</a:t>
            </a:r>
            <a:endParaRPr lang="zh-CN" altLang="en-US" sz="1100" dirty="0">
              <a:latin typeface="Arial Narrow" panose="020B0606020202030204" pitchFamily="34" charset="0"/>
              <a:cs typeface="Arial" panose="020B0604020202020204" pitchFamily="34" charset="0"/>
            </a:endParaRPr>
          </a:p>
        </p:txBody>
      </p:sp>
      <p:sp>
        <p:nvSpPr>
          <p:cNvPr id="61" name="Rectangle 63"/>
          <p:cNvSpPr>
            <a:spLocks noChangeArrowheads="1"/>
          </p:cNvSpPr>
          <p:nvPr/>
        </p:nvSpPr>
        <p:spPr bwMode="auto">
          <a:xfrm>
            <a:off x="6173935" y="2807857"/>
            <a:ext cx="696292"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buClrTx/>
              <a:buFontTx/>
              <a:buNone/>
            </a:pPr>
            <a:r>
              <a:rPr lang="en-US" altLang="en-AU" sz="1100" dirty="0">
                <a:latin typeface="Arial Narrow" panose="020B0606020202030204" pitchFamily="34" charset="0"/>
                <a:cs typeface="Arial" panose="020B0604020202020204" pitchFamily="34" charset="0"/>
              </a:rPr>
              <a:t>  </a:t>
            </a:r>
            <a:r>
              <a:rPr lang="zh-CN" altLang="en-US" sz="1100" dirty="0">
                <a:latin typeface="Arial Narrow" panose="020B0606020202030204" pitchFamily="34" charset="0"/>
                <a:cs typeface="Arial" panose="020B0604020202020204" pitchFamily="34" charset="0"/>
              </a:rPr>
              <a:t>大数据</a:t>
            </a:r>
            <a:endParaRPr lang="en-US" altLang="zh-CN" sz="1100" dirty="0">
              <a:latin typeface="Arial Narrow" panose="020B0606020202030204" pitchFamily="34" charset="0"/>
              <a:cs typeface="Arial" panose="020B0604020202020204" pitchFamily="34" charset="0"/>
            </a:endParaRPr>
          </a:p>
        </p:txBody>
      </p:sp>
      <p:sp>
        <p:nvSpPr>
          <p:cNvPr id="62" name="Rectangle 64"/>
          <p:cNvSpPr>
            <a:spLocks noChangeArrowheads="1"/>
          </p:cNvSpPr>
          <p:nvPr/>
        </p:nvSpPr>
        <p:spPr bwMode="auto">
          <a:xfrm>
            <a:off x="4786367" y="3312756"/>
            <a:ext cx="3713559"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eaLnBrk="0" hangingPunct="0">
              <a:buClrTx/>
              <a:buFontTx/>
              <a:buNone/>
            </a:pPr>
            <a:r>
              <a:rPr lang="zh-CN" altLang="en-AU" sz="1200" dirty="0">
                <a:latin typeface="Times New Roman" panose="02020603050405020304" pitchFamily="18" charset="0"/>
                <a:cs typeface="Arial" panose="020B0604020202020204" pitchFamily="34" charset="0"/>
              </a:rPr>
              <a:t>特点：主要的业务部门配置</a:t>
            </a:r>
            <a:r>
              <a:rPr lang="en-AU" altLang="zh-CN" sz="1200" dirty="0">
                <a:latin typeface="Times New Roman" panose="02020603050405020304" pitchFamily="18" charset="0"/>
                <a:cs typeface="Arial" panose="020B0604020202020204" pitchFamily="34" charset="0"/>
              </a:rPr>
              <a:t>IT</a:t>
            </a:r>
            <a:r>
              <a:rPr lang="zh-CN" altLang="en-AU" sz="1200" dirty="0">
                <a:latin typeface="Times New Roman" panose="02020603050405020304" pitchFamily="18" charset="0"/>
                <a:cs typeface="Arial" panose="020B0604020202020204" pitchFamily="34" charset="0"/>
              </a:rPr>
              <a:t>服务能力，向其它子公司提供服务，通常是一种过渡模式，存在较少</a:t>
            </a:r>
            <a:endParaRPr lang="zh-CN" altLang="zh-CN" sz="1200" dirty="0">
              <a:latin typeface="Times New Roman" panose="02020603050405020304" pitchFamily="18" charset="0"/>
              <a:cs typeface="Arial" panose="020B0604020202020204" pitchFamily="34" charset="0"/>
            </a:endParaRPr>
          </a:p>
        </p:txBody>
      </p:sp>
      <p:sp>
        <p:nvSpPr>
          <p:cNvPr id="63" name="Rectangle 65"/>
          <p:cNvSpPr>
            <a:spLocks noChangeArrowheads="1"/>
          </p:cNvSpPr>
          <p:nvPr/>
        </p:nvSpPr>
        <p:spPr bwMode="auto">
          <a:xfrm>
            <a:off x="4621319" y="1840604"/>
            <a:ext cx="3878608" cy="238447"/>
          </a:xfrm>
          <a:prstGeom prst="rect">
            <a:avLst/>
          </a:prstGeom>
          <a:solidFill>
            <a:schemeClr val="accent2"/>
          </a:solidFill>
          <a:ln>
            <a:noFill/>
          </a:ln>
          <a:effectLst>
            <a:prstShdw prst="shdw17" dist="17961" dir="2700000">
              <a:schemeClr val="accent2">
                <a:gamma/>
                <a:shade val="60000"/>
                <a:invGamma/>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nchor="ctr"/>
          <a:lstStyle>
            <a:lvl1pPr algn="l">
              <a:defRPr>
                <a:solidFill>
                  <a:schemeClr val="tx1"/>
                </a:solidFill>
                <a:latin typeface="Arial" panose="020B0604020202020204" pitchFamily="34" charset="0"/>
                <a:ea typeface="宋体" panose="02010600030101010101" pitchFamily="2" charset="-122"/>
              </a:defRPr>
            </a:lvl1pPr>
            <a:lvl2pPr marL="571500" algn="l">
              <a:defRPr>
                <a:solidFill>
                  <a:schemeClr val="tx1"/>
                </a:solidFill>
                <a:latin typeface="Arial" panose="020B0604020202020204" pitchFamily="34" charset="0"/>
                <a:ea typeface="宋体" panose="02010600030101010101" pitchFamily="2" charset="-122"/>
              </a:defRPr>
            </a:lvl2pPr>
            <a:lvl3pPr marL="1143000" algn="l">
              <a:defRPr>
                <a:solidFill>
                  <a:schemeClr val="tx1"/>
                </a:solidFill>
                <a:latin typeface="Arial" panose="020B0604020202020204" pitchFamily="34" charset="0"/>
                <a:ea typeface="宋体" panose="02010600030101010101" pitchFamily="2" charset="-122"/>
              </a:defRPr>
            </a:lvl3pPr>
            <a:lvl4pPr marL="1714500" algn="l">
              <a:defRPr>
                <a:solidFill>
                  <a:schemeClr val="tx1"/>
                </a:solidFill>
                <a:latin typeface="Arial" panose="020B0604020202020204" pitchFamily="34" charset="0"/>
                <a:ea typeface="宋体" panose="02010600030101010101" pitchFamily="2" charset="-122"/>
              </a:defRPr>
            </a:lvl4pPr>
            <a:lvl5pPr marL="2286000" algn="l">
              <a:defRPr>
                <a:solidFill>
                  <a:schemeClr val="tx1"/>
                </a:solidFill>
                <a:latin typeface="Arial" panose="020B0604020202020204" pitchFamily="34" charset="0"/>
                <a:ea typeface="宋体" panose="02010600030101010101" pitchFamily="2" charset="-122"/>
              </a:defRPr>
            </a:lvl5pPr>
            <a:lvl6pPr marL="2743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GB" sz="1600" b="1" dirty="0">
                <a:latin typeface="宋体" panose="02010600030101010101" pitchFamily="2" charset="-122"/>
                <a:cs typeface="Arial" panose="020B0604020202020204" pitchFamily="34" charset="0"/>
              </a:rPr>
              <a:t>代管模式</a:t>
            </a:r>
            <a:endParaRPr lang="zh-CN" altLang="en-GB" sz="1600" b="1" dirty="0">
              <a:latin typeface="宋体" panose="02010600030101010101" pitchFamily="2" charset="-122"/>
              <a:cs typeface="Arial" panose="020B0604020202020204" pitchFamily="34" charset="0"/>
            </a:endParaRPr>
          </a:p>
        </p:txBody>
      </p:sp>
      <p:sp>
        <p:nvSpPr>
          <p:cNvPr id="64" name="Rectangle 66"/>
          <p:cNvSpPr>
            <a:spLocks noChangeArrowheads="1"/>
          </p:cNvSpPr>
          <p:nvPr/>
        </p:nvSpPr>
        <p:spPr bwMode="auto">
          <a:xfrm>
            <a:off x="722082" y="2053874"/>
            <a:ext cx="3796083" cy="1599521"/>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65" name="AutoShape 67"/>
          <p:cNvSpPr>
            <a:spLocks noChangeArrowheads="1"/>
          </p:cNvSpPr>
          <p:nvPr/>
        </p:nvSpPr>
        <p:spPr bwMode="auto">
          <a:xfrm>
            <a:off x="2293468" y="2444869"/>
            <a:ext cx="740993" cy="303613"/>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66" name="AutoShape 68"/>
          <p:cNvSpPr>
            <a:spLocks noChangeArrowheads="1"/>
          </p:cNvSpPr>
          <p:nvPr/>
        </p:nvSpPr>
        <p:spPr bwMode="auto">
          <a:xfrm>
            <a:off x="1268799" y="2444869"/>
            <a:ext cx="742712" cy="303613"/>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67" name="AutoShape 69"/>
          <p:cNvSpPr>
            <a:spLocks noChangeArrowheads="1"/>
          </p:cNvSpPr>
          <p:nvPr/>
        </p:nvSpPr>
        <p:spPr bwMode="auto">
          <a:xfrm>
            <a:off x="3420052" y="2444869"/>
            <a:ext cx="739273" cy="303613"/>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68" name="Rectangle 70"/>
          <p:cNvSpPr>
            <a:spLocks noChangeArrowheads="1"/>
          </p:cNvSpPr>
          <p:nvPr/>
        </p:nvSpPr>
        <p:spPr bwMode="auto">
          <a:xfrm>
            <a:off x="1217222" y="2188141"/>
            <a:ext cx="292958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200" b="1" dirty="0">
                <a:cs typeface="Arial" panose="020B0604020202020204" pitchFamily="34" charset="0"/>
              </a:rPr>
              <a:t>业务线负责制</a:t>
            </a:r>
            <a:endParaRPr lang="zh-CN" altLang="en-US" sz="1200" b="1" dirty="0">
              <a:cs typeface="Arial" panose="020B0604020202020204" pitchFamily="34" charset="0"/>
            </a:endParaRPr>
          </a:p>
        </p:txBody>
      </p:sp>
      <p:sp>
        <p:nvSpPr>
          <p:cNvPr id="69" name="Rectangle 71"/>
          <p:cNvSpPr>
            <a:spLocks noChangeArrowheads="1"/>
          </p:cNvSpPr>
          <p:nvPr/>
        </p:nvSpPr>
        <p:spPr bwMode="auto">
          <a:xfrm>
            <a:off x="2370833" y="2511816"/>
            <a:ext cx="586262"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业务线</a:t>
            </a:r>
            <a:endParaRPr lang="zh-CN" altLang="en-US" sz="1100" dirty="0">
              <a:latin typeface="Arial Narrow" panose="020B0606020202030204" pitchFamily="34" charset="0"/>
              <a:cs typeface="Arial" panose="020B0604020202020204" pitchFamily="34" charset="0"/>
            </a:endParaRPr>
          </a:p>
        </p:txBody>
      </p:sp>
      <p:sp>
        <p:nvSpPr>
          <p:cNvPr id="70" name="Rectangle 72"/>
          <p:cNvSpPr>
            <a:spLocks noChangeArrowheads="1"/>
          </p:cNvSpPr>
          <p:nvPr/>
        </p:nvSpPr>
        <p:spPr bwMode="auto">
          <a:xfrm>
            <a:off x="1359919" y="2511816"/>
            <a:ext cx="560472"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业务线</a:t>
            </a:r>
            <a:endParaRPr lang="zh-CN" altLang="en-US" sz="1100" dirty="0">
              <a:latin typeface="Arial Narrow" panose="020B0606020202030204" pitchFamily="34" charset="0"/>
              <a:cs typeface="Arial" panose="020B0604020202020204" pitchFamily="34" charset="0"/>
            </a:endParaRPr>
          </a:p>
        </p:txBody>
      </p:sp>
      <p:sp>
        <p:nvSpPr>
          <p:cNvPr id="71" name="Rectangle 73"/>
          <p:cNvSpPr>
            <a:spLocks noChangeArrowheads="1"/>
          </p:cNvSpPr>
          <p:nvPr/>
        </p:nvSpPr>
        <p:spPr bwMode="auto">
          <a:xfrm>
            <a:off x="3497417" y="2511816"/>
            <a:ext cx="586262"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业务线</a:t>
            </a:r>
            <a:endParaRPr lang="zh-CN" altLang="en-US" sz="1100" dirty="0">
              <a:latin typeface="Arial Narrow" panose="020B0606020202030204" pitchFamily="34" charset="0"/>
              <a:cs typeface="Arial" panose="020B0604020202020204" pitchFamily="34" charset="0"/>
            </a:endParaRPr>
          </a:p>
        </p:txBody>
      </p:sp>
      <p:grpSp>
        <p:nvGrpSpPr>
          <p:cNvPr id="72" name="组合 1"/>
          <p:cNvGrpSpPr/>
          <p:nvPr/>
        </p:nvGrpSpPr>
        <p:grpSpPr>
          <a:xfrm>
            <a:off x="1062981" y="2869923"/>
            <a:ext cx="1124383" cy="189573"/>
            <a:chOff x="969652" y="2869926"/>
            <a:chExt cx="1124383" cy="189573"/>
          </a:xfrm>
        </p:grpSpPr>
        <p:sp>
          <p:nvSpPr>
            <p:cNvPr id="73" name="Oval 74"/>
            <p:cNvSpPr>
              <a:spLocks noChangeArrowheads="1"/>
            </p:cNvSpPr>
            <p:nvPr/>
          </p:nvSpPr>
          <p:spPr bwMode="auto">
            <a:xfrm>
              <a:off x="969652" y="2869926"/>
              <a:ext cx="1036702" cy="189573"/>
            </a:xfrm>
            <a:prstGeom prst="ellipse">
              <a:avLst/>
            </a:prstGeom>
            <a:solidFill>
              <a:srgbClr val="FFFFFF"/>
            </a:solidFill>
            <a:ln w="12699">
              <a:solidFill>
                <a:srgbClr val="000000"/>
              </a:solidFill>
              <a:round/>
            </a:ln>
            <a:effectLst>
              <a:outerShdw dist="53882" dir="2700000" algn="ctr" rotWithShape="0">
                <a:srgbClr val="94BF74"/>
              </a:outerShdw>
            </a:effectLst>
          </p:spPr>
          <p:txBody>
            <a:bodyPr wrap="none" anchor="ctr"/>
            <a:lstStyle/>
            <a:p>
              <a:pPr algn="ctr">
                <a:buClrTx/>
                <a:buFontTx/>
                <a:buNone/>
              </a:pPr>
              <a:endParaRPr lang="zh-CN" altLang="en-US" sz="1200">
                <a:latin typeface="Arial" panose="020B0604020202020204" pitchFamily="34" charset="0"/>
              </a:endParaRPr>
            </a:p>
          </p:txBody>
        </p:sp>
        <p:sp>
          <p:nvSpPr>
            <p:cNvPr id="74" name="Rectangle 77"/>
            <p:cNvSpPr>
              <a:spLocks noChangeArrowheads="1"/>
            </p:cNvSpPr>
            <p:nvPr/>
          </p:nvSpPr>
          <p:spPr bwMode="auto">
            <a:xfrm>
              <a:off x="969652" y="2878373"/>
              <a:ext cx="1124383"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数字化团队</a:t>
              </a:r>
              <a:endParaRPr lang="en-US" altLang="zh-CN" sz="1100" dirty="0">
                <a:latin typeface="Arial Narrow" panose="020B0606020202030204" pitchFamily="34" charset="0"/>
                <a:cs typeface="Arial" panose="020B0604020202020204" pitchFamily="34" charset="0"/>
              </a:endParaRPr>
            </a:p>
          </p:txBody>
        </p:sp>
      </p:grpSp>
      <p:sp>
        <p:nvSpPr>
          <p:cNvPr id="75" name="Rectangle 80"/>
          <p:cNvSpPr>
            <a:spLocks noChangeArrowheads="1"/>
          </p:cNvSpPr>
          <p:nvPr/>
        </p:nvSpPr>
        <p:spPr bwMode="auto">
          <a:xfrm>
            <a:off x="969653" y="3226856"/>
            <a:ext cx="338346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hangingPunct="0">
              <a:buClrTx/>
              <a:buFontTx/>
              <a:buNone/>
            </a:pPr>
            <a:r>
              <a:rPr lang="zh-CN" altLang="en-AU" sz="1200" dirty="0">
                <a:latin typeface="Times New Roman" panose="02020603050405020304" pitchFamily="18" charset="0"/>
                <a:cs typeface="Arial" panose="020B0604020202020204" pitchFamily="34" charset="0"/>
              </a:rPr>
              <a:t>特点：每一业务单位都</a:t>
            </a:r>
            <a:r>
              <a:rPr lang="zh-CN" altLang="en-US" sz="1200" dirty="0">
                <a:latin typeface="Times New Roman" panose="02020603050405020304" pitchFamily="18" charset="0"/>
                <a:cs typeface="Arial" panose="020B0604020202020204" pitchFamily="34" charset="0"/>
              </a:rPr>
              <a:t>建立数字化项目团队，负责本业务线的数字化工作</a:t>
            </a:r>
            <a:endParaRPr lang="zh-CN" altLang="en-AU" sz="1200" dirty="0">
              <a:latin typeface="Times New Roman" panose="02020603050405020304" pitchFamily="18" charset="0"/>
              <a:cs typeface="Arial" panose="020B0604020202020204" pitchFamily="34" charset="0"/>
            </a:endParaRPr>
          </a:p>
        </p:txBody>
      </p:sp>
      <p:sp>
        <p:nvSpPr>
          <p:cNvPr id="76" name="Rectangle 81"/>
          <p:cNvSpPr>
            <a:spLocks noChangeArrowheads="1"/>
          </p:cNvSpPr>
          <p:nvPr/>
        </p:nvSpPr>
        <p:spPr bwMode="auto">
          <a:xfrm>
            <a:off x="722082" y="1840604"/>
            <a:ext cx="3796083" cy="238447"/>
          </a:xfrm>
          <a:prstGeom prst="rect">
            <a:avLst/>
          </a:prstGeom>
          <a:solidFill>
            <a:schemeClr val="accent2"/>
          </a:solidFill>
          <a:ln>
            <a:noFill/>
          </a:ln>
          <a:effectLst>
            <a:prstShdw prst="shdw17" dist="17961" dir="2700000">
              <a:schemeClr val="accent2">
                <a:gamma/>
                <a:shade val="60000"/>
                <a:invGamma/>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nchor="ctr"/>
          <a:lstStyle>
            <a:lvl1pPr algn="l">
              <a:defRPr>
                <a:solidFill>
                  <a:schemeClr val="tx1"/>
                </a:solidFill>
                <a:latin typeface="Arial" panose="020B0604020202020204" pitchFamily="34" charset="0"/>
                <a:ea typeface="宋体" panose="02010600030101010101" pitchFamily="2" charset="-122"/>
              </a:defRPr>
            </a:lvl1pPr>
            <a:lvl2pPr marL="571500" algn="l">
              <a:defRPr>
                <a:solidFill>
                  <a:schemeClr val="tx1"/>
                </a:solidFill>
                <a:latin typeface="Arial" panose="020B0604020202020204" pitchFamily="34" charset="0"/>
                <a:ea typeface="宋体" panose="02010600030101010101" pitchFamily="2" charset="-122"/>
              </a:defRPr>
            </a:lvl2pPr>
            <a:lvl3pPr marL="1143000" algn="l">
              <a:defRPr>
                <a:solidFill>
                  <a:schemeClr val="tx1"/>
                </a:solidFill>
                <a:latin typeface="Arial" panose="020B0604020202020204" pitchFamily="34" charset="0"/>
                <a:ea typeface="宋体" panose="02010600030101010101" pitchFamily="2" charset="-122"/>
              </a:defRPr>
            </a:lvl3pPr>
            <a:lvl4pPr marL="1714500" algn="l">
              <a:defRPr>
                <a:solidFill>
                  <a:schemeClr val="tx1"/>
                </a:solidFill>
                <a:latin typeface="Arial" panose="020B0604020202020204" pitchFamily="34" charset="0"/>
                <a:ea typeface="宋体" panose="02010600030101010101" pitchFamily="2" charset="-122"/>
              </a:defRPr>
            </a:lvl4pPr>
            <a:lvl5pPr marL="2286000" algn="l">
              <a:defRPr>
                <a:solidFill>
                  <a:schemeClr val="tx1"/>
                </a:solidFill>
                <a:latin typeface="Arial" panose="020B0604020202020204" pitchFamily="34" charset="0"/>
                <a:ea typeface="宋体" panose="02010600030101010101" pitchFamily="2" charset="-122"/>
              </a:defRPr>
            </a:lvl5pPr>
            <a:lvl6pPr marL="2743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GB" sz="1600" b="1">
                <a:latin typeface="宋体" panose="02010600030101010101" pitchFamily="2" charset="-122"/>
                <a:cs typeface="Arial" panose="020B0604020202020204" pitchFamily="34" charset="0"/>
              </a:rPr>
              <a:t>分散模式</a:t>
            </a:r>
            <a:endParaRPr lang="zh-CN" altLang="en-GB" sz="1600" b="1">
              <a:latin typeface="宋体" panose="02010600030101010101" pitchFamily="2" charset="-122"/>
              <a:cs typeface="Arial" panose="020B0604020202020204" pitchFamily="34" charset="0"/>
            </a:endParaRPr>
          </a:p>
        </p:txBody>
      </p:sp>
      <p:sp>
        <p:nvSpPr>
          <p:cNvPr id="77" name="Rectangle 82"/>
          <p:cNvSpPr>
            <a:spLocks noChangeArrowheads="1"/>
          </p:cNvSpPr>
          <p:nvPr/>
        </p:nvSpPr>
        <p:spPr bwMode="auto">
          <a:xfrm>
            <a:off x="722082" y="3937754"/>
            <a:ext cx="3809837" cy="1777246"/>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78" name="Rectangle 83"/>
          <p:cNvSpPr>
            <a:spLocks noChangeArrowheads="1"/>
          </p:cNvSpPr>
          <p:nvPr/>
        </p:nvSpPr>
        <p:spPr bwMode="auto">
          <a:xfrm>
            <a:off x="825235" y="5430642"/>
            <a:ext cx="3631036" cy="1846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eaLnBrk="0" hangingPunct="0">
              <a:buClrTx/>
              <a:buFontTx/>
              <a:buNone/>
            </a:pPr>
            <a:r>
              <a:rPr lang="zh-CN" altLang="en-AU" sz="1200" dirty="0">
                <a:latin typeface="Times New Roman" panose="02020603050405020304" pitchFamily="18" charset="0"/>
                <a:cs typeface="Arial" panose="020B0604020202020204" pitchFamily="34" charset="0"/>
              </a:rPr>
              <a:t>特点：</a:t>
            </a:r>
            <a:r>
              <a:rPr lang="en-AU" altLang="zh-CN" sz="1200" dirty="0">
                <a:latin typeface="Times New Roman" panose="02020603050405020304" pitchFamily="18" charset="0"/>
                <a:cs typeface="Arial" panose="020B0604020202020204" pitchFamily="34" charset="0"/>
              </a:rPr>
              <a:t>IT</a:t>
            </a:r>
            <a:r>
              <a:rPr lang="zh-CN" altLang="en-AU" sz="1200" dirty="0">
                <a:latin typeface="Times New Roman" panose="02020603050405020304" pitchFamily="18" charset="0"/>
                <a:cs typeface="Arial" panose="020B0604020202020204" pitchFamily="34" charset="0"/>
              </a:rPr>
              <a:t>资源完全集中共享，便于</a:t>
            </a:r>
            <a:r>
              <a:rPr lang="zh-CN" altLang="en-AU" sz="1200" dirty="0">
                <a:latin typeface="Arial" panose="020B0604020202020204" pitchFamily="34" charset="0"/>
              </a:rPr>
              <a:t>提供专业技能</a:t>
            </a:r>
            <a:endParaRPr lang="zh-CN" altLang="zh-CN" sz="1200" dirty="0">
              <a:latin typeface="Arial" panose="020B0604020202020204" pitchFamily="34" charset="0"/>
            </a:endParaRPr>
          </a:p>
        </p:txBody>
      </p:sp>
      <p:sp>
        <p:nvSpPr>
          <p:cNvPr id="79" name="Rectangle 87"/>
          <p:cNvSpPr>
            <a:spLocks noChangeArrowheads="1"/>
          </p:cNvSpPr>
          <p:nvPr/>
        </p:nvSpPr>
        <p:spPr bwMode="auto">
          <a:xfrm>
            <a:off x="1818957" y="3994499"/>
            <a:ext cx="17295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200" b="1">
                <a:cs typeface="Arial" panose="020B0604020202020204" pitchFamily="34" charset="0"/>
              </a:rPr>
              <a:t>完全集中</a:t>
            </a:r>
            <a:r>
              <a:rPr lang="en-US" altLang="zh-CN" sz="1200" b="1">
                <a:cs typeface="Arial" panose="020B0604020202020204" pitchFamily="34" charset="0"/>
              </a:rPr>
              <a:t>/</a:t>
            </a:r>
            <a:r>
              <a:rPr lang="zh-CN" altLang="en-US" sz="1200" b="1">
                <a:cs typeface="Arial" panose="020B0604020202020204" pitchFamily="34" charset="0"/>
              </a:rPr>
              <a:t>共享服务</a:t>
            </a:r>
            <a:endParaRPr lang="zh-CN" altLang="en-US" sz="1200" b="1">
              <a:cs typeface="Arial" panose="020B0604020202020204" pitchFamily="34" charset="0"/>
            </a:endParaRPr>
          </a:p>
        </p:txBody>
      </p:sp>
      <p:grpSp>
        <p:nvGrpSpPr>
          <p:cNvPr id="80" name="Group 140"/>
          <p:cNvGrpSpPr/>
          <p:nvPr/>
        </p:nvGrpSpPr>
        <p:grpSpPr bwMode="auto">
          <a:xfrm>
            <a:off x="1285992" y="4297648"/>
            <a:ext cx="2786889" cy="1061904"/>
            <a:chOff x="748" y="2451"/>
            <a:chExt cx="1621" cy="851"/>
          </a:xfrm>
        </p:grpSpPr>
        <p:grpSp>
          <p:nvGrpSpPr>
            <p:cNvPr id="81" name="Group 84"/>
            <p:cNvGrpSpPr/>
            <p:nvPr/>
          </p:nvGrpSpPr>
          <p:grpSpPr bwMode="auto">
            <a:xfrm>
              <a:off x="1140" y="3024"/>
              <a:ext cx="791" cy="278"/>
              <a:chOff x="1914" y="2264"/>
              <a:chExt cx="791" cy="367"/>
            </a:xfrm>
          </p:grpSpPr>
          <p:sp>
            <p:nvSpPr>
              <p:cNvPr id="103" name="Oval 85"/>
              <p:cNvSpPr>
                <a:spLocks noChangeArrowheads="1"/>
              </p:cNvSpPr>
              <p:nvPr/>
            </p:nvSpPr>
            <p:spPr bwMode="auto">
              <a:xfrm>
                <a:off x="1914" y="2264"/>
                <a:ext cx="791" cy="367"/>
              </a:xfrm>
              <a:prstGeom prst="ellipse">
                <a:avLst/>
              </a:prstGeom>
              <a:solidFill>
                <a:srgbClr val="FFFFFF"/>
              </a:solidFill>
              <a:ln w="12699">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buClrTx/>
                  <a:buFontTx/>
                  <a:buNone/>
                </a:pPr>
                <a:endParaRPr lang="zh-CN" altLang="en-US" sz="1200">
                  <a:latin typeface="Arial" panose="020B0604020202020204" pitchFamily="34" charset="0"/>
                </a:endParaRPr>
              </a:p>
            </p:txBody>
          </p:sp>
          <p:sp>
            <p:nvSpPr>
              <p:cNvPr id="104" name="Rectangle 86"/>
              <p:cNvSpPr>
                <a:spLocks noChangeArrowheads="1"/>
              </p:cNvSpPr>
              <p:nvPr/>
            </p:nvSpPr>
            <p:spPr bwMode="auto">
              <a:xfrm>
                <a:off x="2050" y="2318"/>
                <a:ext cx="532"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en-US" altLang="zh-CN" sz="1100" dirty="0">
                    <a:latin typeface="Arial Narrow" panose="020B0606020202030204" pitchFamily="34" charset="0"/>
                    <a:cs typeface="Arial" panose="020B0604020202020204" pitchFamily="34" charset="0"/>
                  </a:rPr>
                  <a:t>IT</a:t>
                </a:r>
                <a:r>
                  <a:rPr lang="zh-CN" altLang="en-US" sz="1100" dirty="0">
                    <a:latin typeface="Arial Narrow" panose="020B0606020202030204" pitchFamily="34" charset="0"/>
                    <a:cs typeface="Arial" panose="020B0604020202020204" pitchFamily="34" charset="0"/>
                  </a:rPr>
                  <a:t>中心</a:t>
                </a:r>
                <a:endParaRPr lang="zh-CN" altLang="en-US" sz="1100" dirty="0">
                  <a:latin typeface="Arial Narrow" panose="020B0606020202030204" pitchFamily="34" charset="0"/>
                  <a:cs typeface="Arial" panose="020B0604020202020204" pitchFamily="34" charset="0"/>
                </a:endParaRPr>
              </a:p>
            </p:txBody>
          </p:sp>
        </p:grpSp>
        <p:grpSp>
          <p:nvGrpSpPr>
            <p:cNvPr id="82" name="Group 88"/>
            <p:cNvGrpSpPr/>
            <p:nvPr/>
          </p:nvGrpSpPr>
          <p:grpSpPr bwMode="auto">
            <a:xfrm>
              <a:off x="1158" y="2733"/>
              <a:ext cx="805" cy="268"/>
              <a:chOff x="959" y="2994"/>
              <a:chExt cx="805" cy="354"/>
            </a:xfrm>
          </p:grpSpPr>
          <p:sp>
            <p:nvSpPr>
              <p:cNvPr id="89" name="Freeform 89"/>
              <p:cNvSpPr/>
              <p:nvPr/>
            </p:nvSpPr>
            <p:spPr bwMode="auto">
              <a:xfrm>
                <a:off x="1094" y="3045"/>
                <a:ext cx="176" cy="261"/>
              </a:xfrm>
              <a:custGeom>
                <a:avLst/>
                <a:gdLst>
                  <a:gd name="T0" fmla="*/ 175 w 176"/>
                  <a:gd name="T1" fmla="*/ 0 h 261"/>
                  <a:gd name="T2" fmla="*/ 0 w 176"/>
                  <a:gd name="T3" fmla="*/ 260 h 261"/>
                  <a:gd name="T4" fmla="*/ 175 w 176"/>
                  <a:gd name="T5" fmla="*/ 0 h 261"/>
                </a:gdLst>
                <a:ahLst/>
                <a:cxnLst>
                  <a:cxn ang="0">
                    <a:pos x="T0" y="T1"/>
                  </a:cxn>
                  <a:cxn ang="0">
                    <a:pos x="T2" y="T3"/>
                  </a:cxn>
                  <a:cxn ang="0">
                    <a:pos x="T4" y="T5"/>
                  </a:cxn>
                </a:cxnLst>
                <a:rect l="0" t="0" r="r" b="b"/>
                <a:pathLst>
                  <a:path w="176" h="261">
                    <a:moveTo>
                      <a:pt x="175" y="0"/>
                    </a:moveTo>
                    <a:lnTo>
                      <a:pt x="0" y="260"/>
                    </a:lnTo>
                    <a:lnTo>
                      <a:pt x="175" y="0"/>
                    </a:lnTo>
                  </a:path>
                </a:pathLst>
              </a:custGeom>
              <a:noFill/>
              <a:ln w="12699" cap="rnd"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0" name="Freeform 90"/>
              <p:cNvSpPr/>
              <p:nvPr/>
            </p:nvSpPr>
            <p:spPr bwMode="auto">
              <a:xfrm>
                <a:off x="1064" y="3262"/>
                <a:ext cx="89" cy="86"/>
              </a:xfrm>
              <a:custGeom>
                <a:avLst/>
                <a:gdLst>
                  <a:gd name="T0" fmla="*/ 0 w 89"/>
                  <a:gd name="T1" fmla="*/ 85 h 86"/>
                  <a:gd name="T2" fmla="*/ 88 w 89"/>
                  <a:gd name="T3" fmla="*/ 17 h 86"/>
                  <a:gd name="T4" fmla="*/ 15 w 89"/>
                  <a:gd name="T5" fmla="*/ 0 h 86"/>
                  <a:gd name="T6" fmla="*/ 0 w 89"/>
                  <a:gd name="T7" fmla="*/ 85 h 86"/>
                  <a:gd name="T8" fmla="*/ 0 w 89"/>
                  <a:gd name="T9" fmla="*/ 85 h 86"/>
                </a:gdLst>
                <a:ahLst/>
                <a:cxnLst>
                  <a:cxn ang="0">
                    <a:pos x="T0" y="T1"/>
                  </a:cxn>
                  <a:cxn ang="0">
                    <a:pos x="T2" y="T3"/>
                  </a:cxn>
                  <a:cxn ang="0">
                    <a:pos x="T4" y="T5"/>
                  </a:cxn>
                  <a:cxn ang="0">
                    <a:pos x="T6" y="T7"/>
                  </a:cxn>
                  <a:cxn ang="0">
                    <a:pos x="T8" y="T9"/>
                  </a:cxn>
                </a:cxnLst>
                <a:rect l="0" t="0" r="r" b="b"/>
                <a:pathLst>
                  <a:path w="89" h="86">
                    <a:moveTo>
                      <a:pt x="0" y="85"/>
                    </a:moveTo>
                    <a:lnTo>
                      <a:pt x="88" y="17"/>
                    </a:lnTo>
                    <a:lnTo>
                      <a:pt x="15" y="0"/>
                    </a:lnTo>
                    <a:lnTo>
                      <a:pt x="0" y="85"/>
                    </a:lnTo>
                    <a:lnTo>
                      <a:pt x="0" y="85"/>
                    </a:lnTo>
                  </a:path>
                </a:pathLst>
              </a:custGeom>
              <a:solidFill>
                <a:srgbClr val="000000"/>
              </a:solidFill>
              <a:ln w="12699" cap="rnd"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1" name="Freeform 91"/>
              <p:cNvSpPr/>
              <p:nvPr/>
            </p:nvSpPr>
            <p:spPr bwMode="auto">
              <a:xfrm>
                <a:off x="1210" y="3003"/>
                <a:ext cx="88" cy="87"/>
              </a:xfrm>
              <a:custGeom>
                <a:avLst/>
                <a:gdLst>
                  <a:gd name="T0" fmla="*/ 87 w 88"/>
                  <a:gd name="T1" fmla="*/ 0 h 87"/>
                  <a:gd name="T2" fmla="*/ 0 w 88"/>
                  <a:gd name="T3" fmla="*/ 67 h 87"/>
                  <a:gd name="T4" fmla="*/ 71 w 88"/>
                  <a:gd name="T5" fmla="*/ 86 h 87"/>
                  <a:gd name="T6" fmla="*/ 87 w 88"/>
                  <a:gd name="T7" fmla="*/ 0 h 87"/>
                  <a:gd name="T8" fmla="*/ 87 w 88"/>
                  <a:gd name="T9" fmla="*/ 0 h 87"/>
                </a:gdLst>
                <a:ahLst/>
                <a:cxnLst>
                  <a:cxn ang="0">
                    <a:pos x="T0" y="T1"/>
                  </a:cxn>
                  <a:cxn ang="0">
                    <a:pos x="T2" y="T3"/>
                  </a:cxn>
                  <a:cxn ang="0">
                    <a:pos x="T4" y="T5"/>
                  </a:cxn>
                  <a:cxn ang="0">
                    <a:pos x="T6" y="T7"/>
                  </a:cxn>
                  <a:cxn ang="0">
                    <a:pos x="T8" y="T9"/>
                  </a:cxn>
                </a:cxnLst>
                <a:rect l="0" t="0" r="r" b="b"/>
                <a:pathLst>
                  <a:path w="88" h="87">
                    <a:moveTo>
                      <a:pt x="87" y="0"/>
                    </a:moveTo>
                    <a:lnTo>
                      <a:pt x="0" y="67"/>
                    </a:lnTo>
                    <a:lnTo>
                      <a:pt x="71" y="86"/>
                    </a:lnTo>
                    <a:lnTo>
                      <a:pt x="87" y="0"/>
                    </a:lnTo>
                    <a:lnTo>
                      <a:pt x="87" y="0"/>
                    </a:lnTo>
                  </a:path>
                </a:pathLst>
              </a:custGeom>
              <a:solidFill>
                <a:srgbClr val="000000"/>
              </a:solidFill>
              <a:ln w="12699" cap="rnd"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2" name="Freeform 92"/>
              <p:cNvSpPr/>
              <p:nvPr/>
            </p:nvSpPr>
            <p:spPr bwMode="auto">
              <a:xfrm>
                <a:off x="1110" y="3028"/>
                <a:ext cx="556" cy="251"/>
              </a:xfrm>
              <a:custGeom>
                <a:avLst/>
                <a:gdLst>
                  <a:gd name="T0" fmla="*/ 555 w 556"/>
                  <a:gd name="T1" fmla="*/ 0 h 251"/>
                  <a:gd name="T2" fmla="*/ 0 w 556"/>
                  <a:gd name="T3" fmla="*/ 250 h 251"/>
                  <a:gd name="T4" fmla="*/ 555 w 556"/>
                  <a:gd name="T5" fmla="*/ 0 h 251"/>
                </a:gdLst>
                <a:ahLst/>
                <a:cxnLst>
                  <a:cxn ang="0">
                    <a:pos x="T0" y="T1"/>
                  </a:cxn>
                  <a:cxn ang="0">
                    <a:pos x="T2" y="T3"/>
                  </a:cxn>
                  <a:cxn ang="0">
                    <a:pos x="T4" y="T5"/>
                  </a:cxn>
                </a:cxnLst>
                <a:rect l="0" t="0" r="r" b="b"/>
                <a:pathLst>
                  <a:path w="556" h="251">
                    <a:moveTo>
                      <a:pt x="555" y="0"/>
                    </a:moveTo>
                    <a:lnTo>
                      <a:pt x="0" y="250"/>
                    </a:lnTo>
                    <a:lnTo>
                      <a:pt x="555" y="0"/>
                    </a:lnTo>
                  </a:path>
                </a:pathLst>
              </a:custGeom>
              <a:noFill/>
              <a:ln w="12699" cap="rnd"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3" name="Freeform 93"/>
              <p:cNvSpPr/>
              <p:nvPr/>
            </p:nvSpPr>
            <p:spPr bwMode="auto">
              <a:xfrm>
                <a:off x="1603" y="2999"/>
                <a:ext cx="132" cy="68"/>
              </a:xfrm>
              <a:custGeom>
                <a:avLst/>
                <a:gdLst>
                  <a:gd name="T0" fmla="*/ 131 w 132"/>
                  <a:gd name="T1" fmla="*/ 0 h 68"/>
                  <a:gd name="T2" fmla="*/ 0 w 132"/>
                  <a:gd name="T3" fmla="*/ 28 h 68"/>
                  <a:gd name="T4" fmla="*/ 44 w 132"/>
                  <a:gd name="T5" fmla="*/ 67 h 68"/>
                  <a:gd name="T6" fmla="*/ 131 w 132"/>
                  <a:gd name="T7" fmla="*/ 0 h 68"/>
                  <a:gd name="T8" fmla="*/ 131 w 132"/>
                  <a:gd name="T9" fmla="*/ 0 h 68"/>
                </a:gdLst>
                <a:ahLst/>
                <a:cxnLst>
                  <a:cxn ang="0">
                    <a:pos x="T0" y="T1"/>
                  </a:cxn>
                  <a:cxn ang="0">
                    <a:pos x="T2" y="T3"/>
                  </a:cxn>
                  <a:cxn ang="0">
                    <a:pos x="T4" y="T5"/>
                  </a:cxn>
                  <a:cxn ang="0">
                    <a:pos x="T6" y="T7"/>
                  </a:cxn>
                  <a:cxn ang="0">
                    <a:pos x="T8" y="T9"/>
                  </a:cxn>
                </a:cxnLst>
                <a:rect l="0" t="0" r="r" b="b"/>
                <a:pathLst>
                  <a:path w="132" h="68">
                    <a:moveTo>
                      <a:pt x="131" y="0"/>
                    </a:moveTo>
                    <a:lnTo>
                      <a:pt x="0" y="28"/>
                    </a:lnTo>
                    <a:lnTo>
                      <a:pt x="44" y="67"/>
                    </a:lnTo>
                    <a:lnTo>
                      <a:pt x="131" y="0"/>
                    </a:lnTo>
                    <a:lnTo>
                      <a:pt x="131" y="0"/>
                    </a:lnTo>
                  </a:path>
                </a:pathLst>
              </a:custGeom>
              <a:solidFill>
                <a:srgbClr val="000000"/>
              </a:solidFill>
              <a:ln w="12699" cap="rnd"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4" name="Freeform 94"/>
              <p:cNvSpPr/>
              <p:nvPr/>
            </p:nvSpPr>
            <p:spPr bwMode="auto">
              <a:xfrm>
                <a:off x="980" y="3040"/>
                <a:ext cx="122" cy="243"/>
              </a:xfrm>
              <a:custGeom>
                <a:avLst/>
                <a:gdLst>
                  <a:gd name="T0" fmla="*/ 0 w 122"/>
                  <a:gd name="T1" fmla="*/ 0 h 243"/>
                  <a:gd name="T2" fmla="*/ 121 w 122"/>
                  <a:gd name="T3" fmla="*/ 242 h 243"/>
                  <a:gd name="T4" fmla="*/ 0 w 122"/>
                  <a:gd name="T5" fmla="*/ 0 h 243"/>
                </a:gdLst>
                <a:ahLst/>
                <a:cxnLst>
                  <a:cxn ang="0">
                    <a:pos x="T0" y="T1"/>
                  </a:cxn>
                  <a:cxn ang="0">
                    <a:pos x="T2" y="T3"/>
                  </a:cxn>
                  <a:cxn ang="0">
                    <a:pos x="T4" y="T5"/>
                  </a:cxn>
                </a:cxnLst>
                <a:rect l="0" t="0" r="r" b="b"/>
                <a:pathLst>
                  <a:path w="122" h="243">
                    <a:moveTo>
                      <a:pt x="0" y="0"/>
                    </a:moveTo>
                    <a:lnTo>
                      <a:pt x="121" y="242"/>
                    </a:lnTo>
                    <a:lnTo>
                      <a:pt x="0" y="0"/>
                    </a:lnTo>
                  </a:path>
                </a:pathLst>
              </a:custGeom>
              <a:noFill/>
              <a:ln w="12699" cap="rnd"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5" name="Freeform 95"/>
              <p:cNvSpPr/>
              <p:nvPr/>
            </p:nvSpPr>
            <p:spPr bwMode="auto">
              <a:xfrm>
                <a:off x="959" y="2999"/>
                <a:ext cx="79" cy="87"/>
              </a:xfrm>
              <a:custGeom>
                <a:avLst/>
                <a:gdLst>
                  <a:gd name="T0" fmla="*/ 0 w 79"/>
                  <a:gd name="T1" fmla="*/ 0 h 87"/>
                  <a:gd name="T2" fmla="*/ 3 w 79"/>
                  <a:gd name="T3" fmla="*/ 86 h 87"/>
                  <a:gd name="T4" fmla="*/ 78 w 79"/>
                  <a:gd name="T5" fmla="*/ 71 h 87"/>
                  <a:gd name="T6" fmla="*/ 0 w 79"/>
                  <a:gd name="T7" fmla="*/ 0 h 87"/>
                  <a:gd name="T8" fmla="*/ 0 w 79"/>
                  <a:gd name="T9" fmla="*/ 0 h 87"/>
                </a:gdLst>
                <a:ahLst/>
                <a:cxnLst>
                  <a:cxn ang="0">
                    <a:pos x="T0" y="T1"/>
                  </a:cxn>
                  <a:cxn ang="0">
                    <a:pos x="T2" y="T3"/>
                  </a:cxn>
                  <a:cxn ang="0">
                    <a:pos x="T4" y="T5"/>
                  </a:cxn>
                  <a:cxn ang="0">
                    <a:pos x="T6" y="T7"/>
                  </a:cxn>
                  <a:cxn ang="0">
                    <a:pos x="T8" y="T9"/>
                  </a:cxn>
                </a:cxnLst>
                <a:rect l="0" t="0" r="r" b="b"/>
                <a:pathLst>
                  <a:path w="79" h="87">
                    <a:moveTo>
                      <a:pt x="0" y="0"/>
                    </a:moveTo>
                    <a:lnTo>
                      <a:pt x="3" y="86"/>
                    </a:lnTo>
                    <a:lnTo>
                      <a:pt x="78" y="71"/>
                    </a:lnTo>
                    <a:lnTo>
                      <a:pt x="0" y="0"/>
                    </a:lnTo>
                    <a:lnTo>
                      <a:pt x="0" y="0"/>
                    </a:lnTo>
                  </a:path>
                </a:pathLst>
              </a:custGeom>
              <a:solidFill>
                <a:srgbClr val="000000"/>
              </a:solidFill>
              <a:ln w="12699" cap="rnd"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6" name="Freeform 96"/>
              <p:cNvSpPr/>
              <p:nvPr/>
            </p:nvSpPr>
            <p:spPr bwMode="auto">
              <a:xfrm>
                <a:off x="1416" y="3043"/>
                <a:ext cx="177" cy="262"/>
              </a:xfrm>
              <a:custGeom>
                <a:avLst/>
                <a:gdLst>
                  <a:gd name="T0" fmla="*/ 0 w 177"/>
                  <a:gd name="T1" fmla="*/ 0 h 262"/>
                  <a:gd name="T2" fmla="*/ 176 w 177"/>
                  <a:gd name="T3" fmla="*/ 261 h 262"/>
                  <a:gd name="T4" fmla="*/ 0 w 177"/>
                  <a:gd name="T5" fmla="*/ 0 h 262"/>
                </a:gdLst>
                <a:ahLst/>
                <a:cxnLst>
                  <a:cxn ang="0">
                    <a:pos x="T0" y="T1"/>
                  </a:cxn>
                  <a:cxn ang="0">
                    <a:pos x="T2" y="T3"/>
                  </a:cxn>
                  <a:cxn ang="0">
                    <a:pos x="T4" y="T5"/>
                  </a:cxn>
                </a:cxnLst>
                <a:rect l="0" t="0" r="r" b="b"/>
                <a:pathLst>
                  <a:path w="177" h="262">
                    <a:moveTo>
                      <a:pt x="0" y="0"/>
                    </a:moveTo>
                    <a:lnTo>
                      <a:pt x="176" y="261"/>
                    </a:lnTo>
                    <a:lnTo>
                      <a:pt x="0" y="0"/>
                    </a:lnTo>
                  </a:path>
                </a:pathLst>
              </a:custGeom>
              <a:noFill/>
              <a:ln w="12699" cap="rnd"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7" name="Freeform 97"/>
              <p:cNvSpPr/>
              <p:nvPr/>
            </p:nvSpPr>
            <p:spPr bwMode="auto">
              <a:xfrm>
                <a:off x="1389" y="3002"/>
                <a:ext cx="89" cy="87"/>
              </a:xfrm>
              <a:custGeom>
                <a:avLst/>
                <a:gdLst>
                  <a:gd name="T0" fmla="*/ 0 w 89"/>
                  <a:gd name="T1" fmla="*/ 0 h 87"/>
                  <a:gd name="T2" fmla="*/ 16 w 89"/>
                  <a:gd name="T3" fmla="*/ 86 h 87"/>
                  <a:gd name="T4" fmla="*/ 88 w 89"/>
                  <a:gd name="T5" fmla="*/ 67 h 87"/>
                  <a:gd name="T6" fmla="*/ 0 w 89"/>
                  <a:gd name="T7" fmla="*/ 0 h 87"/>
                  <a:gd name="T8" fmla="*/ 0 w 89"/>
                  <a:gd name="T9" fmla="*/ 0 h 87"/>
                </a:gdLst>
                <a:ahLst/>
                <a:cxnLst>
                  <a:cxn ang="0">
                    <a:pos x="T0" y="T1"/>
                  </a:cxn>
                  <a:cxn ang="0">
                    <a:pos x="T2" y="T3"/>
                  </a:cxn>
                  <a:cxn ang="0">
                    <a:pos x="T4" y="T5"/>
                  </a:cxn>
                  <a:cxn ang="0">
                    <a:pos x="T6" y="T7"/>
                  </a:cxn>
                  <a:cxn ang="0">
                    <a:pos x="T8" y="T9"/>
                  </a:cxn>
                </a:cxnLst>
                <a:rect l="0" t="0" r="r" b="b"/>
                <a:pathLst>
                  <a:path w="89" h="87">
                    <a:moveTo>
                      <a:pt x="0" y="0"/>
                    </a:moveTo>
                    <a:lnTo>
                      <a:pt x="16" y="86"/>
                    </a:lnTo>
                    <a:lnTo>
                      <a:pt x="88" y="67"/>
                    </a:lnTo>
                    <a:lnTo>
                      <a:pt x="0" y="0"/>
                    </a:lnTo>
                    <a:lnTo>
                      <a:pt x="0" y="0"/>
                    </a:lnTo>
                  </a:path>
                </a:pathLst>
              </a:custGeom>
              <a:solidFill>
                <a:srgbClr val="000000"/>
              </a:solidFill>
              <a:ln w="12699" cap="rnd"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8" name="Freeform 98"/>
              <p:cNvSpPr/>
              <p:nvPr/>
            </p:nvSpPr>
            <p:spPr bwMode="auto">
              <a:xfrm>
                <a:off x="1057" y="3030"/>
                <a:ext cx="521" cy="248"/>
              </a:xfrm>
              <a:custGeom>
                <a:avLst/>
                <a:gdLst>
                  <a:gd name="T0" fmla="*/ 0 w 521"/>
                  <a:gd name="T1" fmla="*/ 0 h 248"/>
                  <a:gd name="T2" fmla="*/ 520 w 521"/>
                  <a:gd name="T3" fmla="*/ 247 h 248"/>
                  <a:gd name="T4" fmla="*/ 0 w 521"/>
                  <a:gd name="T5" fmla="*/ 0 h 248"/>
                </a:gdLst>
                <a:ahLst/>
                <a:cxnLst>
                  <a:cxn ang="0">
                    <a:pos x="T0" y="T1"/>
                  </a:cxn>
                  <a:cxn ang="0">
                    <a:pos x="T2" y="T3"/>
                  </a:cxn>
                  <a:cxn ang="0">
                    <a:pos x="T4" y="T5"/>
                  </a:cxn>
                </a:cxnLst>
                <a:rect l="0" t="0" r="r" b="b"/>
                <a:pathLst>
                  <a:path w="521" h="248">
                    <a:moveTo>
                      <a:pt x="0" y="0"/>
                    </a:moveTo>
                    <a:lnTo>
                      <a:pt x="520" y="247"/>
                    </a:lnTo>
                    <a:lnTo>
                      <a:pt x="0" y="0"/>
                    </a:lnTo>
                  </a:path>
                </a:pathLst>
              </a:custGeom>
              <a:noFill/>
              <a:ln w="12699" cap="rnd"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99" name="Freeform 99"/>
              <p:cNvSpPr/>
              <p:nvPr/>
            </p:nvSpPr>
            <p:spPr bwMode="auto">
              <a:xfrm>
                <a:off x="988" y="2999"/>
                <a:ext cx="131" cy="71"/>
              </a:xfrm>
              <a:custGeom>
                <a:avLst/>
                <a:gdLst>
                  <a:gd name="T0" fmla="*/ 0 w 131"/>
                  <a:gd name="T1" fmla="*/ 0 h 71"/>
                  <a:gd name="T2" fmla="*/ 82 w 131"/>
                  <a:gd name="T3" fmla="*/ 70 h 71"/>
                  <a:gd name="T4" fmla="*/ 130 w 131"/>
                  <a:gd name="T5" fmla="*/ 30 h 71"/>
                  <a:gd name="T6" fmla="*/ 0 w 131"/>
                  <a:gd name="T7" fmla="*/ 0 h 71"/>
                  <a:gd name="T8" fmla="*/ 0 w 131"/>
                  <a:gd name="T9" fmla="*/ 0 h 71"/>
                </a:gdLst>
                <a:ahLst/>
                <a:cxnLst>
                  <a:cxn ang="0">
                    <a:pos x="T0" y="T1"/>
                  </a:cxn>
                  <a:cxn ang="0">
                    <a:pos x="T2" y="T3"/>
                  </a:cxn>
                  <a:cxn ang="0">
                    <a:pos x="T4" y="T5"/>
                  </a:cxn>
                  <a:cxn ang="0">
                    <a:pos x="T6" y="T7"/>
                  </a:cxn>
                  <a:cxn ang="0">
                    <a:pos x="T8" y="T9"/>
                  </a:cxn>
                </a:cxnLst>
                <a:rect l="0" t="0" r="r" b="b"/>
                <a:pathLst>
                  <a:path w="131" h="71">
                    <a:moveTo>
                      <a:pt x="0" y="0"/>
                    </a:moveTo>
                    <a:lnTo>
                      <a:pt x="82" y="70"/>
                    </a:lnTo>
                    <a:lnTo>
                      <a:pt x="130" y="30"/>
                    </a:lnTo>
                    <a:lnTo>
                      <a:pt x="0" y="0"/>
                    </a:lnTo>
                    <a:lnTo>
                      <a:pt x="0" y="0"/>
                    </a:lnTo>
                  </a:path>
                </a:pathLst>
              </a:custGeom>
              <a:solidFill>
                <a:srgbClr val="000000"/>
              </a:solidFill>
              <a:ln w="12699" cap="rnd"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100" name="Freeform 100"/>
              <p:cNvSpPr/>
              <p:nvPr/>
            </p:nvSpPr>
            <p:spPr bwMode="auto">
              <a:xfrm>
                <a:off x="1584" y="3036"/>
                <a:ext cx="154" cy="247"/>
              </a:xfrm>
              <a:custGeom>
                <a:avLst/>
                <a:gdLst>
                  <a:gd name="T0" fmla="*/ 153 w 154"/>
                  <a:gd name="T1" fmla="*/ 0 h 247"/>
                  <a:gd name="T2" fmla="*/ 0 w 154"/>
                  <a:gd name="T3" fmla="*/ 246 h 247"/>
                  <a:gd name="T4" fmla="*/ 153 w 154"/>
                  <a:gd name="T5" fmla="*/ 0 h 247"/>
                </a:gdLst>
                <a:ahLst/>
                <a:cxnLst>
                  <a:cxn ang="0">
                    <a:pos x="T0" y="T1"/>
                  </a:cxn>
                  <a:cxn ang="0">
                    <a:pos x="T2" y="T3"/>
                  </a:cxn>
                  <a:cxn ang="0">
                    <a:pos x="T4" y="T5"/>
                  </a:cxn>
                </a:cxnLst>
                <a:rect l="0" t="0" r="r" b="b"/>
                <a:pathLst>
                  <a:path w="154" h="247">
                    <a:moveTo>
                      <a:pt x="153" y="0"/>
                    </a:moveTo>
                    <a:lnTo>
                      <a:pt x="0" y="246"/>
                    </a:lnTo>
                    <a:lnTo>
                      <a:pt x="153" y="0"/>
                    </a:lnTo>
                  </a:path>
                </a:pathLst>
              </a:custGeom>
              <a:noFill/>
              <a:ln w="12699" cap="rnd"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101" name="Freeform 101"/>
              <p:cNvSpPr/>
              <p:nvPr/>
            </p:nvSpPr>
            <p:spPr bwMode="auto">
              <a:xfrm>
                <a:off x="1677" y="2994"/>
                <a:ext cx="87" cy="88"/>
              </a:xfrm>
              <a:custGeom>
                <a:avLst/>
                <a:gdLst>
                  <a:gd name="T0" fmla="*/ 86 w 87"/>
                  <a:gd name="T1" fmla="*/ 0 h 88"/>
                  <a:gd name="T2" fmla="*/ 0 w 87"/>
                  <a:gd name="T3" fmla="*/ 68 h 88"/>
                  <a:gd name="T4" fmla="*/ 74 w 87"/>
                  <a:gd name="T5" fmla="*/ 87 h 88"/>
                  <a:gd name="T6" fmla="*/ 86 w 87"/>
                  <a:gd name="T7" fmla="*/ 0 h 88"/>
                  <a:gd name="T8" fmla="*/ 86 w 87"/>
                  <a:gd name="T9" fmla="*/ 0 h 88"/>
                </a:gdLst>
                <a:ahLst/>
                <a:cxnLst>
                  <a:cxn ang="0">
                    <a:pos x="T0" y="T1"/>
                  </a:cxn>
                  <a:cxn ang="0">
                    <a:pos x="T2" y="T3"/>
                  </a:cxn>
                  <a:cxn ang="0">
                    <a:pos x="T4" y="T5"/>
                  </a:cxn>
                  <a:cxn ang="0">
                    <a:pos x="T6" y="T7"/>
                  </a:cxn>
                  <a:cxn ang="0">
                    <a:pos x="T8" y="T9"/>
                  </a:cxn>
                </a:cxnLst>
                <a:rect l="0" t="0" r="r" b="b"/>
                <a:pathLst>
                  <a:path w="87" h="88">
                    <a:moveTo>
                      <a:pt x="86" y="0"/>
                    </a:moveTo>
                    <a:lnTo>
                      <a:pt x="0" y="68"/>
                    </a:lnTo>
                    <a:lnTo>
                      <a:pt x="74" y="87"/>
                    </a:lnTo>
                    <a:lnTo>
                      <a:pt x="86" y="0"/>
                    </a:lnTo>
                    <a:lnTo>
                      <a:pt x="86" y="0"/>
                    </a:lnTo>
                  </a:path>
                </a:pathLst>
              </a:custGeom>
              <a:solidFill>
                <a:srgbClr val="000000"/>
              </a:solidFill>
              <a:ln w="12699" cap="rnd"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sp>
            <p:nvSpPr>
              <p:cNvPr id="102" name="Freeform 102"/>
              <p:cNvSpPr/>
              <p:nvPr/>
            </p:nvSpPr>
            <p:spPr bwMode="auto">
              <a:xfrm>
                <a:off x="1533" y="3260"/>
                <a:ext cx="90" cy="87"/>
              </a:xfrm>
              <a:custGeom>
                <a:avLst/>
                <a:gdLst>
                  <a:gd name="T0" fmla="*/ 89 w 90"/>
                  <a:gd name="T1" fmla="*/ 86 h 87"/>
                  <a:gd name="T2" fmla="*/ 72 w 90"/>
                  <a:gd name="T3" fmla="*/ 0 h 87"/>
                  <a:gd name="T4" fmla="*/ 0 w 90"/>
                  <a:gd name="T5" fmla="*/ 18 h 87"/>
                  <a:gd name="T6" fmla="*/ 89 w 90"/>
                  <a:gd name="T7" fmla="*/ 86 h 87"/>
                  <a:gd name="T8" fmla="*/ 89 w 90"/>
                  <a:gd name="T9" fmla="*/ 86 h 87"/>
                </a:gdLst>
                <a:ahLst/>
                <a:cxnLst>
                  <a:cxn ang="0">
                    <a:pos x="T0" y="T1"/>
                  </a:cxn>
                  <a:cxn ang="0">
                    <a:pos x="T2" y="T3"/>
                  </a:cxn>
                  <a:cxn ang="0">
                    <a:pos x="T4" y="T5"/>
                  </a:cxn>
                  <a:cxn ang="0">
                    <a:pos x="T6" y="T7"/>
                  </a:cxn>
                  <a:cxn ang="0">
                    <a:pos x="T8" y="T9"/>
                  </a:cxn>
                </a:cxnLst>
                <a:rect l="0" t="0" r="r" b="b"/>
                <a:pathLst>
                  <a:path w="90" h="87">
                    <a:moveTo>
                      <a:pt x="89" y="86"/>
                    </a:moveTo>
                    <a:lnTo>
                      <a:pt x="72" y="0"/>
                    </a:lnTo>
                    <a:lnTo>
                      <a:pt x="0" y="18"/>
                    </a:lnTo>
                    <a:lnTo>
                      <a:pt x="89" y="86"/>
                    </a:lnTo>
                    <a:lnTo>
                      <a:pt x="89" y="86"/>
                    </a:lnTo>
                  </a:path>
                </a:pathLst>
              </a:custGeom>
              <a:solidFill>
                <a:srgbClr val="000000"/>
              </a:solidFill>
              <a:ln w="12699" cap="rnd" cmpd="sng">
                <a:solidFill>
                  <a:schemeClr val="tx1"/>
                </a:solidFill>
                <a:prstDash val="solid"/>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ClrTx/>
                  <a:buFontTx/>
                  <a:buNone/>
                </a:pPr>
                <a:endParaRPr lang="zh-CN" altLang="en-US" sz="1200">
                  <a:latin typeface="Arial" panose="020B0604020202020204" pitchFamily="34" charset="0"/>
                </a:endParaRPr>
              </a:p>
            </p:txBody>
          </p:sp>
        </p:grpSp>
        <p:sp>
          <p:nvSpPr>
            <p:cNvPr id="83" name="AutoShape 103"/>
            <p:cNvSpPr>
              <a:spLocks noChangeArrowheads="1"/>
            </p:cNvSpPr>
            <p:nvPr/>
          </p:nvSpPr>
          <p:spPr bwMode="auto">
            <a:xfrm>
              <a:off x="1344" y="2451"/>
              <a:ext cx="431" cy="218"/>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anchor="ctr"/>
            <a:lstStyle/>
            <a:p>
              <a:pPr algn="ctr">
                <a:buClrTx/>
                <a:buFontTx/>
                <a:buNone/>
              </a:pPr>
              <a:endParaRPr lang="zh-CN" altLang="en-US" sz="1200">
                <a:latin typeface="Arial" panose="020B0604020202020204" pitchFamily="34" charset="0"/>
              </a:endParaRPr>
            </a:p>
          </p:txBody>
        </p:sp>
        <p:sp>
          <p:nvSpPr>
            <p:cNvPr id="84" name="AutoShape 104"/>
            <p:cNvSpPr>
              <a:spLocks noChangeArrowheads="1"/>
            </p:cNvSpPr>
            <p:nvPr/>
          </p:nvSpPr>
          <p:spPr bwMode="auto">
            <a:xfrm>
              <a:off x="748" y="2451"/>
              <a:ext cx="432" cy="218"/>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anchor="ctr"/>
            <a:lstStyle/>
            <a:p>
              <a:pPr algn="ctr">
                <a:buClrTx/>
                <a:buFontTx/>
                <a:buNone/>
              </a:pPr>
              <a:endParaRPr lang="zh-CN" altLang="en-US" sz="1200">
                <a:latin typeface="Arial" panose="020B0604020202020204" pitchFamily="34" charset="0"/>
              </a:endParaRPr>
            </a:p>
          </p:txBody>
        </p:sp>
        <p:sp>
          <p:nvSpPr>
            <p:cNvPr id="85" name="AutoShape 105"/>
            <p:cNvSpPr>
              <a:spLocks noChangeArrowheads="1"/>
            </p:cNvSpPr>
            <p:nvPr/>
          </p:nvSpPr>
          <p:spPr bwMode="auto">
            <a:xfrm>
              <a:off x="1939" y="2451"/>
              <a:ext cx="430" cy="218"/>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anchor="ctr"/>
            <a:lstStyle/>
            <a:p>
              <a:pPr algn="ctr">
                <a:buClrTx/>
                <a:buFontTx/>
                <a:buNone/>
              </a:pPr>
              <a:endParaRPr lang="zh-CN" altLang="en-US" sz="1200">
                <a:latin typeface="Arial" panose="020B0604020202020204" pitchFamily="34" charset="0"/>
              </a:endParaRPr>
            </a:p>
          </p:txBody>
        </p:sp>
        <p:sp>
          <p:nvSpPr>
            <p:cNvPr id="86" name="Rectangle 106"/>
            <p:cNvSpPr>
              <a:spLocks noChangeArrowheads="1"/>
            </p:cNvSpPr>
            <p:nvPr/>
          </p:nvSpPr>
          <p:spPr bwMode="auto">
            <a:xfrm>
              <a:off x="1389" y="2465"/>
              <a:ext cx="34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业务线</a:t>
              </a:r>
              <a:endParaRPr lang="zh-CN" altLang="en-US" sz="1100" dirty="0">
                <a:latin typeface="Arial Narrow" panose="020B0606020202030204" pitchFamily="34" charset="0"/>
                <a:cs typeface="Arial" panose="020B0604020202020204" pitchFamily="34" charset="0"/>
              </a:endParaRPr>
            </a:p>
          </p:txBody>
        </p:sp>
        <p:sp>
          <p:nvSpPr>
            <p:cNvPr id="87" name="Rectangle 107"/>
            <p:cNvSpPr>
              <a:spLocks noChangeArrowheads="1"/>
            </p:cNvSpPr>
            <p:nvPr/>
          </p:nvSpPr>
          <p:spPr bwMode="auto">
            <a:xfrm>
              <a:off x="801" y="2465"/>
              <a:ext cx="326"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业务线</a:t>
              </a:r>
              <a:endParaRPr lang="zh-CN" altLang="en-US" sz="1100" dirty="0">
                <a:latin typeface="Arial Narrow" panose="020B0606020202030204" pitchFamily="34" charset="0"/>
                <a:cs typeface="Arial" panose="020B0604020202020204" pitchFamily="34" charset="0"/>
              </a:endParaRPr>
            </a:p>
          </p:txBody>
        </p:sp>
        <p:sp>
          <p:nvSpPr>
            <p:cNvPr id="88" name="Rectangle 108"/>
            <p:cNvSpPr>
              <a:spLocks noChangeArrowheads="1"/>
            </p:cNvSpPr>
            <p:nvPr/>
          </p:nvSpPr>
          <p:spPr bwMode="auto">
            <a:xfrm>
              <a:off x="1984" y="2465"/>
              <a:ext cx="341"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业务线</a:t>
              </a:r>
              <a:endParaRPr lang="zh-CN" altLang="en-US" sz="1100" dirty="0">
                <a:latin typeface="Arial Narrow" panose="020B0606020202030204" pitchFamily="34" charset="0"/>
                <a:cs typeface="Arial" panose="020B0604020202020204" pitchFamily="34" charset="0"/>
              </a:endParaRPr>
            </a:p>
          </p:txBody>
        </p:sp>
      </p:grpSp>
      <p:sp>
        <p:nvSpPr>
          <p:cNvPr id="105" name="Rectangle 109"/>
          <p:cNvSpPr>
            <a:spLocks noChangeArrowheads="1"/>
          </p:cNvSpPr>
          <p:nvPr/>
        </p:nvSpPr>
        <p:spPr bwMode="auto">
          <a:xfrm>
            <a:off x="742713" y="3724486"/>
            <a:ext cx="3796083" cy="254740"/>
          </a:xfrm>
          <a:prstGeom prst="rect">
            <a:avLst/>
          </a:prstGeom>
          <a:solidFill>
            <a:schemeClr val="accent2"/>
          </a:solidFill>
          <a:ln>
            <a:noFill/>
          </a:ln>
          <a:effectLst>
            <a:prstShdw prst="shdw17" dist="17961" dir="2700000">
              <a:schemeClr val="accent2">
                <a:gamma/>
                <a:shade val="60000"/>
                <a:invGamma/>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nchor="ctr"/>
          <a:lstStyle>
            <a:lvl1pPr algn="l">
              <a:defRPr>
                <a:solidFill>
                  <a:schemeClr val="tx1"/>
                </a:solidFill>
                <a:latin typeface="Arial" panose="020B0604020202020204" pitchFamily="34" charset="0"/>
                <a:ea typeface="宋体" panose="02010600030101010101" pitchFamily="2" charset="-122"/>
              </a:defRPr>
            </a:lvl1pPr>
            <a:lvl2pPr marL="571500" algn="l">
              <a:defRPr>
                <a:solidFill>
                  <a:schemeClr val="tx1"/>
                </a:solidFill>
                <a:latin typeface="Arial" panose="020B0604020202020204" pitchFamily="34" charset="0"/>
                <a:ea typeface="宋体" panose="02010600030101010101" pitchFamily="2" charset="-122"/>
              </a:defRPr>
            </a:lvl2pPr>
            <a:lvl3pPr marL="1143000" algn="l">
              <a:defRPr>
                <a:solidFill>
                  <a:schemeClr val="tx1"/>
                </a:solidFill>
                <a:latin typeface="Arial" panose="020B0604020202020204" pitchFamily="34" charset="0"/>
                <a:ea typeface="宋体" panose="02010600030101010101" pitchFamily="2" charset="-122"/>
              </a:defRPr>
            </a:lvl3pPr>
            <a:lvl4pPr marL="1714500" algn="l">
              <a:defRPr>
                <a:solidFill>
                  <a:schemeClr val="tx1"/>
                </a:solidFill>
                <a:latin typeface="Arial" panose="020B0604020202020204" pitchFamily="34" charset="0"/>
                <a:ea typeface="宋体" panose="02010600030101010101" pitchFamily="2" charset="-122"/>
              </a:defRPr>
            </a:lvl4pPr>
            <a:lvl5pPr marL="2286000" algn="l">
              <a:defRPr>
                <a:solidFill>
                  <a:schemeClr val="tx1"/>
                </a:solidFill>
                <a:latin typeface="Arial" panose="020B0604020202020204" pitchFamily="34" charset="0"/>
                <a:ea typeface="宋体" panose="02010600030101010101" pitchFamily="2" charset="-122"/>
              </a:defRPr>
            </a:lvl5pPr>
            <a:lvl6pPr marL="2743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GB" sz="1600" b="1">
                <a:latin typeface="宋体" panose="02010600030101010101" pitchFamily="2" charset="-122"/>
                <a:cs typeface="Arial" panose="020B0604020202020204" pitchFamily="34" charset="0"/>
              </a:rPr>
              <a:t>完全共享模式</a:t>
            </a:r>
            <a:endParaRPr lang="zh-CN" altLang="en-GB" sz="1600" b="1">
              <a:latin typeface="宋体" panose="02010600030101010101" pitchFamily="2" charset="-122"/>
              <a:cs typeface="Arial" panose="020B0604020202020204" pitchFamily="34" charset="0"/>
            </a:endParaRPr>
          </a:p>
        </p:txBody>
      </p:sp>
      <p:sp>
        <p:nvSpPr>
          <p:cNvPr id="106" name="Rectangle 110"/>
          <p:cNvSpPr>
            <a:spLocks noChangeArrowheads="1"/>
          </p:cNvSpPr>
          <p:nvPr/>
        </p:nvSpPr>
        <p:spPr bwMode="auto">
          <a:xfrm>
            <a:off x="4621319" y="3937754"/>
            <a:ext cx="3833906" cy="1777246"/>
          </a:xfrm>
          <a:prstGeom prst="rect">
            <a:avLst/>
          </a:prstGeom>
          <a:solidFill>
            <a:schemeClr val="bg1"/>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07" name="Rectangle 111"/>
          <p:cNvSpPr>
            <a:spLocks noChangeArrowheads="1"/>
          </p:cNvSpPr>
          <p:nvPr/>
        </p:nvSpPr>
        <p:spPr bwMode="auto">
          <a:xfrm>
            <a:off x="4803558" y="5288461"/>
            <a:ext cx="35485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eaLnBrk="0" hangingPunct="0">
              <a:buClrTx/>
              <a:buFontTx/>
              <a:buNone/>
            </a:pPr>
            <a:r>
              <a:rPr lang="zh-CN" altLang="en-AU" sz="1200" dirty="0">
                <a:latin typeface="Times New Roman" panose="02020603050405020304" pitchFamily="18" charset="0"/>
                <a:cs typeface="Arial" panose="020B0604020202020204" pitchFamily="34" charset="0"/>
              </a:rPr>
              <a:t>特点：关键资源安排在“共享服务中心</a:t>
            </a:r>
            <a:r>
              <a:rPr lang="zh-CN" altLang="zh-CN" sz="1200" dirty="0">
                <a:latin typeface="Times New Roman" panose="02020603050405020304" pitchFamily="18" charset="0"/>
                <a:cs typeface="Arial" panose="020B0604020202020204" pitchFamily="34" charset="0"/>
              </a:rPr>
              <a:t>”，</a:t>
            </a:r>
            <a:r>
              <a:rPr lang="zh-CN" altLang="en-AU" sz="1200" dirty="0">
                <a:latin typeface="Times New Roman" panose="02020603050405020304" pitchFamily="18" charset="0"/>
                <a:cs typeface="Arial" panose="020B0604020202020204" pitchFamily="34" charset="0"/>
              </a:rPr>
              <a:t>并与其他</a:t>
            </a:r>
            <a:r>
              <a:rPr lang="en-AU" altLang="zh-CN" sz="1200" dirty="0">
                <a:latin typeface="Times New Roman" panose="02020603050405020304" pitchFamily="18" charset="0"/>
                <a:cs typeface="Arial" panose="020B0604020202020204" pitchFamily="34" charset="0"/>
              </a:rPr>
              <a:t>IT</a:t>
            </a:r>
            <a:r>
              <a:rPr lang="zh-CN" altLang="en-AU" sz="1200" dirty="0">
                <a:latin typeface="Times New Roman" panose="02020603050405020304" pitchFamily="18" charset="0"/>
                <a:cs typeface="Arial" panose="020B0604020202020204" pitchFamily="34" charset="0"/>
              </a:rPr>
              <a:t>小组紧密合作，业务单元内保留</a:t>
            </a:r>
            <a:r>
              <a:rPr lang="en-AU" altLang="zh-CN" sz="1200" dirty="0">
                <a:latin typeface="Times New Roman" panose="02020603050405020304" pitchFamily="18" charset="0"/>
                <a:cs typeface="Arial" panose="020B0604020202020204" pitchFamily="34" charset="0"/>
              </a:rPr>
              <a:t>IT</a:t>
            </a:r>
            <a:r>
              <a:rPr lang="zh-CN" altLang="en-AU" sz="1200" dirty="0">
                <a:latin typeface="Times New Roman" panose="02020603050405020304" pitchFamily="18" charset="0"/>
                <a:cs typeface="Arial" panose="020B0604020202020204" pitchFamily="34" charset="0"/>
              </a:rPr>
              <a:t>资源</a:t>
            </a:r>
            <a:endParaRPr lang="zh-CN" altLang="zh-CN" sz="1200" dirty="0">
              <a:latin typeface="Times New Roman" panose="02020603050405020304" pitchFamily="18" charset="0"/>
              <a:cs typeface="Arial" panose="020B0604020202020204" pitchFamily="34" charset="0"/>
            </a:endParaRPr>
          </a:p>
        </p:txBody>
      </p:sp>
      <p:sp>
        <p:nvSpPr>
          <p:cNvPr id="108" name="Rectangle 122"/>
          <p:cNvSpPr>
            <a:spLocks noChangeArrowheads="1"/>
          </p:cNvSpPr>
          <p:nvPr/>
        </p:nvSpPr>
        <p:spPr bwMode="auto">
          <a:xfrm>
            <a:off x="5652864" y="4055220"/>
            <a:ext cx="1977127"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200" b="1">
                <a:cs typeface="Arial" panose="020B0604020202020204" pitchFamily="34" charset="0"/>
              </a:rPr>
              <a:t>部分集中</a:t>
            </a:r>
            <a:r>
              <a:rPr lang="en-US" altLang="zh-CN" sz="1200" b="1">
                <a:cs typeface="Arial" panose="020B0604020202020204" pitchFamily="34" charset="0"/>
              </a:rPr>
              <a:t>/</a:t>
            </a:r>
            <a:r>
              <a:rPr lang="zh-CN" altLang="en-US" sz="1200" b="1">
                <a:cs typeface="Arial" panose="020B0604020202020204" pitchFamily="34" charset="0"/>
              </a:rPr>
              <a:t>共享服务</a:t>
            </a:r>
            <a:endParaRPr lang="zh-CN" altLang="en-US" sz="1200" b="1">
              <a:cs typeface="Arial" panose="020B0604020202020204" pitchFamily="34" charset="0"/>
            </a:endParaRPr>
          </a:p>
        </p:txBody>
      </p:sp>
      <p:sp>
        <p:nvSpPr>
          <p:cNvPr id="109" name="Rectangle 131"/>
          <p:cNvSpPr>
            <a:spLocks noChangeArrowheads="1"/>
          </p:cNvSpPr>
          <p:nvPr/>
        </p:nvSpPr>
        <p:spPr bwMode="auto">
          <a:xfrm>
            <a:off x="4638511" y="3724486"/>
            <a:ext cx="3821872" cy="254740"/>
          </a:xfrm>
          <a:prstGeom prst="rect">
            <a:avLst/>
          </a:prstGeom>
          <a:solidFill>
            <a:schemeClr val="accent2"/>
          </a:solidFill>
          <a:ln>
            <a:noFill/>
          </a:ln>
          <a:effectLst>
            <a:prstShdw prst="shdw17" dist="17961" dir="2700000">
              <a:schemeClr val="accent2">
                <a:gamma/>
                <a:shade val="60000"/>
                <a:invGamma/>
              </a:schemeClr>
            </a:prstShdw>
          </a:effectLst>
          <a:extLs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nchor="ctr"/>
          <a:lstStyle>
            <a:lvl1pPr algn="l">
              <a:defRPr>
                <a:solidFill>
                  <a:schemeClr val="tx1"/>
                </a:solidFill>
                <a:latin typeface="Arial" panose="020B0604020202020204" pitchFamily="34" charset="0"/>
                <a:ea typeface="宋体" panose="02010600030101010101" pitchFamily="2" charset="-122"/>
              </a:defRPr>
            </a:lvl1pPr>
            <a:lvl2pPr marL="571500" algn="l">
              <a:defRPr>
                <a:solidFill>
                  <a:schemeClr val="tx1"/>
                </a:solidFill>
                <a:latin typeface="Arial" panose="020B0604020202020204" pitchFamily="34" charset="0"/>
                <a:ea typeface="宋体" panose="02010600030101010101" pitchFamily="2" charset="-122"/>
              </a:defRPr>
            </a:lvl2pPr>
            <a:lvl3pPr marL="1143000" algn="l">
              <a:defRPr>
                <a:solidFill>
                  <a:schemeClr val="tx1"/>
                </a:solidFill>
                <a:latin typeface="Arial" panose="020B0604020202020204" pitchFamily="34" charset="0"/>
                <a:ea typeface="宋体" panose="02010600030101010101" pitchFamily="2" charset="-122"/>
              </a:defRPr>
            </a:lvl3pPr>
            <a:lvl4pPr marL="1714500" algn="l">
              <a:defRPr>
                <a:solidFill>
                  <a:schemeClr val="tx1"/>
                </a:solidFill>
                <a:latin typeface="Arial" panose="020B0604020202020204" pitchFamily="34" charset="0"/>
                <a:ea typeface="宋体" panose="02010600030101010101" pitchFamily="2" charset="-122"/>
              </a:defRPr>
            </a:lvl4pPr>
            <a:lvl5pPr marL="2286000" algn="l">
              <a:defRPr>
                <a:solidFill>
                  <a:schemeClr val="tx1"/>
                </a:solidFill>
                <a:latin typeface="Arial" panose="020B0604020202020204" pitchFamily="34" charset="0"/>
                <a:ea typeface="宋体" panose="02010600030101010101" pitchFamily="2" charset="-122"/>
              </a:defRPr>
            </a:lvl5pPr>
            <a:lvl6pPr marL="2743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GB" sz="1600" b="1">
                <a:latin typeface="宋体" panose="02010600030101010101" pitchFamily="2" charset="-122"/>
                <a:cs typeface="Arial" panose="020B0604020202020204" pitchFamily="34" charset="0"/>
              </a:rPr>
              <a:t>混合共享模式</a:t>
            </a:r>
            <a:endParaRPr lang="zh-CN" altLang="en-GB" sz="1600" b="1">
              <a:latin typeface="宋体" panose="02010600030101010101" pitchFamily="2" charset="-122"/>
              <a:cs typeface="Arial" panose="020B0604020202020204" pitchFamily="34" charset="0"/>
            </a:endParaRPr>
          </a:p>
        </p:txBody>
      </p:sp>
      <p:sp>
        <p:nvSpPr>
          <p:cNvPr id="110" name="Oval 112"/>
          <p:cNvSpPr>
            <a:spLocks noChangeArrowheads="1"/>
          </p:cNvSpPr>
          <p:nvPr/>
        </p:nvSpPr>
        <p:spPr bwMode="auto">
          <a:xfrm>
            <a:off x="6182388" y="4591124"/>
            <a:ext cx="249290" cy="364740"/>
          </a:xfrm>
          <a:prstGeom prst="ellipse">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11" name="Oval 113"/>
          <p:cNvSpPr>
            <a:spLocks noChangeArrowheads="1"/>
          </p:cNvSpPr>
          <p:nvPr/>
        </p:nvSpPr>
        <p:spPr bwMode="auto">
          <a:xfrm>
            <a:off x="5539393" y="4310207"/>
            <a:ext cx="2121542" cy="855214"/>
          </a:xfrm>
          <a:prstGeom prst="ellipse">
            <a:avLst/>
          </a:prstGeom>
          <a:solidFill>
            <a:srgbClr val="FFFFFF"/>
          </a:solidFill>
          <a:ln w="12699">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12" name="Oval 114"/>
          <p:cNvSpPr>
            <a:spLocks noChangeArrowheads="1"/>
          </p:cNvSpPr>
          <p:nvPr/>
        </p:nvSpPr>
        <p:spPr bwMode="auto">
          <a:xfrm>
            <a:off x="6280385" y="4587726"/>
            <a:ext cx="629242" cy="288847"/>
          </a:xfrm>
          <a:prstGeom prst="ellipse">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13" name="Rectangle 115"/>
          <p:cNvSpPr>
            <a:spLocks noChangeArrowheads="1"/>
          </p:cNvSpPr>
          <p:nvPr/>
        </p:nvSpPr>
        <p:spPr bwMode="auto">
          <a:xfrm>
            <a:off x="6225784" y="4501416"/>
            <a:ext cx="77022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endParaRPr lang="en-US" altLang="zh-CN" sz="1000" dirty="0">
              <a:latin typeface="Arial Narrow" panose="020B0606020202030204" pitchFamily="34" charset="0"/>
              <a:cs typeface="Arial" panose="020B0604020202020204" pitchFamily="34" charset="0"/>
            </a:endParaRPr>
          </a:p>
          <a:p>
            <a:pPr algn="ctr" eaLnBrk="0" hangingPunct="0">
              <a:buClrTx/>
              <a:buFontTx/>
              <a:buNone/>
            </a:pPr>
            <a:r>
              <a:rPr lang="en-US" altLang="zh-CN" sz="1000" dirty="0">
                <a:latin typeface="Arial Narrow" panose="020B0606020202030204" pitchFamily="34" charset="0"/>
                <a:cs typeface="Arial" panose="020B0604020202020204" pitchFamily="34" charset="0"/>
              </a:rPr>
              <a:t>IT</a:t>
            </a:r>
            <a:r>
              <a:rPr lang="zh-CN" altLang="en-US" sz="1000" dirty="0">
                <a:latin typeface="Arial Narrow" panose="020B0606020202030204" pitchFamily="34" charset="0"/>
                <a:cs typeface="Arial" panose="020B0604020202020204" pitchFamily="34" charset="0"/>
              </a:rPr>
              <a:t>中心</a:t>
            </a:r>
            <a:endParaRPr lang="en-US" altLang="zh-CN" sz="1000" dirty="0">
              <a:latin typeface="Arial Narrow" panose="020B0606020202030204" pitchFamily="34" charset="0"/>
              <a:cs typeface="Arial" panose="020B0604020202020204" pitchFamily="34" charset="0"/>
            </a:endParaRPr>
          </a:p>
        </p:txBody>
      </p:sp>
      <p:grpSp>
        <p:nvGrpSpPr>
          <p:cNvPr id="114" name="Group 116"/>
          <p:cNvGrpSpPr/>
          <p:nvPr/>
        </p:nvGrpSpPr>
        <p:grpSpPr bwMode="auto">
          <a:xfrm>
            <a:off x="7721108" y="4661353"/>
            <a:ext cx="577665" cy="246936"/>
            <a:chOff x="5240" y="1934"/>
            <a:chExt cx="336" cy="288"/>
          </a:xfrm>
        </p:grpSpPr>
        <p:sp>
          <p:nvSpPr>
            <p:cNvPr id="115" name="AutoShape 117"/>
            <p:cNvSpPr>
              <a:spLocks noChangeArrowheads="1"/>
            </p:cNvSpPr>
            <p:nvPr/>
          </p:nvSpPr>
          <p:spPr bwMode="auto">
            <a:xfrm>
              <a:off x="5240" y="1934"/>
              <a:ext cx="336" cy="288"/>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anchor="ctr"/>
            <a:lstStyle/>
            <a:p>
              <a:pPr algn="ctr">
                <a:buClrTx/>
                <a:buFontTx/>
                <a:buNone/>
              </a:pPr>
              <a:endParaRPr lang="zh-CN" altLang="en-US" sz="1200">
                <a:latin typeface="Arial" panose="020B0604020202020204" pitchFamily="34" charset="0"/>
              </a:endParaRPr>
            </a:p>
          </p:txBody>
        </p:sp>
        <p:sp>
          <p:nvSpPr>
            <p:cNvPr id="116" name="Rectangle 118"/>
            <p:cNvSpPr>
              <a:spLocks noChangeArrowheads="1"/>
            </p:cNvSpPr>
            <p:nvPr/>
          </p:nvSpPr>
          <p:spPr bwMode="auto">
            <a:xfrm>
              <a:off x="5246" y="1954"/>
              <a:ext cx="326"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000" dirty="0">
                  <a:latin typeface="Arial Narrow" panose="020B0606020202030204" pitchFamily="34" charset="0"/>
                  <a:cs typeface="Arial" panose="020B0604020202020204" pitchFamily="34" charset="0"/>
                </a:rPr>
                <a:t>业务线</a:t>
              </a:r>
              <a:endParaRPr lang="zh-CN" altLang="en-US" sz="1000" dirty="0">
                <a:latin typeface="Arial Narrow" panose="020B0606020202030204" pitchFamily="34" charset="0"/>
                <a:cs typeface="Arial" panose="020B0604020202020204" pitchFamily="34" charset="0"/>
              </a:endParaRPr>
            </a:p>
          </p:txBody>
        </p:sp>
      </p:grpSp>
      <p:sp>
        <p:nvSpPr>
          <p:cNvPr id="117" name="Oval 119"/>
          <p:cNvSpPr>
            <a:spLocks noChangeArrowheads="1"/>
          </p:cNvSpPr>
          <p:nvPr/>
        </p:nvSpPr>
        <p:spPr bwMode="auto">
          <a:xfrm>
            <a:off x="7143444" y="4603584"/>
            <a:ext cx="249290" cy="364740"/>
          </a:xfrm>
          <a:prstGeom prst="ellipse">
            <a:avLst/>
          </a:prstGeom>
          <a:solidFill>
            <a:srgbClr val="FFFFFF"/>
          </a:solidFill>
          <a:ln w="12699">
            <a:solidFill>
              <a:srgbClr val="000000"/>
            </a:solidFill>
            <a:round/>
          </a:ln>
          <a:effectLst>
            <a:outerShdw dist="53882" dir="2700000" algn="ctr" rotWithShape="0">
              <a:srgbClr val="94BF74"/>
            </a:outerShdw>
          </a:effec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18" name="Rectangle 120"/>
          <p:cNvSpPr>
            <a:spLocks noChangeArrowheads="1"/>
          </p:cNvSpPr>
          <p:nvPr/>
        </p:nvSpPr>
        <p:spPr bwMode="auto">
          <a:xfrm>
            <a:off x="7060920" y="4559408"/>
            <a:ext cx="1237853" cy="437236"/>
          </a:xfrm>
          <a:prstGeom prst="rect">
            <a:avLst/>
          </a:prstGeom>
          <a:noFill/>
          <a:ln w="12699">
            <a:solidFill>
              <a:srgbClr val="2C8DD3"/>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19" name="Rectangle 121"/>
          <p:cNvSpPr>
            <a:spLocks noChangeArrowheads="1"/>
          </p:cNvSpPr>
          <p:nvPr/>
        </p:nvSpPr>
        <p:spPr bwMode="auto">
          <a:xfrm rot="5400000" flipH="1">
            <a:off x="5703551" y="4690886"/>
            <a:ext cx="381731"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en-US" altLang="zh-CN" sz="1000">
                <a:latin typeface="Arial Narrow" panose="020B0606020202030204" pitchFamily="34" charset="0"/>
                <a:cs typeface="Arial" panose="020B0604020202020204" pitchFamily="34" charset="0"/>
              </a:rPr>
              <a:t>IT </a:t>
            </a:r>
            <a:r>
              <a:rPr lang="zh-CN" altLang="en-US" sz="1000">
                <a:latin typeface="Arial Narrow" panose="020B0606020202030204" pitchFamily="34" charset="0"/>
                <a:cs typeface="Arial" panose="020B0604020202020204" pitchFamily="34" charset="0"/>
              </a:rPr>
              <a:t>小组</a:t>
            </a:r>
            <a:endParaRPr lang="zh-CN" altLang="en-US" sz="1000">
              <a:latin typeface="Arial Narrow" panose="020B0606020202030204" pitchFamily="34" charset="0"/>
              <a:cs typeface="Arial" panose="020B0604020202020204" pitchFamily="34" charset="0"/>
            </a:endParaRPr>
          </a:p>
        </p:txBody>
      </p:sp>
      <p:sp>
        <p:nvSpPr>
          <p:cNvPr id="120" name="Rectangle 123"/>
          <p:cNvSpPr>
            <a:spLocks noChangeArrowheads="1"/>
          </p:cNvSpPr>
          <p:nvPr/>
        </p:nvSpPr>
        <p:spPr bwMode="auto">
          <a:xfrm>
            <a:off x="5006428" y="5125775"/>
            <a:ext cx="993840" cy="217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64" tIns="46033" rIns="92064" bIns="46033">
            <a:spAutoFit/>
          </a:bodyPr>
          <a:lstStyle>
            <a:lvl1pPr algn="l" defTabSz="946150">
              <a:tabLst>
                <a:tab pos="7372350" algn="r"/>
              </a:tabLst>
              <a:defRPr>
                <a:solidFill>
                  <a:schemeClr val="tx1"/>
                </a:solidFill>
                <a:latin typeface="Arial" panose="020B0604020202020204" pitchFamily="34" charset="0"/>
                <a:ea typeface="宋体" panose="02010600030101010101" pitchFamily="2" charset="-122"/>
              </a:defRPr>
            </a:lvl1pPr>
            <a:lvl2pPr algn="l" defTabSz="946150">
              <a:tabLst>
                <a:tab pos="7372350" algn="r"/>
              </a:tabLst>
              <a:defRPr>
                <a:solidFill>
                  <a:schemeClr val="tx1"/>
                </a:solidFill>
                <a:latin typeface="Arial" panose="020B0604020202020204" pitchFamily="34" charset="0"/>
                <a:ea typeface="宋体" panose="02010600030101010101" pitchFamily="2" charset="-122"/>
              </a:defRPr>
            </a:lvl2pPr>
            <a:lvl3pPr algn="l" defTabSz="946150">
              <a:tabLst>
                <a:tab pos="7372350" algn="r"/>
              </a:tabLst>
              <a:defRPr>
                <a:solidFill>
                  <a:schemeClr val="tx1"/>
                </a:solidFill>
                <a:latin typeface="Arial" panose="020B0604020202020204" pitchFamily="34" charset="0"/>
                <a:ea typeface="宋体" panose="02010600030101010101" pitchFamily="2" charset="-122"/>
              </a:defRPr>
            </a:lvl3pPr>
            <a:lvl4pPr algn="l" defTabSz="946150">
              <a:tabLst>
                <a:tab pos="7372350" algn="r"/>
              </a:tabLst>
              <a:defRPr>
                <a:solidFill>
                  <a:schemeClr val="tx1"/>
                </a:solidFill>
                <a:latin typeface="Arial" panose="020B0604020202020204" pitchFamily="34" charset="0"/>
                <a:ea typeface="宋体" panose="02010600030101010101" pitchFamily="2" charset="-122"/>
              </a:defRPr>
            </a:lvl4pPr>
            <a:lvl5pPr algn="l" defTabSz="946150">
              <a:tabLst>
                <a:tab pos="7372350" algn="r"/>
              </a:tabLst>
              <a:defRPr>
                <a:solidFill>
                  <a:schemeClr val="tx1"/>
                </a:solidFill>
                <a:latin typeface="Arial" panose="020B0604020202020204" pitchFamily="34" charset="0"/>
                <a:ea typeface="宋体" panose="02010600030101010101" pitchFamily="2" charset="-122"/>
              </a:defRPr>
            </a:lvl5pPr>
            <a:lvl6pPr defTabSz="946150" fontAlgn="base">
              <a:spcBef>
                <a:spcPct val="0"/>
              </a:spcBef>
              <a:spcAft>
                <a:spcPct val="0"/>
              </a:spcAft>
              <a:tabLst>
                <a:tab pos="7372350" algn="r"/>
              </a:tabLst>
              <a:defRPr>
                <a:solidFill>
                  <a:schemeClr val="tx1"/>
                </a:solidFill>
                <a:latin typeface="Arial" panose="020B0604020202020204" pitchFamily="34" charset="0"/>
                <a:ea typeface="宋体" panose="02010600030101010101" pitchFamily="2" charset="-122"/>
              </a:defRPr>
            </a:lvl6pPr>
            <a:lvl7pPr defTabSz="946150" fontAlgn="base">
              <a:spcBef>
                <a:spcPct val="0"/>
              </a:spcBef>
              <a:spcAft>
                <a:spcPct val="0"/>
              </a:spcAft>
              <a:tabLst>
                <a:tab pos="7372350" algn="r"/>
              </a:tabLst>
              <a:defRPr>
                <a:solidFill>
                  <a:schemeClr val="tx1"/>
                </a:solidFill>
                <a:latin typeface="Arial" panose="020B0604020202020204" pitchFamily="34" charset="0"/>
                <a:ea typeface="宋体" panose="02010600030101010101" pitchFamily="2" charset="-122"/>
              </a:defRPr>
            </a:lvl7pPr>
            <a:lvl8pPr defTabSz="946150" fontAlgn="base">
              <a:spcBef>
                <a:spcPct val="0"/>
              </a:spcBef>
              <a:spcAft>
                <a:spcPct val="0"/>
              </a:spcAft>
              <a:tabLst>
                <a:tab pos="7372350" algn="r"/>
              </a:tabLst>
              <a:defRPr>
                <a:solidFill>
                  <a:schemeClr val="tx1"/>
                </a:solidFill>
                <a:latin typeface="Arial" panose="020B0604020202020204" pitchFamily="34" charset="0"/>
                <a:ea typeface="宋体" panose="02010600030101010101" pitchFamily="2" charset="-122"/>
              </a:defRPr>
            </a:lvl8pPr>
            <a:lvl9pPr defTabSz="946150" fontAlgn="base">
              <a:spcBef>
                <a:spcPct val="0"/>
              </a:spcBef>
              <a:spcAft>
                <a:spcPct val="0"/>
              </a:spcAft>
              <a:tabLst>
                <a:tab pos="7372350" algn="r"/>
              </a:tabLst>
              <a:defRPr>
                <a:solidFill>
                  <a:schemeClr val="tx1"/>
                </a:solidFill>
                <a:latin typeface="Arial" panose="020B0604020202020204" pitchFamily="34" charset="0"/>
                <a:ea typeface="宋体" panose="02010600030101010101" pitchFamily="2" charset="-122"/>
              </a:defRPr>
            </a:lvl9pPr>
          </a:lstStyle>
          <a:p>
            <a:pPr eaLnBrk="0" hangingPunct="0">
              <a:lnSpc>
                <a:spcPct val="90000"/>
              </a:lnSpc>
              <a:buClrTx/>
              <a:buFontTx/>
              <a:buNone/>
            </a:pPr>
            <a:r>
              <a:rPr lang="en-US" altLang="zh-CN" sz="900">
                <a:latin typeface="宋体" panose="02010600030101010101" pitchFamily="2" charset="-122"/>
                <a:cs typeface="Arial" panose="020B0604020202020204" pitchFamily="34" charset="0"/>
              </a:rPr>
              <a:t>IT“</a:t>
            </a:r>
            <a:r>
              <a:rPr lang="zh-CN" altLang="en-US" sz="900">
                <a:latin typeface="宋体" panose="02010600030101010101" pitchFamily="2" charset="-122"/>
                <a:cs typeface="Arial" panose="020B0604020202020204" pitchFamily="34" charset="0"/>
              </a:rPr>
              <a:t>核心”服务</a:t>
            </a:r>
            <a:endParaRPr lang="zh-CN" altLang="en-US" sz="900">
              <a:latin typeface="宋体" panose="02010600030101010101" pitchFamily="2" charset="-122"/>
              <a:cs typeface="Arial" panose="020B0604020202020204" pitchFamily="34" charset="0"/>
            </a:endParaRPr>
          </a:p>
        </p:txBody>
      </p:sp>
      <p:sp>
        <p:nvSpPr>
          <p:cNvPr id="121" name="Line 124"/>
          <p:cNvSpPr>
            <a:spLocks noChangeShapeType="1"/>
          </p:cNvSpPr>
          <p:nvPr/>
        </p:nvSpPr>
        <p:spPr bwMode="auto">
          <a:xfrm flipV="1">
            <a:off x="5621917" y="5071403"/>
            <a:ext cx="218344" cy="78160"/>
          </a:xfrm>
          <a:prstGeom prst="line">
            <a:avLst/>
          </a:prstGeom>
          <a:noFill/>
          <a:ln w="12699">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sp>
        <p:nvSpPr>
          <p:cNvPr id="122" name="Rectangle 125"/>
          <p:cNvSpPr>
            <a:spLocks noChangeArrowheads="1"/>
          </p:cNvSpPr>
          <p:nvPr/>
        </p:nvSpPr>
        <p:spPr bwMode="auto">
          <a:xfrm>
            <a:off x="7217372" y="5124641"/>
            <a:ext cx="1109256" cy="217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64" tIns="46033" rIns="92064" bIns="46033">
            <a:spAutoFit/>
          </a:bodyPr>
          <a:lstStyle>
            <a:lvl1pPr algn="l" defTabSz="946150">
              <a:tabLst>
                <a:tab pos="7372350" algn="r"/>
              </a:tabLst>
              <a:defRPr>
                <a:solidFill>
                  <a:schemeClr val="tx1"/>
                </a:solidFill>
                <a:latin typeface="Arial" panose="020B0604020202020204" pitchFamily="34" charset="0"/>
                <a:ea typeface="宋体" panose="02010600030101010101" pitchFamily="2" charset="-122"/>
              </a:defRPr>
            </a:lvl1pPr>
            <a:lvl2pPr algn="l" defTabSz="946150">
              <a:tabLst>
                <a:tab pos="7372350" algn="r"/>
              </a:tabLst>
              <a:defRPr>
                <a:solidFill>
                  <a:schemeClr val="tx1"/>
                </a:solidFill>
                <a:latin typeface="Arial" panose="020B0604020202020204" pitchFamily="34" charset="0"/>
                <a:ea typeface="宋体" panose="02010600030101010101" pitchFamily="2" charset="-122"/>
              </a:defRPr>
            </a:lvl2pPr>
            <a:lvl3pPr algn="l" defTabSz="946150">
              <a:tabLst>
                <a:tab pos="7372350" algn="r"/>
              </a:tabLst>
              <a:defRPr>
                <a:solidFill>
                  <a:schemeClr val="tx1"/>
                </a:solidFill>
                <a:latin typeface="Arial" panose="020B0604020202020204" pitchFamily="34" charset="0"/>
                <a:ea typeface="宋体" panose="02010600030101010101" pitchFamily="2" charset="-122"/>
              </a:defRPr>
            </a:lvl3pPr>
            <a:lvl4pPr algn="l" defTabSz="946150">
              <a:tabLst>
                <a:tab pos="7372350" algn="r"/>
              </a:tabLst>
              <a:defRPr>
                <a:solidFill>
                  <a:schemeClr val="tx1"/>
                </a:solidFill>
                <a:latin typeface="Arial" panose="020B0604020202020204" pitchFamily="34" charset="0"/>
                <a:ea typeface="宋体" panose="02010600030101010101" pitchFamily="2" charset="-122"/>
              </a:defRPr>
            </a:lvl4pPr>
            <a:lvl5pPr algn="l" defTabSz="946150">
              <a:tabLst>
                <a:tab pos="7372350" algn="r"/>
              </a:tabLst>
              <a:defRPr>
                <a:solidFill>
                  <a:schemeClr val="tx1"/>
                </a:solidFill>
                <a:latin typeface="Arial" panose="020B0604020202020204" pitchFamily="34" charset="0"/>
                <a:ea typeface="宋体" panose="02010600030101010101" pitchFamily="2" charset="-122"/>
              </a:defRPr>
            </a:lvl5pPr>
            <a:lvl6pPr defTabSz="946150" fontAlgn="base">
              <a:spcBef>
                <a:spcPct val="0"/>
              </a:spcBef>
              <a:spcAft>
                <a:spcPct val="0"/>
              </a:spcAft>
              <a:tabLst>
                <a:tab pos="7372350" algn="r"/>
              </a:tabLst>
              <a:defRPr>
                <a:solidFill>
                  <a:schemeClr val="tx1"/>
                </a:solidFill>
                <a:latin typeface="Arial" panose="020B0604020202020204" pitchFamily="34" charset="0"/>
                <a:ea typeface="宋体" panose="02010600030101010101" pitchFamily="2" charset="-122"/>
              </a:defRPr>
            </a:lvl6pPr>
            <a:lvl7pPr defTabSz="946150" fontAlgn="base">
              <a:spcBef>
                <a:spcPct val="0"/>
              </a:spcBef>
              <a:spcAft>
                <a:spcPct val="0"/>
              </a:spcAft>
              <a:tabLst>
                <a:tab pos="7372350" algn="r"/>
              </a:tabLst>
              <a:defRPr>
                <a:solidFill>
                  <a:schemeClr val="tx1"/>
                </a:solidFill>
                <a:latin typeface="Arial" panose="020B0604020202020204" pitchFamily="34" charset="0"/>
                <a:ea typeface="宋体" panose="02010600030101010101" pitchFamily="2" charset="-122"/>
              </a:defRPr>
            </a:lvl7pPr>
            <a:lvl8pPr defTabSz="946150" fontAlgn="base">
              <a:spcBef>
                <a:spcPct val="0"/>
              </a:spcBef>
              <a:spcAft>
                <a:spcPct val="0"/>
              </a:spcAft>
              <a:tabLst>
                <a:tab pos="7372350" algn="r"/>
              </a:tabLst>
              <a:defRPr>
                <a:solidFill>
                  <a:schemeClr val="tx1"/>
                </a:solidFill>
                <a:latin typeface="Arial" panose="020B0604020202020204" pitchFamily="34" charset="0"/>
                <a:ea typeface="宋体" panose="02010600030101010101" pitchFamily="2" charset="-122"/>
              </a:defRPr>
            </a:lvl8pPr>
            <a:lvl9pPr defTabSz="946150" fontAlgn="base">
              <a:spcBef>
                <a:spcPct val="0"/>
              </a:spcBef>
              <a:spcAft>
                <a:spcPct val="0"/>
              </a:spcAft>
              <a:tabLst>
                <a:tab pos="7372350" algn="r"/>
              </a:tabLst>
              <a:defRPr>
                <a:solidFill>
                  <a:schemeClr val="tx1"/>
                </a:solidFill>
                <a:latin typeface="Arial" panose="020B0604020202020204" pitchFamily="34" charset="0"/>
                <a:ea typeface="宋体" panose="02010600030101010101" pitchFamily="2" charset="-122"/>
              </a:defRPr>
            </a:lvl9pPr>
          </a:lstStyle>
          <a:p>
            <a:pPr eaLnBrk="0" hangingPunct="0">
              <a:lnSpc>
                <a:spcPct val="90000"/>
              </a:lnSpc>
              <a:buClrTx/>
              <a:buFontTx/>
              <a:buNone/>
            </a:pPr>
            <a:r>
              <a:rPr lang="zh-CN" altLang="en-US" sz="900">
                <a:latin typeface="宋体" panose="02010600030101010101" pitchFamily="2" charset="-122"/>
                <a:cs typeface="Arial" panose="020B0604020202020204" pitchFamily="34" charset="0"/>
              </a:rPr>
              <a:t>业务单元管理服务</a:t>
            </a:r>
            <a:endParaRPr lang="zh-CN" altLang="en-US" sz="900">
              <a:latin typeface="宋体" panose="02010600030101010101" pitchFamily="2" charset="-122"/>
              <a:cs typeface="Arial" panose="020B0604020202020204" pitchFamily="34" charset="0"/>
            </a:endParaRPr>
          </a:p>
        </p:txBody>
      </p:sp>
      <p:sp>
        <p:nvSpPr>
          <p:cNvPr id="123" name="Rectangle 126"/>
          <p:cNvSpPr>
            <a:spLocks noChangeArrowheads="1"/>
          </p:cNvSpPr>
          <p:nvPr/>
        </p:nvSpPr>
        <p:spPr bwMode="auto">
          <a:xfrm>
            <a:off x="4748542" y="4549214"/>
            <a:ext cx="1353042" cy="437236"/>
          </a:xfrm>
          <a:prstGeom prst="rect">
            <a:avLst/>
          </a:prstGeom>
          <a:noFill/>
          <a:ln w="12699">
            <a:solidFill>
              <a:srgbClr val="2C8DD3"/>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0" tIns="45715" rIns="91430" bIns="45715" anchor="ctr"/>
          <a:lstStyle/>
          <a:p>
            <a:pPr algn="ctr">
              <a:buClrTx/>
              <a:buFontTx/>
              <a:buNone/>
            </a:pPr>
            <a:endParaRPr lang="zh-CN" altLang="en-US" sz="1200">
              <a:latin typeface="Arial" panose="020B0604020202020204" pitchFamily="34" charset="0"/>
            </a:endParaRPr>
          </a:p>
        </p:txBody>
      </p:sp>
      <p:grpSp>
        <p:nvGrpSpPr>
          <p:cNvPr id="124" name="Group 127"/>
          <p:cNvGrpSpPr/>
          <p:nvPr/>
        </p:nvGrpSpPr>
        <p:grpSpPr bwMode="auto">
          <a:xfrm>
            <a:off x="4831067" y="4648892"/>
            <a:ext cx="577665" cy="246936"/>
            <a:chOff x="5240" y="1934"/>
            <a:chExt cx="336" cy="288"/>
          </a:xfrm>
        </p:grpSpPr>
        <p:sp>
          <p:nvSpPr>
            <p:cNvPr id="125" name="AutoShape 128"/>
            <p:cNvSpPr>
              <a:spLocks noChangeArrowheads="1"/>
            </p:cNvSpPr>
            <p:nvPr/>
          </p:nvSpPr>
          <p:spPr bwMode="auto">
            <a:xfrm>
              <a:off x="5240" y="1934"/>
              <a:ext cx="336" cy="288"/>
            </a:xfrm>
            <a:prstGeom prst="roundRect">
              <a:avLst>
                <a:gd name="adj" fmla="val 0"/>
              </a:avLst>
            </a:prstGeom>
            <a:solidFill>
              <a:srgbClr val="FFFFFF"/>
            </a:solidFill>
            <a:ln w="12699">
              <a:solidFill>
                <a:srgbClr val="000000"/>
              </a:solidFill>
              <a:round/>
            </a:ln>
            <a:effectLst>
              <a:outerShdw dist="53882" dir="2700000" algn="ctr" rotWithShape="0">
                <a:srgbClr val="94BF74"/>
              </a:outerShdw>
            </a:effectLst>
          </p:spPr>
          <p:txBody>
            <a:bodyPr wrap="none" anchor="ctr"/>
            <a:lstStyle/>
            <a:p>
              <a:pPr algn="ctr">
                <a:buClrTx/>
                <a:buFontTx/>
                <a:buNone/>
              </a:pPr>
              <a:endParaRPr lang="zh-CN" altLang="en-US" sz="1200">
                <a:latin typeface="Arial" panose="020B0604020202020204" pitchFamily="34" charset="0"/>
              </a:endParaRPr>
            </a:p>
          </p:txBody>
        </p:sp>
        <p:sp>
          <p:nvSpPr>
            <p:cNvPr id="126" name="Rectangle 129"/>
            <p:cNvSpPr>
              <a:spLocks noChangeArrowheads="1"/>
            </p:cNvSpPr>
            <p:nvPr/>
          </p:nvSpPr>
          <p:spPr bwMode="auto">
            <a:xfrm>
              <a:off x="5246" y="1952"/>
              <a:ext cx="326" cy="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000" dirty="0">
                  <a:latin typeface="Arial Narrow" panose="020B0606020202030204" pitchFamily="34" charset="0"/>
                  <a:cs typeface="Arial" panose="020B0604020202020204" pitchFamily="34" charset="0"/>
                </a:rPr>
                <a:t>业务线</a:t>
              </a:r>
              <a:endParaRPr lang="zh-CN" altLang="en-US" sz="1000" dirty="0">
                <a:latin typeface="Arial Narrow" panose="020B0606020202030204" pitchFamily="34" charset="0"/>
                <a:cs typeface="Arial" panose="020B0604020202020204" pitchFamily="34" charset="0"/>
              </a:endParaRPr>
            </a:p>
          </p:txBody>
        </p:sp>
      </p:grpSp>
      <p:sp>
        <p:nvSpPr>
          <p:cNvPr id="127" name="Rectangle 130"/>
          <p:cNvSpPr>
            <a:spLocks noChangeArrowheads="1"/>
          </p:cNvSpPr>
          <p:nvPr/>
        </p:nvSpPr>
        <p:spPr bwMode="auto">
          <a:xfrm rot="5400000">
            <a:off x="7097855" y="4719205"/>
            <a:ext cx="381731"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en-US" altLang="zh-CN" sz="1000">
                <a:latin typeface="Arial Narrow" panose="020B0606020202030204" pitchFamily="34" charset="0"/>
                <a:cs typeface="Arial" panose="020B0604020202020204" pitchFamily="34" charset="0"/>
              </a:rPr>
              <a:t>IT </a:t>
            </a:r>
            <a:r>
              <a:rPr lang="zh-CN" altLang="en-US" sz="1000">
                <a:latin typeface="Arial Narrow" panose="020B0606020202030204" pitchFamily="34" charset="0"/>
                <a:cs typeface="Arial" panose="020B0604020202020204" pitchFamily="34" charset="0"/>
              </a:rPr>
              <a:t>小组</a:t>
            </a:r>
            <a:endParaRPr lang="zh-CN" altLang="en-US" sz="1000">
              <a:latin typeface="Arial Narrow" panose="020B0606020202030204" pitchFamily="34" charset="0"/>
              <a:cs typeface="Arial" panose="020B0604020202020204" pitchFamily="34" charset="0"/>
            </a:endParaRPr>
          </a:p>
        </p:txBody>
      </p:sp>
      <p:sp>
        <p:nvSpPr>
          <p:cNvPr id="128" name="Line 132"/>
          <p:cNvSpPr>
            <a:spLocks noChangeShapeType="1"/>
          </p:cNvSpPr>
          <p:nvPr/>
        </p:nvSpPr>
        <p:spPr bwMode="auto">
          <a:xfrm flipV="1">
            <a:off x="7877559" y="5017032"/>
            <a:ext cx="0" cy="10874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5715" rIns="0" bIns="45715" anchor="b"/>
          <a:lstStyle/>
          <a:p>
            <a:pPr algn="ctr">
              <a:buClrTx/>
              <a:buFontTx/>
              <a:buNone/>
            </a:pPr>
            <a:endParaRPr lang="zh-CN" altLang="en-US" sz="1200">
              <a:latin typeface="Arial" panose="020B0604020202020204" pitchFamily="34" charset="0"/>
            </a:endParaRPr>
          </a:p>
        </p:txBody>
      </p:sp>
      <p:sp>
        <p:nvSpPr>
          <p:cNvPr id="130" name="Text Box 143"/>
          <p:cNvSpPr txBox="1">
            <a:spLocks noChangeArrowheads="1"/>
          </p:cNvSpPr>
          <p:nvPr/>
        </p:nvSpPr>
        <p:spPr bwMode="auto">
          <a:xfrm>
            <a:off x="742714" y="5867404"/>
            <a:ext cx="7757213" cy="523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0" tIns="45715" rIns="91430" bIns="45715">
            <a:spAutoFit/>
          </a:bodyPr>
          <a:lstStyle/>
          <a:p>
            <a:pPr>
              <a:buClrTx/>
              <a:buFontTx/>
              <a:buNone/>
            </a:pPr>
            <a:r>
              <a:rPr lang="zh-CN" altLang="en-US" sz="1200" b="1">
                <a:solidFill>
                  <a:schemeClr val="tx1">
                    <a:lumMod val="50000"/>
                    <a:lumOff val="50000"/>
                  </a:schemeClr>
                </a:solidFill>
                <a:latin typeface="Arial" panose="020B0604020202020204" pitchFamily="34" charset="0"/>
              </a:rPr>
              <a:t>通过前面的案例公司分析，可以发现金融行业</a:t>
            </a:r>
            <a:r>
              <a:rPr lang="en-US" altLang="zh-CN" sz="1200" b="1">
                <a:solidFill>
                  <a:schemeClr val="tx1">
                    <a:lumMod val="50000"/>
                    <a:lumOff val="50000"/>
                  </a:schemeClr>
                </a:solidFill>
                <a:latin typeface="Arial" panose="020B0604020202020204" pitchFamily="34" charset="0"/>
              </a:rPr>
              <a:t>IT</a:t>
            </a:r>
            <a:r>
              <a:rPr lang="zh-CN" altLang="en-US" sz="1200" b="1">
                <a:solidFill>
                  <a:schemeClr val="tx1">
                    <a:lumMod val="50000"/>
                    <a:lumOff val="50000"/>
                  </a:schemeClr>
                </a:solidFill>
                <a:latin typeface="Arial" panose="020B0604020202020204" pitchFamily="34" charset="0"/>
              </a:rPr>
              <a:t>发展趋势是</a:t>
            </a:r>
            <a:r>
              <a:rPr lang="zh-CN" altLang="en-US" sz="1600" b="1" i="1" u="sng">
                <a:solidFill>
                  <a:schemeClr val="tx1">
                    <a:lumMod val="50000"/>
                    <a:lumOff val="50000"/>
                  </a:schemeClr>
                </a:solidFill>
                <a:latin typeface="Arial" panose="020B0604020202020204" pitchFamily="34" charset="0"/>
              </a:rPr>
              <a:t>集中</a:t>
            </a:r>
            <a:r>
              <a:rPr lang="zh-CN" altLang="en-US" sz="1200" b="1">
                <a:solidFill>
                  <a:schemeClr val="tx1">
                    <a:lumMod val="50000"/>
                    <a:lumOff val="50000"/>
                  </a:schemeClr>
                </a:solidFill>
                <a:latin typeface="Arial" panose="020B0604020202020204" pitchFamily="34" charset="0"/>
              </a:rPr>
              <a:t>和</a:t>
            </a:r>
            <a:r>
              <a:rPr lang="zh-CN" altLang="en-US" sz="1600" b="1" i="1" u="sng">
                <a:solidFill>
                  <a:schemeClr val="tx1">
                    <a:lumMod val="50000"/>
                    <a:lumOff val="50000"/>
                  </a:schemeClr>
                </a:solidFill>
                <a:latin typeface="Arial" panose="020B0604020202020204" pitchFamily="34" charset="0"/>
              </a:rPr>
              <a:t>共享</a:t>
            </a:r>
            <a:r>
              <a:rPr lang="zh-CN" altLang="en-US" sz="1200" b="1">
                <a:solidFill>
                  <a:schemeClr val="tx1">
                    <a:lumMod val="50000"/>
                    <a:lumOff val="50000"/>
                  </a:schemeClr>
                </a:solidFill>
                <a:latin typeface="Arial" panose="020B0604020202020204" pitchFamily="34" charset="0"/>
              </a:rPr>
              <a:t>。由于业务比较集中在本国，日韩公司</a:t>
            </a:r>
            <a:r>
              <a:rPr lang="en-US" altLang="zh-CN" sz="1200" b="1">
                <a:solidFill>
                  <a:schemeClr val="tx1">
                    <a:lumMod val="50000"/>
                    <a:lumOff val="50000"/>
                  </a:schemeClr>
                </a:solidFill>
                <a:latin typeface="Arial" panose="020B0604020202020204" pitchFamily="34" charset="0"/>
              </a:rPr>
              <a:t>IT</a:t>
            </a:r>
            <a:r>
              <a:rPr lang="zh-CN" altLang="en-US" sz="1200" b="1">
                <a:solidFill>
                  <a:schemeClr val="tx1">
                    <a:lumMod val="50000"/>
                    <a:lumOff val="50000"/>
                  </a:schemeClr>
                </a:solidFill>
                <a:latin typeface="Arial" panose="020B0604020202020204" pitchFamily="34" charset="0"/>
              </a:rPr>
              <a:t>的集中和共享程度更高于跨国经营的欧美公司。</a:t>
            </a:r>
            <a:endParaRPr lang="zh-CN" altLang="en-US" sz="1200" b="1">
              <a:solidFill>
                <a:schemeClr val="tx1">
                  <a:lumMod val="50000"/>
                  <a:lumOff val="50000"/>
                </a:schemeClr>
              </a:solidFill>
              <a:latin typeface="Arial" panose="020B0604020202020204" pitchFamily="34" charset="0"/>
            </a:endParaRPr>
          </a:p>
        </p:txBody>
      </p:sp>
      <p:grpSp>
        <p:nvGrpSpPr>
          <p:cNvPr id="131" name="组合 141"/>
          <p:cNvGrpSpPr/>
          <p:nvPr/>
        </p:nvGrpSpPr>
        <p:grpSpPr>
          <a:xfrm>
            <a:off x="2200630" y="2881172"/>
            <a:ext cx="1124383" cy="189573"/>
            <a:chOff x="969652" y="2869926"/>
            <a:chExt cx="1124383" cy="189573"/>
          </a:xfrm>
        </p:grpSpPr>
        <p:sp>
          <p:nvSpPr>
            <p:cNvPr id="132" name="Oval 74"/>
            <p:cNvSpPr>
              <a:spLocks noChangeArrowheads="1"/>
            </p:cNvSpPr>
            <p:nvPr/>
          </p:nvSpPr>
          <p:spPr bwMode="auto">
            <a:xfrm>
              <a:off x="969652" y="2869926"/>
              <a:ext cx="1036702" cy="189573"/>
            </a:xfrm>
            <a:prstGeom prst="ellipse">
              <a:avLst/>
            </a:prstGeom>
            <a:solidFill>
              <a:srgbClr val="FFFFFF"/>
            </a:solidFill>
            <a:ln w="12699">
              <a:solidFill>
                <a:srgbClr val="000000"/>
              </a:solidFill>
              <a:round/>
            </a:ln>
            <a:effectLst>
              <a:outerShdw dist="53882" dir="2700000" algn="ctr" rotWithShape="0">
                <a:srgbClr val="94BF74"/>
              </a:outerShdw>
            </a:effectLst>
          </p:spPr>
          <p:txBody>
            <a:bodyPr wrap="none" anchor="ctr"/>
            <a:lstStyle/>
            <a:p>
              <a:pPr algn="ctr">
                <a:buClrTx/>
                <a:buFontTx/>
                <a:buNone/>
              </a:pPr>
              <a:endParaRPr lang="zh-CN" altLang="en-US" sz="1200">
                <a:latin typeface="Arial" panose="020B0604020202020204" pitchFamily="34" charset="0"/>
              </a:endParaRPr>
            </a:p>
          </p:txBody>
        </p:sp>
        <p:sp>
          <p:nvSpPr>
            <p:cNvPr id="133" name="Rectangle 77"/>
            <p:cNvSpPr>
              <a:spLocks noChangeArrowheads="1"/>
            </p:cNvSpPr>
            <p:nvPr/>
          </p:nvSpPr>
          <p:spPr bwMode="auto">
            <a:xfrm>
              <a:off x="969652" y="2878373"/>
              <a:ext cx="1124383"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数字化团队</a:t>
              </a:r>
              <a:endParaRPr lang="en-US" altLang="zh-CN" sz="1100" dirty="0">
                <a:latin typeface="Arial Narrow" panose="020B0606020202030204" pitchFamily="34" charset="0"/>
                <a:cs typeface="Arial" panose="020B0604020202020204" pitchFamily="34" charset="0"/>
              </a:endParaRPr>
            </a:p>
          </p:txBody>
        </p:sp>
      </p:grpSp>
      <p:grpSp>
        <p:nvGrpSpPr>
          <p:cNvPr id="134" name="组合 144"/>
          <p:cNvGrpSpPr/>
          <p:nvPr/>
        </p:nvGrpSpPr>
        <p:grpSpPr>
          <a:xfrm>
            <a:off x="3322974" y="2890058"/>
            <a:ext cx="1124383" cy="189573"/>
            <a:chOff x="969652" y="2869926"/>
            <a:chExt cx="1124383" cy="189573"/>
          </a:xfrm>
        </p:grpSpPr>
        <p:sp>
          <p:nvSpPr>
            <p:cNvPr id="135" name="Oval 74"/>
            <p:cNvSpPr>
              <a:spLocks noChangeArrowheads="1"/>
            </p:cNvSpPr>
            <p:nvPr/>
          </p:nvSpPr>
          <p:spPr bwMode="auto">
            <a:xfrm>
              <a:off x="969652" y="2869926"/>
              <a:ext cx="1036702" cy="189573"/>
            </a:xfrm>
            <a:prstGeom prst="ellipse">
              <a:avLst/>
            </a:prstGeom>
            <a:solidFill>
              <a:srgbClr val="FFFFFF"/>
            </a:solidFill>
            <a:ln w="12699">
              <a:solidFill>
                <a:srgbClr val="000000"/>
              </a:solidFill>
              <a:round/>
            </a:ln>
            <a:effectLst>
              <a:outerShdw dist="53882" dir="2700000" algn="ctr" rotWithShape="0">
                <a:srgbClr val="94BF74"/>
              </a:outerShdw>
            </a:effectLst>
          </p:spPr>
          <p:txBody>
            <a:bodyPr wrap="none" anchor="ctr"/>
            <a:lstStyle/>
            <a:p>
              <a:pPr algn="ctr">
                <a:buClrTx/>
                <a:buFontTx/>
                <a:buNone/>
              </a:pPr>
              <a:endParaRPr lang="zh-CN" altLang="en-US" sz="1200">
                <a:latin typeface="Arial" panose="020B0604020202020204" pitchFamily="34" charset="0"/>
              </a:endParaRPr>
            </a:p>
          </p:txBody>
        </p:sp>
        <p:sp>
          <p:nvSpPr>
            <p:cNvPr id="136" name="Rectangle 77"/>
            <p:cNvSpPr>
              <a:spLocks noChangeArrowheads="1"/>
            </p:cNvSpPr>
            <p:nvPr/>
          </p:nvSpPr>
          <p:spPr bwMode="auto">
            <a:xfrm>
              <a:off x="969652" y="2878373"/>
              <a:ext cx="1124383"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lgn="l" defTabSz="457200">
                <a:defRPr>
                  <a:solidFill>
                    <a:schemeClr val="tx1"/>
                  </a:solidFill>
                  <a:latin typeface="Arial" panose="020B0604020202020204" pitchFamily="34" charset="0"/>
                  <a:ea typeface="宋体" panose="02010600030101010101" pitchFamily="2" charset="-122"/>
                </a:defRPr>
              </a:lvl1pPr>
              <a:lvl2pPr marL="659130" indent="-201930" algn="l" defTabSz="457200">
                <a:defRPr>
                  <a:solidFill>
                    <a:schemeClr val="tx1"/>
                  </a:solidFill>
                  <a:latin typeface="Arial" panose="020B0604020202020204" pitchFamily="34" charset="0"/>
                  <a:ea typeface="宋体" panose="02010600030101010101" pitchFamily="2" charset="-122"/>
                </a:defRPr>
              </a:lvl2pPr>
              <a:lvl3pPr marL="1138555" indent="-224155" algn="l" defTabSz="457200">
                <a:defRPr>
                  <a:solidFill>
                    <a:schemeClr val="tx1"/>
                  </a:solidFill>
                  <a:latin typeface="Arial" panose="020B0604020202020204" pitchFamily="34" charset="0"/>
                  <a:ea typeface="宋体" panose="02010600030101010101" pitchFamily="2" charset="-122"/>
                </a:defRPr>
              </a:lvl3pPr>
              <a:lvl4pPr algn="l" defTabSz="457200">
                <a:defRPr>
                  <a:solidFill>
                    <a:schemeClr val="tx1"/>
                  </a:solidFill>
                  <a:latin typeface="Arial" panose="020B0604020202020204" pitchFamily="34" charset="0"/>
                  <a:ea typeface="宋体" panose="02010600030101010101" pitchFamily="2" charset="-122"/>
                </a:defRPr>
              </a:lvl4pPr>
              <a:lvl5pPr algn="l" defTabSz="457200">
                <a:defRPr>
                  <a:solidFill>
                    <a:schemeClr val="tx1"/>
                  </a:solidFill>
                  <a:latin typeface="Arial" panose="020B0604020202020204" pitchFamily="34" charset="0"/>
                  <a:ea typeface="宋体" panose="02010600030101010101" pitchFamily="2" charset="-122"/>
                </a:defRPr>
              </a:lvl5pPr>
              <a:lvl6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defTabSz="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0" hangingPunct="0">
                <a:buClrTx/>
                <a:buFontTx/>
                <a:buNone/>
              </a:pPr>
              <a:r>
                <a:rPr lang="zh-CN" altLang="en-US" sz="1100" dirty="0">
                  <a:latin typeface="Arial Narrow" panose="020B0606020202030204" pitchFamily="34" charset="0"/>
                  <a:cs typeface="Arial" panose="020B0604020202020204" pitchFamily="34" charset="0"/>
                </a:rPr>
                <a:t>数字化团队</a:t>
              </a:r>
              <a:endParaRPr lang="en-US" altLang="zh-CN" sz="1100" dirty="0">
                <a:latin typeface="Arial Narrow" panose="020B0606020202030204" pitchFamily="34" charset="0"/>
                <a:cs typeface="Arial" panose="020B0604020202020204" pitchFamily="34"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495300" y="274638"/>
            <a:ext cx="7485063" cy="868362"/>
          </a:xfrm>
          <a:noFill/>
          <a:ln w="9525">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sz="2400" dirty="0"/>
              <a:t>组织考核指标体系的整体设计思路</a:t>
            </a:r>
            <a:br>
              <a:rPr lang="en-US" altLang="zh-CN" sz="2400" dirty="0"/>
            </a:br>
            <a:r>
              <a:rPr lang="en-US" altLang="zh-CN" sz="2000" b="0" dirty="0"/>
              <a:t>- </a:t>
            </a:r>
            <a:r>
              <a:rPr lang="zh-CN" altLang="en-US" sz="2000" b="0" dirty="0"/>
              <a:t>从全面考虑来自股东、客户、员工和监管机构的需求出发，充分利用价值树分析和现有指标库</a:t>
            </a:r>
            <a:endParaRPr lang="zh-CN" altLang="en-US" sz="2400" b="0" dirty="0"/>
          </a:p>
        </p:txBody>
      </p:sp>
      <p:sp>
        <p:nvSpPr>
          <p:cNvPr id="149507" name="Rectangle 3"/>
          <p:cNvSpPr>
            <a:spLocks noChangeArrowheads="1"/>
          </p:cNvSpPr>
          <p:nvPr/>
        </p:nvSpPr>
        <p:spPr bwMode="auto">
          <a:xfrm>
            <a:off x="1519238" y="5588000"/>
            <a:ext cx="7954962" cy="855663"/>
          </a:xfrm>
          <a:prstGeom prst="rect">
            <a:avLst/>
          </a:prstGeom>
          <a:solidFill>
            <a:srgbClr val="FCFEB9"/>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9508" name="Line 4"/>
          <p:cNvSpPr>
            <a:spLocks noChangeShapeType="1"/>
          </p:cNvSpPr>
          <p:nvPr/>
        </p:nvSpPr>
        <p:spPr bwMode="auto">
          <a:xfrm flipV="1">
            <a:off x="3716338" y="2290763"/>
            <a:ext cx="1225550" cy="5619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09" name="Oval 5"/>
          <p:cNvSpPr>
            <a:spLocks noChangeArrowheads="1"/>
          </p:cNvSpPr>
          <p:nvPr/>
        </p:nvSpPr>
        <p:spPr bwMode="auto">
          <a:xfrm>
            <a:off x="4941888" y="1887538"/>
            <a:ext cx="2598737" cy="403225"/>
          </a:xfrm>
          <a:prstGeom prst="ellipse">
            <a:avLst/>
          </a:prstGeom>
          <a:solidFill>
            <a:schemeClr val="tx1"/>
          </a:solidFill>
          <a:ln w="12700">
            <a:solidFill>
              <a:schemeClr val="tx1"/>
            </a:solidFill>
            <a:round/>
          </a:ln>
          <a:effectLst>
            <a:outerShdw dist="53882" dir="2700000" algn="ctr" rotWithShape="0">
              <a:schemeClr val="tx1"/>
            </a:outerShdw>
          </a:effectLst>
        </p:spPr>
        <p:txBody>
          <a:bodyPr wrap="none" lIns="82550" tIns="39688" rIns="82550" bIns="39688" anchor="ct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SzTx/>
              <a:buFontTx/>
              <a:buNone/>
            </a:pPr>
            <a:r>
              <a:rPr lang="zh-CN" altLang="en-US" sz="1600">
                <a:solidFill>
                  <a:schemeClr val="bg1"/>
                </a:solidFill>
                <a:latin typeface="黑体" panose="02010609060101010101" pitchFamily="49" charset="-122"/>
                <a:ea typeface="黑体" panose="02010609060101010101" pitchFamily="49" charset="-122"/>
                <a:cs typeface="Arial" panose="020B0604020202020204" pitchFamily="34" charset="0"/>
              </a:rPr>
              <a:t>运营战略</a:t>
            </a:r>
            <a:endParaRPr lang="zh-CN" altLang="en-US" sz="160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sp>
        <p:nvSpPr>
          <p:cNvPr id="149510" name="Rectangle 6"/>
          <p:cNvSpPr>
            <a:spLocks noChangeArrowheads="1"/>
          </p:cNvSpPr>
          <p:nvPr/>
        </p:nvSpPr>
        <p:spPr bwMode="auto">
          <a:xfrm>
            <a:off x="1598613" y="5659438"/>
            <a:ext cx="1092200" cy="31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39688" rIns="82550" bIns="39688">
            <a:spAutoFit/>
          </a:bodyP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500">
                <a:latin typeface="黑体" panose="02010609060101010101" pitchFamily="49" charset="-122"/>
                <a:ea typeface="黑体" panose="02010609060101010101" pitchFamily="49" charset="-122"/>
                <a:cs typeface="Arial" panose="020B0604020202020204" pitchFamily="34" charset="0"/>
              </a:rPr>
              <a:t>备选指标</a:t>
            </a:r>
            <a:endParaRPr lang="zh-CN" altLang="en-US" sz="1500">
              <a:latin typeface="黑体" panose="02010609060101010101" pitchFamily="49" charset="-122"/>
              <a:ea typeface="黑体" panose="02010609060101010101" pitchFamily="49" charset="-122"/>
              <a:cs typeface="Arial" panose="020B0604020202020204" pitchFamily="34" charset="0"/>
            </a:endParaRPr>
          </a:p>
        </p:txBody>
      </p:sp>
      <p:sp>
        <p:nvSpPr>
          <p:cNvPr id="149511" name="Rectangle 7"/>
          <p:cNvSpPr>
            <a:spLocks noChangeArrowheads="1"/>
          </p:cNvSpPr>
          <p:nvPr/>
        </p:nvSpPr>
        <p:spPr bwMode="auto">
          <a:xfrm>
            <a:off x="4618038" y="3209925"/>
            <a:ext cx="1422400" cy="649288"/>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39688" rIns="82550" bIns="39688" anchor="ct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500">
                <a:latin typeface="黑体" panose="02010609060101010101" pitchFamily="49" charset="-122"/>
                <a:ea typeface="黑体" panose="02010609060101010101" pitchFamily="49" charset="-122"/>
                <a:cs typeface="Arial" panose="020B0604020202020204" pitchFamily="34" charset="0"/>
              </a:rPr>
              <a:t>客户</a:t>
            </a:r>
            <a:endParaRPr lang="zh-CN" altLang="en-US" sz="1500">
              <a:latin typeface="黑体" panose="02010609060101010101" pitchFamily="49" charset="-122"/>
              <a:ea typeface="黑体" panose="02010609060101010101" pitchFamily="49" charset="-122"/>
              <a:cs typeface="Arial" panose="020B0604020202020204" pitchFamily="34" charset="0"/>
            </a:endParaRPr>
          </a:p>
        </p:txBody>
      </p:sp>
      <p:sp>
        <p:nvSpPr>
          <p:cNvPr id="149512" name="Rectangle 8"/>
          <p:cNvSpPr>
            <a:spLocks noChangeArrowheads="1"/>
          </p:cNvSpPr>
          <p:nvPr/>
        </p:nvSpPr>
        <p:spPr bwMode="auto">
          <a:xfrm>
            <a:off x="4618038" y="5670550"/>
            <a:ext cx="1422400" cy="650875"/>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9513" name="Line 9"/>
          <p:cNvSpPr>
            <a:spLocks noChangeShapeType="1"/>
          </p:cNvSpPr>
          <p:nvPr/>
        </p:nvSpPr>
        <p:spPr bwMode="auto">
          <a:xfrm>
            <a:off x="4743450" y="5815013"/>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14" name="Line 10"/>
          <p:cNvSpPr>
            <a:spLocks noChangeShapeType="1"/>
          </p:cNvSpPr>
          <p:nvPr/>
        </p:nvSpPr>
        <p:spPr bwMode="auto">
          <a:xfrm>
            <a:off x="4762500" y="6157913"/>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15" name="Line 11"/>
          <p:cNvSpPr>
            <a:spLocks noChangeShapeType="1"/>
          </p:cNvSpPr>
          <p:nvPr/>
        </p:nvSpPr>
        <p:spPr bwMode="auto">
          <a:xfrm>
            <a:off x="4743450" y="5986463"/>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16" name="Rectangle 12"/>
          <p:cNvSpPr>
            <a:spLocks noChangeArrowheads="1"/>
          </p:cNvSpPr>
          <p:nvPr/>
        </p:nvSpPr>
        <p:spPr bwMode="auto">
          <a:xfrm>
            <a:off x="3041650" y="3209925"/>
            <a:ext cx="1420813" cy="649288"/>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39688" rIns="82550" bIns="39688" anchor="ct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500">
                <a:latin typeface="黑体" panose="02010609060101010101" pitchFamily="49" charset="-122"/>
                <a:ea typeface="黑体" panose="02010609060101010101" pitchFamily="49" charset="-122"/>
                <a:cs typeface="Arial" panose="020B0604020202020204" pitchFamily="34" charset="0"/>
              </a:rPr>
              <a:t>财务表现</a:t>
            </a:r>
            <a:endParaRPr lang="zh-CN" altLang="en-US" sz="1500">
              <a:latin typeface="黑体" panose="02010609060101010101" pitchFamily="49" charset="-122"/>
              <a:ea typeface="黑体" panose="02010609060101010101" pitchFamily="49" charset="-122"/>
              <a:cs typeface="Arial" panose="020B0604020202020204" pitchFamily="34" charset="0"/>
            </a:endParaRPr>
          </a:p>
        </p:txBody>
      </p:sp>
      <p:sp>
        <p:nvSpPr>
          <p:cNvPr id="149517" name="Rectangle 13"/>
          <p:cNvSpPr>
            <a:spLocks noChangeArrowheads="1"/>
          </p:cNvSpPr>
          <p:nvPr/>
        </p:nvSpPr>
        <p:spPr bwMode="auto">
          <a:xfrm>
            <a:off x="3041650" y="5670550"/>
            <a:ext cx="1420813" cy="650875"/>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9518" name="Line 14"/>
          <p:cNvSpPr>
            <a:spLocks noChangeShapeType="1"/>
          </p:cNvSpPr>
          <p:nvPr/>
        </p:nvSpPr>
        <p:spPr bwMode="auto">
          <a:xfrm>
            <a:off x="3187700" y="5815013"/>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19" name="Line 15"/>
          <p:cNvSpPr>
            <a:spLocks noChangeShapeType="1"/>
          </p:cNvSpPr>
          <p:nvPr/>
        </p:nvSpPr>
        <p:spPr bwMode="auto">
          <a:xfrm>
            <a:off x="3187700" y="6003925"/>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20" name="Line 16"/>
          <p:cNvSpPr>
            <a:spLocks noChangeShapeType="1"/>
          </p:cNvSpPr>
          <p:nvPr/>
        </p:nvSpPr>
        <p:spPr bwMode="auto">
          <a:xfrm>
            <a:off x="3187700" y="6175375"/>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21" name="Rectangle 17"/>
          <p:cNvSpPr>
            <a:spLocks noChangeArrowheads="1"/>
          </p:cNvSpPr>
          <p:nvPr/>
        </p:nvSpPr>
        <p:spPr bwMode="auto">
          <a:xfrm>
            <a:off x="6313488" y="3209925"/>
            <a:ext cx="1420812" cy="649288"/>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39688" rIns="82550" bIns="39688" anchor="ct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500">
                <a:latin typeface="黑体" panose="02010609060101010101" pitchFamily="49" charset="-122"/>
                <a:ea typeface="黑体" panose="02010609060101010101" pitchFamily="49" charset="-122"/>
                <a:cs typeface="Arial" panose="020B0604020202020204" pitchFamily="34" charset="0"/>
              </a:rPr>
              <a:t>内部流程</a:t>
            </a:r>
            <a:endParaRPr lang="zh-CN" altLang="en-US" sz="1500">
              <a:latin typeface="黑体" panose="02010609060101010101" pitchFamily="49" charset="-122"/>
              <a:ea typeface="黑体" panose="02010609060101010101" pitchFamily="49" charset="-122"/>
              <a:cs typeface="Arial" panose="020B0604020202020204" pitchFamily="34" charset="0"/>
            </a:endParaRPr>
          </a:p>
          <a:p>
            <a:pPr>
              <a:spcBef>
                <a:spcPct val="0"/>
              </a:spcBef>
              <a:spcAft>
                <a:spcPct val="0"/>
              </a:spcAft>
              <a:buSzTx/>
              <a:buFontTx/>
              <a:buNone/>
            </a:pPr>
            <a:r>
              <a:rPr lang="zh-CN" altLang="en-US" sz="1300">
                <a:latin typeface="黑体" panose="02010609060101010101" pitchFamily="49" charset="-122"/>
                <a:ea typeface="黑体" panose="02010609060101010101" pitchFamily="49" charset="-122"/>
                <a:cs typeface="Arial" panose="020B0604020202020204" pitchFamily="34" charset="0"/>
              </a:rPr>
              <a:t>（含合规）</a:t>
            </a:r>
            <a:endParaRPr lang="zh-CN" altLang="en-US" sz="1300">
              <a:latin typeface="黑体" panose="02010609060101010101" pitchFamily="49" charset="-122"/>
              <a:ea typeface="黑体" panose="02010609060101010101" pitchFamily="49" charset="-122"/>
              <a:cs typeface="Arial" panose="020B0604020202020204" pitchFamily="34" charset="0"/>
            </a:endParaRPr>
          </a:p>
        </p:txBody>
      </p:sp>
      <p:sp>
        <p:nvSpPr>
          <p:cNvPr id="149522" name="Rectangle 18"/>
          <p:cNvSpPr>
            <a:spLocks noChangeArrowheads="1"/>
          </p:cNvSpPr>
          <p:nvPr/>
        </p:nvSpPr>
        <p:spPr bwMode="auto">
          <a:xfrm>
            <a:off x="6313488" y="5670550"/>
            <a:ext cx="1420812" cy="650875"/>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9523" name="Line 19"/>
          <p:cNvSpPr>
            <a:spLocks noChangeShapeType="1"/>
          </p:cNvSpPr>
          <p:nvPr/>
        </p:nvSpPr>
        <p:spPr bwMode="auto">
          <a:xfrm>
            <a:off x="6424613" y="5815013"/>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24" name="Line 20"/>
          <p:cNvSpPr>
            <a:spLocks noChangeShapeType="1"/>
          </p:cNvSpPr>
          <p:nvPr/>
        </p:nvSpPr>
        <p:spPr bwMode="auto">
          <a:xfrm>
            <a:off x="6442075" y="6157913"/>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25" name="Line 21"/>
          <p:cNvSpPr>
            <a:spLocks noChangeShapeType="1"/>
          </p:cNvSpPr>
          <p:nvPr/>
        </p:nvSpPr>
        <p:spPr bwMode="auto">
          <a:xfrm>
            <a:off x="6424613" y="5986463"/>
            <a:ext cx="11842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26" name="Rectangle 22"/>
          <p:cNvSpPr>
            <a:spLocks noChangeArrowheads="1"/>
          </p:cNvSpPr>
          <p:nvPr/>
        </p:nvSpPr>
        <p:spPr bwMode="auto">
          <a:xfrm>
            <a:off x="7869238" y="3209925"/>
            <a:ext cx="1423987" cy="649288"/>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39688" rIns="82550" bIns="39688" anchor="ct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500">
                <a:latin typeface="黑体" panose="02010609060101010101" pitchFamily="49" charset="-122"/>
                <a:ea typeface="黑体" panose="02010609060101010101" pitchFamily="49" charset="-122"/>
                <a:cs typeface="Arial" panose="020B0604020202020204" pitchFamily="34" charset="0"/>
              </a:rPr>
              <a:t>员工</a:t>
            </a:r>
            <a:endParaRPr lang="zh-CN" altLang="en-US" sz="1500">
              <a:latin typeface="黑体" panose="02010609060101010101" pitchFamily="49" charset="-122"/>
              <a:ea typeface="黑体" panose="02010609060101010101" pitchFamily="49" charset="-122"/>
              <a:cs typeface="Arial" panose="020B0604020202020204" pitchFamily="34" charset="0"/>
            </a:endParaRPr>
          </a:p>
        </p:txBody>
      </p:sp>
      <p:sp>
        <p:nvSpPr>
          <p:cNvPr id="149527" name="Rectangle 23"/>
          <p:cNvSpPr>
            <a:spLocks noChangeArrowheads="1"/>
          </p:cNvSpPr>
          <p:nvPr/>
        </p:nvSpPr>
        <p:spPr bwMode="auto">
          <a:xfrm>
            <a:off x="7869238" y="5670550"/>
            <a:ext cx="1423987" cy="650875"/>
          </a:xfrm>
          <a:prstGeom prst="rect">
            <a:avLst/>
          </a:prstGeom>
          <a:solidFill>
            <a:srgbClr val="FFFFFF"/>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9528" name="Line 24"/>
          <p:cNvSpPr>
            <a:spLocks noChangeShapeType="1"/>
          </p:cNvSpPr>
          <p:nvPr/>
        </p:nvSpPr>
        <p:spPr bwMode="auto">
          <a:xfrm>
            <a:off x="7961313" y="5815013"/>
            <a:ext cx="11826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29" name="Line 25"/>
          <p:cNvSpPr>
            <a:spLocks noChangeShapeType="1"/>
          </p:cNvSpPr>
          <p:nvPr/>
        </p:nvSpPr>
        <p:spPr bwMode="auto">
          <a:xfrm>
            <a:off x="7980363" y="6157913"/>
            <a:ext cx="11811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30" name="Line 26"/>
          <p:cNvSpPr>
            <a:spLocks noChangeShapeType="1"/>
          </p:cNvSpPr>
          <p:nvPr/>
        </p:nvSpPr>
        <p:spPr bwMode="auto">
          <a:xfrm>
            <a:off x="7961313" y="5986463"/>
            <a:ext cx="1182687"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31" name="Line 27"/>
          <p:cNvSpPr>
            <a:spLocks noChangeShapeType="1"/>
          </p:cNvSpPr>
          <p:nvPr/>
        </p:nvSpPr>
        <p:spPr bwMode="auto">
          <a:xfrm flipV="1">
            <a:off x="5348288" y="2473325"/>
            <a:ext cx="319087" cy="40322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32" name="Line 28"/>
          <p:cNvSpPr>
            <a:spLocks noChangeShapeType="1"/>
          </p:cNvSpPr>
          <p:nvPr/>
        </p:nvSpPr>
        <p:spPr bwMode="auto">
          <a:xfrm flipH="1" flipV="1">
            <a:off x="6815138" y="2490788"/>
            <a:ext cx="125412" cy="38735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33" name="Line 29"/>
          <p:cNvSpPr>
            <a:spLocks noChangeShapeType="1"/>
          </p:cNvSpPr>
          <p:nvPr/>
        </p:nvSpPr>
        <p:spPr bwMode="auto">
          <a:xfrm flipH="1" flipV="1">
            <a:off x="7540625" y="2290763"/>
            <a:ext cx="1069975" cy="549275"/>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9534" name="Rectangle 30"/>
          <p:cNvSpPr>
            <a:spLocks noChangeArrowheads="1"/>
          </p:cNvSpPr>
          <p:nvPr/>
        </p:nvSpPr>
        <p:spPr bwMode="auto">
          <a:xfrm>
            <a:off x="3468688" y="2860675"/>
            <a:ext cx="501650" cy="280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39688" rIns="82550" bIns="39688">
            <a:spAutoFit/>
          </a:bodyP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300">
                <a:latin typeface="黑体" panose="02010609060101010101" pitchFamily="49" charset="-122"/>
                <a:ea typeface="黑体" panose="02010609060101010101" pitchFamily="49" charset="-122"/>
                <a:cs typeface="Arial" panose="020B0604020202020204" pitchFamily="34" charset="0"/>
              </a:rPr>
              <a:t>股东</a:t>
            </a:r>
            <a:endParaRPr lang="zh-CN" altLang="en-US" sz="1300">
              <a:latin typeface="黑体" panose="02010609060101010101" pitchFamily="49" charset="-122"/>
              <a:ea typeface="黑体" panose="02010609060101010101" pitchFamily="49" charset="-122"/>
              <a:cs typeface="Arial" panose="020B0604020202020204" pitchFamily="34" charset="0"/>
            </a:endParaRPr>
          </a:p>
        </p:txBody>
      </p:sp>
      <p:sp>
        <p:nvSpPr>
          <p:cNvPr id="149535" name="Rectangle 31"/>
          <p:cNvSpPr>
            <a:spLocks noChangeArrowheads="1"/>
          </p:cNvSpPr>
          <p:nvPr/>
        </p:nvSpPr>
        <p:spPr bwMode="auto">
          <a:xfrm>
            <a:off x="5073650" y="2860675"/>
            <a:ext cx="500063" cy="280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39688" rIns="82550" bIns="39688">
            <a:spAutoFit/>
          </a:bodyP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300">
                <a:latin typeface="黑体" panose="02010609060101010101" pitchFamily="49" charset="-122"/>
                <a:ea typeface="黑体" panose="02010609060101010101" pitchFamily="49" charset="-122"/>
                <a:cs typeface="Arial" panose="020B0604020202020204" pitchFamily="34" charset="0"/>
              </a:rPr>
              <a:t>客户</a:t>
            </a:r>
            <a:endParaRPr lang="zh-CN" altLang="en-US" sz="1300">
              <a:latin typeface="黑体" panose="02010609060101010101" pitchFamily="49" charset="-122"/>
              <a:ea typeface="黑体" panose="02010609060101010101" pitchFamily="49" charset="-122"/>
              <a:cs typeface="Arial" panose="020B0604020202020204" pitchFamily="34" charset="0"/>
            </a:endParaRPr>
          </a:p>
        </p:txBody>
      </p:sp>
      <p:sp>
        <p:nvSpPr>
          <p:cNvPr id="149536" name="Rectangle 32"/>
          <p:cNvSpPr>
            <a:spLocks noChangeArrowheads="1"/>
          </p:cNvSpPr>
          <p:nvPr/>
        </p:nvSpPr>
        <p:spPr bwMode="auto">
          <a:xfrm>
            <a:off x="6602413" y="2860675"/>
            <a:ext cx="833437" cy="280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39688" rIns="82550" bIns="39688">
            <a:spAutoFit/>
          </a:bodyP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300">
                <a:latin typeface="黑体" panose="02010609060101010101" pitchFamily="49" charset="-122"/>
                <a:ea typeface="黑体" panose="02010609060101010101" pitchFamily="49" charset="-122"/>
                <a:cs typeface="Arial" panose="020B0604020202020204" pitchFamily="34" charset="0"/>
              </a:rPr>
              <a:t>监管机构</a:t>
            </a:r>
            <a:endParaRPr lang="zh-CN" altLang="en-US" sz="1300">
              <a:latin typeface="黑体" panose="02010609060101010101" pitchFamily="49" charset="-122"/>
              <a:ea typeface="黑体" panose="02010609060101010101" pitchFamily="49" charset="-122"/>
              <a:cs typeface="Arial" panose="020B0604020202020204" pitchFamily="34" charset="0"/>
            </a:endParaRPr>
          </a:p>
        </p:txBody>
      </p:sp>
      <p:sp>
        <p:nvSpPr>
          <p:cNvPr id="149537" name="Rectangle 33"/>
          <p:cNvSpPr>
            <a:spLocks noChangeArrowheads="1"/>
          </p:cNvSpPr>
          <p:nvPr/>
        </p:nvSpPr>
        <p:spPr bwMode="auto">
          <a:xfrm>
            <a:off x="8304213" y="2860675"/>
            <a:ext cx="500062" cy="280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550" tIns="39688" rIns="82550" bIns="39688">
            <a:spAutoFit/>
          </a:bodyP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300">
                <a:latin typeface="黑体" panose="02010609060101010101" pitchFamily="49" charset="-122"/>
                <a:ea typeface="黑体" panose="02010609060101010101" pitchFamily="49" charset="-122"/>
                <a:cs typeface="Arial" panose="020B0604020202020204" pitchFamily="34" charset="0"/>
              </a:rPr>
              <a:t>员工</a:t>
            </a:r>
            <a:endParaRPr lang="zh-CN" altLang="en-US" sz="1300">
              <a:latin typeface="黑体" panose="02010609060101010101" pitchFamily="49" charset="-122"/>
              <a:ea typeface="黑体" panose="02010609060101010101" pitchFamily="49" charset="-122"/>
              <a:cs typeface="Arial" panose="020B0604020202020204" pitchFamily="34" charset="0"/>
            </a:endParaRPr>
          </a:p>
        </p:txBody>
      </p:sp>
      <p:sp>
        <p:nvSpPr>
          <p:cNvPr id="149538" name="Line 34"/>
          <p:cNvSpPr>
            <a:spLocks noChangeShapeType="1"/>
          </p:cNvSpPr>
          <p:nvPr/>
        </p:nvSpPr>
        <p:spPr bwMode="auto">
          <a:xfrm>
            <a:off x="3081338" y="3859213"/>
            <a:ext cx="0" cy="1728787"/>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9539" name="Line 35"/>
          <p:cNvSpPr>
            <a:spLocks noChangeShapeType="1"/>
          </p:cNvSpPr>
          <p:nvPr/>
        </p:nvSpPr>
        <p:spPr bwMode="auto">
          <a:xfrm>
            <a:off x="4483100" y="3859213"/>
            <a:ext cx="0" cy="1728787"/>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9540" name="Line 36"/>
          <p:cNvSpPr>
            <a:spLocks noChangeShapeType="1"/>
          </p:cNvSpPr>
          <p:nvPr/>
        </p:nvSpPr>
        <p:spPr bwMode="auto">
          <a:xfrm>
            <a:off x="4640263" y="3859213"/>
            <a:ext cx="0" cy="1728787"/>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9541" name="Line 37"/>
          <p:cNvSpPr>
            <a:spLocks noChangeShapeType="1"/>
          </p:cNvSpPr>
          <p:nvPr/>
        </p:nvSpPr>
        <p:spPr bwMode="auto">
          <a:xfrm>
            <a:off x="9318625" y="3860800"/>
            <a:ext cx="0" cy="1655763"/>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49542" name="AutoShape 38"/>
          <p:cNvSpPr>
            <a:spLocks noChangeArrowheads="1"/>
          </p:cNvSpPr>
          <p:nvPr/>
        </p:nvSpPr>
        <p:spPr bwMode="auto">
          <a:xfrm rot="5207878">
            <a:off x="3567113" y="4992688"/>
            <a:ext cx="457200" cy="495300"/>
          </a:xfrm>
          <a:prstGeom prst="rightArrow">
            <a:avLst>
              <a:gd name="adj1" fmla="val 50000"/>
              <a:gd name="adj2" fmla="val 52083"/>
            </a:avLst>
          </a:prstGeom>
          <a:gradFill rotWithShape="1">
            <a:gsLst>
              <a:gs pos="0">
                <a:schemeClr val="bg1">
                  <a:alpha val="84000"/>
                </a:schemeClr>
              </a:gs>
              <a:gs pos="100000">
                <a:srgbClr val="FF0000">
                  <a:alpha val="87000"/>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9543" name="AutoShape 39"/>
          <p:cNvSpPr>
            <a:spLocks noChangeArrowheads="1"/>
          </p:cNvSpPr>
          <p:nvPr/>
        </p:nvSpPr>
        <p:spPr bwMode="auto">
          <a:xfrm rot="5207878">
            <a:off x="6765925" y="4992688"/>
            <a:ext cx="457200" cy="495300"/>
          </a:xfrm>
          <a:prstGeom prst="rightArrow">
            <a:avLst>
              <a:gd name="adj1" fmla="val 50000"/>
              <a:gd name="adj2" fmla="val 52083"/>
            </a:avLst>
          </a:prstGeom>
          <a:gradFill rotWithShape="1">
            <a:gsLst>
              <a:gs pos="0">
                <a:schemeClr val="bg1">
                  <a:alpha val="84000"/>
                </a:schemeClr>
              </a:gs>
              <a:gs pos="100000">
                <a:srgbClr val="FF0000">
                  <a:alpha val="87000"/>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49544" name="Rectangle 40"/>
          <p:cNvSpPr>
            <a:spLocks noChangeArrowheads="1"/>
          </p:cNvSpPr>
          <p:nvPr/>
        </p:nvSpPr>
        <p:spPr bwMode="auto">
          <a:xfrm>
            <a:off x="3155950" y="4292600"/>
            <a:ext cx="1249363" cy="644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39688" rIns="82550" bIns="39688">
            <a:spAutoFit/>
          </a:bodyP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500">
                <a:latin typeface="黑体" panose="02010609060101010101" pitchFamily="49" charset="-122"/>
                <a:ea typeface="黑体" panose="02010609060101010101" pitchFamily="49" charset="-122"/>
                <a:cs typeface="Arial" panose="020B0604020202020204" pitchFamily="34" charset="0"/>
              </a:rPr>
              <a:t>价值树分析</a:t>
            </a:r>
            <a:endParaRPr lang="zh-CN" altLang="en-US" sz="1500">
              <a:latin typeface="黑体" panose="02010609060101010101" pitchFamily="49" charset="-122"/>
              <a:ea typeface="黑体" panose="02010609060101010101" pitchFamily="49" charset="-122"/>
              <a:cs typeface="Arial" panose="020B0604020202020204" pitchFamily="34" charset="0"/>
            </a:endParaRPr>
          </a:p>
          <a:p>
            <a:pPr>
              <a:spcBef>
                <a:spcPct val="0"/>
              </a:spcBef>
              <a:spcAft>
                <a:spcPct val="0"/>
              </a:spcAft>
              <a:buSzTx/>
              <a:buFontTx/>
              <a:buNone/>
            </a:pPr>
            <a:r>
              <a:rPr lang="zh-CN" altLang="en-US" sz="1100">
                <a:latin typeface="黑体" panose="02010609060101010101" pitchFamily="49" charset="-122"/>
                <a:ea typeface="黑体" panose="02010609060101010101" pitchFamily="49" charset="-122"/>
                <a:cs typeface="Arial" panose="020B0604020202020204" pitchFamily="34" charset="0"/>
              </a:rPr>
              <a:t>（主要来自财务模块分析结果）</a:t>
            </a:r>
            <a:endParaRPr lang="zh-CN" altLang="en-US" sz="1100">
              <a:latin typeface="黑体" panose="02010609060101010101" pitchFamily="49" charset="-122"/>
              <a:ea typeface="黑体" panose="02010609060101010101" pitchFamily="49" charset="-122"/>
              <a:cs typeface="Arial" panose="020B0604020202020204" pitchFamily="34" charset="0"/>
            </a:endParaRPr>
          </a:p>
        </p:txBody>
      </p:sp>
      <p:sp>
        <p:nvSpPr>
          <p:cNvPr id="149545" name="Rectangle 41"/>
          <p:cNvSpPr>
            <a:spLocks noChangeArrowheads="1"/>
          </p:cNvSpPr>
          <p:nvPr/>
        </p:nvSpPr>
        <p:spPr bwMode="auto">
          <a:xfrm>
            <a:off x="5184775" y="4364038"/>
            <a:ext cx="3511550" cy="31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50" tIns="39688" rIns="82550" bIns="39688">
            <a:spAutoFit/>
          </a:bodyP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500">
                <a:latin typeface="黑体" panose="02010609060101010101" pitchFamily="49" charset="-122"/>
                <a:ea typeface="黑体" panose="02010609060101010101" pitchFamily="49" charset="-122"/>
                <a:cs typeface="Arial" panose="020B0604020202020204" pitchFamily="34" charset="0"/>
              </a:rPr>
              <a:t>现有指标库</a:t>
            </a:r>
            <a:r>
              <a:rPr lang="en-US" altLang="zh-CN" sz="1500">
                <a:ea typeface="宋体" panose="02010600030101010101" pitchFamily="2" charset="-122"/>
                <a:cs typeface="Arial" panose="020B0604020202020204" pitchFamily="34" charset="0"/>
              </a:rPr>
              <a:t>+</a:t>
            </a:r>
            <a:r>
              <a:rPr lang="zh-CN" altLang="en-US" sz="1500">
                <a:latin typeface="黑体" panose="02010609060101010101" pitchFamily="49" charset="-122"/>
                <a:ea typeface="黑体" panose="02010609060101010101" pitchFamily="49" charset="-122"/>
                <a:cs typeface="Arial" panose="020B0604020202020204" pitchFamily="34" charset="0"/>
              </a:rPr>
              <a:t>当前运营战略重点分析</a:t>
            </a:r>
            <a:endParaRPr lang="zh-CN" altLang="en-US" sz="1500">
              <a:latin typeface="黑体" panose="02010609060101010101" pitchFamily="49" charset="-122"/>
              <a:ea typeface="黑体" panose="02010609060101010101" pitchFamily="49" charset="-122"/>
              <a:cs typeface="Arial" panose="020B0604020202020204" pitchFamily="34" charset="0"/>
            </a:endParaRPr>
          </a:p>
        </p:txBody>
      </p:sp>
      <p:sp>
        <p:nvSpPr>
          <p:cNvPr id="149546" name="Rectangle 42"/>
          <p:cNvSpPr>
            <a:spLocks noChangeArrowheads="1"/>
          </p:cNvSpPr>
          <p:nvPr/>
        </p:nvSpPr>
        <p:spPr bwMode="auto">
          <a:xfrm>
            <a:off x="584200" y="1557338"/>
            <a:ext cx="1949450" cy="18526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114300" indent="-1143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从层级分解维度上，将采用自上而下逐级分解的方法；</a:t>
            </a:r>
            <a:endParaRPr lang="zh-CN" altLang="en-US" sz="1400" b="0">
              <a:latin typeface="黑体" panose="02010609060101010101" pitchFamily="49" charset="-122"/>
              <a:ea typeface="黑体" panose="02010609060101010101" pitchFamily="49" charset="-122"/>
              <a:cs typeface="Arial" panose="020B0604020202020204" pitchFamily="34" charset="0"/>
            </a:endParaRPr>
          </a:p>
          <a:p>
            <a:pPr eaLnBrk="1" hangingPunct="1">
              <a:lnSpc>
                <a:spcPct val="120000"/>
              </a:lnSpc>
              <a:spcBef>
                <a:spcPct val="0"/>
              </a:spcBef>
              <a:spcAft>
                <a:spcPct val="20000"/>
              </a:spcAft>
              <a:buClr>
                <a:schemeClr val="tx2"/>
              </a:buClr>
              <a:buSzPct val="70000"/>
              <a:buFont typeface="Wingdings" panose="05000000000000000000" pitchFamily="2" charset="2"/>
              <a:buChar char="n"/>
            </a:pPr>
            <a:r>
              <a:rPr lang="zh-CN" altLang="en-US" sz="1400" b="0">
                <a:latin typeface="黑体" panose="02010609060101010101" pitchFamily="49" charset="-122"/>
                <a:ea typeface="黑体" panose="02010609060101010101" pitchFamily="49" charset="-122"/>
                <a:cs typeface="Arial" panose="020B0604020202020204" pitchFamily="34" charset="0"/>
              </a:rPr>
              <a:t>首先分解得出业务单元的备选考核指标，再逐次分解到相关部门和岗位。</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49547" name="Oval 5"/>
          <p:cNvSpPr>
            <a:spLocks noChangeArrowheads="1"/>
          </p:cNvSpPr>
          <p:nvPr/>
        </p:nvSpPr>
        <p:spPr bwMode="auto">
          <a:xfrm>
            <a:off x="5430838" y="1225550"/>
            <a:ext cx="1635125" cy="403225"/>
          </a:xfrm>
          <a:prstGeom prst="ellipse">
            <a:avLst/>
          </a:prstGeom>
          <a:solidFill>
            <a:schemeClr val="tx1"/>
          </a:solidFill>
          <a:ln w="12700">
            <a:solidFill>
              <a:schemeClr val="tx1"/>
            </a:solidFill>
            <a:round/>
          </a:ln>
          <a:effectLst>
            <a:outerShdw dist="53882" dir="2700000" algn="ctr" rotWithShape="0">
              <a:schemeClr val="tx1"/>
            </a:outerShdw>
          </a:effectLst>
        </p:spPr>
        <p:txBody>
          <a:bodyPr wrap="none" lIns="82550" tIns="39688" rIns="82550" bIns="39688" anchor="ctr"/>
          <a:lstStyle>
            <a:lvl1pPr defTabSz="725805">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defTabSz="725805">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defTabSz="725805">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defTabSz="725805">
              <a:spcBef>
                <a:spcPct val="20000"/>
              </a:spcBef>
              <a:buChar char="–"/>
              <a:defRPr sz="2000">
                <a:solidFill>
                  <a:schemeClr val="tx1"/>
                </a:solidFill>
                <a:latin typeface="Times New Roman" panose="02020603050405020304" pitchFamily="18" charset="0"/>
              </a:defRPr>
            </a:lvl4pPr>
            <a:lvl5pPr marL="2057400" indent="-228600" defTabSz="725805">
              <a:spcBef>
                <a:spcPct val="20000"/>
              </a:spcBef>
              <a:buChar char="»"/>
              <a:defRPr sz="2000">
                <a:solidFill>
                  <a:schemeClr val="tx1"/>
                </a:solidFill>
                <a:latin typeface="Times New Roman" panose="02020603050405020304" pitchFamily="18" charset="0"/>
              </a:defRPr>
            </a:lvl5pPr>
            <a:lvl6pPr marL="25146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defTabSz="725805"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SzTx/>
              <a:buFontTx/>
              <a:buNone/>
            </a:pPr>
            <a:r>
              <a:rPr lang="zh-CN" altLang="en-US" sz="1600">
                <a:solidFill>
                  <a:schemeClr val="bg1"/>
                </a:solidFill>
                <a:latin typeface="黑体" panose="02010609060101010101" pitchFamily="49" charset="-122"/>
                <a:ea typeface="黑体" panose="02010609060101010101" pitchFamily="49" charset="-122"/>
                <a:cs typeface="Arial" panose="020B0604020202020204" pitchFamily="34" charset="0"/>
              </a:rPr>
              <a:t>业务战略</a:t>
            </a:r>
            <a:endParaRPr lang="zh-CN" altLang="en-US" sz="160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sp>
        <p:nvSpPr>
          <p:cNvPr id="149548" name="AutoShape 33"/>
          <p:cNvSpPr>
            <a:spLocks noChangeArrowheads="1"/>
          </p:cNvSpPr>
          <p:nvPr/>
        </p:nvSpPr>
        <p:spPr bwMode="auto">
          <a:xfrm rot="10800000">
            <a:off x="5921375" y="1700213"/>
            <a:ext cx="685800" cy="157162"/>
          </a:xfrm>
          <a:prstGeom prst="triangle">
            <a:avLst>
              <a:gd name="adj" fmla="val 50000"/>
            </a:avLst>
          </a:prstGeom>
          <a:solidFill>
            <a:srgbClr val="DDDDDD"/>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297505" y="107156"/>
            <a:ext cx="7368057" cy="939800"/>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sz="2400" dirty="0"/>
              <a:t>通过筛选确定少而精的指标</a:t>
            </a:r>
            <a:br>
              <a:rPr lang="en-US" altLang="zh-CN" sz="2400" dirty="0"/>
            </a:br>
            <a:r>
              <a:rPr lang="en-US" altLang="zh-CN" sz="2000" b="0" dirty="0"/>
              <a:t>- </a:t>
            </a:r>
            <a:r>
              <a:rPr lang="zh-CN" altLang="en-GB" sz="2000" b="0" dirty="0"/>
              <a:t>以</a:t>
            </a:r>
            <a:r>
              <a:rPr lang="zh-CN" altLang="en-US" sz="2000" b="0" dirty="0"/>
              <a:t>卓越绩效</a:t>
            </a:r>
            <a:r>
              <a:rPr lang="zh-CN" altLang="en-GB" sz="2000" b="0" dirty="0"/>
              <a:t>方向为基础，结合当前客观现状，</a:t>
            </a:r>
            <a:r>
              <a:rPr lang="zh-CN" altLang="en-US" sz="2000" b="0" dirty="0"/>
              <a:t>进行</a:t>
            </a:r>
            <a:r>
              <a:rPr lang="zh-CN" altLang="en-GB" sz="2000" b="0" dirty="0"/>
              <a:t>企业内的充分沟通和探讨</a:t>
            </a:r>
            <a:endParaRPr lang="zh-CN" altLang="en-US" sz="2400" b="0" dirty="0"/>
          </a:p>
        </p:txBody>
      </p:sp>
      <p:sp>
        <p:nvSpPr>
          <p:cNvPr id="151555" name="Freeform 3"/>
          <p:cNvSpPr/>
          <p:nvPr/>
        </p:nvSpPr>
        <p:spPr bwMode="auto">
          <a:xfrm>
            <a:off x="3340100" y="2057400"/>
            <a:ext cx="3063875" cy="3200400"/>
          </a:xfrm>
          <a:custGeom>
            <a:avLst/>
            <a:gdLst>
              <a:gd name="T0" fmla="*/ 0 w 2833"/>
              <a:gd name="T1" fmla="*/ 0 h 2107"/>
              <a:gd name="T2" fmla="*/ 2147483646 w 2833"/>
              <a:gd name="T3" fmla="*/ 2147483646 h 2107"/>
              <a:gd name="T4" fmla="*/ 2147483646 w 2833"/>
              <a:gd name="T5" fmla="*/ 2147483646 h 2107"/>
              <a:gd name="T6" fmla="*/ 2147483646 w 2833"/>
              <a:gd name="T7" fmla="*/ 2147483646 h 2107"/>
              <a:gd name="T8" fmla="*/ 2147483646 w 2833"/>
              <a:gd name="T9" fmla="*/ 2147483646 h 2107"/>
              <a:gd name="T10" fmla="*/ 2147483646 w 2833"/>
              <a:gd name="T11" fmla="*/ 0 h 210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33" h="2107">
                <a:moveTo>
                  <a:pt x="0" y="0"/>
                </a:moveTo>
                <a:lnTo>
                  <a:pt x="407" y="1160"/>
                </a:lnTo>
                <a:lnTo>
                  <a:pt x="407" y="2100"/>
                </a:lnTo>
                <a:lnTo>
                  <a:pt x="2420" y="2107"/>
                </a:lnTo>
                <a:lnTo>
                  <a:pt x="2420" y="1167"/>
                </a:lnTo>
                <a:lnTo>
                  <a:pt x="2833" y="0"/>
                </a:lnTo>
              </a:path>
            </a:pathLst>
          </a:custGeom>
          <a:noFill/>
          <a:ln w="25400" cap="flat" cmpd="sng">
            <a:solidFill>
              <a:schemeClr val="tx1"/>
            </a:solidFill>
            <a:prstDash val="solid"/>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lstStyle/>
          <a:p>
            <a:endParaRPr lang="en-GB"/>
          </a:p>
        </p:txBody>
      </p:sp>
      <p:sp>
        <p:nvSpPr>
          <p:cNvPr id="151556" name="Line 4"/>
          <p:cNvSpPr>
            <a:spLocks noChangeShapeType="1"/>
          </p:cNvSpPr>
          <p:nvPr/>
        </p:nvSpPr>
        <p:spPr bwMode="auto">
          <a:xfrm flipV="1">
            <a:off x="3548063" y="2700338"/>
            <a:ext cx="2641600" cy="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GB"/>
          </a:p>
        </p:txBody>
      </p:sp>
      <p:sp>
        <p:nvSpPr>
          <p:cNvPr id="151557" name="Oval 5"/>
          <p:cNvSpPr>
            <a:spLocks noChangeArrowheads="1"/>
          </p:cNvSpPr>
          <p:nvPr/>
        </p:nvSpPr>
        <p:spPr bwMode="auto">
          <a:xfrm>
            <a:off x="3603625" y="1371600"/>
            <a:ext cx="2586038" cy="568325"/>
          </a:xfrm>
          <a:prstGeom prst="ellipse">
            <a:avLst/>
          </a:prstGeom>
          <a:solidFill>
            <a:schemeClr val="accent2"/>
          </a:solidFill>
          <a:ln w="6350">
            <a:solidFill>
              <a:schemeClr val="accent2"/>
            </a:solidFill>
            <a:round/>
          </a:ln>
          <a:effectLst>
            <a:outerShdw dist="35921" dir="2700000" algn="ctr" rotWithShape="0">
              <a:schemeClr val="hlink"/>
            </a:outerShdw>
          </a:effectLst>
        </p:spPr>
        <p:txBody>
          <a:bodyPr wrap="none" lIns="7200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58" name="Text Box 6"/>
          <p:cNvSpPr txBox="1">
            <a:spLocks noChangeArrowheads="1"/>
          </p:cNvSpPr>
          <p:nvPr/>
        </p:nvSpPr>
        <p:spPr bwMode="auto">
          <a:xfrm>
            <a:off x="4032250" y="1539875"/>
            <a:ext cx="1485900" cy="18256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63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hlink"/>
                  </a:outerShdw>
                </a:effectLst>
              </a14:hiddenEffects>
            </a:ext>
          </a:extLst>
        </p:spPr>
        <p:txBody>
          <a:bodyPr wrap="none" lIns="7200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spcAft>
                <a:spcPct val="0"/>
              </a:spcAft>
              <a:buSzTx/>
              <a:buFontTx/>
              <a:buNone/>
            </a:pPr>
            <a:r>
              <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rPr>
              <a:t>运营指标库</a:t>
            </a:r>
            <a:endParaRPr lang="zh-CN" altLang="en-US" sz="140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sp>
        <p:nvSpPr>
          <p:cNvPr id="151559" name="Oval 7"/>
          <p:cNvSpPr>
            <a:spLocks noChangeArrowheads="1"/>
          </p:cNvSpPr>
          <p:nvPr/>
        </p:nvSpPr>
        <p:spPr bwMode="auto">
          <a:xfrm>
            <a:off x="3603625" y="5884863"/>
            <a:ext cx="2586038" cy="568325"/>
          </a:xfrm>
          <a:prstGeom prst="ellipse">
            <a:avLst/>
          </a:prstGeom>
          <a:solidFill>
            <a:schemeClr val="accent2"/>
          </a:solidFill>
          <a:ln w="6350">
            <a:solidFill>
              <a:schemeClr val="accent2"/>
            </a:solidFill>
            <a:round/>
          </a:ln>
          <a:effectLst>
            <a:outerShdw dist="35921" dir="2700000" algn="ctr" rotWithShape="0">
              <a:schemeClr val="hlink"/>
            </a:outerShdw>
          </a:effectLst>
        </p:spPr>
        <p:txBody>
          <a:bodyPr wrap="none" lIns="7200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60" name="Text Box 8"/>
          <p:cNvSpPr txBox="1">
            <a:spLocks noChangeArrowheads="1"/>
          </p:cNvSpPr>
          <p:nvPr/>
        </p:nvSpPr>
        <p:spPr bwMode="auto">
          <a:xfrm>
            <a:off x="4125913" y="6054725"/>
            <a:ext cx="1487487" cy="18256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63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hlink"/>
                  </a:outerShdw>
                </a:effectLst>
              </a14:hiddenEffects>
            </a:ext>
          </a:extLst>
        </p:spPr>
        <p:txBody>
          <a:bodyPr wrap="none" lIns="72000" tIns="0" rIns="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spcAft>
                <a:spcPct val="0"/>
              </a:spcAft>
              <a:buSzTx/>
              <a:buFontTx/>
              <a:buNone/>
            </a:pPr>
            <a:r>
              <a:rPr lang="zh-CN" altLang="en-US" sz="1300">
                <a:solidFill>
                  <a:schemeClr val="bg1"/>
                </a:solidFill>
                <a:latin typeface="黑体" panose="02010609060101010101" pitchFamily="49" charset="-122"/>
                <a:ea typeface="黑体" panose="02010609060101010101" pitchFamily="49" charset="-122"/>
                <a:cs typeface="Arial" panose="020B0604020202020204" pitchFamily="34" charset="0"/>
              </a:rPr>
              <a:t>适用的特定备选指标</a:t>
            </a:r>
            <a:endParaRPr lang="zh-CN" altLang="en-US" sz="130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sp>
        <p:nvSpPr>
          <p:cNvPr id="151561" name="AutoShape 9"/>
          <p:cNvSpPr>
            <a:spLocks noChangeArrowheads="1"/>
          </p:cNvSpPr>
          <p:nvPr/>
        </p:nvSpPr>
        <p:spPr bwMode="auto">
          <a:xfrm flipV="1">
            <a:off x="3871913" y="5327650"/>
            <a:ext cx="1963737" cy="549275"/>
          </a:xfrm>
          <a:prstGeom prst="triangle">
            <a:avLst>
              <a:gd name="adj" fmla="val 50000"/>
            </a:avLst>
          </a:prstGeom>
          <a:solidFill>
            <a:srgbClr val="D9D9D9"/>
          </a:solidFill>
          <a:ln>
            <a:noFill/>
          </a:ln>
          <a:effectLst/>
          <a:extLs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62" name="AutoShape 10"/>
          <p:cNvSpPr>
            <a:spLocks noChangeArrowheads="1"/>
          </p:cNvSpPr>
          <p:nvPr/>
        </p:nvSpPr>
        <p:spPr bwMode="auto">
          <a:xfrm>
            <a:off x="4125913" y="2514600"/>
            <a:ext cx="239712" cy="677863"/>
          </a:xfrm>
          <a:prstGeom prst="downArrow">
            <a:avLst>
              <a:gd name="adj1" fmla="val 50000"/>
              <a:gd name="adj2" fmla="val 76561"/>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63" name="AutoShape 11"/>
          <p:cNvSpPr>
            <a:spLocks noChangeArrowheads="1"/>
          </p:cNvSpPr>
          <p:nvPr/>
        </p:nvSpPr>
        <p:spPr bwMode="auto">
          <a:xfrm>
            <a:off x="4559300" y="2514600"/>
            <a:ext cx="239713" cy="677863"/>
          </a:xfrm>
          <a:prstGeom prst="downArrow">
            <a:avLst>
              <a:gd name="adj1" fmla="val 50000"/>
              <a:gd name="adj2" fmla="val 76560"/>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64" name="AutoShape 12"/>
          <p:cNvSpPr>
            <a:spLocks noChangeArrowheads="1"/>
          </p:cNvSpPr>
          <p:nvPr/>
        </p:nvSpPr>
        <p:spPr bwMode="auto">
          <a:xfrm>
            <a:off x="4994275" y="2514600"/>
            <a:ext cx="239713" cy="677863"/>
          </a:xfrm>
          <a:prstGeom prst="downArrow">
            <a:avLst>
              <a:gd name="adj1" fmla="val 50000"/>
              <a:gd name="adj2" fmla="val 76560"/>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65" name="Freeform 13"/>
          <p:cNvSpPr/>
          <p:nvPr>
            <p:custDataLst>
              <p:tags r:id="rId1"/>
            </p:custDataLst>
          </p:nvPr>
        </p:nvSpPr>
        <p:spPr bwMode="blackWhite">
          <a:xfrm rot="10800000" flipH="1">
            <a:off x="825500" y="2209800"/>
            <a:ext cx="1979613" cy="503238"/>
          </a:xfrm>
          <a:custGeom>
            <a:avLst/>
            <a:gdLst>
              <a:gd name="T0" fmla="*/ 0 w 1152"/>
              <a:gd name="T1" fmla="*/ 0 h 576"/>
              <a:gd name="T2" fmla="*/ 2147483646 w 1152"/>
              <a:gd name="T3" fmla="*/ 0 h 576"/>
              <a:gd name="T4" fmla="*/ 2147483646 w 1152"/>
              <a:gd name="T5" fmla="*/ 2147483646 h 576"/>
              <a:gd name="T6" fmla="*/ 2147483646 w 1152"/>
              <a:gd name="T7" fmla="*/ 2147483646 h 576"/>
              <a:gd name="T8" fmla="*/ 0 w 1152"/>
              <a:gd name="T9" fmla="*/ 2147483646 h 576"/>
              <a:gd name="T10" fmla="*/ 0 w 1152"/>
              <a:gd name="T11" fmla="*/ 2147483646 h 576"/>
              <a:gd name="T12" fmla="*/ 0 w 1152"/>
              <a:gd name="T13" fmla="*/ 0 h 5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C0C0C0"/>
          </a:solidFill>
          <a:ln w="9525">
            <a:solidFill>
              <a:schemeClr val="tx1"/>
            </a:solidFill>
            <a:round/>
          </a:ln>
          <a:effectLst>
            <a:outerShdw dist="35921" dir="2700000" algn="ctr" rotWithShape="0">
              <a:schemeClr val="bg2"/>
            </a:outerShdw>
          </a:effectLst>
        </p:spPr>
        <p:txBody>
          <a:bodyPr wrap="none" anchor="ctr"/>
          <a:lstStyle/>
          <a:p>
            <a:endParaRPr lang="en-GB"/>
          </a:p>
        </p:txBody>
      </p:sp>
      <p:sp>
        <p:nvSpPr>
          <p:cNvPr id="151566" name="Rectangle 14"/>
          <p:cNvSpPr>
            <a:spLocks noChangeArrowheads="1"/>
          </p:cNvSpPr>
          <p:nvPr>
            <p:custDataLst>
              <p:tags r:id="rId2"/>
            </p:custDataLst>
          </p:nvPr>
        </p:nvSpPr>
        <p:spPr bwMode="blackWhite">
          <a:xfrm flipH="1">
            <a:off x="1003300" y="2255838"/>
            <a:ext cx="1554163" cy="433387"/>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buSzPct val="60000"/>
              <a:buFont typeface="Arial" panose="020B0604020202020204" pitchFamily="34" charset="0"/>
              <a:buNone/>
            </a:pPr>
            <a:r>
              <a:rPr lang="zh-CN" altLang="en-US" sz="1400" b="0" dirty="0">
                <a:latin typeface="黑体" panose="02010609060101010101" pitchFamily="49" charset="-122"/>
                <a:ea typeface="黑体" panose="02010609060101010101" pitchFamily="49" charset="-122"/>
              </a:rPr>
              <a:t>近期企业转型方向</a:t>
            </a:r>
            <a:endParaRPr lang="zh-CN" altLang="en-US" sz="1400" b="0" dirty="0">
              <a:latin typeface="黑体" panose="02010609060101010101" pitchFamily="49" charset="-122"/>
              <a:ea typeface="黑体" panose="02010609060101010101" pitchFamily="49" charset="-122"/>
            </a:endParaRPr>
          </a:p>
        </p:txBody>
      </p:sp>
      <p:sp>
        <p:nvSpPr>
          <p:cNvPr id="151567" name="Text Box 15"/>
          <p:cNvSpPr txBox="1">
            <a:spLocks noChangeArrowheads="1"/>
          </p:cNvSpPr>
          <p:nvPr/>
        </p:nvSpPr>
        <p:spPr bwMode="auto">
          <a:xfrm>
            <a:off x="6354763" y="3505200"/>
            <a:ext cx="2640012" cy="835025"/>
          </a:xfrm>
          <a:prstGeom prst="rect">
            <a:avLst/>
          </a:prstGeom>
          <a:noFill/>
          <a:ln>
            <a:noFill/>
          </a:ln>
          <a:effectLst/>
          <a:extLst>
            <a:ext uri="{909E8E84-426E-40DD-AFC4-6F175D3DCCD1}">
              <a14:hiddenFill xmlns:a14="http://schemas.microsoft.com/office/drawing/2010/main">
                <a:solidFill>
                  <a:srgbClr val="D9D9D9"/>
                </a:solidFill>
              </a14:hiddenFill>
            </a:ext>
            <a:ext uri="{91240B29-F687-4F45-9708-019B960494DF}">
              <a14:hiddenLine xmlns:a14="http://schemas.microsoft.com/office/drawing/2010/main" w="12700">
                <a:solidFill>
                  <a:srgbClr val="85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5000"/>
              </a:lnSpc>
              <a:spcBef>
                <a:spcPct val="40000"/>
              </a:spcBef>
              <a:spcAft>
                <a:spcPct val="0"/>
              </a:spcAft>
              <a:buSzTx/>
              <a:buFont typeface="Wingdings" panose="05000000000000000000" pitchFamily="2" charset="2"/>
              <a:buChar char="l"/>
            </a:pPr>
            <a:r>
              <a:rPr lang="zh-CN" altLang="en-US" sz="1400" b="0">
                <a:latin typeface="黑体" panose="02010609060101010101" pitchFamily="49" charset="-122"/>
                <a:ea typeface="黑体" panose="02010609060101010101" pitchFamily="49" charset="-122"/>
                <a:cs typeface="Arial" panose="020B0604020202020204" pitchFamily="34" charset="0"/>
              </a:rPr>
              <a:t>具体</a:t>
            </a:r>
            <a:r>
              <a:rPr lang="en-US" altLang="zh-CN" sz="1400" b="0">
                <a:latin typeface="黑体" panose="02010609060101010101" pitchFamily="49" charset="-122"/>
                <a:ea typeface="黑体" panose="02010609060101010101" pitchFamily="49" charset="-122"/>
                <a:cs typeface="Arial" panose="020B0604020202020204" pitchFamily="34" charset="0"/>
              </a:rPr>
              <a:t>/</a:t>
            </a:r>
            <a:r>
              <a:rPr lang="zh-CN" altLang="en-US" sz="1400" b="0">
                <a:latin typeface="黑体" panose="02010609060101010101" pitchFamily="49" charset="-122"/>
                <a:ea typeface="黑体" panose="02010609060101010101" pitchFamily="49" charset="-122"/>
                <a:cs typeface="Arial" panose="020B0604020202020204" pitchFamily="34" charset="0"/>
              </a:rPr>
              <a:t>可衡量</a:t>
            </a:r>
            <a:r>
              <a:rPr lang="en-US" altLang="zh-CN" sz="1400" b="0">
                <a:latin typeface="黑体" panose="02010609060101010101" pitchFamily="49" charset="-122"/>
                <a:ea typeface="黑体" panose="02010609060101010101" pitchFamily="49" charset="-122"/>
                <a:cs typeface="Arial" panose="020B0604020202020204" pitchFamily="34" charset="0"/>
              </a:rPr>
              <a:t>/</a:t>
            </a:r>
            <a:r>
              <a:rPr lang="zh-CN" altLang="en-US" sz="1400" b="0">
                <a:latin typeface="黑体" panose="02010609060101010101" pitchFamily="49" charset="-122"/>
                <a:ea typeface="黑体" panose="02010609060101010101" pitchFamily="49" charset="-122"/>
                <a:cs typeface="Arial" panose="020B0604020202020204" pitchFamily="34" charset="0"/>
              </a:rPr>
              <a:t>可实现</a:t>
            </a:r>
            <a:r>
              <a:rPr lang="en-US" altLang="zh-CN" sz="1400" b="0">
                <a:latin typeface="黑体" panose="02010609060101010101" pitchFamily="49" charset="-122"/>
                <a:ea typeface="黑体" panose="02010609060101010101" pitchFamily="49" charset="-122"/>
                <a:cs typeface="Arial" panose="020B0604020202020204" pitchFamily="34" charset="0"/>
              </a:rPr>
              <a:t>/</a:t>
            </a:r>
            <a:r>
              <a:rPr lang="zh-CN" altLang="en-US" sz="1400" b="0">
                <a:latin typeface="黑体" panose="02010609060101010101" pitchFamily="49" charset="-122"/>
                <a:ea typeface="黑体" panose="02010609060101010101" pitchFamily="49" charset="-122"/>
                <a:cs typeface="Arial" panose="020B0604020202020204" pitchFamily="34" charset="0"/>
              </a:rPr>
              <a:t>具合理挑战性</a:t>
            </a:r>
            <a:r>
              <a:rPr lang="en-US" altLang="zh-CN" sz="1400" b="0">
                <a:latin typeface="黑体" panose="02010609060101010101" pitchFamily="49" charset="-122"/>
                <a:ea typeface="黑体" panose="02010609060101010101" pitchFamily="49" charset="-122"/>
                <a:cs typeface="Arial" panose="020B0604020202020204" pitchFamily="34" charset="0"/>
              </a:rPr>
              <a:t>/</a:t>
            </a:r>
            <a:r>
              <a:rPr lang="zh-CN" altLang="en-US" sz="1400" b="0">
                <a:latin typeface="黑体" panose="02010609060101010101" pitchFamily="49" charset="-122"/>
                <a:ea typeface="黑体" panose="02010609060101010101" pitchFamily="49" charset="-122"/>
                <a:cs typeface="Arial" panose="020B0604020202020204" pitchFamily="34" charset="0"/>
              </a:rPr>
              <a:t>有时间限制等筛选标准</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sp>
        <p:nvSpPr>
          <p:cNvPr id="151568" name="Line 16"/>
          <p:cNvSpPr>
            <a:spLocks noChangeShapeType="1"/>
          </p:cNvSpPr>
          <p:nvPr/>
        </p:nvSpPr>
        <p:spPr bwMode="auto">
          <a:xfrm flipV="1">
            <a:off x="3795713" y="3733800"/>
            <a:ext cx="2146300" cy="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GB"/>
          </a:p>
        </p:txBody>
      </p:sp>
      <p:sp>
        <p:nvSpPr>
          <p:cNvPr id="151569" name="AutoShape 17"/>
          <p:cNvSpPr>
            <a:spLocks noChangeArrowheads="1"/>
          </p:cNvSpPr>
          <p:nvPr/>
        </p:nvSpPr>
        <p:spPr bwMode="auto">
          <a:xfrm>
            <a:off x="4375150" y="3505200"/>
            <a:ext cx="239713" cy="677863"/>
          </a:xfrm>
          <a:prstGeom prst="downArrow">
            <a:avLst>
              <a:gd name="adj1" fmla="val 50000"/>
              <a:gd name="adj2" fmla="val 76560"/>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70" name="AutoShape 18"/>
          <p:cNvSpPr>
            <a:spLocks noChangeArrowheads="1"/>
          </p:cNvSpPr>
          <p:nvPr/>
        </p:nvSpPr>
        <p:spPr bwMode="auto">
          <a:xfrm>
            <a:off x="4810125" y="3505200"/>
            <a:ext cx="239713" cy="677863"/>
          </a:xfrm>
          <a:prstGeom prst="downArrow">
            <a:avLst>
              <a:gd name="adj1" fmla="val 50000"/>
              <a:gd name="adj2" fmla="val 76560"/>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grpSp>
        <p:nvGrpSpPr>
          <p:cNvPr id="151571" name="Group 19"/>
          <p:cNvGrpSpPr/>
          <p:nvPr/>
        </p:nvGrpSpPr>
        <p:grpSpPr bwMode="auto">
          <a:xfrm flipH="1">
            <a:off x="6767513" y="2895600"/>
            <a:ext cx="2062162" cy="503238"/>
            <a:chOff x="2400" y="1968"/>
            <a:chExt cx="1152" cy="576"/>
          </a:xfrm>
        </p:grpSpPr>
        <p:sp>
          <p:nvSpPr>
            <p:cNvPr id="151582" name="Freeform 20"/>
            <p:cNvSpPr/>
            <p:nvPr>
              <p:custDataLst>
                <p:tags r:id="rId3"/>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C0C0C0"/>
            </a:solidFill>
            <a:ln w="9525">
              <a:solidFill>
                <a:schemeClr val="tx1"/>
              </a:solidFill>
              <a:round/>
            </a:ln>
            <a:effectLst>
              <a:outerShdw dist="35921" dir="2700000" algn="ctr" rotWithShape="0">
                <a:schemeClr val="bg2"/>
              </a:outerShdw>
            </a:effectLst>
          </p:spPr>
          <p:txBody>
            <a:bodyPr wrap="none" anchor="ctr"/>
            <a:lstStyle/>
            <a:p>
              <a:endParaRPr lang="en-GB"/>
            </a:p>
          </p:txBody>
        </p:sp>
        <p:sp>
          <p:nvSpPr>
            <p:cNvPr id="151583" name="Rectangle 21"/>
            <p:cNvSpPr>
              <a:spLocks noChangeArrowheads="1"/>
            </p:cNvSpPr>
            <p:nvPr>
              <p:custDataLst>
                <p:tags r:id="rId4"/>
              </p:custDataLst>
            </p:nvPr>
          </p:nvSpPr>
          <p:spPr bwMode="blackWhite">
            <a:xfrm>
              <a:off x="2440" y="2000"/>
              <a:ext cx="960" cy="496"/>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buSzPct val="60000"/>
                <a:buFont typeface="Arial" panose="020B0604020202020204" pitchFamily="34" charset="0"/>
                <a:buNone/>
              </a:pPr>
              <a:r>
                <a:rPr lang="zh-CN" altLang="en-US" sz="1400" b="0">
                  <a:latin typeface="黑体" panose="02010609060101010101" pitchFamily="49" charset="-122"/>
                  <a:ea typeface="黑体" panose="02010609060101010101" pitchFamily="49" charset="-122"/>
                </a:rPr>
                <a:t>指标的一般性筛选</a:t>
              </a:r>
              <a:endParaRPr lang="zh-CN" altLang="en-US" sz="1400" b="0">
                <a:latin typeface="黑体" panose="02010609060101010101" pitchFamily="49" charset="-122"/>
                <a:ea typeface="黑体" panose="02010609060101010101" pitchFamily="49" charset="-122"/>
              </a:endParaRPr>
            </a:p>
          </p:txBody>
        </p:sp>
      </p:grpSp>
      <p:sp>
        <p:nvSpPr>
          <p:cNvPr id="151572" name="Text Box 22"/>
          <p:cNvSpPr txBox="1">
            <a:spLocks noChangeArrowheads="1"/>
          </p:cNvSpPr>
          <p:nvPr/>
        </p:nvSpPr>
        <p:spPr bwMode="auto">
          <a:xfrm>
            <a:off x="495300" y="2819400"/>
            <a:ext cx="2805113" cy="3135313"/>
          </a:xfrm>
          <a:prstGeom prst="rect">
            <a:avLst/>
          </a:prstGeom>
          <a:noFill/>
          <a:ln>
            <a:noFill/>
          </a:ln>
          <a:effectLst/>
          <a:extLst>
            <a:ext uri="{909E8E84-426E-40DD-AFC4-6F175D3DCCD1}">
              <a14:hiddenFill xmlns:a14="http://schemas.microsoft.com/office/drawing/2010/main">
                <a:solidFill>
                  <a:srgbClr val="D9D9D9"/>
                </a:solidFill>
              </a14:hiddenFill>
            </a:ext>
            <a:ext uri="{91240B29-F687-4F45-9708-019B960494DF}">
              <a14:hiddenLine xmlns:a14="http://schemas.microsoft.com/office/drawing/2010/main" w="12700">
                <a:solidFill>
                  <a:srgbClr val="85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533400" indent="-7620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5000"/>
              </a:lnSpc>
              <a:spcBef>
                <a:spcPct val="40000"/>
              </a:spcBef>
              <a:spcAft>
                <a:spcPct val="0"/>
              </a:spcAft>
              <a:buSzTx/>
              <a:buFont typeface="Wingdings" panose="05000000000000000000" pitchFamily="2" charset="2"/>
              <a:buChar char="l"/>
            </a:pPr>
            <a:r>
              <a:rPr lang="zh-CN" altLang="en-US" sz="1400" b="0" dirty="0">
                <a:latin typeface="黑体" panose="02010609060101010101" pitchFamily="49" charset="-122"/>
                <a:ea typeface="黑体" panose="02010609060101010101" pitchFamily="49" charset="-122"/>
                <a:cs typeface="Arial" panose="020B0604020202020204" pitchFamily="34" charset="0"/>
              </a:rPr>
              <a:t>战略目标：建立运营体系，进行流程简化和标准化，大力推进集中运营，为中远期实现跨产品线共享服务</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a:p>
            <a:pPr>
              <a:lnSpc>
                <a:spcPct val="115000"/>
              </a:lnSpc>
              <a:spcBef>
                <a:spcPct val="40000"/>
              </a:spcBef>
              <a:spcAft>
                <a:spcPct val="0"/>
              </a:spcAft>
              <a:buSzTx/>
              <a:buFont typeface="Wingdings" panose="05000000000000000000" pitchFamily="2" charset="2"/>
              <a:buChar char="l"/>
            </a:pPr>
            <a:r>
              <a:rPr lang="zh-CN" altLang="en-US" sz="1400" b="0" dirty="0">
                <a:latin typeface="黑体" panose="02010609060101010101" pitchFamily="49" charset="-122"/>
                <a:ea typeface="黑体" panose="02010609060101010101" pitchFamily="49" charset="-122"/>
                <a:cs typeface="Arial" panose="020B0604020202020204" pitchFamily="34" charset="0"/>
              </a:rPr>
              <a:t>改革方向：</a:t>
            </a:r>
            <a:endParaRPr lang="zh-CN" altLang="en-US" sz="1400" b="0" dirty="0">
              <a:latin typeface="黑体" panose="02010609060101010101" pitchFamily="49" charset="-122"/>
              <a:ea typeface="黑体" panose="02010609060101010101" pitchFamily="49" charset="-122"/>
              <a:cs typeface="Arial" panose="020B0604020202020204" pitchFamily="34" charset="0"/>
            </a:endParaRPr>
          </a:p>
          <a:p>
            <a:pPr lvl="1">
              <a:lnSpc>
                <a:spcPct val="115000"/>
              </a:lnSpc>
              <a:spcBef>
                <a:spcPct val="40000"/>
              </a:spcBef>
              <a:spcAft>
                <a:spcPct val="0"/>
              </a:spcAft>
              <a:buSzTx/>
              <a:buFontTx/>
              <a:buChar char="•"/>
            </a:pPr>
            <a:r>
              <a:rPr lang="zh-CN" altLang="en-US" sz="1200" dirty="0">
                <a:latin typeface="黑体" panose="02010609060101010101" pitchFamily="49" charset="-122"/>
                <a:ea typeface="黑体" panose="02010609060101010101" pitchFamily="49" charset="-122"/>
                <a:cs typeface="Arial" panose="020B0604020202020204" pitchFamily="34" charset="0"/>
              </a:rPr>
              <a:t>客户导向</a:t>
            </a:r>
            <a:endParaRPr lang="zh-CN" altLang="en-US" sz="1200" dirty="0">
              <a:latin typeface="黑体" panose="02010609060101010101" pitchFamily="49" charset="-122"/>
              <a:ea typeface="黑体" panose="02010609060101010101" pitchFamily="49" charset="-122"/>
              <a:cs typeface="Arial" panose="020B0604020202020204" pitchFamily="34" charset="0"/>
            </a:endParaRPr>
          </a:p>
          <a:p>
            <a:pPr lvl="1">
              <a:lnSpc>
                <a:spcPct val="115000"/>
              </a:lnSpc>
              <a:spcBef>
                <a:spcPct val="40000"/>
              </a:spcBef>
              <a:spcAft>
                <a:spcPct val="0"/>
              </a:spcAft>
              <a:buSzTx/>
              <a:buFontTx/>
              <a:buChar char="•"/>
            </a:pPr>
            <a:r>
              <a:rPr lang="zh-CN" altLang="en-US" sz="1200" dirty="0">
                <a:latin typeface="黑体" panose="02010609060101010101" pitchFamily="49" charset="-122"/>
                <a:ea typeface="黑体" panose="02010609060101010101" pitchFamily="49" charset="-122"/>
                <a:cs typeface="Arial" panose="020B0604020202020204" pitchFamily="34" charset="0"/>
              </a:rPr>
              <a:t>作业细分</a:t>
            </a:r>
            <a:endParaRPr lang="zh-CN" altLang="en-US" sz="1200" dirty="0">
              <a:latin typeface="黑体" panose="02010609060101010101" pitchFamily="49" charset="-122"/>
              <a:ea typeface="黑体" panose="02010609060101010101" pitchFamily="49" charset="-122"/>
              <a:cs typeface="Arial" panose="020B0604020202020204" pitchFamily="34" charset="0"/>
            </a:endParaRPr>
          </a:p>
          <a:p>
            <a:pPr lvl="1">
              <a:lnSpc>
                <a:spcPct val="115000"/>
              </a:lnSpc>
              <a:spcBef>
                <a:spcPct val="40000"/>
              </a:spcBef>
              <a:spcAft>
                <a:spcPct val="0"/>
              </a:spcAft>
              <a:buSzTx/>
              <a:buFontTx/>
              <a:buChar char="•"/>
            </a:pPr>
            <a:r>
              <a:rPr lang="zh-CN" altLang="en-US" sz="1200" dirty="0">
                <a:latin typeface="黑体" panose="02010609060101010101" pitchFamily="49" charset="-122"/>
                <a:ea typeface="黑体" panose="02010609060101010101" pitchFamily="49" charset="-122"/>
                <a:cs typeface="Arial" panose="020B0604020202020204" pitchFamily="34" charset="0"/>
              </a:rPr>
              <a:t>最大化集中</a:t>
            </a:r>
            <a:endParaRPr lang="zh-CN" altLang="en-US" sz="1200" dirty="0">
              <a:latin typeface="黑体" panose="02010609060101010101" pitchFamily="49" charset="-122"/>
              <a:ea typeface="黑体" panose="02010609060101010101" pitchFamily="49" charset="-122"/>
              <a:cs typeface="Arial" panose="020B0604020202020204" pitchFamily="34" charset="0"/>
            </a:endParaRPr>
          </a:p>
          <a:p>
            <a:pPr lvl="1">
              <a:lnSpc>
                <a:spcPct val="115000"/>
              </a:lnSpc>
              <a:spcBef>
                <a:spcPct val="40000"/>
              </a:spcBef>
              <a:spcAft>
                <a:spcPct val="0"/>
              </a:spcAft>
              <a:buSzTx/>
              <a:buFontTx/>
              <a:buChar char="•"/>
            </a:pPr>
            <a:r>
              <a:rPr lang="zh-CN" altLang="en-US" sz="1200" dirty="0">
                <a:latin typeface="黑体" panose="02010609060101010101" pitchFamily="49" charset="-122"/>
                <a:ea typeface="黑体" panose="02010609060101010101" pitchFamily="49" charset="-122"/>
                <a:cs typeface="Arial" panose="020B0604020202020204" pitchFamily="34" charset="0"/>
              </a:rPr>
              <a:t>资源共享</a:t>
            </a:r>
            <a:endParaRPr lang="zh-CN" altLang="en-US" sz="1200" dirty="0">
              <a:latin typeface="黑体" panose="02010609060101010101" pitchFamily="49" charset="-122"/>
              <a:ea typeface="黑体" panose="02010609060101010101" pitchFamily="49" charset="-122"/>
              <a:cs typeface="Arial" panose="020B0604020202020204" pitchFamily="34" charset="0"/>
            </a:endParaRPr>
          </a:p>
          <a:p>
            <a:pPr lvl="1">
              <a:lnSpc>
                <a:spcPct val="115000"/>
              </a:lnSpc>
              <a:spcBef>
                <a:spcPct val="40000"/>
              </a:spcBef>
              <a:spcAft>
                <a:spcPct val="0"/>
              </a:spcAft>
              <a:buSzTx/>
              <a:buFontTx/>
              <a:buChar char="•"/>
            </a:pPr>
            <a:r>
              <a:rPr lang="zh-CN" altLang="en-US" sz="1200" dirty="0">
                <a:latin typeface="黑体" panose="02010609060101010101" pitchFamily="49" charset="-122"/>
                <a:ea typeface="黑体" panose="02010609060101010101" pitchFamily="49" charset="-122"/>
                <a:cs typeface="Arial" panose="020B0604020202020204" pitchFamily="34" charset="0"/>
              </a:rPr>
              <a:t>自动化</a:t>
            </a:r>
            <a:endParaRPr lang="zh-CN" altLang="en-US" sz="1200" dirty="0">
              <a:latin typeface="黑体" panose="02010609060101010101" pitchFamily="49" charset="-122"/>
              <a:ea typeface="黑体" panose="02010609060101010101" pitchFamily="49" charset="-122"/>
              <a:cs typeface="Arial" panose="020B0604020202020204" pitchFamily="34" charset="0"/>
            </a:endParaRPr>
          </a:p>
          <a:p>
            <a:pPr lvl="1">
              <a:lnSpc>
                <a:spcPct val="115000"/>
              </a:lnSpc>
              <a:spcBef>
                <a:spcPct val="40000"/>
              </a:spcBef>
              <a:spcAft>
                <a:spcPct val="0"/>
              </a:spcAft>
              <a:buSzTx/>
              <a:buFontTx/>
              <a:buChar char="•"/>
            </a:pPr>
            <a:r>
              <a:rPr lang="zh-CN" altLang="en-US" sz="1200" dirty="0">
                <a:latin typeface="黑体" panose="02010609060101010101" pitchFamily="49" charset="-122"/>
                <a:ea typeface="黑体" panose="02010609060101010101" pitchFamily="49" charset="-122"/>
                <a:cs typeface="Arial" panose="020B0604020202020204" pitchFamily="34" charset="0"/>
              </a:rPr>
              <a:t>客户自助</a:t>
            </a:r>
            <a:endParaRPr lang="zh-CN" altLang="en-US" sz="1200" dirty="0">
              <a:latin typeface="黑体" panose="02010609060101010101" pitchFamily="49" charset="-122"/>
              <a:ea typeface="黑体" panose="02010609060101010101" pitchFamily="49" charset="-122"/>
              <a:cs typeface="Arial" panose="020B0604020202020204" pitchFamily="34" charset="0"/>
            </a:endParaRPr>
          </a:p>
        </p:txBody>
      </p:sp>
      <p:sp>
        <p:nvSpPr>
          <p:cNvPr id="151573" name="AutoShape 23"/>
          <p:cNvSpPr>
            <a:spLocks noChangeArrowheads="1"/>
          </p:cNvSpPr>
          <p:nvPr/>
        </p:nvSpPr>
        <p:spPr bwMode="auto">
          <a:xfrm>
            <a:off x="5373688" y="2514600"/>
            <a:ext cx="239712" cy="677863"/>
          </a:xfrm>
          <a:prstGeom prst="downArrow">
            <a:avLst>
              <a:gd name="adj1" fmla="val 50000"/>
              <a:gd name="adj2" fmla="val 76561"/>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74" name="AutoShape 24"/>
          <p:cNvSpPr>
            <a:spLocks noChangeArrowheads="1"/>
          </p:cNvSpPr>
          <p:nvPr/>
        </p:nvSpPr>
        <p:spPr bwMode="auto">
          <a:xfrm>
            <a:off x="5200650" y="3513138"/>
            <a:ext cx="239713" cy="677862"/>
          </a:xfrm>
          <a:prstGeom prst="downArrow">
            <a:avLst>
              <a:gd name="adj1" fmla="val 50000"/>
              <a:gd name="adj2" fmla="val 76560"/>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75" name="AutoShape 25"/>
          <p:cNvSpPr>
            <a:spLocks noChangeArrowheads="1"/>
          </p:cNvSpPr>
          <p:nvPr/>
        </p:nvSpPr>
        <p:spPr bwMode="auto">
          <a:xfrm>
            <a:off x="4654550" y="4419600"/>
            <a:ext cx="238125" cy="677863"/>
          </a:xfrm>
          <a:prstGeom prst="downArrow">
            <a:avLst>
              <a:gd name="adj1" fmla="val 50000"/>
              <a:gd name="adj2" fmla="val 77071"/>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76" name="AutoShape 26"/>
          <p:cNvSpPr>
            <a:spLocks noChangeArrowheads="1"/>
          </p:cNvSpPr>
          <p:nvPr/>
        </p:nvSpPr>
        <p:spPr bwMode="auto">
          <a:xfrm>
            <a:off x="5043488" y="4427538"/>
            <a:ext cx="239712" cy="677862"/>
          </a:xfrm>
          <a:prstGeom prst="downArrow">
            <a:avLst>
              <a:gd name="adj1" fmla="val 50000"/>
              <a:gd name="adj2" fmla="val 76561"/>
            </a:avLst>
          </a:prstGeom>
          <a:solidFill>
            <a:srgbClr val="D9D9D9"/>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endParaRPr lang="zh-CN" altLang="zh-CN" sz="1800" b="0">
              <a:ea typeface="宋体" panose="02010600030101010101" pitchFamily="2" charset="-122"/>
            </a:endParaRPr>
          </a:p>
        </p:txBody>
      </p:sp>
      <p:sp>
        <p:nvSpPr>
          <p:cNvPr id="151577" name="Line 27"/>
          <p:cNvSpPr>
            <a:spLocks noChangeShapeType="1"/>
          </p:cNvSpPr>
          <p:nvPr/>
        </p:nvSpPr>
        <p:spPr bwMode="auto">
          <a:xfrm flipV="1">
            <a:off x="3795713" y="4724400"/>
            <a:ext cx="2146300" cy="0"/>
          </a:xfrm>
          <a:prstGeom prst="line">
            <a:avLst/>
          </a:prstGeom>
          <a:noFill/>
          <a:ln w="635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endParaRPr lang="en-GB"/>
          </a:p>
        </p:txBody>
      </p:sp>
      <p:sp>
        <p:nvSpPr>
          <p:cNvPr id="151578" name="Text Box 28"/>
          <p:cNvSpPr txBox="1">
            <a:spLocks noChangeArrowheads="1"/>
          </p:cNvSpPr>
          <p:nvPr/>
        </p:nvSpPr>
        <p:spPr bwMode="auto">
          <a:xfrm>
            <a:off x="6354763" y="5121275"/>
            <a:ext cx="2640012" cy="1082675"/>
          </a:xfrm>
          <a:prstGeom prst="rect">
            <a:avLst/>
          </a:prstGeom>
          <a:noFill/>
          <a:ln>
            <a:noFill/>
          </a:ln>
          <a:effectLst/>
          <a:extLst>
            <a:ext uri="{909E8E84-426E-40DD-AFC4-6F175D3DCCD1}">
              <a14:hiddenFill xmlns:a14="http://schemas.microsoft.com/office/drawing/2010/main">
                <a:solidFill>
                  <a:srgbClr val="D9D9D9"/>
                </a:solidFill>
              </a14:hiddenFill>
            </a:ext>
            <a:ext uri="{91240B29-F687-4F45-9708-019B960494DF}">
              <a14:hiddenLine xmlns:a14="http://schemas.microsoft.com/office/drawing/2010/main" w="12700">
                <a:solidFill>
                  <a:srgbClr val="85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90500" indent="-190500">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15000"/>
              </a:lnSpc>
              <a:spcBef>
                <a:spcPct val="40000"/>
              </a:spcBef>
              <a:spcAft>
                <a:spcPct val="0"/>
              </a:spcAft>
              <a:buSzTx/>
              <a:buFont typeface="Wingdings" panose="05000000000000000000" pitchFamily="2" charset="2"/>
              <a:buChar char="l"/>
            </a:pPr>
            <a:r>
              <a:rPr lang="en-US" altLang="zh-CN" sz="1400" b="0">
                <a:latin typeface="黑体" panose="02010609060101010101" pitchFamily="49" charset="-122"/>
                <a:ea typeface="黑体" panose="02010609060101010101" pitchFamily="49" charset="-122"/>
                <a:cs typeface="Arial" panose="020B0604020202020204" pitchFamily="34" charset="0"/>
              </a:rPr>
              <a:t>KPI</a:t>
            </a:r>
            <a:r>
              <a:rPr lang="zh-CN" altLang="en-US" sz="1400" b="0">
                <a:latin typeface="黑体" panose="02010609060101010101" pitchFamily="49" charset="-122"/>
                <a:ea typeface="黑体" panose="02010609060101010101" pitchFamily="49" charset="-122"/>
                <a:cs typeface="Arial" panose="020B0604020202020204" pitchFamily="34" charset="0"/>
              </a:rPr>
              <a:t>设计的关键在于企业内充分的沟通和探讨，及时调整备选指标，并达到指标体系的共识</a:t>
            </a:r>
            <a:endParaRPr lang="zh-CN" altLang="en-US" sz="1400" b="0">
              <a:latin typeface="黑体" panose="02010609060101010101" pitchFamily="49" charset="-122"/>
              <a:ea typeface="黑体" panose="02010609060101010101" pitchFamily="49" charset="-122"/>
              <a:cs typeface="Arial" panose="020B0604020202020204" pitchFamily="34" charset="0"/>
            </a:endParaRPr>
          </a:p>
        </p:txBody>
      </p:sp>
      <p:grpSp>
        <p:nvGrpSpPr>
          <p:cNvPr id="151579" name="Group 29"/>
          <p:cNvGrpSpPr/>
          <p:nvPr/>
        </p:nvGrpSpPr>
        <p:grpSpPr bwMode="auto">
          <a:xfrm flipH="1">
            <a:off x="6767513" y="4535488"/>
            <a:ext cx="2062162" cy="503237"/>
            <a:chOff x="2400" y="1968"/>
            <a:chExt cx="1152" cy="576"/>
          </a:xfrm>
        </p:grpSpPr>
        <p:sp>
          <p:nvSpPr>
            <p:cNvPr id="151580" name="Freeform 30"/>
            <p:cNvSpPr/>
            <p:nvPr>
              <p:custDataLst>
                <p:tags r:id="rId5"/>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C0C0C0"/>
            </a:solidFill>
            <a:ln w="9525">
              <a:solidFill>
                <a:schemeClr val="tx1"/>
              </a:solidFill>
              <a:round/>
            </a:ln>
            <a:effectLst>
              <a:outerShdw dist="35921" dir="2700000" algn="ctr" rotWithShape="0">
                <a:schemeClr val="bg2"/>
              </a:outerShdw>
            </a:effectLst>
          </p:spPr>
          <p:txBody>
            <a:bodyPr wrap="none" anchor="ctr"/>
            <a:lstStyle/>
            <a:p>
              <a:endParaRPr lang="en-GB"/>
            </a:p>
          </p:txBody>
        </p:sp>
        <p:sp>
          <p:nvSpPr>
            <p:cNvPr id="151581" name="Rectangle 31"/>
            <p:cNvSpPr>
              <a:spLocks noChangeArrowheads="1"/>
            </p:cNvSpPr>
            <p:nvPr>
              <p:custDataLst>
                <p:tags r:id="rId6"/>
              </p:custDataLst>
            </p:nvPr>
          </p:nvSpPr>
          <p:spPr bwMode="blackWhite">
            <a:xfrm>
              <a:off x="2440" y="2000"/>
              <a:ext cx="960" cy="496"/>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0000"/>
                </a:lnSpc>
                <a:spcBef>
                  <a:spcPct val="0"/>
                </a:spcBef>
                <a:buSzPct val="60000"/>
                <a:buFont typeface="Arial" panose="020B0604020202020204" pitchFamily="34" charset="0"/>
                <a:buNone/>
              </a:pPr>
              <a:r>
                <a:rPr lang="zh-CN" altLang="en-US" sz="1400" b="0">
                  <a:latin typeface="黑体" panose="02010609060101010101" pitchFamily="49" charset="-122"/>
                  <a:ea typeface="黑体" panose="02010609060101010101" pitchFamily="49" charset="-122"/>
                </a:rPr>
                <a:t>企业内充分沟通，进一步斟选指标</a:t>
              </a:r>
              <a:endParaRPr lang="zh-CN" altLang="en-US" sz="1400" b="0">
                <a:latin typeface="黑体" panose="02010609060101010101" pitchFamily="49" charset="-122"/>
                <a:ea typeface="黑体" panose="02010609060101010101" pitchFamily="49" charset="-122"/>
              </a:endParaRPr>
            </a:p>
          </p:txBody>
        </p:sp>
      </p:grpSp>
      <p:sp>
        <p:nvSpPr>
          <p:cNvPr id="2" name="Text Box 57"/>
          <p:cNvSpPr txBox="1">
            <a:spLocks noChangeArrowheads="1"/>
          </p:cNvSpPr>
          <p:nvPr/>
        </p:nvSpPr>
        <p:spPr bwMode="auto">
          <a:xfrm rot="-1706038">
            <a:off x="2068368" y="3932596"/>
            <a:ext cx="4685833" cy="37623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folHlink"/>
                  </a:outerShdw>
                </a:effectLst>
              </a14:hiddenEffects>
            </a:ext>
          </a:extLst>
        </p:spPr>
        <p:txBody>
          <a:bodyPr wrap="square">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800" b="0">
                <a:ea typeface="宋体" panose="02010600030101010101" pitchFamily="2" charset="-122"/>
              </a:rPr>
              <a:t>示	意	图</a:t>
            </a:r>
            <a:endParaRPr lang="zh-CN" altLang="en-US" sz="1800" b="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descr="深色上对角线"/>
          <p:cNvSpPr>
            <a:spLocks noChangeArrowheads="1"/>
          </p:cNvSpPr>
          <p:nvPr/>
        </p:nvSpPr>
        <p:spPr bwMode="auto">
          <a:xfrm>
            <a:off x="247650" y="1371600"/>
            <a:ext cx="3300413" cy="5181600"/>
          </a:xfrm>
          <a:prstGeom prst="rect">
            <a:avLst/>
          </a:prstGeom>
          <a:blipFill dpi="0" rotWithShape="0">
            <a:blip r:embed="rId1"/>
            <a:srcRect/>
            <a:tile tx="0" ty="0" sx="100000" sy="100000" flip="none" algn="tl"/>
          </a:blip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spcAft>
                <a:spcPct val="0"/>
              </a:spcAft>
              <a:buSzTx/>
              <a:buFontTx/>
              <a:buNone/>
            </a:pPr>
            <a:endParaRPr lang="zh-CN" altLang="en-GB" sz="1200" b="0">
              <a:ea typeface="宋体" panose="02010600030101010101" pitchFamily="2" charset="-122"/>
            </a:endParaRPr>
          </a:p>
        </p:txBody>
      </p:sp>
      <p:sp>
        <p:nvSpPr>
          <p:cNvPr id="157699" name="Rectangle 3"/>
          <p:cNvSpPr>
            <a:spLocks noGrp="1" noChangeArrowheads="1"/>
          </p:cNvSpPr>
          <p:nvPr>
            <p:ph type="title"/>
          </p:nvPr>
        </p:nvSpPr>
        <p:spPr>
          <a:xfrm>
            <a:off x="495300" y="274638"/>
            <a:ext cx="9056688" cy="70643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eaLnBrk="1" hangingPunct="1"/>
            <a:r>
              <a:rPr lang="zh-CN" altLang="en-US" dirty="0"/>
              <a:t>最终按照上述方法制定指标体系</a:t>
            </a:r>
            <a:endParaRPr lang="zh-CN" altLang="en-US" dirty="0"/>
          </a:p>
        </p:txBody>
      </p:sp>
      <p:sp>
        <p:nvSpPr>
          <p:cNvPr id="157700" name="Rectangle 4"/>
          <p:cNvSpPr>
            <a:spLocks noChangeArrowheads="1"/>
          </p:cNvSpPr>
          <p:nvPr/>
        </p:nvSpPr>
        <p:spPr bwMode="auto">
          <a:xfrm>
            <a:off x="1898650" y="1981200"/>
            <a:ext cx="1401763" cy="411163"/>
          </a:xfrm>
          <a:prstGeom prst="rect">
            <a:avLst/>
          </a:prstGeom>
          <a:solidFill>
            <a:srgbClr val="CCECFF"/>
          </a:solidFill>
          <a:ln w="2857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400" b="0">
                <a:ea typeface="宋体" panose="02010600030101010101" pitchFamily="2" charset="-122"/>
              </a:rPr>
              <a:t>财务表现</a:t>
            </a:r>
            <a:endParaRPr lang="zh-CN" altLang="en-US" sz="1400" b="0">
              <a:ea typeface="宋体" panose="02010600030101010101" pitchFamily="2" charset="-122"/>
            </a:endParaRPr>
          </a:p>
        </p:txBody>
      </p:sp>
      <p:sp>
        <p:nvSpPr>
          <p:cNvPr id="157701" name="Rectangle 5"/>
          <p:cNvSpPr>
            <a:spLocks noChangeArrowheads="1"/>
          </p:cNvSpPr>
          <p:nvPr/>
        </p:nvSpPr>
        <p:spPr bwMode="auto">
          <a:xfrm>
            <a:off x="1898650" y="3265488"/>
            <a:ext cx="1401763" cy="411162"/>
          </a:xfrm>
          <a:prstGeom prst="rect">
            <a:avLst/>
          </a:prstGeom>
          <a:solidFill>
            <a:srgbClr val="CCECFF"/>
          </a:solidFill>
          <a:ln w="2857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400" b="0">
                <a:ea typeface="宋体" panose="02010600030101010101" pitchFamily="2" charset="-122"/>
              </a:rPr>
              <a:t>客户</a:t>
            </a:r>
            <a:endParaRPr lang="zh-CN" altLang="en-US" sz="1400" b="0">
              <a:ea typeface="宋体" panose="02010600030101010101" pitchFamily="2" charset="-122"/>
            </a:endParaRPr>
          </a:p>
        </p:txBody>
      </p:sp>
      <p:sp>
        <p:nvSpPr>
          <p:cNvPr id="157702" name="Rectangle 6"/>
          <p:cNvSpPr>
            <a:spLocks noChangeArrowheads="1"/>
          </p:cNvSpPr>
          <p:nvPr/>
        </p:nvSpPr>
        <p:spPr bwMode="auto">
          <a:xfrm>
            <a:off x="1898650" y="4551363"/>
            <a:ext cx="1401763" cy="411162"/>
          </a:xfrm>
          <a:prstGeom prst="rect">
            <a:avLst/>
          </a:prstGeom>
          <a:solidFill>
            <a:srgbClr val="CCECFF"/>
          </a:solidFill>
          <a:ln w="2857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400" b="0">
                <a:ea typeface="宋体" panose="02010600030101010101" pitchFamily="2" charset="-122"/>
              </a:rPr>
              <a:t>员工</a:t>
            </a:r>
            <a:endParaRPr lang="zh-CN" altLang="en-US" sz="1400" b="0">
              <a:ea typeface="宋体" panose="02010600030101010101" pitchFamily="2" charset="-122"/>
            </a:endParaRPr>
          </a:p>
        </p:txBody>
      </p:sp>
      <p:sp>
        <p:nvSpPr>
          <p:cNvPr id="157703" name="Rectangle 7"/>
          <p:cNvSpPr>
            <a:spLocks noChangeArrowheads="1"/>
          </p:cNvSpPr>
          <p:nvPr/>
        </p:nvSpPr>
        <p:spPr bwMode="auto">
          <a:xfrm>
            <a:off x="1898650" y="5837238"/>
            <a:ext cx="1401763" cy="411162"/>
          </a:xfrm>
          <a:prstGeom prst="rect">
            <a:avLst/>
          </a:prstGeom>
          <a:solidFill>
            <a:srgbClr val="CCECFF"/>
          </a:solidFill>
          <a:ln w="2857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400" b="0">
                <a:ea typeface="宋体" panose="02010600030101010101" pitchFamily="2" charset="-122"/>
              </a:rPr>
              <a:t>内部流程</a:t>
            </a:r>
            <a:endParaRPr lang="zh-CN" altLang="en-US" sz="1400" b="0">
              <a:ea typeface="宋体" panose="02010600030101010101" pitchFamily="2" charset="-122"/>
            </a:endParaRPr>
          </a:p>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（含合规）</a:t>
            </a:r>
            <a:endParaRPr lang="zh-CN" altLang="en-US" sz="1200" b="0">
              <a:ea typeface="宋体" panose="02010600030101010101" pitchFamily="2" charset="-122"/>
            </a:endParaRPr>
          </a:p>
        </p:txBody>
      </p:sp>
      <p:sp>
        <p:nvSpPr>
          <p:cNvPr id="157704" name="Rectangle 8"/>
          <p:cNvSpPr>
            <a:spLocks noChangeArrowheads="1"/>
          </p:cNvSpPr>
          <p:nvPr/>
        </p:nvSpPr>
        <p:spPr bwMode="auto">
          <a:xfrm>
            <a:off x="3878263" y="1981200"/>
            <a:ext cx="2311400" cy="287338"/>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运营费用率</a:t>
            </a:r>
            <a:endParaRPr lang="zh-CN" altLang="en-US" sz="1200" b="0">
              <a:ea typeface="宋体" panose="02010600030101010101" pitchFamily="2" charset="-122"/>
            </a:endParaRPr>
          </a:p>
        </p:txBody>
      </p:sp>
      <p:sp>
        <p:nvSpPr>
          <p:cNvPr id="157705" name="Rectangle 9"/>
          <p:cNvSpPr>
            <a:spLocks noChangeArrowheads="1"/>
          </p:cNvSpPr>
          <p:nvPr/>
        </p:nvSpPr>
        <p:spPr bwMode="auto">
          <a:xfrm>
            <a:off x="3878263" y="2370138"/>
            <a:ext cx="2311400" cy="287337"/>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综合赔付率</a:t>
            </a:r>
            <a:endParaRPr lang="zh-CN" altLang="en-US" sz="1200" b="0">
              <a:ea typeface="宋体" panose="02010600030101010101" pitchFamily="2" charset="-122"/>
            </a:endParaRPr>
          </a:p>
        </p:txBody>
      </p:sp>
      <p:sp>
        <p:nvSpPr>
          <p:cNvPr id="157706" name="Rectangle 10"/>
          <p:cNvSpPr>
            <a:spLocks noChangeArrowheads="1"/>
          </p:cNvSpPr>
          <p:nvPr/>
        </p:nvSpPr>
        <p:spPr bwMode="auto">
          <a:xfrm>
            <a:off x="3878263" y="2743200"/>
            <a:ext cx="2311400" cy="287338"/>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理赔减损额</a:t>
            </a:r>
            <a:endParaRPr lang="zh-CN" altLang="en-US" sz="1200" b="0">
              <a:ea typeface="宋体" panose="02010600030101010101" pitchFamily="2" charset="-122"/>
            </a:endParaRPr>
          </a:p>
        </p:txBody>
      </p:sp>
      <p:sp>
        <p:nvSpPr>
          <p:cNvPr id="157707" name="Rectangle 11"/>
          <p:cNvSpPr>
            <a:spLocks noChangeArrowheads="1"/>
          </p:cNvSpPr>
          <p:nvPr/>
        </p:nvSpPr>
        <p:spPr bwMode="auto">
          <a:xfrm>
            <a:off x="3878263" y="3522663"/>
            <a:ext cx="2311400" cy="287337"/>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200" b="0">
                <a:ea typeface="宋体" panose="02010600030101010101" pitchFamily="2" charset="-122"/>
              </a:rPr>
              <a:t>XXX</a:t>
            </a:r>
            <a:endParaRPr lang="en-US" altLang="zh-CN" sz="1200" b="0">
              <a:ea typeface="宋体" panose="02010600030101010101" pitchFamily="2" charset="-122"/>
            </a:endParaRPr>
          </a:p>
        </p:txBody>
      </p:sp>
      <p:sp>
        <p:nvSpPr>
          <p:cNvPr id="157708" name="Rectangle 12"/>
          <p:cNvSpPr>
            <a:spLocks noChangeArrowheads="1"/>
          </p:cNvSpPr>
          <p:nvPr/>
        </p:nvSpPr>
        <p:spPr bwMode="auto">
          <a:xfrm>
            <a:off x="3878263" y="4764088"/>
            <a:ext cx="2311400" cy="287337"/>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员工产能达成率</a:t>
            </a:r>
            <a:endParaRPr lang="zh-CN" altLang="en-US" sz="1200" b="0">
              <a:ea typeface="宋体" panose="02010600030101010101" pitchFamily="2" charset="-122"/>
            </a:endParaRPr>
          </a:p>
        </p:txBody>
      </p:sp>
      <p:sp>
        <p:nvSpPr>
          <p:cNvPr id="157709" name="Rectangle 13"/>
          <p:cNvSpPr>
            <a:spLocks noChangeArrowheads="1"/>
          </p:cNvSpPr>
          <p:nvPr/>
        </p:nvSpPr>
        <p:spPr bwMode="auto">
          <a:xfrm>
            <a:off x="3878263" y="5876925"/>
            <a:ext cx="2311400" cy="287338"/>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内部流程效率</a:t>
            </a:r>
            <a:endParaRPr lang="zh-CN" altLang="en-US" sz="1200" b="0">
              <a:ea typeface="宋体" panose="02010600030101010101" pitchFamily="2" charset="-122"/>
            </a:endParaRPr>
          </a:p>
        </p:txBody>
      </p:sp>
      <p:sp>
        <p:nvSpPr>
          <p:cNvPr id="157710" name="Rectangle 14"/>
          <p:cNvSpPr>
            <a:spLocks noChangeArrowheads="1"/>
          </p:cNvSpPr>
          <p:nvPr/>
        </p:nvSpPr>
        <p:spPr bwMode="auto">
          <a:xfrm>
            <a:off x="3878263" y="5133975"/>
            <a:ext cx="2311400" cy="287338"/>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员工流失率</a:t>
            </a:r>
            <a:endParaRPr lang="zh-CN" altLang="en-US" sz="1200" b="0">
              <a:ea typeface="宋体" panose="02010600030101010101" pitchFamily="2" charset="-122"/>
            </a:endParaRPr>
          </a:p>
        </p:txBody>
      </p:sp>
      <p:sp>
        <p:nvSpPr>
          <p:cNvPr id="157711" name="Rectangle 15"/>
          <p:cNvSpPr>
            <a:spLocks noChangeArrowheads="1"/>
          </p:cNvSpPr>
          <p:nvPr/>
        </p:nvSpPr>
        <p:spPr bwMode="auto">
          <a:xfrm>
            <a:off x="3878263" y="5503863"/>
            <a:ext cx="2311400" cy="287337"/>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员工满意度</a:t>
            </a:r>
            <a:endParaRPr lang="zh-CN" altLang="en-US" sz="1200" b="0">
              <a:ea typeface="宋体" panose="02010600030101010101" pitchFamily="2" charset="-122"/>
            </a:endParaRPr>
          </a:p>
        </p:txBody>
      </p:sp>
      <p:sp>
        <p:nvSpPr>
          <p:cNvPr id="157712" name="Rectangle 16"/>
          <p:cNvSpPr>
            <a:spLocks noChangeArrowheads="1"/>
          </p:cNvSpPr>
          <p:nvPr/>
        </p:nvSpPr>
        <p:spPr bwMode="auto">
          <a:xfrm>
            <a:off x="7015163" y="61849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000" b="0">
                <a:ea typeface="宋体" panose="02010600030101010101" pitchFamily="2" charset="-122"/>
              </a:rPr>
              <a:t>XXX</a:t>
            </a:r>
            <a:endParaRPr lang="en-US" altLang="zh-CN" sz="1000" b="0">
              <a:ea typeface="宋体" panose="02010600030101010101" pitchFamily="2" charset="-122"/>
            </a:endParaRPr>
          </a:p>
        </p:txBody>
      </p:sp>
      <p:sp>
        <p:nvSpPr>
          <p:cNvPr id="157713" name="Rectangle 17"/>
          <p:cNvSpPr>
            <a:spLocks noChangeArrowheads="1"/>
          </p:cNvSpPr>
          <p:nvPr/>
        </p:nvSpPr>
        <p:spPr bwMode="auto">
          <a:xfrm>
            <a:off x="7015163" y="5891213"/>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000" b="0">
                <a:ea typeface="宋体" panose="02010600030101010101" pitchFamily="2" charset="-122"/>
              </a:rPr>
              <a:t>赔案一次通过率</a:t>
            </a:r>
            <a:endParaRPr lang="zh-CN" altLang="en-US" sz="1000" b="0">
              <a:ea typeface="宋体" panose="02010600030101010101" pitchFamily="2" charset="-122"/>
            </a:endParaRPr>
          </a:p>
        </p:txBody>
      </p:sp>
      <p:sp>
        <p:nvSpPr>
          <p:cNvPr id="157714" name="Rectangle 18"/>
          <p:cNvSpPr>
            <a:spLocks noChangeArrowheads="1"/>
          </p:cNvSpPr>
          <p:nvPr/>
        </p:nvSpPr>
        <p:spPr bwMode="auto">
          <a:xfrm>
            <a:off x="495300" y="2667000"/>
            <a:ext cx="577850" cy="2286000"/>
          </a:xfrm>
          <a:prstGeom prst="rect">
            <a:avLst/>
          </a:prstGeom>
          <a:solidFill>
            <a:schemeClr val="bg1"/>
          </a:solidFill>
          <a:ln w="2857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15000"/>
              </a:lnSpc>
              <a:spcBef>
                <a:spcPct val="0"/>
              </a:spcBef>
              <a:spcAft>
                <a:spcPct val="0"/>
              </a:spcAft>
              <a:buClr>
                <a:srgbClr val="3149F9"/>
              </a:buClr>
              <a:buSzPct val="60000"/>
              <a:buFont typeface="Wingdings" panose="05000000000000000000" pitchFamily="2" charset="2"/>
              <a:buNone/>
            </a:pPr>
            <a:r>
              <a:rPr lang="zh-CN" altLang="en-US" sz="1600" b="0">
                <a:ea typeface="宋体" panose="02010600030101010101" pitchFamily="2" charset="-122"/>
              </a:rPr>
              <a:t>运营指标体系</a:t>
            </a:r>
            <a:endParaRPr lang="zh-CN" altLang="en-US" sz="1600" b="0">
              <a:ea typeface="宋体" panose="02010600030101010101" pitchFamily="2" charset="-122"/>
            </a:endParaRPr>
          </a:p>
        </p:txBody>
      </p:sp>
      <p:cxnSp>
        <p:nvCxnSpPr>
          <p:cNvPr id="157715" name="AutoShape 19"/>
          <p:cNvCxnSpPr>
            <a:cxnSpLocks noChangeShapeType="1"/>
            <a:stCxn id="157714" idx="3"/>
            <a:endCxn id="157700" idx="1"/>
          </p:cNvCxnSpPr>
          <p:nvPr/>
        </p:nvCxnSpPr>
        <p:spPr bwMode="auto">
          <a:xfrm flipV="1">
            <a:off x="1089025" y="2187575"/>
            <a:ext cx="793750" cy="1622425"/>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16" name="AutoShape 20"/>
          <p:cNvCxnSpPr>
            <a:cxnSpLocks noChangeShapeType="1"/>
            <a:stCxn id="157714" idx="3"/>
            <a:endCxn id="157701" idx="1"/>
          </p:cNvCxnSpPr>
          <p:nvPr/>
        </p:nvCxnSpPr>
        <p:spPr bwMode="auto">
          <a:xfrm flipV="1">
            <a:off x="1089025" y="3471863"/>
            <a:ext cx="793750" cy="338137"/>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17" name="AutoShape 21"/>
          <p:cNvCxnSpPr>
            <a:cxnSpLocks noChangeShapeType="1"/>
            <a:stCxn id="157714" idx="3"/>
            <a:endCxn id="157702" idx="1"/>
          </p:cNvCxnSpPr>
          <p:nvPr/>
        </p:nvCxnSpPr>
        <p:spPr bwMode="auto">
          <a:xfrm>
            <a:off x="1089025" y="3810000"/>
            <a:ext cx="793750" cy="947738"/>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18" name="AutoShape 22"/>
          <p:cNvCxnSpPr>
            <a:cxnSpLocks noChangeShapeType="1"/>
            <a:stCxn id="157714" idx="3"/>
            <a:endCxn id="157703" idx="1"/>
          </p:cNvCxnSpPr>
          <p:nvPr/>
        </p:nvCxnSpPr>
        <p:spPr bwMode="auto">
          <a:xfrm>
            <a:off x="1089025" y="3810000"/>
            <a:ext cx="793750" cy="2233613"/>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19" name="AutoShape 23"/>
          <p:cNvCxnSpPr>
            <a:cxnSpLocks noChangeShapeType="1"/>
            <a:stCxn id="157704" idx="3"/>
            <a:endCxn id="157740" idx="1"/>
          </p:cNvCxnSpPr>
          <p:nvPr/>
        </p:nvCxnSpPr>
        <p:spPr bwMode="auto">
          <a:xfrm>
            <a:off x="6203950" y="2125663"/>
            <a:ext cx="811213" cy="165100"/>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0" name="AutoShape 24"/>
          <p:cNvCxnSpPr>
            <a:cxnSpLocks noChangeShapeType="1"/>
            <a:stCxn id="157705" idx="3"/>
            <a:endCxn id="157737" idx="1"/>
          </p:cNvCxnSpPr>
          <p:nvPr/>
        </p:nvCxnSpPr>
        <p:spPr bwMode="auto">
          <a:xfrm>
            <a:off x="6203950" y="2514600"/>
            <a:ext cx="811213" cy="107950"/>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1" name="AutoShape 25"/>
          <p:cNvCxnSpPr>
            <a:cxnSpLocks noChangeShapeType="1"/>
            <a:stCxn id="157705" idx="3"/>
            <a:endCxn id="157739" idx="1"/>
          </p:cNvCxnSpPr>
          <p:nvPr/>
        </p:nvCxnSpPr>
        <p:spPr bwMode="auto">
          <a:xfrm>
            <a:off x="6203950" y="2514600"/>
            <a:ext cx="811213" cy="396875"/>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2" name="AutoShape 26"/>
          <p:cNvCxnSpPr>
            <a:cxnSpLocks noChangeShapeType="1"/>
            <a:stCxn id="157705" idx="3"/>
            <a:endCxn id="157738" idx="1"/>
          </p:cNvCxnSpPr>
          <p:nvPr/>
        </p:nvCxnSpPr>
        <p:spPr bwMode="auto">
          <a:xfrm>
            <a:off x="6203950" y="2514600"/>
            <a:ext cx="811213" cy="654050"/>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3" name="AutoShape 27"/>
          <p:cNvCxnSpPr>
            <a:cxnSpLocks noChangeShapeType="1"/>
            <a:stCxn id="157707" idx="3"/>
            <a:endCxn id="157746" idx="1"/>
          </p:cNvCxnSpPr>
          <p:nvPr/>
        </p:nvCxnSpPr>
        <p:spPr bwMode="auto">
          <a:xfrm flipV="1">
            <a:off x="6203950" y="3460750"/>
            <a:ext cx="811213" cy="206375"/>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4" name="AutoShape 28"/>
          <p:cNvCxnSpPr>
            <a:cxnSpLocks noChangeShapeType="1"/>
            <a:stCxn id="157707" idx="3"/>
            <a:endCxn id="157745" idx="1"/>
          </p:cNvCxnSpPr>
          <p:nvPr/>
        </p:nvCxnSpPr>
        <p:spPr bwMode="auto">
          <a:xfrm>
            <a:off x="6203950" y="3667125"/>
            <a:ext cx="811213" cy="111125"/>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5" name="AutoShape 29"/>
          <p:cNvCxnSpPr>
            <a:cxnSpLocks noChangeShapeType="1"/>
            <a:stCxn id="157709" idx="3"/>
            <a:endCxn id="157713" idx="1"/>
          </p:cNvCxnSpPr>
          <p:nvPr/>
        </p:nvCxnSpPr>
        <p:spPr bwMode="auto">
          <a:xfrm flipV="1">
            <a:off x="6203950" y="5999163"/>
            <a:ext cx="811213" cy="22225"/>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6" name="AutoShape 30"/>
          <p:cNvCxnSpPr>
            <a:cxnSpLocks noChangeShapeType="1"/>
            <a:stCxn id="157709" idx="3"/>
            <a:endCxn id="157712" idx="1"/>
          </p:cNvCxnSpPr>
          <p:nvPr/>
        </p:nvCxnSpPr>
        <p:spPr bwMode="auto">
          <a:xfrm>
            <a:off x="6203950" y="6021388"/>
            <a:ext cx="811213" cy="271462"/>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7" name="AutoShape 31"/>
          <p:cNvCxnSpPr>
            <a:cxnSpLocks noChangeShapeType="1"/>
            <a:stCxn id="157700" idx="3"/>
            <a:endCxn id="157704" idx="1"/>
          </p:cNvCxnSpPr>
          <p:nvPr/>
        </p:nvCxnSpPr>
        <p:spPr bwMode="auto">
          <a:xfrm flipV="1">
            <a:off x="3316288" y="2125663"/>
            <a:ext cx="546100" cy="61912"/>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8" name="AutoShape 32"/>
          <p:cNvCxnSpPr>
            <a:cxnSpLocks noChangeShapeType="1"/>
            <a:stCxn id="157700" idx="3"/>
            <a:endCxn id="157705" idx="1"/>
          </p:cNvCxnSpPr>
          <p:nvPr/>
        </p:nvCxnSpPr>
        <p:spPr bwMode="auto">
          <a:xfrm>
            <a:off x="3316288" y="2187575"/>
            <a:ext cx="546100" cy="327025"/>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29" name="AutoShape 33"/>
          <p:cNvCxnSpPr>
            <a:cxnSpLocks noChangeShapeType="1"/>
            <a:stCxn id="157700" idx="3"/>
            <a:endCxn id="157706" idx="1"/>
          </p:cNvCxnSpPr>
          <p:nvPr/>
        </p:nvCxnSpPr>
        <p:spPr bwMode="auto">
          <a:xfrm>
            <a:off x="3316288" y="2187575"/>
            <a:ext cx="546100" cy="700088"/>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30" name="AutoShape 34"/>
          <p:cNvCxnSpPr>
            <a:cxnSpLocks noChangeShapeType="1"/>
            <a:stCxn id="157701" idx="3"/>
            <a:endCxn id="157707" idx="1"/>
          </p:cNvCxnSpPr>
          <p:nvPr/>
        </p:nvCxnSpPr>
        <p:spPr bwMode="auto">
          <a:xfrm>
            <a:off x="3316288" y="3471863"/>
            <a:ext cx="546100" cy="195262"/>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31" name="AutoShape 35"/>
          <p:cNvCxnSpPr>
            <a:cxnSpLocks noChangeShapeType="1"/>
            <a:stCxn id="157702" idx="3"/>
            <a:endCxn id="157708" idx="1"/>
          </p:cNvCxnSpPr>
          <p:nvPr/>
        </p:nvCxnSpPr>
        <p:spPr bwMode="auto">
          <a:xfrm>
            <a:off x="3316288" y="4757738"/>
            <a:ext cx="546100" cy="150812"/>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32" name="AutoShape 36"/>
          <p:cNvCxnSpPr>
            <a:cxnSpLocks noChangeShapeType="1"/>
            <a:stCxn id="157702" idx="3"/>
            <a:endCxn id="157710" idx="1"/>
          </p:cNvCxnSpPr>
          <p:nvPr/>
        </p:nvCxnSpPr>
        <p:spPr bwMode="auto">
          <a:xfrm>
            <a:off x="3316288" y="4757738"/>
            <a:ext cx="546100" cy="520700"/>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33" name="AutoShape 37"/>
          <p:cNvCxnSpPr>
            <a:cxnSpLocks noChangeShapeType="1"/>
            <a:stCxn id="157702" idx="3"/>
            <a:endCxn id="157711" idx="1"/>
          </p:cNvCxnSpPr>
          <p:nvPr/>
        </p:nvCxnSpPr>
        <p:spPr bwMode="auto">
          <a:xfrm>
            <a:off x="3316288" y="4757738"/>
            <a:ext cx="546100" cy="890587"/>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34" name="AutoShape 38"/>
          <p:cNvCxnSpPr>
            <a:cxnSpLocks noChangeShapeType="1"/>
            <a:stCxn id="157703" idx="3"/>
            <a:endCxn id="157709" idx="1"/>
          </p:cNvCxnSpPr>
          <p:nvPr/>
        </p:nvCxnSpPr>
        <p:spPr bwMode="auto">
          <a:xfrm flipV="1">
            <a:off x="3316288" y="6021388"/>
            <a:ext cx="546100" cy="22225"/>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735" name="Rectangle 39"/>
          <p:cNvSpPr>
            <a:spLocks noChangeArrowheads="1"/>
          </p:cNvSpPr>
          <p:nvPr/>
        </p:nvSpPr>
        <p:spPr bwMode="auto">
          <a:xfrm>
            <a:off x="3878263" y="3913188"/>
            <a:ext cx="2311400" cy="287337"/>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200" b="0">
                <a:ea typeface="宋体" panose="02010600030101010101" pitchFamily="2" charset="-122"/>
              </a:rPr>
              <a:t>客户满度度</a:t>
            </a:r>
            <a:endParaRPr lang="zh-CN" altLang="en-US" sz="1200" b="0">
              <a:ea typeface="宋体" panose="02010600030101010101" pitchFamily="2" charset="-122"/>
            </a:endParaRPr>
          </a:p>
        </p:txBody>
      </p:sp>
      <p:sp>
        <p:nvSpPr>
          <p:cNvPr id="157736" name="Rectangle 40"/>
          <p:cNvSpPr>
            <a:spLocks noChangeArrowheads="1"/>
          </p:cNvSpPr>
          <p:nvPr/>
        </p:nvSpPr>
        <p:spPr bwMode="auto">
          <a:xfrm>
            <a:off x="3878263" y="4294188"/>
            <a:ext cx="2311400" cy="287337"/>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200" b="0">
                <a:ea typeface="宋体" panose="02010600030101010101" pitchFamily="2" charset="-122"/>
              </a:rPr>
              <a:t>XXX</a:t>
            </a:r>
            <a:endParaRPr lang="en-US" altLang="zh-CN" sz="1200" b="0">
              <a:ea typeface="宋体" panose="02010600030101010101" pitchFamily="2" charset="-122"/>
            </a:endParaRPr>
          </a:p>
        </p:txBody>
      </p:sp>
      <p:sp>
        <p:nvSpPr>
          <p:cNvPr id="157737" name="Rectangle 41"/>
          <p:cNvSpPr>
            <a:spLocks noChangeArrowheads="1"/>
          </p:cNvSpPr>
          <p:nvPr/>
        </p:nvSpPr>
        <p:spPr bwMode="auto">
          <a:xfrm>
            <a:off x="7015163" y="25146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000" b="0">
                <a:ea typeface="宋体" panose="02010600030101010101" pitchFamily="2" charset="-122"/>
              </a:rPr>
              <a:t>车险综合赔付率</a:t>
            </a:r>
            <a:endParaRPr lang="zh-CN" altLang="en-US" sz="1000" b="0">
              <a:ea typeface="宋体" panose="02010600030101010101" pitchFamily="2" charset="-122"/>
            </a:endParaRPr>
          </a:p>
        </p:txBody>
      </p:sp>
      <p:sp>
        <p:nvSpPr>
          <p:cNvPr id="157738" name="Rectangle 42"/>
          <p:cNvSpPr>
            <a:spLocks noChangeArrowheads="1"/>
          </p:cNvSpPr>
          <p:nvPr/>
        </p:nvSpPr>
        <p:spPr bwMode="auto">
          <a:xfrm>
            <a:off x="7015163" y="30607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000" b="0">
                <a:ea typeface="宋体" panose="02010600030101010101" pitchFamily="2" charset="-122"/>
              </a:rPr>
              <a:t>XXXX</a:t>
            </a:r>
            <a:endParaRPr lang="en-US" altLang="zh-CN" sz="1000" b="0">
              <a:ea typeface="宋体" panose="02010600030101010101" pitchFamily="2" charset="-122"/>
            </a:endParaRPr>
          </a:p>
        </p:txBody>
      </p:sp>
      <p:sp>
        <p:nvSpPr>
          <p:cNvPr id="157739" name="Rectangle 43"/>
          <p:cNvSpPr>
            <a:spLocks noChangeArrowheads="1"/>
          </p:cNvSpPr>
          <p:nvPr/>
        </p:nvSpPr>
        <p:spPr bwMode="auto">
          <a:xfrm>
            <a:off x="7015163" y="2803525"/>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000" b="0">
                <a:ea typeface="宋体" panose="02010600030101010101" pitchFamily="2" charset="-122"/>
              </a:rPr>
              <a:t>财产险综合赔付率</a:t>
            </a:r>
            <a:endParaRPr lang="zh-CN" altLang="en-US" sz="1000" b="0">
              <a:ea typeface="宋体" panose="02010600030101010101" pitchFamily="2" charset="-122"/>
            </a:endParaRPr>
          </a:p>
        </p:txBody>
      </p:sp>
      <p:sp>
        <p:nvSpPr>
          <p:cNvPr id="157740" name="Rectangle 44"/>
          <p:cNvSpPr>
            <a:spLocks noChangeArrowheads="1"/>
          </p:cNvSpPr>
          <p:nvPr/>
        </p:nvSpPr>
        <p:spPr bwMode="auto">
          <a:xfrm>
            <a:off x="7015163" y="2182813"/>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000" b="0">
                <a:ea typeface="宋体" panose="02010600030101010101" pitchFamily="2" charset="-122"/>
              </a:rPr>
              <a:t>XXX</a:t>
            </a:r>
            <a:endParaRPr lang="en-US" altLang="zh-CN" sz="1000" b="0">
              <a:ea typeface="宋体" panose="02010600030101010101" pitchFamily="2" charset="-122"/>
            </a:endParaRPr>
          </a:p>
        </p:txBody>
      </p:sp>
      <p:sp>
        <p:nvSpPr>
          <p:cNvPr id="157741" name="Rectangle 45"/>
          <p:cNvSpPr>
            <a:spLocks noChangeArrowheads="1"/>
          </p:cNvSpPr>
          <p:nvPr/>
        </p:nvSpPr>
        <p:spPr bwMode="auto">
          <a:xfrm>
            <a:off x="7015163" y="4840288"/>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000" b="0">
                <a:ea typeface="宋体" panose="02010600030101010101" pitchFamily="2" charset="-122"/>
              </a:rPr>
              <a:t>车险机构出单人均月产能</a:t>
            </a:r>
            <a:endParaRPr lang="zh-CN" altLang="en-US" sz="1000" b="0">
              <a:ea typeface="宋体" panose="02010600030101010101" pitchFamily="2" charset="-122"/>
            </a:endParaRPr>
          </a:p>
        </p:txBody>
      </p:sp>
      <p:sp>
        <p:nvSpPr>
          <p:cNvPr id="157742" name="Rectangle 46"/>
          <p:cNvSpPr>
            <a:spLocks noChangeArrowheads="1"/>
          </p:cNvSpPr>
          <p:nvPr/>
        </p:nvSpPr>
        <p:spPr bwMode="auto">
          <a:xfrm>
            <a:off x="7015163" y="51181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000" b="0">
                <a:ea typeface="宋体" panose="02010600030101010101" pitchFamily="2" charset="-122"/>
              </a:rPr>
              <a:t>XX</a:t>
            </a:r>
            <a:endParaRPr lang="en-US" altLang="zh-CN" sz="1000" b="0">
              <a:ea typeface="宋体" panose="02010600030101010101" pitchFamily="2" charset="-122"/>
            </a:endParaRPr>
          </a:p>
        </p:txBody>
      </p:sp>
      <p:sp>
        <p:nvSpPr>
          <p:cNvPr id="157743" name="Rectangle 47"/>
          <p:cNvSpPr>
            <a:spLocks noChangeArrowheads="1"/>
          </p:cNvSpPr>
          <p:nvPr/>
        </p:nvSpPr>
        <p:spPr bwMode="auto">
          <a:xfrm>
            <a:off x="7015163" y="19050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000" b="0">
                <a:ea typeface="宋体" panose="02010600030101010101" pitchFamily="2" charset="-122"/>
              </a:rPr>
              <a:t>XXX</a:t>
            </a:r>
            <a:endParaRPr lang="en-US" altLang="zh-CN" sz="1000" b="0">
              <a:ea typeface="宋体" panose="02010600030101010101" pitchFamily="2" charset="-122"/>
            </a:endParaRPr>
          </a:p>
        </p:txBody>
      </p:sp>
      <p:cxnSp>
        <p:nvCxnSpPr>
          <p:cNvPr id="157744" name="AutoShape 48"/>
          <p:cNvCxnSpPr>
            <a:cxnSpLocks noChangeShapeType="1"/>
            <a:stCxn id="157704" idx="3"/>
            <a:endCxn id="157743" idx="1"/>
          </p:cNvCxnSpPr>
          <p:nvPr/>
        </p:nvCxnSpPr>
        <p:spPr bwMode="auto">
          <a:xfrm flipV="1">
            <a:off x="6203950" y="2012950"/>
            <a:ext cx="811213" cy="112713"/>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745" name="Rectangle 49"/>
          <p:cNvSpPr>
            <a:spLocks noChangeArrowheads="1"/>
          </p:cNvSpPr>
          <p:nvPr/>
        </p:nvSpPr>
        <p:spPr bwMode="auto">
          <a:xfrm>
            <a:off x="7015163" y="36703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000" b="0">
                <a:ea typeface="宋体" panose="02010600030101010101" pitchFamily="2" charset="-122"/>
              </a:rPr>
              <a:t>XXX</a:t>
            </a:r>
            <a:endParaRPr lang="en-US" altLang="zh-CN" sz="1000" b="0">
              <a:ea typeface="宋体" panose="02010600030101010101" pitchFamily="2" charset="-122"/>
            </a:endParaRPr>
          </a:p>
        </p:txBody>
      </p:sp>
      <p:sp>
        <p:nvSpPr>
          <p:cNvPr id="157746" name="Rectangle 50"/>
          <p:cNvSpPr>
            <a:spLocks noChangeArrowheads="1"/>
          </p:cNvSpPr>
          <p:nvPr/>
        </p:nvSpPr>
        <p:spPr bwMode="auto">
          <a:xfrm>
            <a:off x="7015163" y="33528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000" b="0">
                <a:ea typeface="宋体" panose="02010600030101010101" pitchFamily="2" charset="-122"/>
              </a:rPr>
              <a:t>XXX</a:t>
            </a:r>
            <a:endParaRPr lang="en-US" altLang="zh-CN" sz="1000" b="0">
              <a:ea typeface="宋体" panose="02010600030101010101" pitchFamily="2" charset="-122"/>
            </a:endParaRPr>
          </a:p>
        </p:txBody>
      </p:sp>
      <p:cxnSp>
        <p:nvCxnSpPr>
          <p:cNvPr id="157747" name="AutoShape 51"/>
          <p:cNvCxnSpPr>
            <a:cxnSpLocks noChangeShapeType="1"/>
            <a:stCxn id="157701" idx="3"/>
            <a:endCxn id="157735" idx="1"/>
          </p:cNvCxnSpPr>
          <p:nvPr/>
        </p:nvCxnSpPr>
        <p:spPr bwMode="auto">
          <a:xfrm>
            <a:off x="3316288" y="3471863"/>
            <a:ext cx="546100" cy="585787"/>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48" name="AutoShape 52"/>
          <p:cNvCxnSpPr>
            <a:cxnSpLocks noChangeShapeType="1"/>
            <a:stCxn id="157701" idx="3"/>
            <a:endCxn id="157736" idx="1"/>
          </p:cNvCxnSpPr>
          <p:nvPr/>
        </p:nvCxnSpPr>
        <p:spPr bwMode="auto">
          <a:xfrm>
            <a:off x="3316288" y="3471863"/>
            <a:ext cx="546100" cy="966787"/>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749" name="Rectangle 53"/>
          <p:cNvSpPr>
            <a:spLocks noChangeArrowheads="1"/>
          </p:cNvSpPr>
          <p:nvPr/>
        </p:nvSpPr>
        <p:spPr bwMode="auto">
          <a:xfrm>
            <a:off x="7015163" y="43434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000" b="0">
                <a:ea typeface="宋体" panose="02010600030101010101" pitchFamily="2" charset="-122"/>
              </a:rPr>
              <a:t>团体客户综合服务满意度</a:t>
            </a:r>
            <a:endParaRPr lang="zh-CN" altLang="en-US" sz="1000" b="0">
              <a:ea typeface="宋体" panose="02010600030101010101" pitchFamily="2" charset="-122"/>
            </a:endParaRPr>
          </a:p>
        </p:txBody>
      </p:sp>
      <p:sp>
        <p:nvSpPr>
          <p:cNvPr id="157750" name="Rectangle 54"/>
          <p:cNvSpPr>
            <a:spLocks noChangeArrowheads="1"/>
          </p:cNvSpPr>
          <p:nvPr/>
        </p:nvSpPr>
        <p:spPr bwMode="auto">
          <a:xfrm>
            <a:off x="7015163" y="4038600"/>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000" b="0">
                <a:ea typeface="宋体" panose="02010600030101010101" pitchFamily="2" charset="-122"/>
              </a:rPr>
              <a:t>个人客户综合服务满意度</a:t>
            </a:r>
            <a:endParaRPr lang="zh-CN" altLang="en-US" sz="1000" b="0">
              <a:ea typeface="宋体" panose="02010600030101010101" pitchFamily="2" charset="-122"/>
            </a:endParaRPr>
          </a:p>
        </p:txBody>
      </p:sp>
      <p:cxnSp>
        <p:nvCxnSpPr>
          <p:cNvPr id="157751" name="AutoShape 55"/>
          <p:cNvCxnSpPr>
            <a:cxnSpLocks noChangeShapeType="1"/>
            <a:stCxn id="157735" idx="3"/>
            <a:endCxn id="157750" idx="1"/>
          </p:cNvCxnSpPr>
          <p:nvPr/>
        </p:nvCxnSpPr>
        <p:spPr bwMode="auto">
          <a:xfrm>
            <a:off x="6203950" y="4057650"/>
            <a:ext cx="811213" cy="88900"/>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52" name="AutoShape 56"/>
          <p:cNvCxnSpPr>
            <a:cxnSpLocks noChangeShapeType="1"/>
            <a:stCxn id="157735" idx="3"/>
            <a:endCxn id="157749" idx="1"/>
          </p:cNvCxnSpPr>
          <p:nvPr/>
        </p:nvCxnSpPr>
        <p:spPr bwMode="auto">
          <a:xfrm>
            <a:off x="6203950" y="4057650"/>
            <a:ext cx="811213" cy="393700"/>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53" name="AutoShape 57"/>
          <p:cNvCxnSpPr>
            <a:cxnSpLocks noChangeShapeType="1"/>
            <a:stCxn id="157708" idx="3"/>
            <a:endCxn id="157741" idx="1"/>
          </p:cNvCxnSpPr>
          <p:nvPr/>
        </p:nvCxnSpPr>
        <p:spPr bwMode="auto">
          <a:xfrm>
            <a:off x="6203950" y="4908550"/>
            <a:ext cx="811213" cy="39688"/>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7754" name="AutoShape 58"/>
          <p:cNvCxnSpPr>
            <a:cxnSpLocks noChangeShapeType="1"/>
            <a:stCxn id="157708" idx="3"/>
            <a:endCxn id="157742" idx="1"/>
          </p:cNvCxnSpPr>
          <p:nvPr/>
        </p:nvCxnSpPr>
        <p:spPr bwMode="auto">
          <a:xfrm>
            <a:off x="6203950" y="4908550"/>
            <a:ext cx="811213" cy="317500"/>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755" name="Rectangle 59"/>
          <p:cNvSpPr>
            <a:spLocks noChangeArrowheads="1"/>
          </p:cNvSpPr>
          <p:nvPr/>
        </p:nvSpPr>
        <p:spPr bwMode="auto">
          <a:xfrm>
            <a:off x="7015163" y="5462588"/>
            <a:ext cx="2309812" cy="215900"/>
          </a:xfrm>
          <a:prstGeom prst="rect">
            <a:avLst/>
          </a:prstGeom>
          <a:solidFill>
            <a:schemeClr val="bg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zh-CN" altLang="en-US" sz="1000" b="0">
                <a:ea typeface="宋体" panose="02010600030101010101" pitchFamily="2" charset="-122"/>
              </a:rPr>
              <a:t>自动核保通过率</a:t>
            </a:r>
            <a:endParaRPr lang="zh-CN" altLang="en-US" sz="1000" b="0">
              <a:ea typeface="宋体" panose="02010600030101010101" pitchFamily="2" charset="-122"/>
            </a:endParaRPr>
          </a:p>
        </p:txBody>
      </p:sp>
      <p:cxnSp>
        <p:nvCxnSpPr>
          <p:cNvPr id="157756" name="AutoShape 60"/>
          <p:cNvCxnSpPr>
            <a:cxnSpLocks noChangeShapeType="1"/>
            <a:stCxn id="157708" idx="3"/>
            <a:endCxn id="157755" idx="1"/>
          </p:cNvCxnSpPr>
          <p:nvPr/>
        </p:nvCxnSpPr>
        <p:spPr bwMode="auto">
          <a:xfrm>
            <a:off x="6203950" y="4908550"/>
            <a:ext cx="811213" cy="661988"/>
          </a:xfrm>
          <a:prstGeom prst="bentConnector3">
            <a:avLst>
              <a:gd name="adj1" fmla="val 49046"/>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757" name="Rectangle 62"/>
          <p:cNvSpPr>
            <a:spLocks noChangeArrowheads="1"/>
          </p:cNvSpPr>
          <p:nvPr/>
        </p:nvSpPr>
        <p:spPr bwMode="auto">
          <a:xfrm>
            <a:off x="3878263" y="3141663"/>
            <a:ext cx="2311400" cy="287337"/>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200" b="0">
                <a:ea typeface="宋体" panose="02010600030101010101" pitchFamily="2" charset="-122"/>
              </a:rPr>
              <a:t>XXX</a:t>
            </a:r>
            <a:endParaRPr lang="en-US" altLang="zh-CN" sz="1200" b="0">
              <a:ea typeface="宋体" panose="02010600030101010101" pitchFamily="2" charset="-122"/>
            </a:endParaRPr>
          </a:p>
        </p:txBody>
      </p:sp>
      <p:cxnSp>
        <p:nvCxnSpPr>
          <p:cNvPr id="157758" name="AutoShape 63"/>
          <p:cNvCxnSpPr>
            <a:cxnSpLocks noChangeShapeType="1"/>
            <a:stCxn id="157700" idx="3"/>
            <a:endCxn id="157757" idx="1"/>
          </p:cNvCxnSpPr>
          <p:nvPr/>
        </p:nvCxnSpPr>
        <p:spPr bwMode="auto">
          <a:xfrm>
            <a:off x="3316288" y="2187575"/>
            <a:ext cx="546100" cy="1098550"/>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759" name="Rectangle 68"/>
          <p:cNvSpPr>
            <a:spLocks noChangeArrowheads="1"/>
          </p:cNvSpPr>
          <p:nvPr/>
        </p:nvSpPr>
        <p:spPr bwMode="auto">
          <a:xfrm>
            <a:off x="3878263" y="6237288"/>
            <a:ext cx="2311400" cy="287337"/>
          </a:xfrm>
          <a:prstGeom prst="rect">
            <a:avLst/>
          </a:prstGeom>
          <a:solidFill>
            <a:schemeClr val="bg1"/>
          </a:solidFill>
          <a:ln w="2857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46800" rIns="45720" bIns="46038" anchor="ct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0"/>
              </a:spcBef>
              <a:spcAft>
                <a:spcPct val="0"/>
              </a:spcAft>
              <a:buClr>
                <a:srgbClr val="3149F9"/>
              </a:buClr>
              <a:buSzPct val="60000"/>
              <a:buFont typeface="Wingdings" panose="05000000000000000000" pitchFamily="2" charset="2"/>
              <a:buNone/>
            </a:pPr>
            <a:r>
              <a:rPr lang="en-US" altLang="zh-CN" sz="1200" b="0">
                <a:ea typeface="宋体" panose="02010600030101010101" pitchFamily="2" charset="-122"/>
              </a:rPr>
              <a:t>XXX</a:t>
            </a:r>
            <a:endParaRPr lang="en-US" altLang="zh-CN" sz="1200" b="0">
              <a:ea typeface="宋体" panose="02010600030101010101" pitchFamily="2" charset="-122"/>
            </a:endParaRPr>
          </a:p>
        </p:txBody>
      </p:sp>
      <p:cxnSp>
        <p:nvCxnSpPr>
          <p:cNvPr id="157760" name="AutoShape 69"/>
          <p:cNvCxnSpPr>
            <a:cxnSpLocks noChangeShapeType="1"/>
            <a:stCxn id="157703" idx="3"/>
            <a:endCxn id="157759" idx="1"/>
          </p:cNvCxnSpPr>
          <p:nvPr/>
        </p:nvCxnSpPr>
        <p:spPr bwMode="auto">
          <a:xfrm>
            <a:off x="3316288" y="6043613"/>
            <a:ext cx="546100" cy="338137"/>
          </a:xfrm>
          <a:prstGeom prst="bentConnector3">
            <a:avLst>
              <a:gd name="adj1" fmla="val 50000"/>
            </a:avLst>
          </a:prstGeom>
          <a:noFill/>
          <a:ln w="9525">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7761" name="Text Box 73"/>
          <p:cNvSpPr txBox="1">
            <a:spLocks noChangeArrowheads="1"/>
          </p:cNvSpPr>
          <p:nvPr/>
        </p:nvSpPr>
        <p:spPr bwMode="auto">
          <a:xfrm rot="-1706038">
            <a:off x="3470275" y="4254500"/>
            <a:ext cx="5735638" cy="376238"/>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folHlink"/>
                  </a:outerShdw>
                </a:effectLst>
              </a14:hiddenEffects>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spcAft>
                <a:spcPct val="0"/>
              </a:spcAft>
              <a:buSzTx/>
              <a:buFont typeface="Wingdings" panose="05000000000000000000" pitchFamily="2" charset="2"/>
              <a:buNone/>
            </a:pPr>
            <a:r>
              <a:rPr lang="zh-CN" altLang="en-US" sz="1800" b="0">
                <a:ea typeface="宋体" panose="02010600030101010101" pitchFamily="2" charset="-122"/>
              </a:rPr>
              <a:t>示	意	图</a:t>
            </a:r>
            <a:endParaRPr lang="zh-CN" altLang="en-US" sz="1800" b="0">
              <a:ea typeface="宋体" panose="02010600030101010101" pitchFamily="2" charset="-122"/>
            </a:endParaRPr>
          </a:p>
        </p:txBody>
      </p:sp>
      <p:sp>
        <p:nvSpPr>
          <p:cNvPr id="157762" name="Rectangle 1"/>
          <p:cNvSpPr>
            <a:spLocks noChangeArrowheads="1"/>
          </p:cNvSpPr>
          <p:nvPr/>
        </p:nvSpPr>
        <p:spPr bwMode="auto">
          <a:xfrm>
            <a:off x="5951538" y="1065213"/>
            <a:ext cx="3373437" cy="1077912"/>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70000"/>
              </a:spcBef>
              <a:spcAft>
                <a:spcPct val="10000"/>
              </a:spcAft>
              <a:buClr>
                <a:schemeClr val="accent1"/>
              </a:buClr>
              <a:buSzPct val="50000"/>
              <a:buFont typeface="Monotype Sorts" pitchFamily="2" charset="2"/>
              <a:defRPr sz="2200" b="1">
                <a:solidFill>
                  <a:schemeClr val="tx1"/>
                </a:solidFill>
                <a:latin typeface="Arial" panose="020B0604020202020204" pitchFamily="34" charset="0"/>
              </a:defRPr>
            </a:lvl1pPr>
            <a:lvl2pPr marL="742950" indent="-285750">
              <a:spcBef>
                <a:spcPct val="50000"/>
              </a:spcBef>
              <a:spcAft>
                <a:spcPct val="10000"/>
              </a:spcAft>
              <a:buClr>
                <a:schemeClr val="accent1"/>
              </a:buClr>
              <a:buSzPct val="75000"/>
              <a:buFont typeface="Wingdings" panose="05000000000000000000" pitchFamily="2" charset="2"/>
              <a:buChar char="l"/>
              <a:defRPr>
                <a:solidFill>
                  <a:schemeClr val="tx1"/>
                </a:solidFill>
                <a:latin typeface="Arial" panose="020B0604020202020204" pitchFamily="34" charset="0"/>
              </a:defRPr>
            </a:lvl2pPr>
            <a:lvl3pPr marL="1143000" indent="-228600">
              <a:spcBef>
                <a:spcPct val="50000"/>
              </a:spcBef>
              <a:spcAft>
                <a:spcPct val="10000"/>
              </a:spcAft>
              <a:buClr>
                <a:schemeClr val="accent1"/>
              </a:buClr>
              <a:buSzPct val="75000"/>
              <a:buChar char="—"/>
              <a:defRPr>
                <a:solidFill>
                  <a:schemeClr val="tx1"/>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spcAft>
                <a:spcPct val="0"/>
              </a:spcAft>
              <a:buSzTx/>
              <a:buFont typeface="Wingdings" panose="05000000000000000000" pitchFamily="2" charset="2"/>
              <a:buChar char="§"/>
            </a:pPr>
            <a:r>
              <a:rPr lang="zh-CN" altLang="en-US" sz="1600" b="0" dirty="0">
                <a:ea typeface="宋体" panose="02010600030101010101" pitchFamily="2" charset="-122"/>
              </a:rPr>
              <a:t>　　财务 </a:t>
            </a:r>
            <a:r>
              <a:rPr lang="en-US" altLang="zh-CN" sz="1600" b="0" dirty="0">
                <a:ea typeface="宋体" panose="02010600030101010101" pitchFamily="2" charset="-122"/>
              </a:rPr>
              <a:t>20%</a:t>
            </a:r>
            <a:r>
              <a:rPr lang="zh-CN" altLang="en-US" sz="1600" b="0" dirty="0">
                <a:ea typeface="宋体" panose="02010600030101010101" pitchFamily="2" charset="-122"/>
              </a:rPr>
              <a:t>左右 </a:t>
            </a:r>
            <a:endParaRPr lang="zh-CN" altLang="en-US" sz="1600" b="0" dirty="0">
              <a:ea typeface="宋体" panose="02010600030101010101" pitchFamily="2" charset="-122"/>
            </a:endParaRPr>
          </a:p>
          <a:p>
            <a:pPr eaLnBrk="1" hangingPunct="1">
              <a:spcBef>
                <a:spcPct val="0"/>
              </a:spcBef>
              <a:spcAft>
                <a:spcPct val="0"/>
              </a:spcAft>
              <a:buSzTx/>
              <a:buFont typeface="Wingdings" panose="05000000000000000000" pitchFamily="2" charset="2"/>
              <a:buChar char="§"/>
            </a:pPr>
            <a:r>
              <a:rPr lang="zh-CN" altLang="en-US" sz="1600" b="0" dirty="0">
                <a:ea typeface="宋体" panose="02010600030101010101" pitchFamily="2" charset="-122"/>
              </a:rPr>
              <a:t>　　客户 </a:t>
            </a:r>
            <a:r>
              <a:rPr lang="en-US" altLang="zh-CN" sz="1600" b="0" dirty="0">
                <a:ea typeface="宋体" panose="02010600030101010101" pitchFamily="2" charset="-122"/>
              </a:rPr>
              <a:t>20%</a:t>
            </a:r>
            <a:r>
              <a:rPr lang="zh-CN" altLang="en-US" sz="1600" b="0" dirty="0">
                <a:ea typeface="宋体" panose="02010600030101010101" pitchFamily="2" charset="-122"/>
              </a:rPr>
              <a:t>左右 </a:t>
            </a:r>
            <a:endParaRPr lang="zh-CN" altLang="en-US" sz="1600" b="0" dirty="0">
              <a:ea typeface="宋体" panose="02010600030101010101" pitchFamily="2" charset="-122"/>
            </a:endParaRPr>
          </a:p>
          <a:p>
            <a:pPr eaLnBrk="1" hangingPunct="1">
              <a:spcBef>
                <a:spcPct val="0"/>
              </a:spcBef>
              <a:spcAft>
                <a:spcPct val="0"/>
              </a:spcAft>
              <a:buSzTx/>
              <a:buFont typeface="Wingdings" panose="05000000000000000000" pitchFamily="2" charset="2"/>
              <a:buChar char="§"/>
            </a:pPr>
            <a:r>
              <a:rPr lang="zh-CN" altLang="en-US" sz="1600" b="0" dirty="0">
                <a:ea typeface="宋体" panose="02010600030101010101" pitchFamily="2" charset="-122"/>
              </a:rPr>
              <a:t>　　内部流程 </a:t>
            </a:r>
            <a:r>
              <a:rPr lang="en-US" altLang="zh-CN" sz="1600" b="0" dirty="0">
                <a:ea typeface="宋体" panose="02010600030101010101" pitchFamily="2" charset="-122"/>
              </a:rPr>
              <a:t>40%</a:t>
            </a:r>
            <a:r>
              <a:rPr lang="zh-CN" altLang="en-US" sz="1600" b="0" dirty="0">
                <a:ea typeface="宋体" panose="02010600030101010101" pitchFamily="2" charset="-122"/>
              </a:rPr>
              <a:t>左右 </a:t>
            </a:r>
            <a:endParaRPr lang="zh-CN" altLang="en-US" sz="1600" b="0" dirty="0">
              <a:ea typeface="宋体" panose="02010600030101010101" pitchFamily="2" charset="-122"/>
            </a:endParaRPr>
          </a:p>
          <a:p>
            <a:pPr eaLnBrk="1" hangingPunct="1">
              <a:spcBef>
                <a:spcPct val="0"/>
              </a:spcBef>
              <a:spcAft>
                <a:spcPct val="0"/>
              </a:spcAft>
              <a:buSzTx/>
              <a:buFont typeface="Wingdings" panose="05000000000000000000" pitchFamily="2" charset="2"/>
              <a:buChar char="§"/>
            </a:pPr>
            <a:r>
              <a:rPr lang="zh-CN" altLang="en-US" sz="1600" b="0" dirty="0">
                <a:ea typeface="宋体" panose="02010600030101010101" pitchFamily="2" charset="-122"/>
              </a:rPr>
              <a:t>　　学习与成长 </a:t>
            </a:r>
            <a:r>
              <a:rPr lang="en-US" altLang="zh-CN" sz="1600" b="0" dirty="0">
                <a:ea typeface="宋体" panose="02010600030101010101" pitchFamily="2" charset="-122"/>
              </a:rPr>
              <a:t>20%</a:t>
            </a:r>
            <a:r>
              <a:rPr lang="zh-CN" altLang="en-US" sz="1600" b="0" dirty="0">
                <a:ea typeface="宋体" panose="02010600030101010101" pitchFamily="2" charset="-122"/>
              </a:rPr>
              <a:t>左右</a:t>
            </a:r>
            <a:endParaRPr lang="zh-CN" altLang="en-US" sz="1600" b="0" dirty="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80963"/>
            <a:ext cx="7161213" cy="939800"/>
          </a:xfrm>
        </p:spPr>
        <p:txBody>
          <a:bodyPr wrap="square" anchor="ctr">
            <a:normAutofit/>
          </a:bodyPr>
          <a:lstStyle/>
          <a:p>
            <a:r>
              <a:rPr lang="zh-CN" altLang="en-US" dirty="0"/>
              <a:t>案例分析：中国人寿集团架构介绍</a:t>
            </a:r>
            <a:endParaRPr lang="en-US" dirty="0"/>
          </a:p>
        </p:txBody>
      </p:sp>
      <p:pic>
        <p:nvPicPr>
          <p:cNvPr id="5" name="Picture 4"/>
          <p:cNvPicPr>
            <a:picLocks noChangeAspect="1"/>
          </p:cNvPicPr>
          <p:nvPr/>
        </p:nvPicPr>
        <p:blipFill>
          <a:blip r:embed="rId1"/>
          <a:stretch>
            <a:fillRect/>
          </a:stretch>
        </p:blipFill>
        <p:spPr>
          <a:xfrm>
            <a:off x="247650" y="1196752"/>
            <a:ext cx="7009677" cy="5432498"/>
          </a:xfrm>
          <a:prstGeom prst="rect">
            <a:avLst/>
          </a:prstGeom>
          <a:noFill/>
        </p:spPr>
      </p:pic>
      <p:sp>
        <p:nvSpPr>
          <p:cNvPr id="6" name="TextBox 5"/>
          <p:cNvSpPr txBox="1"/>
          <p:nvPr/>
        </p:nvSpPr>
        <p:spPr>
          <a:xfrm>
            <a:off x="6319564" y="1881778"/>
            <a:ext cx="3312368" cy="4293483"/>
          </a:xfrm>
          <a:prstGeom prst="rect">
            <a:avLst/>
          </a:prstGeom>
          <a:noFill/>
        </p:spPr>
        <p:txBody>
          <a:bodyPr wrap="square" rtlCol="0">
            <a:spAutoFit/>
          </a:bodyPr>
          <a:lstStyle/>
          <a:p>
            <a:pPr marL="228600" indent="-228600">
              <a:buFont typeface="+mj-lt"/>
              <a:buAutoNum type="arabicPeriod"/>
            </a:pPr>
            <a:r>
              <a:rPr lang="zh-CN" altLang="en-US" sz="1050" b="1" dirty="0"/>
              <a:t>党建引领：</a:t>
            </a:r>
            <a:r>
              <a:rPr lang="zh-CN" altLang="en-US" sz="1050" dirty="0"/>
              <a:t>党委书记</a:t>
            </a:r>
            <a:r>
              <a:rPr lang="en-US" altLang="zh-CN" sz="1050" dirty="0"/>
              <a:t>/</a:t>
            </a:r>
            <a:r>
              <a:rPr lang="zh-CN" altLang="en-US" sz="1050" dirty="0"/>
              <a:t>董事长，嵌入公司治理全链条。重大战略、人事任免须经党委，</a:t>
            </a:r>
            <a:r>
              <a:rPr lang="zh-CN" altLang="en-US" sz="1050" b="1" dirty="0"/>
              <a:t>党委领导 </a:t>
            </a:r>
            <a:r>
              <a:rPr lang="en-US" altLang="zh-CN" sz="1050" b="1" dirty="0"/>
              <a:t>+ </a:t>
            </a:r>
            <a:r>
              <a:rPr lang="zh-CN" altLang="en-US" sz="1050" b="1" dirty="0"/>
              <a:t>公司治理</a:t>
            </a:r>
            <a:r>
              <a:rPr lang="zh-CN" altLang="en-US" sz="1050" dirty="0"/>
              <a:t>双轨融合</a:t>
            </a:r>
            <a:endParaRPr lang="en-US" altLang="zh-CN" sz="1050" dirty="0"/>
          </a:p>
          <a:p>
            <a:pPr marL="228600" indent="-228600">
              <a:buFont typeface="+mj-lt"/>
              <a:buAutoNum type="arabicPeriod"/>
            </a:pPr>
            <a:r>
              <a:rPr lang="zh-CN" altLang="en-US" sz="1050" b="1" dirty="0"/>
              <a:t>战略管控为主：</a:t>
            </a:r>
            <a:r>
              <a:rPr lang="zh-CN" altLang="en-US" sz="1050" dirty="0"/>
              <a:t>集团总部定战略、管资本、控风险，子公司自主经营，集团不深度介入子公司日常运营</a:t>
            </a:r>
            <a:endParaRPr lang="en-US" altLang="zh-CN" sz="1050" dirty="0"/>
          </a:p>
          <a:p>
            <a:pPr marL="228600" indent="-228600">
              <a:buFont typeface="+mj-lt"/>
              <a:buAutoNum type="arabicPeriod"/>
            </a:pPr>
            <a:r>
              <a:rPr lang="zh-CN" altLang="en-US" sz="1050" b="1" dirty="0"/>
              <a:t>多层级全面风险管控体系：</a:t>
            </a:r>
            <a:r>
              <a:rPr lang="zh-CN" altLang="en-US" sz="1050" dirty="0"/>
              <a:t>业务部门自控（第一道）、风险合规职能监督（第二道）、内部审计独立评估（第三道）。董事会下设风险管理与消费者权益保护委员会，将风险管控制度化、常态化。</a:t>
            </a:r>
            <a:endParaRPr lang="en-US" altLang="zh-CN" sz="1050" dirty="0"/>
          </a:p>
          <a:p>
            <a:pPr marL="228600" indent="-228600">
              <a:buFont typeface="+mj-lt"/>
              <a:buAutoNum type="arabicPeriod"/>
            </a:pPr>
            <a:r>
              <a:rPr lang="zh-CN" altLang="en-US" sz="1050" b="1" dirty="0"/>
              <a:t>集中运营 </a:t>
            </a:r>
            <a:r>
              <a:rPr lang="en-US" altLang="zh-CN" sz="1050" b="1" dirty="0"/>
              <a:t>+ </a:t>
            </a:r>
            <a:r>
              <a:rPr lang="zh-CN" altLang="en-US" sz="1050" b="1" dirty="0"/>
              <a:t>共享服务管控：</a:t>
            </a:r>
            <a:r>
              <a:rPr lang="zh-CN" altLang="en-US" sz="1050" dirty="0"/>
              <a:t>建立</a:t>
            </a:r>
            <a:r>
              <a:rPr lang="zh-CN" altLang="en-US" sz="1050" b="1" dirty="0"/>
              <a:t>财务共享中心、</a:t>
            </a:r>
            <a:r>
              <a:rPr lang="en-US" altLang="zh-CN" sz="1050" b="1" dirty="0"/>
              <a:t>IT</a:t>
            </a:r>
            <a:r>
              <a:rPr lang="zh-CN" altLang="en-US" sz="1050" b="1" dirty="0"/>
              <a:t>平台、运营服务中心</a:t>
            </a:r>
            <a:r>
              <a:rPr lang="zh-CN" altLang="en-US" sz="1050" dirty="0"/>
              <a:t>等集团级共享服务体系，避免各子公司重复建设。统一集中采购，通过规模效应降低成本。中国人寿电商公司承担数字化运营赋能功能。</a:t>
            </a:r>
            <a:endParaRPr lang="en-US" altLang="zh-CN" sz="1050" dirty="0"/>
          </a:p>
          <a:p>
            <a:pPr marL="228600" indent="-228600">
              <a:buFont typeface="+mj-lt"/>
              <a:buAutoNum type="arabicPeriod"/>
            </a:pPr>
            <a:r>
              <a:rPr lang="zh-CN" altLang="en-US" sz="1050" b="1" dirty="0"/>
              <a:t>差异化专业子公司管控：上市公司</a:t>
            </a:r>
            <a:r>
              <a:rPr lang="zh-CN" altLang="en-US" sz="1050" dirty="0"/>
              <a:t>（寿险股份）遵循信息披露与监管合规要求，相对独立；</a:t>
            </a:r>
            <a:r>
              <a:rPr lang="zh-CN" altLang="en-US" sz="1050" b="1" dirty="0"/>
              <a:t>全资子公司</a:t>
            </a:r>
            <a:r>
              <a:rPr lang="zh-CN" altLang="en-US" sz="1050" dirty="0"/>
              <a:t>（养老险、财险）接受更紧密的集团管控；</a:t>
            </a:r>
            <a:r>
              <a:rPr lang="zh-CN" altLang="en-US" sz="1050" b="1" dirty="0"/>
              <a:t>参控股公司</a:t>
            </a:r>
            <a:r>
              <a:rPr lang="zh-CN" altLang="en-US" sz="1050" dirty="0"/>
              <a:t>（广发银行）依据持股比例和协议实施影响力管控。</a:t>
            </a:r>
            <a:endParaRPr lang="zh-CN" altLang="en-US" sz="1050" b="1" dirty="0"/>
          </a:p>
          <a:p>
            <a:pPr marL="228600" indent="-228600">
              <a:buFont typeface="+mj-lt"/>
              <a:buAutoNum type="arabicPeriod"/>
            </a:pPr>
            <a:endParaRPr lang="zh-CN" altLang="en-US" sz="1050" b="1" dirty="0"/>
          </a:p>
          <a:p>
            <a:pPr marL="228600" indent="-228600">
              <a:buFont typeface="+mj-lt"/>
              <a:buAutoNum type="arabicPeriod"/>
            </a:pPr>
            <a:endParaRPr lang="zh-CN" altLang="en-US" sz="1050" b="1" dirty="0"/>
          </a:p>
          <a:p>
            <a:pPr marL="228600" indent="-228600">
              <a:buFont typeface="+mj-lt"/>
              <a:buAutoNum type="arabicPeriod"/>
            </a:pPr>
            <a:endParaRPr lang="en-US" altLang="zh-CN" sz="1050" dirty="0"/>
          </a:p>
          <a:p>
            <a:pPr marL="228600" indent="-228600">
              <a:buFont typeface="+mj-lt"/>
              <a:buAutoNum type="arabicPeriod"/>
            </a:pPr>
            <a:endParaRPr lang="zh-CN" altLang="en-US" sz="1050" b="1" dirty="0"/>
          </a:p>
          <a:p>
            <a:pPr marL="228600" indent="-228600">
              <a:buFont typeface="+mj-lt"/>
              <a:buAutoNum type="arabicPeriod"/>
            </a:pP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案例分析：华为组织架构介绍</a:t>
            </a:r>
            <a:endParaRPr lang="en-GB" dirty="0"/>
          </a:p>
        </p:txBody>
      </p:sp>
      <p:pic>
        <p:nvPicPr>
          <p:cNvPr id="6" name="Picture 5"/>
          <p:cNvPicPr>
            <a:picLocks noChangeAspect="1"/>
          </p:cNvPicPr>
          <p:nvPr/>
        </p:nvPicPr>
        <p:blipFill>
          <a:blip r:embed="rId1"/>
          <a:stretch>
            <a:fillRect/>
          </a:stretch>
        </p:blipFill>
        <p:spPr>
          <a:xfrm>
            <a:off x="342900" y="1124744"/>
            <a:ext cx="8981846" cy="516523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047" y="116632"/>
            <a:ext cx="7161213" cy="939800"/>
          </a:xfrm>
        </p:spPr>
        <p:txBody>
          <a:bodyPr/>
          <a:lstStyle/>
          <a:p>
            <a:r>
              <a:rPr lang="zh-CN" altLang="en-US" dirty="0"/>
              <a:t>不同管控模型的对比</a:t>
            </a:r>
            <a:br>
              <a:rPr lang="en-US" altLang="zh-CN" dirty="0"/>
            </a:br>
            <a:r>
              <a:rPr lang="zh-CN" altLang="en-US" sz="1600" b="0" dirty="0"/>
              <a:t>分别代表了</a:t>
            </a:r>
            <a:r>
              <a:rPr lang="zh-CN" altLang="en-US" sz="1600" dirty="0"/>
              <a:t>国有金融集团</a:t>
            </a:r>
            <a:r>
              <a:rPr lang="zh-CN" altLang="en-US" sz="1600" b="0" dirty="0"/>
              <a:t>、</a:t>
            </a:r>
            <a:r>
              <a:rPr lang="zh-CN" altLang="en-US" sz="1600" dirty="0"/>
              <a:t>混合所有制金融科技集团</a:t>
            </a:r>
            <a:r>
              <a:rPr lang="zh-CN" altLang="en-US" sz="1600" b="0" dirty="0"/>
              <a:t>和</a:t>
            </a:r>
            <a:r>
              <a:rPr lang="zh-CN" altLang="en-US" sz="1600" dirty="0"/>
              <a:t>民营高科技企业</a:t>
            </a:r>
            <a:r>
              <a:rPr lang="zh-CN" altLang="en-US" sz="1600" b="0" dirty="0"/>
              <a:t>三种不同的管控范式，在决策机制、激励模式和科技创新路径上呈现出显著差异。</a:t>
            </a:r>
            <a:endParaRPr lang="en-US" sz="1600" dirty="0"/>
          </a:p>
        </p:txBody>
      </p:sp>
      <p:graphicFrame>
        <p:nvGraphicFramePr>
          <p:cNvPr id="3" name="Table 2"/>
          <p:cNvGraphicFramePr>
            <a:graphicFrameLocks noGrp="1"/>
          </p:cNvGraphicFramePr>
          <p:nvPr/>
        </p:nvGraphicFramePr>
        <p:xfrm>
          <a:off x="414908" y="1196752"/>
          <a:ext cx="9145017" cy="4786016"/>
        </p:xfrm>
        <a:graphic>
          <a:graphicData uri="http://schemas.openxmlformats.org/drawingml/2006/table">
            <a:tbl>
              <a:tblPr/>
              <a:tblGrid>
                <a:gridCol w="1082202"/>
                <a:gridCol w="2687605"/>
                <a:gridCol w="2687605"/>
                <a:gridCol w="2687605"/>
              </a:tblGrid>
              <a:tr h="294733">
                <a:tc>
                  <a:txBody>
                    <a:bodyPr/>
                    <a:lstStyle/>
                    <a:p>
                      <a:pPr algn="l">
                        <a:buNone/>
                      </a:pPr>
                      <a:r>
                        <a:rPr lang="zh-CN" altLang="en-US" sz="1200" b="1">
                          <a:solidFill>
                            <a:srgbClr val="FFFFFF"/>
                          </a:solidFill>
                          <a:effectLst/>
                        </a:rPr>
                        <a:t>对比维度</a:t>
                      </a:r>
                      <a:endParaRPr lang="zh-CN" altLang="en-US" sz="1200" b="1">
                        <a:solidFill>
                          <a:srgbClr val="FFFFFF"/>
                        </a:solidFill>
                        <a:effectLst/>
                      </a:endParaRPr>
                    </a:p>
                  </a:txBody>
                  <a:tcPr marL="26697" marR="26697" marT="32036" marB="32036" anchor="ctr">
                    <a:lnL>
                      <a:noFill/>
                    </a:lnL>
                    <a:lnR>
                      <a:noFill/>
                    </a:lnR>
                    <a:lnT>
                      <a:noFill/>
                    </a:lnT>
                    <a:lnB w="4699" cap="flat" cmpd="sng" algn="ctr">
                      <a:solidFill>
                        <a:srgbClr val="D0DCE8"/>
                      </a:solidFill>
                      <a:prstDash val="solid"/>
                      <a:round/>
                      <a:headEnd type="none" w="med" len="med"/>
                      <a:tailEnd type="none" w="med" len="med"/>
                    </a:lnB>
                    <a:solidFill>
                      <a:srgbClr val="2C3E50"/>
                    </a:solidFill>
                  </a:tcPr>
                </a:tc>
                <a:tc>
                  <a:txBody>
                    <a:bodyPr/>
                    <a:lstStyle/>
                    <a:p>
                      <a:pPr algn="ctr">
                        <a:buNone/>
                      </a:pPr>
                      <a:r>
                        <a:rPr lang="zh-CN" altLang="en-US" sz="1200" b="1">
                          <a:solidFill>
                            <a:srgbClr val="FFFFFF"/>
                          </a:solidFill>
                          <a:effectLst/>
                        </a:rPr>
                        <a:t>中国人寿集团</a:t>
                      </a:r>
                      <a:endParaRPr lang="zh-CN" altLang="en-US" sz="1200" b="1">
                        <a:solidFill>
                          <a:srgbClr val="FFFFFF"/>
                        </a:solidFill>
                        <a:effectLst/>
                      </a:endParaRPr>
                    </a:p>
                  </a:txBody>
                  <a:tcPr marL="26697" marR="26697" marT="32036" marB="32036" anchor="ctr">
                    <a:lnL>
                      <a:noFill/>
                    </a:lnL>
                    <a:lnR>
                      <a:noFill/>
                    </a:lnR>
                    <a:lnT>
                      <a:noFill/>
                    </a:lnT>
                    <a:lnB w="4699" cap="flat" cmpd="sng" algn="ctr">
                      <a:solidFill>
                        <a:srgbClr val="D0DCE8"/>
                      </a:solidFill>
                      <a:prstDash val="solid"/>
                      <a:round/>
                      <a:headEnd type="none" w="med" len="med"/>
                      <a:tailEnd type="none" w="med" len="med"/>
                    </a:lnB>
                    <a:solidFill>
                      <a:srgbClr val="0D3D6E"/>
                    </a:solidFill>
                  </a:tcPr>
                </a:tc>
                <a:tc>
                  <a:txBody>
                    <a:bodyPr/>
                    <a:lstStyle/>
                    <a:p>
                      <a:pPr algn="ctr">
                        <a:buNone/>
                      </a:pPr>
                      <a:r>
                        <a:rPr lang="zh-CN" altLang="en-US" sz="1200" b="1">
                          <a:solidFill>
                            <a:srgbClr val="FFFFFF"/>
                          </a:solidFill>
                          <a:effectLst/>
                        </a:rPr>
                        <a:t>中国平安集团</a:t>
                      </a:r>
                      <a:endParaRPr lang="zh-CN" altLang="en-US" sz="1200" b="1">
                        <a:solidFill>
                          <a:srgbClr val="FFFFFF"/>
                        </a:solidFill>
                        <a:effectLst/>
                      </a:endParaRPr>
                    </a:p>
                  </a:txBody>
                  <a:tcPr marL="26697" marR="26697" marT="32036" marB="32036" anchor="ctr">
                    <a:lnL>
                      <a:noFill/>
                    </a:lnL>
                    <a:lnR>
                      <a:noFill/>
                    </a:lnR>
                    <a:lnT>
                      <a:noFill/>
                    </a:lnT>
                    <a:lnB w="4699" cap="flat" cmpd="sng" algn="ctr">
                      <a:solidFill>
                        <a:srgbClr val="D0DCE8"/>
                      </a:solidFill>
                      <a:prstDash val="solid"/>
                      <a:round/>
                      <a:headEnd type="none" w="med" len="med"/>
                      <a:tailEnd type="none" w="med" len="med"/>
                    </a:lnB>
                    <a:solidFill>
                      <a:srgbClr val="1A5276"/>
                    </a:solidFill>
                  </a:tcPr>
                </a:tc>
                <a:tc>
                  <a:txBody>
                    <a:bodyPr/>
                    <a:lstStyle/>
                    <a:p>
                      <a:pPr algn="ctr">
                        <a:buNone/>
                      </a:pPr>
                      <a:r>
                        <a:rPr lang="zh-CN" altLang="en-US" sz="1200" b="1">
                          <a:solidFill>
                            <a:srgbClr val="FFFFFF"/>
                          </a:solidFill>
                          <a:effectLst/>
                        </a:rPr>
                        <a:t>华为</a:t>
                      </a:r>
                      <a:endParaRPr lang="zh-CN" altLang="en-US" sz="1200" b="1">
                        <a:solidFill>
                          <a:srgbClr val="FFFFFF"/>
                        </a:solidFill>
                        <a:effectLst/>
                      </a:endParaRPr>
                    </a:p>
                  </a:txBody>
                  <a:tcPr marL="26697" marR="26697" marT="32036" marB="32036" anchor="ctr">
                    <a:lnL>
                      <a:noFill/>
                    </a:lnL>
                    <a:lnR>
                      <a:noFill/>
                    </a:lnR>
                    <a:lnT>
                      <a:noFill/>
                    </a:lnT>
                    <a:lnB w="4699" cap="flat" cmpd="sng" algn="ctr">
                      <a:solidFill>
                        <a:srgbClr val="D0DCE8"/>
                      </a:solidFill>
                      <a:prstDash val="solid"/>
                      <a:round/>
                      <a:headEnd type="none" w="med" len="med"/>
                      <a:tailEnd type="none" w="med" len="med"/>
                    </a:lnB>
                    <a:solidFill>
                      <a:srgbClr val="C0392B"/>
                    </a:solidFill>
                  </a:tcPr>
                </a:tc>
              </a:tr>
              <a:tr h="509376">
                <a:tc>
                  <a:txBody>
                    <a:bodyPr/>
                    <a:lstStyle/>
                    <a:p>
                      <a:pPr fontAlgn="t">
                        <a:buNone/>
                      </a:pPr>
                      <a:r>
                        <a:rPr lang="zh-CN" altLang="en-US" sz="1200" b="1">
                          <a:solidFill>
                            <a:srgbClr val="2C3E50"/>
                          </a:solidFill>
                          <a:effectLst/>
                        </a:rPr>
                        <a:t>企业性质与股权结构</a:t>
                      </a:r>
                      <a:endParaRPr lang="zh-CN" altLang="en-US" sz="1200" b="1">
                        <a:solidFill>
                          <a:srgbClr val="2C3E50"/>
                        </a:solidFill>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1F5F9"/>
                    </a:solidFill>
                  </a:tcPr>
                </a:tc>
                <a:tc>
                  <a:txBody>
                    <a:bodyPr/>
                    <a:lstStyle/>
                    <a:p>
                      <a:pPr fontAlgn="t">
                        <a:buNone/>
                      </a:pPr>
                      <a:r>
                        <a:rPr lang="zh-CN" altLang="en-US" sz="1200">
                          <a:effectLst/>
                        </a:rPr>
                        <a:t>国有独资</a:t>
                      </a:r>
                      <a:br>
                        <a:rPr lang="zh-CN" altLang="en-US" sz="1200">
                          <a:effectLst/>
                        </a:rPr>
                      </a:br>
                      <a:r>
                        <a:rPr lang="zh-CN" altLang="en-US" sz="1200">
                          <a:effectLst/>
                        </a:rPr>
                        <a:t>财政部持股</a:t>
                      </a:r>
                      <a:r>
                        <a:rPr lang="en-US" altLang="zh-CN" sz="1200">
                          <a:effectLst/>
                        </a:rPr>
                        <a:t>90%</a:t>
                      </a:r>
                      <a:br>
                        <a:rPr lang="en-US" altLang="zh-CN" sz="1200">
                          <a:effectLst/>
                        </a:rPr>
                      </a:br>
                      <a:r>
                        <a:rPr lang="zh-CN" altLang="en-US" sz="1200">
                          <a:effectLst/>
                        </a:rPr>
                        <a:t>中央金融企业</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fontAlgn="t">
                        <a:buNone/>
                      </a:pPr>
                      <a:r>
                        <a:rPr lang="zh-CN" altLang="en-US" sz="1200">
                          <a:effectLst/>
                        </a:rPr>
                        <a:t>混合所有制</a:t>
                      </a:r>
                      <a:br>
                        <a:rPr lang="zh-CN" altLang="en-US" sz="1200">
                          <a:effectLst/>
                        </a:rPr>
                      </a:br>
                      <a:r>
                        <a:rPr lang="zh-CN" altLang="en-US" sz="1200">
                          <a:effectLst/>
                        </a:rPr>
                        <a:t>（中资</a:t>
                      </a:r>
                      <a:r>
                        <a:rPr lang="en-US" altLang="zh-CN" sz="1200">
                          <a:effectLst/>
                        </a:rPr>
                        <a:t>+</a:t>
                      </a:r>
                      <a:r>
                        <a:rPr lang="zh-CN" altLang="en-US" sz="1200">
                          <a:effectLst/>
                        </a:rPr>
                        <a:t>外资</a:t>
                      </a:r>
                      <a:r>
                        <a:rPr lang="en-US" altLang="zh-CN" sz="1200">
                          <a:effectLst/>
                        </a:rPr>
                        <a:t>+</a:t>
                      </a:r>
                      <a:r>
                        <a:rPr lang="zh-CN" altLang="en-US" sz="1200">
                          <a:effectLst/>
                        </a:rPr>
                        <a:t>社会资本）</a:t>
                      </a:r>
                      <a:br>
                        <a:rPr lang="zh-CN" altLang="en-US" sz="1200">
                          <a:effectLst/>
                        </a:rPr>
                      </a:br>
                      <a:r>
                        <a:rPr lang="zh-CN" altLang="en-US" sz="1200">
                          <a:effectLst/>
                        </a:rPr>
                        <a:t>股权相对分散</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fontAlgn="t">
                        <a:buNone/>
                      </a:pPr>
                      <a:r>
                        <a:rPr lang="en-US" altLang="zh-CN" sz="1200">
                          <a:effectLst/>
                        </a:rPr>
                        <a:t>100%</a:t>
                      </a:r>
                      <a:r>
                        <a:rPr lang="zh-CN" altLang="en-US" sz="1200">
                          <a:effectLst/>
                        </a:rPr>
                        <a:t>员工持股</a:t>
                      </a:r>
                      <a:br>
                        <a:rPr lang="zh-CN" altLang="en-US" sz="1200">
                          <a:effectLst/>
                        </a:rPr>
                      </a:br>
                      <a:r>
                        <a:rPr lang="zh-CN" altLang="en-US" sz="1200">
                          <a:effectLst/>
                        </a:rPr>
                        <a:t>任正非</a:t>
                      </a:r>
                      <a:r>
                        <a:rPr lang="en-US" altLang="zh-CN" sz="1200">
                          <a:effectLst/>
                        </a:rPr>
                        <a:t>1.01%+</a:t>
                      </a:r>
                      <a:r>
                        <a:rPr lang="zh-CN" altLang="en-US" sz="1200">
                          <a:effectLst/>
                        </a:rPr>
                        <a:t>工会委员会</a:t>
                      </a:r>
                      <a:r>
                        <a:rPr lang="en-US" altLang="zh-CN" sz="1200">
                          <a:effectLst/>
                        </a:rPr>
                        <a:t>98.99%</a:t>
                      </a:r>
                      <a:br>
                        <a:rPr lang="en-US" altLang="zh-CN" sz="1200">
                          <a:effectLst/>
                        </a:rPr>
                      </a:br>
                      <a:r>
                        <a:rPr lang="zh-CN" altLang="en-US" sz="1200">
                          <a:effectLst/>
                        </a:rPr>
                        <a:t>民营科技企业</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r>
              <a:tr h="624707">
                <a:tc>
                  <a:txBody>
                    <a:bodyPr/>
                    <a:lstStyle/>
                    <a:p>
                      <a:pPr fontAlgn="t">
                        <a:buNone/>
                      </a:pPr>
                      <a:r>
                        <a:rPr lang="zh-CN" altLang="en-US" sz="1200" b="1">
                          <a:solidFill>
                            <a:srgbClr val="2C3E50"/>
                          </a:solidFill>
                          <a:effectLst/>
                        </a:rPr>
                        <a:t>管控模式定位</a:t>
                      </a:r>
                      <a:endParaRPr lang="zh-CN" altLang="en-US" sz="1200" b="1">
                        <a:solidFill>
                          <a:srgbClr val="2C3E50"/>
                        </a:solidFill>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1F5F9"/>
                    </a:solidFill>
                  </a:tcPr>
                </a:tc>
                <a:tc>
                  <a:txBody>
                    <a:bodyPr/>
                    <a:lstStyle/>
                    <a:p>
                      <a:pPr marL="171450" indent="-171450" fontAlgn="t">
                        <a:buFont typeface="Arial" panose="020B0604020202020204" pitchFamily="34" charset="0"/>
                        <a:buChar char="•"/>
                      </a:pPr>
                      <a:r>
                        <a:rPr lang="zh-CN" altLang="en-US" sz="1200" b="1" dirty="0">
                          <a:solidFill>
                            <a:srgbClr val="1E40AF"/>
                          </a:solidFill>
                          <a:effectLst/>
                        </a:rPr>
                        <a:t>战略管控型</a:t>
                      </a:r>
                      <a:br>
                        <a:rPr lang="zh-CN" altLang="en-US" sz="1200" dirty="0">
                          <a:effectLst/>
                        </a:rPr>
                      </a:br>
                      <a:r>
                        <a:rPr lang="zh-CN" altLang="en-US" sz="1200" dirty="0">
                          <a:effectLst/>
                        </a:rPr>
                        <a:t>总部定战略、管资本、控风险</a:t>
                      </a:r>
                      <a:br>
                        <a:rPr lang="zh-CN" altLang="en-US" sz="1200" dirty="0">
                          <a:effectLst/>
                        </a:rPr>
                      </a:br>
                      <a:r>
                        <a:rPr lang="zh-CN" altLang="en-US" sz="1200" dirty="0">
                          <a:effectLst/>
                        </a:rPr>
                        <a:t>子公司业务自主经营</a:t>
                      </a:r>
                      <a:endParaRPr lang="zh-CN" altLang="en-US" sz="1200" dirty="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marL="171450" indent="-171450" fontAlgn="t">
                        <a:buFont typeface="Arial" panose="020B0604020202020204" pitchFamily="34" charset="0"/>
                        <a:buChar char="•"/>
                      </a:pPr>
                      <a:r>
                        <a:rPr lang="zh-CN" altLang="en-US" sz="1200" b="1" dirty="0">
                          <a:solidFill>
                            <a:srgbClr val="991B1B"/>
                          </a:solidFill>
                          <a:effectLst/>
                        </a:rPr>
                        <a:t>运营管控型（最佳实践）</a:t>
                      </a:r>
                      <a:br>
                        <a:rPr lang="zh-CN" altLang="en-US" sz="1200" dirty="0">
                          <a:effectLst/>
                        </a:rPr>
                      </a:br>
                      <a:r>
                        <a:rPr lang="zh-CN" altLang="en-US" sz="1200" dirty="0">
                          <a:effectLst/>
                        </a:rPr>
                        <a:t>高度集中统一管理</a:t>
                      </a:r>
                      <a:br>
                        <a:rPr lang="zh-CN" altLang="en-US" sz="1200" dirty="0">
                          <a:effectLst/>
                        </a:rPr>
                      </a:br>
                      <a:r>
                        <a:rPr lang="zh-CN" altLang="en-US" sz="1200" dirty="0">
                          <a:effectLst/>
                        </a:rPr>
                        <a:t>前中后台一体化运作</a:t>
                      </a:r>
                      <a:endParaRPr lang="zh-CN" altLang="en-US" sz="1200" dirty="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marL="171450" indent="-171450" fontAlgn="t">
                        <a:buFont typeface="Arial" panose="020B0604020202020204" pitchFamily="34" charset="0"/>
                        <a:buChar char="•"/>
                      </a:pPr>
                      <a:r>
                        <a:rPr lang="zh-CN" altLang="en-US" sz="1200" b="1" dirty="0">
                          <a:solidFill>
                            <a:srgbClr val="5B21B6"/>
                          </a:solidFill>
                          <a:effectLst/>
                        </a:rPr>
                        <a:t>战略</a:t>
                      </a:r>
                      <a:r>
                        <a:rPr lang="en-US" altLang="zh-CN" sz="1200" b="1" dirty="0">
                          <a:solidFill>
                            <a:srgbClr val="5B21B6"/>
                          </a:solidFill>
                          <a:effectLst/>
                        </a:rPr>
                        <a:t>+</a:t>
                      </a:r>
                      <a:r>
                        <a:rPr lang="zh-CN" altLang="en-US" sz="1200" b="1" dirty="0">
                          <a:solidFill>
                            <a:srgbClr val="5B21B6"/>
                          </a:solidFill>
                          <a:effectLst/>
                        </a:rPr>
                        <a:t>运营复合型</a:t>
                      </a:r>
                      <a:br>
                        <a:rPr lang="zh-CN" altLang="en-US" sz="1200" dirty="0">
                          <a:effectLst/>
                        </a:rPr>
                      </a:br>
                      <a:r>
                        <a:rPr lang="zh-CN" altLang="en-US" sz="1200" dirty="0">
                          <a:effectLst/>
                        </a:rPr>
                        <a:t>矩阵式组织结构</a:t>
                      </a:r>
                      <a:br>
                        <a:rPr lang="zh-CN" altLang="en-US" sz="1200" dirty="0">
                          <a:effectLst/>
                        </a:rPr>
                      </a:br>
                      <a:r>
                        <a:rPr lang="zh-CN" altLang="en-US" sz="1200" dirty="0">
                          <a:effectLst/>
                        </a:rPr>
                        <a:t>产品线与区域线双重汇报</a:t>
                      </a:r>
                      <a:endParaRPr lang="zh-CN" altLang="en-US" sz="1200" dirty="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r>
              <a:tr h="855367">
                <a:tc>
                  <a:txBody>
                    <a:bodyPr/>
                    <a:lstStyle/>
                    <a:p>
                      <a:pPr fontAlgn="t">
                        <a:buNone/>
                      </a:pPr>
                      <a:r>
                        <a:rPr lang="zh-CN" altLang="en-US" sz="1200" b="1">
                          <a:solidFill>
                            <a:srgbClr val="2C3E50"/>
                          </a:solidFill>
                          <a:effectLst/>
                        </a:rPr>
                        <a:t>决策机制与治理结构</a:t>
                      </a:r>
                      <a:endParaRPr lang="zh-CN" altLang="en-US" sz="1200" b="1">
                        <a:solidFill>
                          <a:srgbClr val="2C3E50"/>
                        </a:solidFill>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1F5F9"/>
                    </a:solidFill>
                  </a:tcPr>
                </a:tc>
                <a:tc>
                  <a:txBody>
                    <a:bodyPr/>
                    <a:lstStyle/>
                    <a:p>
                      <a:pPr fontAlgn="t">
                        <a:buNone/>
                      </a:pPr>
                      <a:r>
                        <a:rPr lang="zh-CN" altLang="en-US" sz="1200" dirty="0">
                          <a:effectLst/>
                        </a:rPr>
                        <a:t>党委领导嵌入治理</a:t>
                      </a:r>
                      <a:br>
                        <a:rPr lang="zh-CN" altLang="en-US" sz="1200" dirty="0">
                          <a:effectLst/>
                        </a:rPr>
                      </a:br>
                      <a:r>
                        <a:rPr lang="zh-CN" altLang="en-US" sz="1200" dirty="0">
                          <a:effectLst/>
                        </a:rPr>
                        <a:t>董事会最高决策</a:t>
                      </a:r>
                      <a:br>
                        <a:rPr lang="zh-CN" altLang="en-US" sz="1200" dirty="0">
                          <a:effectLst/>
                        </a:rPr>
                      </a:br>
                      <a:r>
                        <a:rPr lang="zh-CN" altLang="en-US" sz="1200" dirty="0">
                          <a:effectLst/>
                        </a:rPr>
                        <a:t>专业委员会辅助</a:t>
                      </a:r>
                      <a:br>
                        <a:rPr lang="zh-CN" altLang="en-US" sz="1200" dirty="0">
                          <a:effectLst/>
                        </a:rPr>
                      </a:br>
                      <a:r>
                        <a:rPr lang="zh-CN" altLang="en-US" sz="1200" dirty="0">
                          <a:effectLst/>
                        </a:rPr>
                        <a:t>监事会独立监督</a:t>
                      </a:r>
                      <a:endParaRPr lang="zh-CN" altLang="en-US" sz="1200" dirty="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fontAlgn="t">
                        <a:buNone/>
                      </a:pPr>
                      <a:r>
                        <a:rPr lang="zh-CN" altLang="en-US" sz="1200">
                          <a:effectLst/>
                        </a:rPr>
                        <a:t>董事会领导下的</a:t>
                      </a:r>
                      <a:r>
                        <a:rPr lang="en-US" altLang="zh-CN" sz="1200">
                          <a:effectLst/>
                        </a:rPr>
                        <a:t>CEO</a:t>
                      </a:r>
                      <a:r>
                        <a:rPr lang="zh-CN" altLang="en-US" sz="1200">
                          <a:effectLst/>
                        </a:rPr>
                        <a:t>负责制</a:t>
                      </a:r>
                      <a:br>
                        <a:rPr lang="zh-CN" altLang="en-US" sz="1200">
                          <a:effectLst/>
                        </a:rPr>
                      </a:br>
                      <a:r>
                        <a:rPr lang="zh-CN" altLang="en-US" sz="1200">
                          <a:effectLst/>
                        </a:rPr>
                        <a:t>执行委员会集体决策</a:t>
                      </a:r>
                      <a:br>
                        <a:rPr lang="zh-CN" altLang="en-US" sz="1200">
                          <a:effectLst/>
                        </a:rPr>
                      </a:br>
                      <a:r>
                        <a:rPr lang="zh-CN" altLang="en-US" sz="1200">
                          <a:effectLst/>
                        </a:rPr>
                        <a:t>科技委员会赋能</a:t>
                      </a:r>
                      <a:br>
                        <a:rPr lang="zh-CN" altLang="en-US" sz="1200">
                          <a:effectLst/>
                        </a:rPr>
                      </a:br>
                      <a:r>
                        <a:rPr lang="zh-CN" altLang="en-US" sz="1200">
                          <a:effectLst/>
                        </a:rPr>
                        <a:t>风险管理委员会监控</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fontAlgn="t">
                        <a:buNone/>
                      </a:pPr>
                      <a:r>
                        <a:rPr lang="zh-CN" altLang="en-US" sz="1200">
                          <a:effectLst/>
                        </a:rPr>
                        <a:t>轮值董事长</a:t>
                      </a:r>
                      <a:r>
                        <a:rPr lang="en-US" altLang="zh-CN" sz="1200">
                          <a:effectLst/>
                        </a:rPr>
                        <a:t>/CEO</a:t>
                      </a:r>
                      <a:r>
                        <a:rPr lang="zh-CN" altLang="en-US" sz="1200">
                          <a:effectLst/>
                        </a:rPr>
                        <a:t>制度</a:t>
                      </a:r>
                      <a:br>
                        <a:rPr lang="zh-CN" altLang="en-US" sz="1200">
                          <a:effectLst/>
                        </a:rPr>
                      </a:br>
                      <a:r>
                        <a:rPr lang="zh-CN" altLang="en-US" sz="1200">
                          <a:effectLst/>
                        </a:rPr>
                        <a:t>董事会战略决策</a:t>
                      </a:r>
                      <a:br>
                        <a:rPr lang="zh-CN" altLang="en-US" sz="1200">
                          <a:effectLst/>
                        </a:rPr>
                      </a:br>
                      <a:r>
                        <a:rPr lang="zh-CN" altLang="en-US" sz="1200">
                          <a:effectLst/>
                        </a:rPr>
                        <a:t>经营管理团队（</a:t>
                      </a:r>
                      <a:r>
                        <a:rPr lang="en-US" altLang="zh-CN" sz="1200">
                          <a:effectLst/>
                        </a:rPr>
                        <a:t>EMT</a:t>
                      </a:r>
                      <a:r>
                        <a:rPr lang="zh-CN" altLang="en-US" sz="1200">
                          <a:effectLst/>
                        </a:rPr>
                        <a:t>）执行</a:t>
                      </a:r>
                      <a:br>
                        <a:rPr lang="zh-CN" altLang="en-US" sz="1200">
                          <a:effectLst/>
                        </a:rPr>
                      </a:br>
                      <a:r>
                        <a:rPr lang="zh-CN" altLang="en-US" sz="1200">
                          <a:effectLst/>
                        </a:rPr>
                        <a:t>监事会</a:t>
                      </a:r>
                      <a:r>
                        <a:rPr lang="en-US" altLang="zh-CN" sz="1200">
                          <a:effectLst/>
                        </a:rPr>
                        <a:t>+</a:t>
                      </a:r>
                      <a:r>
                        <a:rPr lang="zh-CN" altLang="en-US" sz="1200">
                          <a:effectLst/>
                        </a:rPr>
                        <a:t>审计委员会监督</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r>
              <a:tr h="740037">
                <a:tc>
                  <a:txBody>
                    <a:bodyPr/>
                    <a:lstStyle/>
                    <a:p>
                      <a:pPr fontAlgn="t">
                        <a:buNone/>
                      </a:pPr>
                      <a:r>
                        <a:rPr lang="zh-CN" altLang="en-US" sz="1200" b="1">
                          <a:solidFill>
                            <a:srgbClr val="2C3E50"/>
                          </a:solidFill>
                          <a:effectLst/>
                        </a:rPr>
                        <a:t>业务协同与资源配置</a:t>
                      </a:r>
                      <a:endParaRPr lang="zh-CN" altLang="en-US" sz="1200" b="1">
                        <a:solidFill>
                          <a:srgbClr val="2C3E50"/>
                        </a:solidFill>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1F5F9"/>
                    </a:solidFill>
                  </a:tcPr>
                </a:tc>
                <a:tc>
                  <a:txBody>
                    <a:bodyPr/>
                    <a:lstStyle/>
                    <a:p>
                      <a:pPr fontAlgn="t">
                        <a:buNone/>
                      </a:pPr>
                      <a:r>
                        <a:rPr lang="zh-CN" altLang="en-US" sz="1200">
                          <a:effectLst/>
                        </a:rPr>
                        <a:t>保险资金→资管回流</a:t>
                      </a:r>
                      <a:br>
                        <a:rPr lang="zh-CN" altLang="en-US" sz="1200">
                          <a:effectLst/>
                        </a:rPr>
                      </a:br>
                      <a:r>
                        <a:rPr lang="zh-CN" altLang="en-US" sz="1200">
                          <a:effectLst/>
                        </a:rPr>
                        <a:t>银行网络→保险销售</a:t>
                      </a:r>
                      <a:br>
                        <a:rPr lang="zh-CN" altLang="en-US" sz="1200">
                          <a:effectLst/>
                        </a:rPr>
                      </a:br>
                      <a:r>
                        <a:rPr lang="zh-CN" altLang="en-US" sz="1200">
                          <a:effectLst/>
                        </a:rPr>
                        <a:t>资金内循环体系</a:t>
                      </a:r>
                      <a:br>
                        <a:rPr lang="zh-CN" altLang="en-US" sz="1200">
                          <a:effectLst/>
                        </a:rPr>
                      </a:br>
                      <a:r>
                        <a:rPr lang="zh-CN" altLang="en-US" sz="1200">
                          <a:effectLst/>
                        </a:rPr>
                        <a:t>三板块客户共享</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fontAlgn="t">
                        <a:buNone/>
                      </a:pPr>
                      <a:r>
                        <a:rPr lang="zh-CN" altLang="en-US" sz="1200">
                          <a:effectLst/>
                        </a:rPr>
                        <a:t>综合金融交叉销售</a:t>
                      </a:r>
                      <a:br>
                        <a:rPr lang="zh-CN" altLang="en-US" sz="1200">
                          <a:effectLst/>
                        </a:rPr>
                      </a:br>
                      <a:r>
                        <a:rPr lang="zh-CN" altLang="en-US" sz="1200">
                          <a:effectLst/>
                        </a:rPr>
                        <a:t>一个客户多个产品</a:t>
                      </a:r>
                      <a:br>
                        <a:rPr lang="zh-CN" altLang="en-US" sz="1200">
                          <a:effectLst/>
                        </a:rPr>
                      </a:br>
                      <a:r>
                        <a:rPr lang="zh-CN" altLang="en-US" sz="1200">
                          <a:effectLst/>
                        </a:rPr>
                        <a:t>数据</a:t>
                      </a:r>
                      <a:r>
                        <a:rPr lang="en-US" altLang="zh-CN" sz="1200">
                          <a:effectLst/>
                        </a:rPr>
                        <a:t>/</a:t>
                      </a:r>
                      <a:r>
                        <a:rPr lang="zh-CN" altLang="en-US" sz="1200">
                          <a:effectLst/>
                        </a:rPr>
                        <a:t>科技中台赋能</a:t>
                      </a:r>
                      <a:br>
                        <a:rPr lang="zh-CN" altLang="en-US" sz="1200">
                          <a:effectLst/>
                        </a:rPr>
                      </a:br>
                      <a:r>
                        <a:rPr lang="zh-CN" altLang="en-US" sz="1200">
                          <a:effectLst/>
                        </a:rPr>
                        <a:t>统一品牌协同</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fontAlgn="t">
                        <a:buNone/>
                      </a:pPr>
                      <a:r>
                        <a:rPr lang="zh-CN" altLang="en-US" sz="1200">
                          <a:effectLst/>
                        </a:rPr>
                        <a:t>研发资源共享平台</a:t>
                      </a:r>
                      <a:br>
                        <a:rPr lang="zh-CN" altLang="en-US" sz="1200">
                          <a:effectLst/>
                        </a:rPr>
                      </a:br>
                      <a:r>
                        <a:rPr lang="zh-CN" altLang="en-US" sz="1200">
                          <a:effectLst/>
                        </a:rPr>
                        <a:t>供应链集中采购</a:t>
                      </a:r>
                      <a:br>
                        <a:rPr lang="zh-CN" altLang="en-US" sz="1200">
                          <a:effectLst/>
                        </a:rPr>
                      </a:br>
                      <a:r>
                        <a:rPr lang="zh-CN" altLang="en-US" sz="1200">
                          <a:effectLst/>
                        </a:rPr>
                        <a:t>全球市场协同拓展</a:t>
                      </a:r>
                      <a:br>
                        <a:rPr lang="zh-CN" altLang="en-US" sz="1200">
                          <a:effectLst/>
                        </a:rPr>
                      </a:br>
                      <a:r>
                        <a:rPr lang="zh-CN" altLang="en-US" sz="1200">
                          <a:effectLst/>
                        </a:rPr>
                        <a:t>技术成果跨产品线复用</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r>
              <a:tr h="740037">
                <a:tc>
                  <a:txBody>
                    <a:bodyPr/>
                    <a:lstStyle/>
                    <a:p>
                      <a:pPr fontAlgn="t">
                        <a:buNone/>
                      </a:pPr>
                      <a:r>
                        <a:rPr lang="zh-CN" altLang="en-US" sz="1200" b="1">
                          <a:solidFill>
                            <a:srgbClr val="2C3E50"/>
                          </a:solidFill>
                          <a:effectLst/>
                        </a:rPr>
                        <a:t>人才激励与文化建设</a:t>
                      </a:r>
                      <a:endParaRPr lang="zh-CN" altLang="en-US" sz="1200" b="1">
                        <a:solidFill>
                          <a:srgbClr val="2C3E50"/>
                        </a:solidFill>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1F5F9"/>
                    </a:solidFill>
                  </a:tcPr>
                </a:tc>
                <a:tc>
                  <a:txBody>
                    <a:bodyPr/>
                    <a:lstStyle/>
                    <a:p>
                      <a:pPr fontAlgn="t">
                        <a:buNone/>
                      </a:pPr>
                      <a:r>
                        <a:rPr lang="zh-CN" altLang="en-US" sz="1200">
                          <a:effectLst/>
                        </a:rPr>
                        <a:t>党委统一管理干部</a:t>
                      </a:r>
                      <a:br>
                        <a:rPr lang="zh-CN" altLang="en-US" sz="1200">
                          <a:effectLst/>
                        </a:rPr>
                      </a:br>
                      <a:r>
                        <a:rPr lang="zh-CN" altLang="en-US" sz="1200">
                          <a:effectLst/>
                        </a:rPr>
                        <a:t>市场化薪酬改革推进中</a:t>
                      </a:r>
                      <a:br>
                        <a:rPr lang="zh-CN" altLang="en-US" sz="1200">
                          <a:effectLst/>
                        </a:rPr>
                      </a:br>
                      <a:r>
                        <a:rPr lang="zh-CN" altLang="en-US" sz="1200">
                          <a:effectLst/>
                        </a:rPr>
                        <a:t>国有企业稳定性强</a:t>
                      </a:r>
                      <a:br>
                        <a:rPr lang="zh-CN" altLang="en-US" sz="1200">
                          <a:effectLst/>
                        </a:rPr>
                      </a:br>
                      <a:r>
                        <a:rPr lang="zh-CN" altLang="en-US" sz="1200">
                          <a:effectLst/>
                        </a:rPr>
                        <a:t>职业发展通道清晰</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fontAlgn="t">
                        <a:buNone/>
                      </a:pPr>
                      <a:r>
                        <a:rPr lang="zh-CN" altLang="en-US" sz="1200">
                          <a:effectLst/>
                        </a:rPr>
                        <a:t>市场化招聘与晋升</a:t>
                      </a:r>
                      <a:br>
                        <a:rPr lang="zh-CN" altLang="en-US" sz="1200">
                          <a:effectLst/>
                        </a:rPr>
                      </a:br>
                      <a:r>
                        <a:rPr lang="zh-CN" altLang="en-US" sz="1200">
                          <a:effectLst/>
                        </a:rPr>
                        <a:t>股权激励</a:t>
                      </a:r>
                      <a:r>
                        <a:rPr lang="en-US" altLang="zh-CN" sz="1200">
                          <a:effectLst/>
                        </a:rPr>
                        <a:t>+</a:t>
                      </a:r>
                      <a:r>
                        <a:rPr lang="zh-CN" altLang="en-US" sz="1200">
                          <a:effectLst/>
                        </a:rPr>
                        <a:t>绩效奖金</a:t>
                      </a:r>
                      <a:br>
                        <a:rPr lang="zh-CN" altLang="en-US" sz="1200">
                          <a:effectLst/>
                        </a:rPr>
                      </a:br>
                      <a:r>
                        <a:rPr lang="zh-CN" altLang="en-US" sz="1200">
                          <a:effectLst/>
                        </a:rPr>
                        <a:t>狼性文化</a:t>
                      </a:r>
                      <a:r>
                        <a:rPr lang="en-US" altLang="zh-CN" sz="1200">
                          <a:effectLst/>
                        </a:rPr>
                        <a:t>+</a:t>
                      </a:r>
                      <a:r>
                        <a:rPr lang="zh-CN" altLang="en-US" sz="1200">
                          <a:effectLst/>
                        </a:rPr>
                        <a:t>危机意识</a:t>
                      </a:r>
                      <a:br>
                        <a:rPr lang="zh-CN" altLang="en-US" sz="1200">
                          <a:effectLst/>
                        </a:rPr>
                      </a:br>
                      <a:r>
                        <a:rPr lang="zh-CN" altLang="en-US" sz="1200">
                          <a:effectLst/>
                        </a:rPr>
                        <a:t>高强度竞争环境</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c>
                  <a:txBody>
                    <a:bodyPr/>
                    <a:lstStyle/>
                    <a:p>
                      <a:pPr fontAlgn="t">
                        <a:buNone/>
                      </a:pPr>
                      <a:r>
                        <a:rPr lang="zh-CN" altLang="en-US" sz="1200">
                          <a:effectLst/>
                        </a:rPr>
                        <a:t>全员持股计划（</a:t>
                      </a:r>
                      <a:r>
                        <a:rPr lang="en-US" altLang="zh-CN" sz="1200">
                          <a:effectLst/>
                        </a:rPr>
                        <a:t>TUP/ESOP</a:t>
                      </a:r>
                      <a:r>
                        <a:rPr lang="zh-CN" altLang="en-US" sz="1200">
                          <a:effectLst/>
                        </a:rPr>
                        <a:t>）</a:t>
                      </a:r>
                      <a:br>
                        <a:rPr lang="zh-CN" altLang="en-US" sz="1200">
                          <a:effectLst/>
                        </a:rPr>
                      </a:br>
                      <a:r>
                        <a:rPr lang="zh-CN" altLang="en-US" sz="1200">
                          <a:effectLst/>
                        </a:rPr>
                        <a:t>以奋斗者为本</a:t>
                      </a:r>
                      <a:br>
                        <a:rPr lang="zh-CN" altLang="en-US" sz="1200">
                          <a:effectLst/>
                        </a:rPr>
                      </a:br>
                      <a:r>
                        <a:rPr lang="zh-CN" altLang="en-US" sz="1200">
                          <a:effectLst/>
                        </a:rPr>
                        <a:t>艰苦奋斗文化</a:t>
                      </a:r>
                      <a:br>
                        <a:rPr lang="zh-CN" altLang="en-US" sz="1200">
                          <a:effectLst/>
                        </a:rPr>
                      </a:br>
                      <a:r>
                        <a:rPr lang="zh-CN" altLang="en-US" sz="1200">
                          <a:effectLst/>
                        </a:rPr>
                        <a:t>末位淘汰</a:t>
                      </a:r>
                      <a:r>
                        <a:rPr lang="en-US" altLang="zh-CN" sz="1200">
                          <a:effectLst/>
                        </a:rPr>
                        <a:t>+</a:t>
                      </a:r>
                      <a:r>
                        <a:rPr lang="zh-CN" altLang="en-US" sz="1200">
                          <a:effectLst/>
                        </a:rPr>
                        <a:t>持续学习</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FFFFF"/>
                    </a:solidFill>
                  </a:tcPr>
                </a:tc>
              </a:tr>
              <a:tr h="855367">
                <a:tc>
                  <a:txBody>
                    <a:bodyPr/>
                    <a:lstStyle/>
                    <a:p>
                      <a:pPr fontAlgn="t">
                        <a:buNone/>
                      </a:pPr>
                      <a:r>
                        <a:rPr lang="zh-CN" altLang="en-US" sz="1200" b="1">
                          <a:solidFill>
                            <a:srgbClr val="2C3E50"/>
                          </a:solidFill>
                          <a:effectLst/>
                        </a:rPr>
                        <a:t>数字化与科技创新</a:t>
                      </a:r>
                      <a:endParaRPr lang="zh-CN" altLang="en-US" sz="1200" b="1">
                        <a:solidFill>
                          <a:srgbClr val="2C3E50"/>
                        </a:solidFill>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E8EDF4"/>
                    </a:solidFill>
                  </a:tcPr>
                </a:tc>
                <a:tc>
                  <a:txBody>
                    <a:bodyPr/>
                    <a:lstStyle/>
                    <a:p>
                      <a:pPr fontAlgn="t">
                        <a:buNone/>
                      </a:pPr>
                      <a:r>
                        <a:rPr lang="zh-CN" altLang="en-US" sz="1200">
                          <a:effectLst/>
                        </a:rPr>
                        <a:t>数字化转型进行中</a:t>
                      </a:r>
                      <a:br>
                        <a:rPr lang="zh-CN" altLang="en-US" sz="1200">
                          <a:effectLst/>
                        </a:rPr>
                      </a:br>
                      <a:r>
                        <a:rPr lang="zh-CN" altLang="en-US" sz="1200">
                          <a:effectLst/>
                        </a:rPr>
                        <a:t>电商公司赋能平台</a:t>
                      </a:r>
                      <a:br>
                        <a:rPr lang="zh-CN" altLang="en-US" sz="1200">
                          <a:effectLst/>
                        </a:rPr>
                      </a:br>
                      <a:r>
                        <a:rPr lang="zh-CN" altLang="en-US" sz="1200">
                          <a:effectLst/>
                        </a:rPr>
                        <a:t>相对滞后于平安</a:t>
                      </a:r>
                      <a:br>
                        <a:rPr lang="zh-CN" altLang="en-US" sz="1200">
                          <a:effectLst/>
                        </a:rPr>
                      </a:br>
                      <a:r>
                        <a:rPr lang="zh-CN" altLang="en-US" sz="1200">
                          <a:effectLst/>
                        </a:rPr>
                        <a:t>科技投入占比偏低</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8FAFD"/>
                    </a:solidFill>
                  </a:tcPr>
                </a:tc>
                <a:tc>
                  <a:txBody>
                    <a:bodyPr/>
                    <a:lstStyle/>
                    <a:p>
                      <a:pPr fontAlgn="t">
                        <a:buNone/>
                      </a:pPr>
                      <a:r>
                        <a:rPr lang="zh-CN" altLang="en-US" sz="1200">
                          <a:effectLst/>
                        </a:rPr>
                        <a:t>科技是核心竞争优势</a:t>
                      </a:r>
                      <a:br>
                        <a:rPr lang="zh-CN" altLang="en-US" sz="1200">
                          <a:effectLst/>
                        </a:rPr>
                      </a:br>
                      <a:r>
                        <a:rPr lang="zh-CN" altLang="en-US" sz="1200">
                          <a:effectLst/>
                        </a:rPr>
                        <a:t>平安科技反哺金融</a:t>
                      </a:r>
                      <a:br>
                        <a:rPr lang="zh-CN" altLang="en-US" sz="1200">
                          <a:effectLst/>
                        </a:rPr>
                      </a:br>
                      <a:r>
                        <a:rPr lang="en-US" altLang="zh-CN" sz="1200">
                          <a:effectLst/>
                        </a:rPr>
                        <a:t>AI/</a:t>
                      </a:r>
                      <a:r>
                        <a:rPr lang="zh-CN" altLang="en-US" sz="1200">
                          <a:effectLst/>
                        </a:rPr>
                        <a:t>大数据深度应用</a:t>
                      </a:r>
                      <a:br>
                        <a:rPr lang="zh-CN" altLang="en-US" sz="1200">
                          <a:effectLst/>
                        </a:rPr>
                      </a:br>
                      <a:r>
                        <a:rPr lang="zh-CN" altLang="en-US" sz="1200">
                          <a:effectLst/>
                        </a:rPr>
                        <a:t>年研发投入超千亿</a:t>
                      </a:r>
                      <a:endParaRPr lang="zh-CN" altLang="en-US" sz="120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8FAFD"/>
                    </a:solidFill>
                  </a:tcPr>
                </a:tc>
                <a:tc>
                  <a:txBody>
                    <a:bodyPr/>
                    <a:lstStyle/>
                    <a:p>
                      <a:pPr fontAlgn="t">
                        <a:buNone/>
                      </a:pPr>
                      <a:r>
                        <a:rPr lang="zh-CN" altLang="en-US" sz="1200" dirty="0">
                          <a:effectLst/>
                        </a:rPr>
                        <a:t>全球研发投入第一梯队</a:t>
                      </a:r>
                      <a:br>
                        <a:rPr lang="zh-CN" altLang="en-US" sz="1200" dirty="0">
                          <a:effectLst/>
                        </a:rPr>
                      </a:br>
                      <a:r>
                        <a:rPr lang="zh-CN" altLang="en-US" sz="1200" dirty="0">
                          <a:effectLst/>
                        </a:rPr>
                        <a:t>年研发费用超</a:t>
                      </a:r>
                      <a:r>
                        <a:rPr lang="en-US" altLang="zh-CN" sz="1200" dirty="0">
                          <a:effectLst/>
                        </a:rPr>
                        <a:t>1600</a:t>
                      </a:r>
                      <a:r>
                        <a:rPr lang="zh-CN" altLang="en-US" sz="1200" dirty="0">
                          <a:effectLst/>
                        </a:rPr>
                        <a:t>亿</a:t>
                      </a:r>
                      <a:br>
                        <a:rPr lang="zh-CN" altLang="en-US" sz="1200" dirty="0">
                          <a:effectLst/>
                        </a:rPr>
                      </a:br>
                      <a:r>
                        <a:rPr lang="zh-CN" altLang="en-US" sz="1200" dirty="0">
                          <a:effectLst/>
                        </a:rPr>
                        <a:t>专利数量全球领先</a:t>
                      </a:r>
                      <a:br>
                        <a:rPr lang="zh-CN" altLang="en-US" sz="1200" dirty="0">
                          <a:effectLst/>
                        </a:rPr>
                      </a:br>
                      <a:r>
                        <a:rPr lang="zh-CN" altLang="en-US" sz="1200" dirty="0">
                          <a:effectLst/>
                        </a:rPr>
                        <a:t>自研芯片</a:t>
                      </a:r>
                      <a:r>
                        <a:rPr lang="en-US" altLang="zh-CN" sz="1200" dirty="0">
                          <a:effectLst/>
                        </a:rPr>
                        <a:t>+</a:t>
                      </a:r>
                      <a:r>
                        <a:rPr lang="zh-CN" altLang="en-US" sz="1200" dirty="0">
                          <a:effectLst/>
                        </a:rPr>
                        <a:t>操作系统</a:t>
                      </a:r>
                      <a:endParaRPr lang="zh-CN" altLang="en-US" sz="1200" dirty="0">
                        <a:effectLst/>
                      </a:endParaRPr>
                    </a:p>
                  </a:txBody>
                  <a:tcPr marL="26697" marR="26697" marT="24027" marB="24027">
                    <a:lnL w="4699" cap="flat" cmpd="sng" algn="ctr">
                      <a:solidFill>
                        <a:srgbClr val="D0DCE8"/>
                      </a:solidFill>
                      <a:prstDash val="solid"/>
                      <a:round/>
                      <a:headEnd type="none" w="med" len="med"/>
                      <a:tailEnd type="none" w="med" len="med"/>
                    </a:lnL>
                    <a:lnR w="4699" cap="flat" cmpd="sng" algn="ctr">
                      <a:solidFill>
                        <a:srgbClr val="D0DCE8"/>
                      </a:solidFill>
                      <a:prstDash val="solid"/>
                      <a:round/>
                      <a:headEnd type="none" w="med" len="med"/>
                      <a:tailEnd type="none" w="med" len="med"/>
                    </a:lnR>
                    <a:lnT w="4699" cap="flat" cmpd="sng" algn="ctr">
                      <a:solidFill>
                        <a:srgbClr val="D0DCE8"/>
                      </a:solidFill>
                      <a:prstDash val="solid"/>
                      <a:round/>
                      <a:headEnd type="none" w="med" len="med"/>
                      <a:tailEnd type="none" w="med" len="med"/>
                    </a:lnT>
                    <a:lnB w="4699" cap="flat" cmpd="sng" algn="ctr">
                      <a:solidFill>
                        <a:srgbClr val="D0DCE8"/>
                      </a:solidFill>
                      <a:prstDash val="solid"/>
                      <a:round/>
                      <a:headEnd type="none" w="med" len="med"/>
                      <a:tailEnd type="none" w="med" len="med"/>
                    </a:lnB>
                    <a:solidFill>
                      <a:srgbClr val="F8FAFD"/>
                    </a:solidFill>
                  </a:tcPr>
                </a:tc>
              </a:tr>
            </a:tbl>
          </a:graphicData>
        </a:graphic>
      </p:graphicFrame>
    </p:spTree>
  </p:cSld>
  <p:clrMapOvr>
    <a:masterClrMapping/>
  </p:clrMapOvr>
</p:sld>
</file>

<file path=ppt/tags/tag1.xml><?xml version="1.0" encoding="utf-8"?>
<p:tagLst xmlns:p="http://schemas.openxmlformats.org/presentationml/2006/main">
  <p:tag name="THINKCELLSHAPEDONOTDELETE" val="pB1hFXXeGP0Sb86ix5hLnug"/>
</p:tagLst>
</file>

<file path=ppt/tags/tag2.xml><?xml version="1.0" encoding="utf-8"?>
<p:tagLst xmlns:p="http://schemas.openxmlformats.org/presentationml/2006/main">
  <p:tag name="THINKCELLSHAPEDONOTDELETE" val="pSRIvbxJvMk.V_zHVUeiIng"/>
</p:tagLst>
</file>

<file path=ppt/tags/tag3.xml><?xml version="1.0" encoding="utf-8"?>
<p:tagLst xmlns:p="http://schemas.openxmlformats.org/presentationml/2006/main">
  <p:tag name="THINKCELLSHAPEDONOTDELETE" val="p3AdfTpOf7UycTIzgiZFTlw"/>
</p:tagLst>
</file>

<file path=ppt/tags/tag4.xml><?xml version="1.0" encoding="utf-8"?>
<p:tagLst xmlns:p="http://schemas.openxmlformats.org/presentationml/2006/main">
  <p:tag name="THINKCELLSHAPEDONOTDELETE" val="ph_1EQZDvhU6WF0xqDN8.UA"/>
</p:tagLst>
</file>

<file path=ppt/tags/tag5.xml><?xml version="1.0" encoding="utf-8"?>
<p:tagLst xmlns:p="http://schemas.openxmlformats.org/presentationml/2006/main">
  <p:tag name="THINKCELLSHAPEDONOTDELETE" val="pcuILGprsyEqvVyDRuwvqEQ"/>
</p:tagLst>
</file>

<file path=ppt/tags/tag6.xml><?xml version="1.0" encoding="utf-8"?>
<p:tagLst xmlns:p="http://schemas.openxmlformats.org/presentationml/2006/main">
  <p:tag name="THINKCELLSHAPEDONOTDELETE" val="pXGbze316mkqd.v9zTQwnzg"/>
</p:tagLst>
</file>

<file path=ppt/tags/tag7.xml><?xml version="1.0" encoding="utf-8"?>
<p:tagLst xmlns:p="http://schemas.openxmlformats.org/presentationml/2006/main">
  <p:tag name="THINKCELLSHAPEDONOTDELETE" val="pJQL7Zq9VPEu9EcEVO.PlNw"/>
</p:tagLst>
</file>

<file path=ppt/tags/tag8.xml><?xml version="1.0" encoding="utf-8"?>
<p:tagLst xmlns:p="http://schemas.openxmlformats.org/presentationml/2006/main">
  <p:tag name="THINKCELLSHAPEDONOTDELETE" val="pQLwsOO2uz0Gi3JnAEkUt9A"/>
</p:tagLst>
</file>

<file path=ppt/tags/tag9.xml><?xml version="1.0" encoding="utf-8"?>
<p:tagLst xmlns:p="http://schemas.openxmlformats.org/presentationml/2006/main">
  <p:tag name="THINKCELLSHAPEDONOTDELETE" val="px0bQQcsv40y3gat473UNgQ"/>
</p:tagLst>
</file>

<file path=ppt/tags/tag10.xml><?xml version="1.0" encoding="utf-8"?>
<p:tagLst xmlns:p="http://schemas.openxmlformats.org/presentationml/2006/main">
  <p:tag name="THINKCELLSHAPEDONOTDELETE" val="pLJxFJCWiC0ykW6pXoOxxog"/>
</p:tagLst>
</file>

<file path=ppt/tags/tag11.xml><?xml version="1.0" encoding="utf-8"?>
<p:tagLst xmlns:p="http://schemas.openxmlformats.org/presentationml/2006/main">
  <p:tag name="THINKCELLSHAPEDONOTDELETE" val="pvjZsAagcYE2MJmQQ8cXSkA"/>
</p:tagLst>
</file>

<file path=ppt/tags/tag12.xml><?xml version="1.0" encoding="utf-8"?>
<p:tagLst xmlns:p="http://schemas.openxmlformats.org/presentationml/2006/main">
  <p:tag name="THINKCELLSHAPEDONOTDELETE" val="pZIeBSk_4Q0GH4uGuzLxu3Q"/>
</p:tagLst>
</file>

<file path=ppt/tags/tag13.xml><?xml version="1.0" encoding="utf-8"?>
<p:tagLst xmlns:p="http://schemas.openxmlformats.org/presentationml/2006/main">
  <p:tag name="THINKCELLSHAPEDONOTDELETE" val="pcEjprHoY6E.2nImEA3ueGA"/>
</p:tagLst>
</file>

<file path=ppt/tags/tag14.xml><?xml version="1.0" encoding="utf-8"?>
<p:tagLst xmlns:p="http://schemas.openxmlformats.org/presentationml/2006/main">
  <p:tag name="THINKCELLSHAPEDONOTDELETE" val="pe0EdemNYW02ImJLUMIO7XA"/>
</p:tagLst>
</file>

<file path=ppt/tags/tag15.xml><?xml version="1.0" encoding="utf-8"?>
<p:tagLst xmlns:p="http://schemas.openxmlformats.org/presentationml/2006/main">
  <p:tag name="THINKCELLSHAPEDONOTDELETE" val="prheyzm3P3EqGbc9sybBjdQ"/>
</p:tagLst>
</file>

<file path=ppt/tags/tag16.xml><?xml version="1.0" encoding="utf-8"?>
<p:tagLst xmlns:p="http://schemas.openxmlformats.org/presentationml/2006/main">
  <p:tag name="THINKCELLSHAPEDONOTDELETE" val="pnUFeattwdUGt_4G9dXGdWg"/>
</p:tagLst>
</file>

<file path=ppt/tags/tag17.xml><?xml version="1.0" encoding="utf-8"?>
<p:tagLst xmlns:p="http://schemas.openxmlformats.org/presentationml/2006/main">
  <p:tag name="THINKCELLSHAPEDONOTDELETE" val="psjgTaloRQE2U8zQ0k.ksVA"/>
</p:tagLst>
</file>

<file path=ppt/tags/tag18.xml><?xml version="1.0" encoding="utf-8"?>
<p:tagLst xmlns:p="http://schemas.openxmlformats.org/presentationml/2006/main">
  <p:tag name="THINKCELLSHAPEDONOTDELETE" val="pPiJmAnWAJkqWcP0r32zChA"/>
</p:tagLst>
</file>

<file path=ppt/tags/tag19.xml><?xml version="1.0" encoding="utf-8"?>
<p:tagLst xmlns:p="http://schemas.openxmlformats.org/presentationml/2006/main">
  <p:tag name="THINKCELLSHAPEDONOTDELETE" val="piH7ymb94ikKEDYx2NBhFuw"/>
</p:tagLst>
</file>

<file path=ppt/tags/tag20.xml><?xml version="1.0" encoding="utf-8"?>
<p:tagLst xmlns:p="http://schemas.openxmlformats.org/presentationml/2006/main">
  <p:tag name="THINKCELLSHAPEDONOTDELETE" val="pl4FW8J_hCE6C0oTznX8PjA"/>
</p:tagLst>
</file>

<file path=ppt/tags/tag21.xml><?xml version="1.0" encoding="utf-8"?>
<p:tagLst xmlns:p="http://schemas.openxmlformats.org/presentationml/2006/main">
  <p:tag name="THINKCELLSHAPEDONOTDELETE" val="p9DCN840v0UiCEEZIySIINg"/>
</p:tagLst>
</file>

<file path=ppt/tags/tag22.xml><?xml version="1.0" encoding="utf-8"?>
<p:tagLst xmlns:p="http://schemas.openxmlformats.org/presentationml/2006/main">
  <p:tag name="NAME" val="SingleBoatShape"/>
</p:tagLst>
</file>

<file path=ppt/tags/tag23.xml><?xml version="1.0" encoding="utf-8"?>
<p:tagLst xmlns:p="http://schemas.openxmlformats.org/presentationml/2006/main">
  <p:tag name="NAME" val="SingleBoatText"/>
</p:tagLst>
</file>

<file path=ppt/tags/tag24.xml><?xml version="1.0" encoding="utf-8"?>
<p:tagLst xmlns:p="http://schemas.openxmlformats.org/presentationml/2006/main">
  <p:tag name="NAME" val="SingleBoatShape"/>
</p:tagLst>
</file>

<file path=ppt/tags/tag25.xml><?xml version="1.0" encoding="utf-8"?>
<p:tagLst xmlns:p="http://schemas.openxmlformats.org/presentationml/2006/main">
  <p:tag name="NAME" val="SingleBoatText"/>
</p:tagLst>
</file>

<file path=ppt/tags/tag26.xml><?xml version="1.0" encoding="utf-8"?>
<p:tagLst xmlns:p="http://schemas.openxmlformats.org/presentationml/2006/main">
  <p:tag name="NAME" val="SingleBoatShape"/>
</p:tagLst>
</file>

<file path=ppt/tags/tag27.xml><?xml version="1.0" encoding="utf-8"?>
<p:tagLst xmlns:p="http://schemas.openxmlformats.org/presentationml/2006/main">
  <p:tag name="NAME" val="SingleBoatText"/>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A79E99"/>
      </a:lt2>
      <a:accent1>
        <a:srgbClr val="D0A660"/>
      </a:accent1>
      <a:accent2>
        <a:srgbClr val="A79E99"/>
      </a:accent2>
      <a:accent3>
        <a:srgbClr val="FFFFFF"/>
      </a:accent3>
      <a:accent4>
        <a:srgbClr val="000000"/>
      </a:accent4>
      <a:accent5>
        <a:srgbClr val="E4D0B6"/>
      </a:accent5>
      <a:accent6>
        <a:srgbClr val="978F8A"/>
      </a:accent6>
      <a:hlink>
        <a:srgbClr val="F7F2D0"/>
      </a:hlink>
      <a:folHlink>
        <a:srgbClr val="7D0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a:noFill/>
        </a:ln>
        <a:effectLst>
          <a:outerShdw dist="35921" dir="2700000" algn="ctr" rotWithShape="0">
            <a:schemeClr val="folHlink"/>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1"/>
        </a:solidFill>
        <a:ln>
          <a:noFill/>
        </a:ln>
        <a:effectLst>
          <a:outerShdw dist="35921" dir="2700000" algn="ctr" rotWithShape="0">
            <a:schemeClr val="folHlink"/>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chemeClr val="accent1"/>
          </a:buClr>
          <a:buSzTx/>
          <a:buFont typeface="Wingdings" panose="05000000000000000000" pitchFamily="2" charset="2"/>
          <a:buChar char="§"/>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《卓越绩效模式理解及实施》</Template>
  <TotalTime>0</TotalTime>
  <Words>6038</Words>
  <Application>WPS 演示</Application>
  <PresentationFormat>Custom</PresentationFormat>
  <Paragraphs>801</Paragraphs>
  <Slides>21</Slides>
  <Notes>51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21</vt:i4>
      </vt:variant>
    </vt:vector>
  </HeadingPairs>
  <TitlesOfParts>
    <vt:vector size="41" baseType="lpstr">
      <vt:lpstr>Arial</vt:lpstr>
      <vt:lpstr>宋体</vt:lpstr>
      <vt:lpstr>Wingdings</vt:lpstr>
      <vt:lpstr>微软雅黑</vt:lpstr>
      <vt:lpstr>Impact</vt:lpstr>
      <vt:lpstr>Monotype Sorts</vt:lpstr>
      <vt:lpstr>Wingdings</vt:lpstr>
      <vt:lpstr>Times New Roman</vt:lpstr>
      <vt:lpstr>华文楷体</vt:lpstr>
      <vt:lpstr>华文中宋</vt:lpstr>
      <vt:lpstr>Verdana</vt:lpstr>
      <vt:lpstr>黑体</vt:lpstr>
      <vt:lpstr>Arial Unicode MS</vt:lpstr>
      <vt:lpstr>Arial</vt:lpstr>
      <vt:lpstr>楷体</vt:lpstr>
      <vt:lpstr>Optima</vt:lpstr>
      <vt:lpstr>Segoe Print</vt:lpstr>
      <vt:lpstr>PingFang SC</vt:lpstr>
      <vt:lpstr>Arial Narrow</vt:lpstr>
      <vt:lpstr>Default Design</vt:lpstr>
      <vt:lpstr>内容提纲</vt:lpstr>
      <vt:lpstr>从客户接触和作业量两个维度，分析业务能力集中/分散</vt:lpstr>
      <vt:lpstr>根据专业化和竞争力水平决定业务能力的内外/外包的方式 </vt:lpstr>
      <vt:lpstr>明确未来运营模型中台的业务能力 - 共享中台的价值</vt:lpstr>
      <vt:lpstr>中台业务功能范围  - 核心业务的主要流程环节和财务、人力、IT等管理支持职能</vt:lpstr>
      <vt:lpstr>在企业内部采用组件化的设计以优化各级业务活动，达到企业级最优</vt:lpstr>
      <vt:lpstr>内容提纲</vt:lpstr>
      <vt:lpstr>组织可基于职能、流程、产品、地域/市场/客户等多个视角进行设计。可考虑结合自身特点融合多个视角展开组织设计</vt:lpstr>
      <vt:lpstr>在组织架构设计的过程中还应考虑四个方面的问题</vt:lpstr>
      <vt:lpstr>集团/子公司管控模式分析</vt:lpstr>
      <vt:lpstr>对国内外领先公司组织架构深入研究，总结对本公司运营组织架构设计的启示</vt:lpstr>
      <vt:lpstr>组织设计原则需要从公司战略和卓越绩效提升出发</vt:lpstr>
      <vt:lpstr>案例：集团共享中心建设组织架构调整 设计方案比较－提出多种可行性方案讨论，选择最佳方案</vt:lpstr>
      <vt:lpstr>最终确定最佳组织框架方案</vt:lpstr>
      <vt:lpstr>大型集团公司的数字化团队的几种模式：分散式，代管式，混合共享式，完全共享式</vt:lpstr>
      <vt:lpstr>组织考核指标体系的整体设计思路 - 从全面考虑来自股东、客户、员工和监管机构的需求出发，充分利用价值树分析和现有指标库</vt:lpstr>
      <vt:lpstr>通过筛选确定少而精的指标 - 以卓越绩效方向为基础，结合当前客观现状，进行企业内的充分沟通和探讨</vt:lpstr>
      <vt:lpstr>最终按照上述方法制定指标体系</vt:lpstr>
      <vt:lpstr>案例分析：中国人寿集团架构介绍</vt:lpstr>
      <vt:lpstr>案例分析：华为组织架构介绍</vt:lpstr>
      <vt:lpstr>不同管控模型的对比 分别代表了国有金融集团、混合所有制金融科技集团和民营高科技企业三种不同的管控范式，在决策机制、激励模式和科技创新路径上呈现出显著差异。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内容提纲</dc:title>
  <dc:creator>Yu, Hailan SCHINA-ITD/RH</dc:creator>
  <cp:lastModifiedBy>于海澜Henry</cp:lastModifiedBy>
  <cp:revision>185</cp:revision>
  <dcterms:created xsi:type="dcterms:W3CDTF">2021-05-14T01:15:00Z</dcterms:created>
  <dcterms:modified xsi:type="dcterms:W3CDTF">2026-05-02T08:41:38Z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8AA34C0D133B4C8DB4E1A58B85EEBB02_13</vt:lpwstr>
  </property>
  <property fmtid="{D5CDD505-2E9C-101B-9397-08002B2CF9AE}" pid="3" name="KSOProductBuildVer">
    <vt:lpwstr>2052-12.1.0.25865</vt:lpwstr>
  </property>
</Properties>
</file>