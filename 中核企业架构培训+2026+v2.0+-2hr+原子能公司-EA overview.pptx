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6"/>
  </p:handoutMasterIdLst>
  <p:sldIdLst>
    <p:sldId id="2067" r:id="rId3"/>
    <p:sldId id="1034" r:id="rId5"/>
    <p:sldId id="1033" r:id="rId6"/>
    <p:sldId id="341" r:id="rId7"/>
    <p:sldId id="2101" r:id="rId8"/>
    <p:sldId id="2074" r:id="rId9"/>
    <p:sldId id="1061" r:id="rId10"/>
    <p:sldId id="1013" r:id="rId11"/>
    <p:sldId id="1063" r:id="rId12"/>
    <p:sldId id="326" r:id="rId13"/>
    <p:sldId id="421" r:id="rId14"/>
    <p:sldId id="1068" r:id="rId15"/>
  </p:sldIdLst>
  <p:sldSz cx="9902825" cy="6858000"/>
  <p:notesSz cx="6645275" cy="9777095"/>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4319" userDrawn="1">
          <p15:clr>
            <a:srgbClr val="A4A3A4"/>
          </p15:clr>
        </p15:guide>
        <p15:guide id="2" pos="476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6B086"/>
    <a:srgbClr val="FEE5D7"/>
    <a:srgbClr val="808080"/>
    <a:srgbClr val="91B0FF"/>
    <a:srgbClr val="000000"/>
    <a:srgbClr val="060000"/>
    <a:srgbClr val="969696"/>
    <a:srgbClr val="C0C0C0"/>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47" autoAdjust="0"/>
    <p:restoredTop sz="91983" autoAdjust="0"/>
  </p:normalViewPr>
  <p:slideViewPr>
    <p:cSldViewPr snapToObjects="1" showGuides="1">
      <p:cViewPr varScale="1">
        <p:scale>
          <a:sx n="52" d="100"/>
          <a:sy n="52" d="100"/>
        </p:scale>
        <p:origin x="1504" y="264"/>
      </p:cViewPr>
      <p:guideLst>
        <p:guide orient="horz" pos="4319"/>
        <p:guide pos="4767"/>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879725" cy="488950"/>
          </a:xfrm>
          <a:prstGeom prst="rect">
            <a:avLst/>
          </a:prstGeom>
          <a:noFill/>
          <a:ln>
            <a:noFill/>
          </a:ln>
          <a:effectLst/>
        </p:spPr>
        <p:txBody>
          <a:bodyPr vert="horz" wrap="square" lIns="92400" tIns="46200" rIns="92400" bIns="46200" numCol="1" anchor="t" anchorCtr="0" compatLnSpc="1"/>
          <a:lstStyle>
            <a:lvl1pPr defTabSz="923925" eaLnBrk="1" hangingPunct="1">
              <a:buClrTx/>
              <a:buFontTx/>
              <a:buNone/>
              <a:defRPr sz="1200">
                <a:latin typeface="Times New Roman" panose="02020603050405020304" pitchFamily="18" charset="0"/>
              </a:defRPr>
            </a:lvl1pPr>
          </a:lstStyle>
          <a:p>
            <a:pPr>
              <a:defRPr/>
            </a:pPr>
            <a:endParaRPr lang="en-US" altLang="en-US"/>
          </a:p>
        </p:txBody>
      </p:sp>
      <p:sp>
        <p:nvSpPr>
          <p:cNvPr id="4099" name="Rectangle 3"/>
          <p:cNvSpPr>
            <a:spLocks noGrp="1" noChangeArrowheads="1"/>
          </p:cNvSpPr>
          <p:nvPr>
            <p:ph type="dt" sz="quarter" idx="1"/>
          </p:nvPr>
        </p:nvSpPr>
        <p:spPr bwMode="auto">
          <a:xfrm>
            <a:off x="3765550" y="0"/>
            <a:ext cx="2879725" cy="488950"/>
          </a:xfrm>
          <a:prstGeom prst="rect">
            <a:avLst/>
          </a:prstGeom>
          <a:noFill/>
          <a:ln>
            <a:noFill/>
          </a:ln>
          <a:effectLst/>
        </p:spPr>
        <p:txBody>
          <a:bodyPr vert="horz" wrap="square" lIns="92400" tIns="46200" rIns="92400" bIns="46200" numCol="1" anchor="t" anchorCtr="0" compatLnSpc="1"/>
          <a:lstStyle>
            <a:lvl1pPr algn="r" defTabSz="923925" eaLnBrk="1" hangingPunct="1">
              <a:buClrTx/>
              <a:buFontTx/>
              <a:buNone/>
              <a:defRPr sz="1200">
                <a:latin typeface="Times New Roman" panose="02020603050405020304" pitchFamily="18" charset="0"/>
              </a:defRPr>
            </a:lvl1pPr>
          </a:lstStyle>
          <a:p>
            <a:pPr>
              <a:defRPr/>
            </a:pPr>
            <a:endParaRPr lang="en-US" altLang="en-US"/>
          </a:p>
        </p:txBody>
      </p:sp>
      <p:sp>
        <p:nvSpPr>
          <p:cNvPr id="4100" name="Rectangle 4"/>
          <p:cNvSpPr>
            <a:spLocks noGrp="1" noChangeArrowheads="1"/>
          </p:cNvSpPr>
          <p:nvPr>
            <p:ph type="ftr" sz="quarter" idx="2"/>
          </p:nvPr>
        </p:nvSpPr>
        <p:spPr bwMode="auto">
          <a:xfrm>
            <a:off x="0" y="9288463"/>
            <a:ext cx="2879725" cy="488950"/>
          </a:xfrm>
          <a:prstGeom prst="rect">
            <a:avLst/>
          </a:prstGeom>
          <a:noFill/>
          <a:ln>
            <a:noFill/>
          </a:ln>
          <a:effectLst/>
        </p:spPr>
        <p:txBody>
          <a:bodyPr vert="horz" wrap="square" lIns="92400" tIns="46200" rIns="92400" bIns="46200" numCol="1" anchor="b" anchorCtr="0" compatLnSpc="1"/>
          <a:lstStyle>
            <a:lvl1pPr defTabSz="923925" eaLnBrk="1" hangingPunct="1">
              <a:buClrTx/>
              <a:buFontTx/>
              <a:buNone/>
              <a:defRPr sz="1200">
                <a:latin typeface="Times New Roman" panose="02020603050405020304" pitchFamily="18" charset="0"/>
              </a:defRPr>
            </a:lvl1pPr>
          </a:lstStyle>
          <a:p>
            <a:pPr>
              <a:defRPr/>
            </a:pPr>
            <a:endParaRPr lang="en-US" altLang="en-US"/>
          </a:p>
        </p:txBody>
      </p:sp>
      <p:sp>
        <p:nvSpPr>
          <p:cNvPr id="4101" name="Rectangle 5"/>
          <p:cNvSpPr>
            <a:spLocks noGrp="1" noChangeArrowheads="1"/>
          </p:cNvSpPr>
          <p:nvPr>
            <p:ph type="sldNum" sz="quarter" idx="3"/>
          </p:nvPr>
        </p:nvSpPr>
        <p:spPr bwMode="auto">
          <a:xfrm>
            <a:off x="3765550" y="9288463"/>
            <a:ext cx="2879725" cy="488950"/>
          </a:xfrm>
          <a:prstGeom prst="rect">
            <a:avLst/>
          </a:prstGeom>
          <a:noFill/>
          <a:ln>
            <a:noFill/>
          </a:ln>
          <a:effectLst/>
        </p:spPr>
        <p:txBody>
          <a:bodyPr vert="horz" wrap="square" lIns="92400" tIns="46200" rIns="92400" bIns="46200" numCol="1" anchor="b" anchorCtr="0" compatLnSpc="1"/>
          <a:lstStyle>
            <a:lvl1pPr algn="r" defTabSz="923925" eaLnBrk="1" hangingPunct="1">
              <a:buClrTx/>
              <a:buFontTx/>
              <a:buNone/>
              <a:defRPr sz="1200" smtClean="0">
                <a:latin typeface="Times New Roman" panose="02020603050405020304" pitchFamily="18" charset="0"/>
              </a:defRPr>
            </a:lvl1pPr>
          </a:lstStyle>
          <a:p>
            <a:pPr>
              <a:defRPr/>
            </a:pPr>
            <a:fld id="{3073027C-96D5-496C-972D-87C61FFD57E1}" type="slidenum">
              <a:rPr lang="en-US" altLang="en-US"/>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0466" name="Rectangle 2"/>
          <p:cNvSpPr>
            <a:spLocks noGrp="1" noChangeArrowheads="1"/>
          </p:cNvSpPr>
          <p:nvPr>
            <p:ph type="hdr" sz="quarter"/>
          </p:nvPr>
        </p:nvSpPr>
        <p:spPr bwMode="auto">
          <a:xfrm>
            <a:off x="0" y="0"/>
            <a:ext cx="2890838" cy="484188"/>
          </a:xfrm>
          <a:prstGeom prst="rect">
            <a:avLst/>
          </a:prstGeom>
          <a:noFill/>
          <a:ln>
            <a:noFill/>
          </a:ln>
          <a:effectLst/>
        </p:spPr>
        <p:txBody>
          <a:bodyPr vert="horz" wrap="square" lIns="91440" tIns="45720" rIns="91440" bIns="45720" numCol="1" anchor="t" anchorCtr="0" compatLnSpc="1"/>
          <a:lstStyle>
            <a:lvl1pPr eaLnBrk="1" hangingPunct="1">
              <a:defRPr sz="1200">
                <a:latin typeface="Times New Roman" panose="02020603050405020304" pitchFamily="18" charset="0"/>
              </a:defRPr>
            </a:lvl1pPr>
          </a:lstStyle>
          <a:p>
            <a:endParaRPr lang="zh-CN" altLang="en-US"/>
          </a:p>
        </p:txBody>
      </p:sp>
      <p:sp>
        <p:nvSpPr>
          <p:cNvPr id="190467" name="Rectangle 3"/>
          <p:cNvSpPr>
            <a:spLocks noGrp="1" noChangeArrowheads="1"/>
          </p:cNvSpPr>
          <p:nvPr>
            <p:ph type="dt" idx="1"/>
          </p:nvPr>
        </p:nvSpPr>
        <p:spPr bwMode="auto">
          <a:xfrm>
            <a:off x="3759200" y="0"/>
            <a:ext cx="2892425" cy="484188"/>
          </a:xfrm>
          <a:prstGeom prst="rect">
            <a:avLst/>
          </a:prstGeom>
          <a:noFill/>
          <a:ln>
            <a:noFill/>
          </a:ln>
          <a:effectLst/>
        </p:spPr>
        <p:txBody>
          <a:bodyPr vert="horz" wrap="square" lIns="91440" tIns="45720" rIns="91440" bIns="45720" numCol="1" anchor="t" anchorCtr="0" compatLnSpc="1"/>
          <a:lstStyle>
            <a:lvl1pPr algn="r" eaLnBrk="1" hangingPunct="1">
              <a:defRPr sz="1200">
                <a:latin typeface="Times New Roman" panose="02020603050405020304" pitchFamily="18" charset="0"/>
              </a:defRPr>
            </a:lvl1pPr>
          </a:lstStyle>
          <a:p>
            <a:endParaRPr lang="en-US" altLang="zh-CN"/>
          </a:p>
        </p:txBody>
      </p:sp>
      <p:sp>
        <p:nvSpPr>
          <p:cNvPr id="3076" name="Rectangle 4"/>
          <p:cNvSpPr>
            <a:spLocks noGrp="1" noRot="1" noChangeAspect="1" noChangeArrowheads="1" noTextEdit="1"/>
          </p:cNvSpPr>
          <p:nvPr>
            <p:ph type="sldImg" idx="2"/>
          </p:nvPr>
        </p:nvSpPr>
        <p:spPr bwMode="auto">
          <a:xfrm>
            <a:off x="701675" y="727075"/>
            <a:ext cx="5248275" cy="3633788"/>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0469" name="Rectangle 5"/>
          <p:cNvSpPr>
            <a:spLocks noGrp="1" noChangeArrowheads="1"/>
          </p:cNvSpPr>
          <p:nvPr>
            <p:ph type="body" sz="quarter" idx="3"/>
          </p:nvPr>
        </p:nvSpPr>
        <p:spPr bwMode="auto">
          <a:xfrm>
            <a:off x="866775" y="4686300"/>
            <a:ext cx="4918075" cy="4360863"/>
          </a:xfrm>
          <a:prstGeom prst="rect">
            <a:avLst/>
          </a:prstGeom>
          <a:noFill/>
          <a:ln>
            <a:noFill/>
          </a:ln>
          <a:effectLst/>
        </p:spPr>
        <p:txBody>
          <a:bodyPr vert="horz" wrap="square" lIns="91440" tIns="45720" rIns="91440" bIns="45720"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190470" name="Rectangle 6"/>
          <p:cNvSpPr>
            <a:spLocks noGrp="1" noChangeArrowheads="1"/>
          </p:cNvSpPr>
          <p:nvPr>
            <p:ph type="ftr" sz="quarter" idx="4"/>
          </p:nvPr>
        </p:nvSpPr>
        <p:spPr bwMode="auto">
          <a:xfrm>
            <a:off x="0" y="9290050"/>
            <a:ext cx="2890838" cy="484188"/>
          </a:xfrm>
          <a:prstGeom prst="rect">
            <a:avLst/>
          </a:prstGeom>
          <a:noFill/>
          <a:ln>
            <a:noFill/>
          </a:ln>
          <a:effectLst/>
        </p:spPr>
        <p:txBody>
          <a:bodyPr vert="horz" wrap="square" lIns="91440" tIns="45720" rIns="91440" bIns="45720" numCol="1" anchor="b" anchorCtr="0" compatLnSpc="1"/>
          <a:lstStyle>
            <a:lvl1pPr eaLnBrk="1" hangingPunct="1">
              <a:defRPr sz="1200">
                <a:latin typeface="Times New Roman" panose="02020603050405020304" pitchFamily="18" charset="0"/>
              </a:defRPr>
            </a:lvl1pPr>
          </a:lstStyle>
          <a:p>
            <a:endParaRPr lang="en-US" altLang="zh-CN"/>
          </a:p>
        </p:txBody>
      </p:sp>
      <p:sp>
        <p:nvSpPr>
          <p:cNvPr id="190471" name="Rectangle 7"/>
          <p:cNvSpPr>
            <a:spLocks noGrp="1" noChangeArrowheads="1"/>
          </p:cNvSpPr>
          <p:nvPr>
            <p:ph type="sldNum" sz="quarter" idx="5"/>
          </p:nvPr>
        </p:nvSpPr>
        <p:spPr bwMode="auto">
          <a:xfrm>
            <a:off x="3759200" y="9290050"/>
            <a:ext cx="2892425" cy="484188"/>
          </a:xfrm>
          <a:prstGeom prst="rect">
            <a:avLst/>
          </a:prstGeom>
          <a:noFill/>
          <a:ln>
            <a:noFill/>
          </a:ln>
          <a:effectLst/>
        </p:spPr>
        <p:txBody>
          <a:bodyPr vert="horz" wrap="square" lIns="91440" tIns="45720" rIns="91440" bIns="45720" numCol="1" anchor="b" anchorCtr="0" compatLnSpc="1"/>
          <a:lstStyle>
            <a:lvl1pPr algn="r" eaLnBrk="1" hangingPunct="1">
              <a:defRPr sz="1200">
                <a:latin typeface="Times New Roman" panose="02020603050405020304" pitchFamily="18" charset="0"/>
              </a:defRPr>
            </a:lvl1pPr>
          </a:lstStyle>
          <a:p>
            <a:fld id="{7DABE37C-1969-4E81-B1BE-51BD9AA59BA3}"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FEF0648-8669-4901-AFD2-F113ADE9FE58}" type="slidenum">
              <a:rPr lang="zh-CN" altLang="en-US"/>
            </a:fld>
            <a:endParaRPr lang="en-US" altLang="zh-CN"/>
          </a:p>
        </p:txBody>
      </p:sp>
      <p:sp>
        <p:nvSpPr>
          <p:cNvPr id="8195" name="Rectangle 2"/>
          <p:cNvSpPr>
            <a:spLocks noGrp="1" noRot="1" noChangeAspect="1" noChangeArrowheads="1" noTextEdit="1"/>
          </p:cNvSpPr>
          <p:nvPr>
            <p:ph type="sldImg"/>
          </p:nvPr>
        </p:nvSpPr>
        <p:spPr>
          <a:xfrm>
            <a:off x="676275" y="733425"/>
            <a:ext cx="5292725" cy="3665538"/>
          </a:xfrm>
        </p:spPr>
        <p:txBody>
          <a:bodyPr/>
          <a:lstStyle/>
          <a:p>
            <a:endParaRPr lang="en-US"/>
          </a:p>
        </p:txBody>
      </p:sp>
      <p:sp>
        <p:nvSpPr>
          <p:cNvPr id="8196" name="Rectangle 3"/>
          <p:cNvSpPr>
            <a:spLocks noGrp="1" noChangeArrowheads="1"/>
          </p:cNvSpPr>
          <p:nvPr>
            <p:ph type="body" idx="1"/>
          </p:nvPr>
        </p:nvSpPr>
        <p:spPr>
          <a:xfrm>
            <a:off x="663575" y="4643438"/>
            <a:ext cx="5318125" cy="44005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88EBB1F-197D-4F74-B1A6-C5F6563CD0D4}" type="slidenum">
              <a:rPr lang="zh-CN" altLang="en-US"/>
            </a:fld>
            <a:endParaRPr lang="en-US" altLang="zh-CN"/>
          </a:p>
        </p:txBody>
      </p:sp>
      <p:sp>
        <p:nvSpPr>
          <p:cNvPr id="12291" name="Rectangle 2"/>
          <p:cNvSpPr>
            <a:spLocks noGrp="1" noRot="1" noChangeAspect="1" noChangeArrowheads="1" noTextEdit="1"/>
          </p:cNvSpPr>
          <p:nvPr>
            <p:ph type="sldImg"/>
          </p:nvPr>
        </p:nvSpPr>
        <p:spPr>
          <a:xfrm>
            <a:off x="676275" y="733425"/>
            <a:ext cx="5294313" cy="3667125"/>
          </a:xfrm>
        </p:spPr>
        <p:txBody>
          <a:bodyPr/>
          <a:lstStyle/>
          <a:p>
            <a:endParaRPr lang="en-US"/>
          </a:p>
        </p:txBody>
      </p:sp>
      <p:sp>
        <p:nvSpPr>
          <p:cNvPr id="12292" name="Rectangle 3"/>
          <p:cNvSpPr>
            <a:spLocks noGrp="1" noChangeArrowheads="1"/>
          </p:cNvSpPr>
          <p:nvPr>
            <p:ph type="body" idx="1"/>
          </p:nvPr>
        </p:nvSpPr>
        <p:spPr>
          <a:xfrm>
            <a:off x="663575" y="4645025"/>
            <a:ext cx="5318125" cy="439896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28600" indent="-228600" eaLnBrk="1" hangingPunct="1">
              <a:lnSpc>
                <a:spcPct val="80000"/>
              </a:lnSpc>
            </a:pPr>
            <a:r>
              <a:rPr lang="en-US" altLang="zh-TW" sz="800" dirty="0"/>
              <a:t>Business Architecture is a top-down, business driven approach to business design and transformation.</a:t>
            </a:r>
            <a:endParaRPr lang="en-US" altLang="zh-TW" sz="800" dirty="0"/>
          </a:p>
          <a:p>
            <a:pPr marL="228600" indent="-228600" eaLnBrk="1" hangingPunct="1">
              <a:lnSpc>
                <a:spcPct val="80000"/>
              </a:lnSpc>
            </a:pPr>
            <a:r>
              <a:rPr lang="en-US" altLang="zh-TW" sz="800" dirty="0"/>
              <a:t>Uses the vocabulary of business, and allows business people to reason about and plan business design and transformation</a:t>
            </a:r>
            <a:endParaRPr lang="en-US" altLang="zh-TW" sz="800" dirty="0"/>
          </a:p>
          <a:p>
            <a:pPr marL="228600" indent="-228600" eaLnBrk="1" hangingPunct="1">
              <a:lnSpc>
                <a:spcPct val="80000"/>
              </a:lnSpc>
            </a:pPr>
            <a:endParaRPr lang="en-US" altLang="zh-TW" sz="800" dirty="0"/>
          </a:p>
          <a:p>
            <a:pPr marL="228600" indent="-228600" eaLnBrk="1" hangingPunct="1">
              <a:lnSpc>
                <a:spcPct val="80000"/>
              </a:lnSpc>
            </a:pPr>
            <a:r>
              <a:rPr lang="en-US" altLang="zh-TW" sz="800" dirty="0">
                <a:solidFill>
                  <a:srgbClr val="4DD523"/>
                </a:solidFill>
              </a:rPr>
              <a:t>Green Statement</a:t>
            </a:r>
            <a:endParaRPr lang="en-US" altLang="zh-TW" sz="800" dirty="0">
              <a:solidFill>
                <a:srgbClr val="4DD523"/>
              </a:solidFill>
            </a:endParaRPr>
          </a:p>
          <a:p>
            <a:pPr marL="228600" indent="-228600" eaLnBrk="1" hangingPunct="1">
              <a:lnSpc>
                <a:spcPct val="80000"/>
              </a:lnSpc>
            </a:pPr>
            <a:endParaRPr lang="en-US" altLang="zh-TW" sz="800" dirty="0">
              <a:solidFill>
                <a:srgbClr val="4DD523"/>
              </a:solidFill>
            </a:endParaRPr>
          </a:p>
          <a:p>
            <a:pPr marL="228600" indent="-228600" eaLnBrk="1" hangingPunct="1">
              <a:lnSpc>
                <a:spcPct val="80000"/>
              </a:lnSpc>
            </a:pPr>
            <a:r>
              <a:rPr lang="en-US" altLang="zh-TW" sz="800" dirty="0"/>
              <a:t>It spans both the Strategy and Operational models for a Business.</a:t>
            </a:r>
            <a:endParaRPr lang="en-US" altLang="zh-TW" sz="800" dirty="0"/>
          </a:p>
          <a:p>
            <a:pPr marL="228600" indent="-228600" eaLnBrk="1" hangingPunct="1">
              <a:lnSpc>
                <a:spcPct val="80000"/>
              </a:lnSpc>
            </a:pPr>
            <a:endParaRPr lang="en-US" altLang="zh-TW" sz="800" dirty="0"/>
          </a:p>
          <a:p>
            <a:pPr marL="228600" indent="-228600" eaLnBrk="1" hangingPunct="1">
              <a:lnSpc>
                <a:spcPct val="80000"/>
              </a:lnSpc>
            </a:pPr>
            <a:r>
              <a:rPr lang="en-US" altLang="zh-TW" sz="800" dirty="0"/>
              <a:t>It provides a necessary, but not sufficient, input specification for those elements of the Operating Model that a business decides to automate as part of a Business Transformation.</a:t>
            </a:r>
            <a:endParaRPr lang="en-US" altLang="zh-TW" sz="800" dirty="0"/>
          </a:p>
          <a:p>
            <a:pPr marL="228600" indent="-228600" eaLnBrk="1" hangingPunct="1">
              <a:lnSpc>
                <a:spcPct val="80000"/>
              </a:lnSpc>
            </a:pPr>
            <a:endParaRPr lang="en-US" altLang="ja-JP" sz="800" dirty="0"/>
          </a:p>
          <a:p>
            <a:pPr marL="228600" indent="-228600" eaLnBrk="1" hangingPunct="1">
              <a:lnSpc>
                <a:spcPct val="80000"/>
              </a:lnSpc>
            </a:pPr>
            <a:r>
              <a:rPr lang="en-US" altLang="ja-JP" sz="800" dirty="0"/>
              <a:t>Business Architecture is an emerging industry term </a:t>
            </a:r>
            <a:r>
              <a:rPr lang="en-US" altLang="ja-JP" sz="800" b="1" u="sng" dirty="0"/>
              <a:t>(Gartner, Forrester and others are starting to take it upon themselves to define it), but WE should be defining it to our advantage!</a:t>
            </a:r>
            <a:endParaRPr lang="en-US" altLang="ja-JP" sz="800" b="1" u="sng" dirty="0"/>
          </a:p>
          <a:p>
            <a:pPr marL="228600" indent="-228600" eaLnBrk="1" hangingPunct="1">
              <a:lnSpc>
                <a:spcPct val="80000"/>
              </a:lnSpc>
            </a:pPr>
            <a:endParaRPr lang="en-US" altLang="ja-JP" sz="800" b="1" u="sng" dirty="0"/>
          </a:p>
          <a:p>
            <a:pPr marL="228600" indent="-228600" eaLnBrk="1" hangingPunct="1">
              <a:lnSpc>
                <a:spcPct val="80000"/>
              </a:lnSpc>
            </a:pPr>
            <a:r>
              <a:rPr lang="en-US" altLang="ja-JP" sz="800" dirty="0"/>
              <a:t>I WANT TO THE MOST COMMON QUESTIONS</a:t>
            </a:r>
            <a:endParaRPr lang="en-US" altLang="ja-JP" sz="800" dirty="0"/>
          </a:p>
          <a:p>
            <a:pPr marL="228600" indent="-228600" eaLnBrk="1" hangingPunct="1">
              <a:lnSpc>
                <a:spcPct val="80000"/>
              </a:lnSpc>
            </a:pPr>
            <a:r>
              <a:rPr lang="en-US" altLang="ja-JP" sz="800" dirty="0"/>
              <a:t>Address the BA/SOA linkage </a:t>
            </a:r>
            <a:r>
              <a:rPr lang="en-US" altLang="ja-JP" sz="800" dirty="0">
                <a:latin typeface="微软雅黑" panose="020B0503020204020204" pitchFamily="34" charset="-122"/>
              </a:rPr>
              <a:t>–</a:t>
            </a:r>
            <a:r>
              <a:rPr lang="en-US" altLang="ja-JP" sz="800" dirty="0"/>
              <a:t> BA is targeted at understanding what a business should do (i.e. what are the </a:t>
            </a:r>
            <a:r>
              <a:rPr lang="en-US" altLang="ja-JP" sz="800" dirty="0" err="1"/>
              <a:t>xform</a:t>
            </a:r>
            <a:r>
              <a:rPr lang="en-US" altLang="ja-JP" sz="800" dirty="0"/>
              <a:t> choices </a:t>
            </a:r>
            <a:r>
              <a:rPr lang="en-US" altLang="ja-JP" sz="800" dirty="0">
                <a:latin typeface="微软雅黑" panose="020B0503020204020204" pitchFamily="34" charset="-122"/>
              </a:rPr>
              <a:t>–</a:t>
            </a:r>
            <a:r>
              <a:rPr lang="en-US" altLang="ja-JP" sz="800" dirty="0"/>
              <a:t> and making the choice).  Once we know what to do, SOA is the HOW</a:t>
            </a:r>
            <a:endParaRPr lang="en-US" altLang="ja-JP" sz="800" dirty="0"/>
          </a:p>
          <a:p>
            <a:pPr marL="228600" indent="-228600" eaLnBrk="1" hangingPunct="1">
              <a:lnSpc>
                <a:spcPct val="80000"/>
              </a:lnSpc>
              <a:spcBef>
                <a:spcPct val="0"/>
              </a:spcBef>
            </a:pPr>
            <a:r>
              <a:rPr lang="en-US" altLang="zh-CN" sz="600" dirty="0"/>
              <a:t>=================================== =================================== =================================== ====================================</a:t>
            </a:r>
            <a:endParaRPr lang="en-US" altLang="zh-CN" sz="600" dirty="0"/>
          </a:p>
          <a:p>
            <a:pPr marL="228600" indent="-228600" eaLnBrk="1" hangingPunct="1">
              <a:lnSpc>
                <a:spcPct val="80000"/>
              </a:lnSpc>
            </a:pPr>
            <a:endParaRPr lang="en-US" altLang="ja-JP" sz="800" dirty="0"/>
          </a:p>
          <a:p>
            <a:pPr marL="228600" indent="-228600" eaLnBrk="1" hangingPunct="1">
              <a:lnSpc>
                <a:spcPct val="80000"/>
              </a:lnSpc>
            </a:pPr>
            <a:r>
              <a:rPr lang="en-US" altLang="zh-TW" sz="600" dirty="0"/>
              <a:t>The Model-driven business transformation framework was used to define the scope of Business Architecture.  </a:t>
            </a:r>
            <a:endParaRPr lang="en-US" altLang="zh-TW" sz="600" dirty="0"/>
          </a:p>
          <a:p>
            <a:pPr marL="228600" indent="-228600" eaLnBrk="1" hangingPunct="1">
              <a:lnSpc>
                <a:spcPct val="80000"/>
              </a:lnSpc>
            </a:pPr>
            <a:endParaRPr lang="en-US" altLang="zh-TW" sz="600" dirty="0"/>
          </a:p>
          <a:p>
            <a:pPr marL="228600" indent="-228600" eaLnBrk="1" hangingPunct="1">
              <a:lnSpc>
                <a:spcPct val="80000"/>
              </a:lnSpc>
            </a:pPr>
            <a:r>
              <a:rPr lang="en-US" altLang="zh-TW" sz="600" dirty="0"/>
              <a:t>It provides a useful differentiation between the business and IT.  Business Architecture is scoped to be the top two layers, both of which are independent of IT and automation – i.e. they are modeled using the vocabulary and concepts of business, not IT.</a:t>
            </a:r>
            <a:endParaRPr lang="en-US" altLang="zh-TW" sz="600" dirty="0"/>
          </a:p>
          <a:p>
            <a:pPr marL="228600" indent="-228600" eaLnBrk="1" hangingPunct="1">
              <a:lnSpc>
                <a:spcPct val="80000"/>
              </a:lnSpc>
            </a:pPr>
            <a:r>
              <a:rPr lang="en-US" altLang="zh-TW" sz="600" dirty="0"/>
              <a:t>They describe </a:t>
            </a:r>
            <a:r>
              <a:rPr lang="en-US" altLang="zh-TW" sz="600" b="1" u="sng" dirty="0"/>
              <a:t>what</a:t>
            </a:r>
            <a:r>
              <a:rPr lang="en-US" altLang="zh-TW" sz="600" dirty="0"/>
              <a:t> the business does, not how the strategy is used to drive transformation or how operations are implemented</a:t>
            </a:r>
            <a:endParaRPr lang="en-US" altLang="zh-TW" sz="600" dirty="0"/>
          </a:p>
          <a:p>
            <a:pPr marL="228600" indent="-228600" eaLnBrk="1" hangingPunct="1">
              <a:lnSpc>
                <a:spcPct val="80000"/>
              </a:lnSpc>
            </a:pPr>
            <a:endParaRPr lang="en-US" altLang="zh-TW" sz="600" dirty="0"/>
          </a:p>
          <a:p>
            <a:pPr marL="228600" indent="-228600" eaLnBrk="1" hangingPunct="1">
              <a:lnSpc>
                <a:spcPct val="80000"/>
              </a:lnSpc>
            </a:pPr>
            <a:endParaRPr lang="en-US" altLang="zh-TW" sz="600" dirty="0"/>
          </a:p>
          <a:p>
            <a:pPr marL="228600" indent="-228600" eaLnBrk="1" hangingPunct="1">
              <a:lnSpc>
                <a:spcPct val="80000"/>
              </a:lnSpc>
            </a:pPr>
            <a:r>
              <a:rPr lang="en-US" altLang="zh-TW" sz="600" dirty="0"/>
              <a:t>The next chart provides more detail on the top two layers, the Business Architecture domain…</a:t>
            </a:r>
            <a:endParaRPr lang="en-US" altLang="zh-TW" sz="600" dirty="0"/>
          </a:p>
          <a:p>
            <a:pPr marL="228600" indent="-228600" eaLnBrk="1" hangingPunct="1">
              <a:lnSpc>
                <a:spcPct val="80000"/>
              </a:lnSpc>
            </a:pPr>
            <a:endParaRPr lang="en-US" altLang="zh-TW" sz="600" dirty="0"/>
          </a:p>
          <a:p>
            <a:pPr marL="228600" indent="-228600" eaLnBrk="1" hangingPunct="1">
              <a:lnSpc>
                <a:spcPct val="80000"/>
              </a:lnSpc>
              <a:spcBef>
                <a:spcPct val="0"/>
              </a:spcBef>
            </a:pPr>
            <a:r>
              <a:rPr lang="en-US" altLang="zh-TW" sz="900" dirty="0"/>
              <a:t>Leo </a:t>
            </a:r>
            <a:r>
              <a:rPr lang="en-US" altLang="zh-TW" sz="900" dirty="0" err="1"/>
              <a:t>Marland</a:t>
            </a:r>
            <a:r>
              <a:rPr lang="en-US" altLang="zh-TW" sz="900" dirty="0"/>
              <a:t>: </a:t>
            </a:r>
            <a:r>
              <a:rPr lang="en-US" altLang="zh-TW" sz="900" dirty="0">
                <a:latin typeface="微软雅黑" panose="020B0503020204020204" pitchFamily="34" charset="-122"/>
              </a:rPr>
              <a:t>“…</a:t>
            </a:r>
            <a:r>
              <a:rPr lang="en-US" altLang="zh-TW" sz="900" dirty="0"/>
              <a:t>the difference (subtle I admit) between a) translating a Business Architecture into an IT based solution  as per MDBT, and b) the idea of embedding business knowledge in solution assets and the construction process.   To me this connects with what I was pressing for in the idea of Business Architecture artifacts as central to our solution assets.</a:t>
            </a:r>
            <a:r>
              <a:rPr lang="en-US" altLang="zh-TW" sz="900" dirty="0">
                <a:latin typeface="微软雅黑" panose="020B0503020204020204" pitchFamily="34" charset="-122"/>
              </a:rPr>
              <a:t>”</a:t>
            </a:r>
            <a:endParaRPr lang="en-US" altLang="zh-TW" sz="900" dirty="0"/>
          </a:p>
          <a:p>
            <a:pPr marL="228600" indent="-228600" eaLnBrk="1" hangingPunct="1">
              <a:lnSpc>
                <a:spcPct val="80000"/>
              </a:lnSpc>
            </a:pPr>
            <a:endParaRPr lang="en-US" altLang="zh-TW" sz="8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fld id="{B015B181-1F62-4754-AA13-1638E07C0672}" type="slidenum">
              <a:rPr lang="zh-CN" altLang="en-US">
                <a:latin typeface="Times New Roman" panose="02020603050405020304" pitchFamily="18" charset="0"/>
              </a:rPr>
            </a:fld>
            <a:endParaRPr lang="en-US" altLang="zh-CN">
              <a:latin typeface="Times New Roman" panose="02020603050405020304" pitchFamily="18" charset="0"/>
            </a:endParaRPr>
          </a:p>
        </p:txBody>
      </p:sp>
      <p:sp>
        <p:nvSpPr>
          <p:cNvPr id="461827" name="Rectangle 2"/>
          <p:cNvSpPr>
            <a:spLocks noGrp="1" noRot="1" noChangeAspect="1" noChangeArrowheads="1" noTextEdit="1"/>
          </p:cNvSpPr>
          <p:nvPr>
            <p:ph type="sldImg"/>
          </p:nvPr>
        </p:nvSpPr>
        <p:spPr>
          <a:xfrm>
            <a:off x="665163" y="736600"/>
            <a:ext cx="5316537" cy="3681413"/>
          </a:xfrm>
        </p:spPr>
        <p:txBody>
          <a:bodyPr/>
          <a:lstStyle/>
          <a:p>
            <a:endParaRPr lang="en-US"/>
          </a:p>
        </p:txBody>
      </p:sp>
      <p:sp>
        <p:nvSpPr>
          <p:cNvPr id="461828"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2ED0567-681F-4962-98D2-3AF0D70209EC}" type="slidenum">
              <a:rPr lang="zh-CN" altLang="en-US"/>
            </a:fld>
            <a:endParaRPr lang="en-US" altLang="zh-CN"/>
          </a:p>
        </p:txBody>
      </p:sp>
      <p:sp>
        <p:nvSpPr>
          <p:cNvPr id="1314818" name="Rectangle 2"/>
          <p:cNvSpPr>
            <a:spLocks noGrp="1" noRot="1" noChangeAspect="1" noChangeArrowheads="1" noTextEdit="1"/>
          </p:cNvSpPr>
          <p:nvPr>
            <p:ph type="sldImg"/>
          </p:nvPr>
        </p:nvSpPr>
        <p:spPr/>
        <p:txBody>
          <a:bodyPr/>
          <a:lstStyle/>
          <a:p>
            <a:endParaRPr lang="en-US"/>
          </a:p>
        </p:txBody>
      </p:sp>
      <p:sp>
        <p:nvSpPr>
          <p:cNvPr id="131481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FEF0648-8669-4901-AFD2-F113ADE9FE58}" type="slidenum">
              <a:rPr lang="zh-CN" altLang="en-US"/>
            </a:fld>
            <a:endParaRPr lang="en-US" altLang="zh-CN"/>
          </a:p>
        </p:txBody>
      </p:sp>
      <p:sp>
        <p:nvSpPr>
          <p:cNvPr id="8195" name="Rectangle 2"/>
          <p:cNvSpPr>
            <a:spLocks noGrp="1" noRot="1" noChangeAspect="1" noChangeArrowheads="1" noTextEdit="1"/>
          </p:cNvSpPr>
          <p:nvPr>
            <p:ph type="sldImg"/>
          </p:nvPr>
        </p:nvSpPr>
        <p:spPr>
          <a:xfrm>
            <a:off x="676275" y="733425"/>
            <a:ext cx="5292725" cy="3665538"/>
          </a:xfrm>
        </p:spPr>
        <p:txBody>
          <a:bodyPr/>
          <a:lstStyle/>
          <a:p>
            <a:endParaRPr lang="en-US"/>
          </a:p>
        </p:txBody>
      </p:sp>
      <p:sp>
        <p:nvSpPr>
          <p:cNvPr id="8196" name="Rectangle 3"/>
          <p:cNvSpPr>
            <a:spLocks noGrp="1" noChangeArrowheads="1"/>
          </p:cNvSpPr>
          <p:nvPr>
            <p:ph type="body" idx="1"/>
          </p:nvPr>
        </p:nvSpPr>
        <p:spPr>
          <a:xfrm>
            <a:off x="663575" y="4643438"/>
            <a:ext cx="5318125" cy="44005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35EB44B-7FD1-4366-894B-2860C3294A4E}" type="slidenum">
              <a:rPr lang="zh-CN" altLang="en-US"/>
            </a:fld>
            <a:endParaRPr lang="en-US" altLang="zh-CN"/>
          </a:p>
        </p:txBody>
      </p:sp>
      <p:sp>
        <p:nvSpPr>
          <p:cNvPr id="14339" name="Rectangle 2"/>
          <p:cNvSpPr>
            <a:spLocks noGrp="1" noRot="1" noChangeAspect="1" noChangeArrowheads="1" noTextEdit="1"/>
          </p:cNvSpPr>
          <p:nvPr>
            <p:ph type="sldImg"/>
          </p:nvPr>
        </p:nvSpPr>
        <p:spPr>
          <a:xfrm>
            <a:off x="679450" y="735013"/>
            <a:ext cx="5287963" cy="3662362"/>
          </a:xfrm>
        </p:spPr>
        <p:txBody>
          <a:bodyPr/>
          <a:lstStyle/>
          <a:p>
            <a:endParaRPr lang="en-US"/>
          </a:p>
        </p:txBody>
      </p:sp>
      <p:sp>
        <p:nvSpPr>
          <p:cNvPr id="14340" name="Rectangle 3"/>
          <p:cNvSpPr>
            <a:spLocks noGrp="1" noChangeArrowheads="1"/>
          </p:cNvSpPr>
          <p:nvPr>
            <p:ph type="body" idx="1"/>
          </p:nvPr>
        </p:nvSpPr>
        <p:spPr>
          <a:xfrm>
            <a:off x="663575" y="4643438"/>
            <a:ext cx="5318125" cy="44005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742950" y="2133600"/>
            <a:ext cx="8416925" cy="0"/>
          </a:xfrm>
          <a:prstGeom prst="line">
            <a:avLst/>
          </a:prstGeom>
          <a:noFill/>
          <a:ln w="57150">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 name="Line 9"/>
          <p:cNvSpPr>
            <a:spLocks noChangeShapeType="1"/>
          </p:cNvSpPr>
          <p:nvPr userDrawn="1"/>
        </p:nvSpPr>
        <p:spPr bwMode="auto">
          <a:xfrm>
            <a:off x="742950" y="3886200"/>
            <a:ext cx="8416925" cy="0"/>
          </a:xfrm>
          <a:prstGeom prst="line">
            <a:avLst/>
          </a:prstGeom>
          <a:noFill/>
          <a:ln w="57150">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124" name="Rectangle 4"/>
          <p:cNvSpPr>
            <a:spLocks noGrp="1" noChangeArrowheads="1"/>
          </p:cNvSpPr>
          <p:nvPr>
            <p:ph type="ctrTitle"/>
          </p:nvPr>
        </p:nvSpPr>
        <p:spPr>
          <a:xfrm>
            <a:off x="742950" y="2438400"/>
            <a:ext cx="8416925" cy="1143000"/>
          </a:xfrm>
        </p:spPr>
        <p:txBody>
          <a:bodyPr anchor="ctr"/>
          <a:lstStyle>
            <a:lvl1pPr algn="ctr">
              <a:defRPr sz="2800"/>
            </a:lvl1pPr>
          </a:lstStyle>
          <a:p>
            <a:pPr lvl="0"/>
            <a:r>
              <a:rPr lang="en-US" altLang="en-US" noProof="0" dirty="0"/>
              <a:t>Click to edit Master title style</a:t>
            </a:r>
            <a:endParaRPr lang="en-US" altLang="en-US" noProof="0" dirty="0"/>
          </a:p>
        </p:txBody>
      </p:sp>
      <p:sp>
        <p:nvSpPr>
          <p:cNvPr id="5125" name="Rectangle 5"/>
          <p:cNvSpPr>
            <a:spLocks noGrp="1" noChangeArrowheads="1"/>
          </p:cNvSpPr>
          <p:nvPr>
            <p:ph type="subTitle" idx="1" hasCustomPrompt="1"/>
          </p:nvPr>
        </p:nvSpPr>
        <p:spPr>
          <a:xfrm>
            <a:off x="742950" y="5143500"/>
            <a:ext cx="6931025" cy="838200"/>
          </a:xfrm>
        </p:spPr>
        <p:txBody>
          <a:bodyPr anchor="b"/>
          <a:lstStyle>
            <a:lvl1pPr>
              <a:spcBef>
                <a:spcPct val="10000"/>
              </a:spcBef>
              <a:spcAft>
                <a:spcPct val="0"/>
              </a:spcAft>
              <a:defRPr sz="1800"/>
            </a:lvl1pPr>
          </a:lstStyle>
          <a:p>
            <a:pPr lvl="0"/>
            <a:r>
              <a:rPr lang="en-US" altLang="en-US" noProof="0"/>
              <a:t>Click to edit Master subtitle</a:t>
            </a:r>
            <a:endParaRPr lang="en-US" altLang="en-US" noProof="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16925"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82638" y="2906713"/>
            <a:ext cx="8416925"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247650" y="1476375"/>
            <a:ext cx="4624388" cy="46196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5024438" y="1476375"/>
            <a:ext cx="4624387" cy="46196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2225"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95300" y="1535113"/>
            <a:ext cx="437515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95300" y="2174875"/>
            <a:ext cx="437515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5030788" y="1535113"/>
            <a:ext cx="437673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030788" y="2174875"/>
            <a:ext cx="43767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7550" cy="1162050"/>
          </a:xfrm>
        </p:spPr>
        <p:txBody>
          <a:bodyPr/>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871913" y="273050"/>
            <a:ext cx="55356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95300" y="1435100"/>
            <a:ext cx="3257550"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0425" cy="566738"/>
          </a:xfrm>
        </p:spPr>
        <p:txBody>
          <a:bodyPr/>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941513" y="612775"/>
            <a:ext cx="594042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941513" y="5367338"/>
            <a:ext cx="594042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99325" y="80963"/>
            <a:ext cx="2349500" cy="6015037"/>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247650" y="80963"/>
            <a:ext cx="6899275" cy="6015037"/>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47650" y="80963"/>
            <a:ext cx="7161213" cy="939800"/>
          </a:xfrm>
        </p:spPr>
        <p:txBody>
          <a:bodyPr/>
          <a:lstStyle/>
          <a:p>
            <a:r>
              <a:rPr lang="en-US"/>
              <a:t>Click to edit Master title style</a:t>
            </a:r>
            <a:endParaRPr lang="en-US"/>
          </a:p>
        </p:txBody>
      </p:sp>
      <p:sp>
        <p:nvSpPr>
          <p:cNvPr id="3" name="Content Placeholder 2"/>
          <p:cNvSpPr>
            <a:spLocks noGrp="1"/>
          </p:cNvSpPr>
          <p:nvPr>
            <p:ph sz="half" idx="1"/>
          </p:nvPr>
        </p:nvSpPr>
        <p:spPr>
          <a:xfrm>
            <a:off x="247650" y="1476375"/>
            <a:ext cx="4624388" cy="461962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quarter" idx="2"/>
          </p:nvPr>
        </p:nvSpPr>
        <p:spPr>
          <a:xfrm>
            <a:off x="5024438" y="1476375"/>
            <a:ext cx="4624387" cy="223361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Content Placeholder 4"/>
          <p:cNvSpPr>
            <a:spLocks noGrp="1"/>
          </p:cNvSpPr>
          <p:nvPr>
            <p:ph sz="quarter" idx="3"/>
          </p:nvPr>
        </p:nvSpPr>
        <p:spPr>
          <a:xfrm>
            <a:off x="5024438" y="3862388"/>
            <a:ext cx="4624387" cy="223361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47650" y="80963"/>
            <a:ext cx="7161213" cy="939800"/>
          </a:xfrm>
        </p:spPr>
        <p:txBody>
          <a:bodyPr/>
          <a:lstStyle/>
          <a:p>
            <a:r>
              <a:rPr lang="en-US"/>
              <a:t>Click to edit Master title style</a:t>
            </a:r>
            <a:endParaRPr lang="en-US"/>
          </a:p>
        </p:txBody>
      </p:sp>
      <p:sp>
        <p:nvSpPr>
          <p:cNvPr id="3" name="Table Placeholder 2"/>
          <p:cNvSpPr>
            <a:spLocks noGrp="1"/>
          </p:cNvSpPr>
          <p:nvPr>
            <p:ph type="tbl" idx="1"/>
          </p:nvPr>
        </p:nvSpPr>
        <p:spPr>
          <a:xfrm>
            <a:off x="247650" y="1476375"/>
            <a:ext cx="9401175" cy="4619625"/>
          </a:xfrm>
        </p:spPr>
        <p:txBody>
          <a:bodyPr/>
          <a:lstStyle/>
          <a:p>
            <a:pPr lvl="0"/>
            <a:endParaRPr lang="en-US" noProof="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247650" y="80963"/>
            <a:ext cx="7161213" cy="939800"/>
          </a:xfrm>
        </p:spPr>
        <p:txBody>
          <a:bodyPr/>
          <a:lstStyle/>
          <a:p>
            <a:r>
              <a:rPr lang="en-US"/>
              <a:t>Click to edit Master title style</a:t>
            </a:r>
            <a:endParaRPr lang="en-US"/>
          </a:p>
        </p:txBody>
      </p:sp>
      <p:sp>
        <p:nvSpPr>
          <p:cNvPr id="3" name="Content Placeholder 2"/>
          <p:cNvSpPr>
            <a:spLocks noGrp="1"/>
          </p:cNvSpPr>
          <p:nvPr>
            <p:ph sz="quarter" idx="1"/>
          </p:nvPr>
        </p:nvSpPr>
        <p:spPr>
          <a:xfrm>
            <a:off x="247650" y="1476375"/>
            <a:ext cx="4624388" cy="223361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quarter" idx="2"/>
          </p:nvPr>
        </p:nvSpPr>
        <p:spPr>
          <a:xfrm>
            <a:off x="5024438" y="1476375"/>
            <a:ext cx="4624387" cy="223361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Content Placeholder 4"/>
          <p:cNvSpPr>
            <a:spLocks noGrp="1"/>
          </p:cNvSpPr>
          <p:nvPr>
            <p:ph sz="quarter" idx="3"/>
          </p:nvPr>
        </p:nvSpPr>
        <p:spPr>
          <a:xfrm>
            <a:off x="247650" y="3862388"/>
            <a:ext cx="4624388" cy="223361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Content Placeholder 5"/>
          <p:cNvSpPr>
            <a:spLocks noGrp="1"/>
          </p:cNvSpPr>
          <p:nvPr>
            <p:ph sz="quarter" idx="4"/>
          </p:nvPr>
        </p:nvSpPr>
        <p:spPr>
          <a:xfrm>
            <a:off x="5024438" y="3862388"/>
            <a:ext cx="4624387" cy="223361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302391" y="981075"/>
            <a:ext cx="9371911" cy="1762126"/>
          </a:xfrm>
        </p:spPr>
        <p:txBody>
          <a:bodyPr/>
          <a:lstStyle>
            <a:lvl1pPr>
              <a:defRPr>
                <a:latin typeface="华文楷体" panose="02010600040101010101" pitchFamily="2" charset="-122"/>
                <a:ea typeface="华文楷体" panose="02010600040101010101" pitchFamily="2" charset="-122"/>
              </a:defRPr>
            </a:lvl1pPr>
            <a:lvl2pPr>
              <a:defRPr>
                <a:latin typeface="华文楷体" panose="02010600040101010101" pitchFamily="2" charset="-122"/>
                <a:ea typeface="华文楷体" panose="02010600040101010101" pitchFamily="2" charset="-122"/>
              </a:defRPr>
            </a:lvl2pPr>
            <a:lvl3pPr>
              <a:defRPr>
                <a:latin typeface="华文楷体" panose="02010600040101010101" pitchFamily="2" charset="-122"/>
                <a:ea typeface="华文楷体" panose="02010600040101010101" pitchFamily="2" charset="-122"/>
              </a:defRPr>
            </a:lvl3pPr>
            <a:lvl4pPr>
              <a:defRPr>
                <a:latin typeface="华文楷体" panose="02010600040101010101" pitchFamily="2" charset="-122"/>
                <a:ea typeface="华文楷体" panose="02010600040101010101" pitchFamily="2" charset="-122"/>
              </a:defRPr>
            </a:lvl4pPr>
            <a:lvl5pPr>
              <a:defRPr>
                <a:latin typeface="华文楷体" panose="02010600040101010101" pitchFamily="2" charset="-122"/>
                <a:ea typeface="华文楷体"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Rectangle 5"/>
          <p:cNvSpPr>
            <a:spLocks noGrp="1" noChangeArrowheads="1"/>
          </p:cNvSpPr>
          <p:nvPr>
            <p:ph type="title"/>
          </p:nvPr>
        </p:nvSpPr>
        <p:spPr bwMode="auto">
          <a:xfrm>
            <a:off x="303101" y="236499"/>
            <a:ext cx="8761799" cy="585787"/>
          </a:xfrm>
          <a:prstGeom prst="rect">
            <a:avLst/>
          </a:prstGeom>
          <a:noFill/>
          <a:ln w="9525">
            <a:noFill/>
            <a:miter lim="800000"/>
          </a:ln>
          <a:effectLst/>
        </p:spPr>
        <p:txBody>
          <a:bodyPr/>
          <a:lstStyle>
            <a:lvl1pPr>
              <a:defRPr>
                <a:latin typeface="华文楷体" panose="02010600040101010101" pitchFamily="2" charset="-122"/>
                <a:ea typeface="华文楷体" panose="02010600040101010101" pitchFamily="2" charset="-122"/>
              </a:defRPr>
            </a:lvl1pPr>
          </a:lstStyle>
          <a:p>
            <a:pPr lvl="0"/>
            <a:r>
              <a:rPr lang="zh-CN" altLang="en-US"/>
              <a:t>单击此处编辑母版标题样式</a:t>
            </a:r>
            <a:endParaRPr lang="en-US" altLang="zh-CN"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1.png"/><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7650" y="80963"/>
            <a:ext cx="7161213" cy="939800"/>
          </a:xfrm>
          <a:prstGeom prst="rect">
            <a:avLst/>
          </a:prstGeom>
          <a:noFill/>
          <a:ln w="9525">
            <a:noFill/>
          </a:ln>
        </p:spPr>
        <p:txBody>
          <a:bodyPr vert="horz" wrap="square" lIns="91440" tIns="45720" rIns="91440" bIns="45720" anchor="ctr" anchorCtr="0"/>
          <a:lstStyle/>
          <a:p>
            <a:pPr marL="0" lvl="0" indent="0" defTabSz="914400" latinLnBrk="0">
              <a:lnSpc>
                <a:spcPct val="90000"/>
              </a:lnSpc>
              <a:spcBef>
                <a:spcPts val="1000"/>
              </a:spcBef>
              <a:buClrTx/>
              <a:buSzTx/>
              <a:buFont typeface="Arial" panose="020B0604020202020204" pitchFamily="34" charset="0"/>
              <a:buNone/>
            </a:pPr>
            <a:r>
              <a:rPr lang="en-US" altLang="en-US" dirty="0"/>
              <a:t>Click to edit Master title style</a:t>
            </a:r>
            <a:endParaRPr lang="en-US" altLang="en-US" dirty="0"/>
          </a:p>
        </p:txBody>
      </p:sp>
      <p:sp>
        <p:nvSpPr>
          <p:cNvPr id="1027" name="Rectangle 3"/>
          <p:cNvSpPr>
            <a:spLocks noGrp="1" noChangeArrowheads="1"/>
          </p:cNvSpPr>
          <p:nvPr>
            <p:ph type="body" idx="1"/>
          </p:nvPr>
        </p:nvSpPr>
        <p:spPr bwMode="auto">
          <a:xfrm>
            <a:off x="247650" y="1476375"/>
            <a:ext cx="9401175" cy="461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p:txBody>
      </p:sp>
      <p:sp>
        <p:nvSpPr>
          <p:cNvPr id="1028" name="Rectangle 7"/>
          <p:cNvSpPr>
            <a:spLocks noChangeArrowheads="1"/>
          </p:cNvSpPr>
          <p:nvPr/>
        </p:nvSpPr>
        <p:spPr bwMode="auto">
          <a:xfrm>
            <a:off x="6877050" y="6496050"/>
            <a:ext cx="2778125" cy="285750"/>
          </a:xfrm>
          <a:prstGeom prst="rect">
            <a:avLst/>
          </a:prstGeom>
          <a:noFill/>
          <a:ln>
            <a:noFill/>
          </a:ln>
          <a:effectLst/>
        </p:spPr>
        <p:txBody>
          <a:bodyPr lIns="0" tIns="0" rIns="0" bIns="0" anchor="b"/>
          <a:lstStyle>
            <a:lvl1pPr>
              <a:buClr>
                <a:schemeClr val="accent1"/>
              </a:buClr>
              <a:buFont typeface="Wingdings" panose="05000000000000000000" pitchFamily="2" charset="2"/>
              <a:buChar char="§"/>
              <a:defRPr>
                <a:solidFill>
                  <a:schemeClr val="tx1"/>
                </a:solidFill>
                <a:latin typeface="Arial" panose="020B0604020202020204" pitchFamily="34" charset="0"/>
              </a:defRPr>
            </a:lvl1pPr>
            <a:lvl2pPr marL="742950" indent="-285750">
              <a:buClr>
                <a:schemeClr val="accent1"/>
              </a:buClr>
              <a:buFont typeface="Wingdings" panose="05000000000000000000" pitchFamily="2" charset="2"/>
              <a:buChar char="§"/>
              <a:defRPr>
                <a:solidFill>
                  <a:schemeClr val="tx1"/>
                </a:solidFill>
                <a:latin typeface="Arial" panose="020B0604020202020204" pitchFamily="34" charset="0"/>
              </a:defRPr>
            </a:lvl2pPr>
            <a:lvl3pPr marL="1143000" indent="-228600">
              <a:buClr>
                <a:schemeClr val="accent1"/>
              </a:buClr>
              <a:buFont typeface="Wingdings" panose="05000000000000000000" pitchFamily="2" charset="2"/>
              <a:buChar char="§"/>
              <a:defRPr>
                <a:solidFill>
                  <a:schemeClr val="tx1"/>
                </a:solidFill>
                <a:latin typeface="Arial" panose="020B0604020202020204" pitchFamily="34" charset="0"/>
              </a:defRPr>
            </a:lvl3pPr>
            <a:lvl4pPr marL="1600200" indent="-228600">
              <a:buClr>
                <a:schemeClr val="accent1"/>
              </a:buClr>
              <a:buFont typeface="Wingdings" panose="05000000000000000000" pitchFamily="2" charset="2"/>
              <a:buChar char="§"/>
              <a:defRPr>
                <a:solidFill>
                  <a:schemeClr val="tx1"/>
                </a:solidFill>
                <a:latin typeface="Arial" panose="020B0604020202020204" pitchFamily="34" charset="0"/>
              </a:defRPr>
            </a:lvl4pPr>
            <a:lvl5pPr marL="2057400" indent="-228600">
              <a:buClr>
                <a:schemeClr val="accent1"/>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r">
              <a:buClrTx/>
              <a:buFontTx/>
              <a:buNone/>
            </a:pPr>
            <a:r>
              <a:rPr lang="zh-CN" altLang="en-US" sz="1000" dirty="0">
                <a:latin typeface="微软雅黑" panose="020B0503020204020204" pitchFamily="34" charset="-122"/>
                <a:ea typeface="微软雅黑" panose="020B0503020204020204" pitchFamily="34" charset="-122"/>
              </a:rPr>
              <a:t>企业架构培训 </a:t>
            </a:r>
            <a:r>
              <a:rPr lang="en-US" altLang="zh-CN" sz="1000" dirty="0">
                <a:latin typeface="微软雅黑" panose="020B0503020204020204" pitchFamily="34" charset="-122"/>
                <a:ea typeface="微软雅黑" panose="020B0503020204020204" pitchFamily="34" charset="-122"/>
              </a:rPr>
              <a:t>– 2026</a:t>
            </a:r>
            <a:r>
              <a:rPr lang="zh-CN" altLang="en-US" sz="1000" dirty="0">
                <a:latin typeface="微软雅黑" panose="020B0503020204020204" pitchFamily="34" charset="-122"/>
                <a:ea typeface="微软雅黑" panose="020B0503020204020204" pitchFamily="34" charset="-122"/>
              </a:rPr>
              <a:t>年</a:t>
            </a:r>
            <a:r>
              <a:rPr lang="en-US" altLang="zh-CN" sz="1000" dirty="0">
                <a:latin typeface="微软雅黑" panose="020B0503020204020204" pitchFamily="34" charset="-122"/>
                <a:ea typeface="微软雅黑" panose="020B0503020204020204" pitchFamily="34" charset="-122"/>
              </a:rPr>
              <a:t>4</a:t>
            </a:r>
            <a:r>
              <a:rPr lang="zh-CN" altLang="en-US" sz="1000" dirty="0">
                <a:latin typeface="微软雅黑" panose="020B0503020204020204" pitchFamily="34" charset="-122"/>
                <a:ea typeface="微软雅黑" panose="020B0503020204020204" pitchFamily="34" charset="-122"/>
              </a:rPr>
              <a:t>月</a:t>
            </a:r>
            <a:r>
              <a:rPr lang="en-US" altLang="en-US" sz="1000" dirty="0">
                <a:latin typeface="微软雅黑" panose="020B0503020204020204" pitchFamily="34" charset="-122"/>
                <a:ea typeface="微软雅黑" panose="020B0503020204020204" pitchFamily="34" charset="-122"/>
              </a:rPr>
              <a:t>       </a:t>
            </a:r>
            <a:fld id="{F7EC66D7-C41E-4E1A-9E6E-A7C6C5F78646}" type="slidenum">
              <a:rPr lang="en-US" altLang="en-US" sz="1000">
                <a:latin typeface="微软雅黑" panose="020B0503020204020204" pitchFamily="34" charset="-122"/>
                <a:ea typeface="微软雅黑" panose="020B0503020204020204" pitchFamily="34" charset="-122"/>
              </a:rPr>
            </a:fld>
            <a:endParaRPr lang="en-US" altLang="en-US" sz="1000" dirty="0">
              <a:latin typeface="微软雅黑" panose="020B0503020204020204" pitchFamily="34" charset="-122"/>
              <a:ea typeface="微软雅黑" panose="020B0503020204020204" pitchFamily="34" charset="-122"/>
            </a:endParaRPr>
          </a:p>
        </p:txBody>
      </p:sp>
      <p:pic>
        <p:nvPicPr>
          <p:cNvPr id="2" name="图片 5" descr="图层 4 拷贝"/>
          <p:cNvPicPr>
            <a:picLocks noChangeAspect="1"/>
          </p:cNvPicPr>
          <p:nvPr userDrawn="1"/>
        </p:nvPicPr>
        <p:blipFill>
          <a:blip r:embed="rId16"/>
          <a:stretch>
            <a:fillRect/>
          </a:stretch>
        </p:blipFill>
        <p:spPr>
          <a:xfrm>
            <a:off x="8412480" y="360680"/>
            <a:ext cx="1236345" cy="554990"/>
          </a:xfrm>
          <a:prstGeom prst="rect">
            <a:avLst/>
          </a:prstGeom>
        </p:spPr>
      </p:pic>
      <p:sp>
        <p:nvSpPr>
          <p:cNvPr id="3" name="矩形 8"/>
          <p:cNvSpPr/>
          <p:nvPr userDrawn="1"/>
        </p:nvSpPr>
        <p:spPr>
          <a:xfrm>
            <a:off x="0" y="1038225"/>
            <a:ext cx="9902825" cy="76200"/>
          </a:xfrm>
          <a:prstGeom prst="rect">
            <a:avLst/>
          </a:prstGeom>
          <a:gradFill>
            <a:gsLst>
              <a:gs pos="0">
                <a:schemeClr val="accent1">
                  <a:lumMod val="5000"/>
                  <a:lumOff val="95000"/>
                </a:schemeClr>
              </a:gs>
              <a:gs pos="37000">
                <a:srgbClr val="80A4C5">
                  <a:alpha val="100000"/>
                </a:srgbClr>
              </a:gs>
              <a:gs pos="75000">
                <a:srgbClr val="0A4F8D"/>
              </a:gs>
            </a:gsLst>
            <a:lin ang="216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rtl="0" eaLnBrk="0" fontAlgn="base" hangingPunct="0">
        <a:spcBef>
          <a:spcPct val="0"/>
        </a:spcBef>
        <a:spcAft>
          <a:spcPct val="0"/>
        </a:spcAft>
        <a:defRPr lang="en-US" altLang="en-US" sz="2800" b="1" kern="1200" dirty="0">
          <a:solidFill>
            <a:srgbClr val="0A4F8D"/>
          </a:solidFill>
          <a:latin typeface="Impact" panose="020B0806030902050204" charset="0"/>
          <a:ea typeface="微软雅黑" panose="020B0503020204020204" pitchFamily="34" charset="-122"/>
          <a:cs typeface="+mn-cs"/>
        </a:defRPr>
      </a:lvl1pPr>
      <a:lvl2pPr algn="l" rtl="0" eaLnBrk="0" fontAlgn="base" hangingPunct="0">
        <a:spcBef>
          <a:spcPct val="0"/>
        </a:spcBef>
        <a:spcAft>
          <a:spcPct val="0"/>
        </a:spcAft>
        <a:defRPr sz="2400" b="1">
          <a:solidFill>
            <a:schemeClr val="tx2"/>
          </a:solidFill>
          <a:latin typeface="Arial" panose="020B0604020202020204" pitchFamily="34" charset="0"/>
        </a:defRPr>
      </a:lvl2pPr>
      <a:lvl3pPr algn="l" rtl="0" eaLnBrk="0" fontAlgn="base" hangingPunct="0">
        <a:spcBef>
          <a:spcPct val="0"/>
        </a:spcBef>
        <a:spcAft>
          <a:spcPct val="0"/>
        </a:spcAft>
        <a:defRPr sz="2400" b="1">
          <a:solidFill>
            <a:schemeClr val="tx2"/>
          </a:solidFill>
          <a:latin typeface="Arial" panose="020B0604020202020204" pitchFamily="34" charset="0"/>
        </a:defRPr>
      </a:lvl3pPr>
      <a:lvl4pPr algn="l" rtl="0" eaLnBrk="0" fontAlgn="base" hangingPunct="0">
        <a:spcBef>
          <a:spcPct val="0"/>
        </a:spcBef>
        <a:spcAft>
          <a:spcPct val="0"/>
        </a:spcAft>
        <a:defRPr sz="2400" b="1">
          <a:solidFill>
            <a:schemeClr val="tx2"/>
          </a:solidFill>
          <a:latin typeface="Arial" panose="020B0604020202020204" pitchFamily="34" charset="0"/>
        </a:defRPr>
      </a:lvl4pPr>
      <a:lvl5pPr algn="l" rtl="0" eaLnBrk="0" fontAlgn="base" hangingPunct="0">
        <a:spcBef>
          <a:spcPct val="0"/>
        </a:spcBef>
        <a:spcAft>
          <a:spcPct val="0"/>
        </a:spcAft>
        <a:defRPr sz="2400" b="1">
          <a:solidFill>
            <a:schemeClr val="tx2"/>
          </a:solidFill>
          <a:latin typeface="Arial" panose="020B0604020202020204" pitchFamily="34" charset="0"/>
        </a:defRPr>
      </a:lvl5pPr>
      <a:lvl6pPr marL="457200" algn="l" rtl="0" fontAlgn="base">
        <a:spcBef>
          <a:spcPct val="0"/>
        </a:spcBef>
        <a:spcAft>
          <a:spcPct val="0"/>
        </a:spcAft>
        <a:defRPr sz="2400" b="1">
          <a:solidFill>
            <a:schemeClr val="tx2"/>
          </a:solidFill>
          <a:latin typeface="Arial" panose="020B0604020202020204" pitchFamily="34" charset="0"/>
        </a:defRPr>
      </a:lvl6pPr>
      <a:lvl7pPr marL="914400" algn="l" rtl="0" fontAlgn="base">
        <a:spcBef>
          <a:spcPct val="0"/>
        </a:spcBef>
        <a:spcAft>
          <a:spcPct val="0"/>
        </a:spcAft>
        <a:defRPr sz="2400" b="1">
          <a:solidFill>
            <a:schemeClr val="tx2"/>
          </a:solidFill>
          <a:latin typeface="Arial" panose="020B0604020202020204" pitchFamily="34" charset="0"/>
        </a:defRPr>
      </a:lvl7pPr>
      <a:lvl8pPr marL="1371600" algn="l" rtl="0" fontAlgn="base">
        <a:spcBef>
          <a:spcPct val="0"/>
        </a:spcBef>
        <a:spcAft>
          <a:spcPct val="0"/>
        </a:spcAft>
        <a:defRPr sz="2400" b="1">
          <a:solidFill>
            <a:schemeClr val="tx2"/>
          </a:solidFill>
          <a:latin typeface="Arial" panose="020B0604020202020204" pitchFamily="34" charset="0"/>
        </a:defRPr>
      </a:lvl8pPr>
      <a:lvl9pPr marL="1828800" algn="l" rtl="0" fontAlgn="base">
        <a:spcBef>
          <a:spcPct val="0"/>
        </a:spcBef>
        <a:spcAft>
          <a:spcPct val="0"/>
        </a:spcAft>
        <a:defRPr sz="2400" b="1">
          <a:solidFill>
            <a:schemeClr val="tx2"/>
          </a:solidFill>
          <a:latin typeface="Arial" panose="020B0604020202020204" pitchFamily="34" charset="0"/>
        </a:defRPr>
      </a:lvl9pPr>
    </p:titleStyle>
    <p:bodyStyle>
      <a:lvl1pPr marL="342900" indent="-342900" algn="l" rtl="0" eaLnBrk="0" fontAlgn="base" hangingPunct="0">
        <a:spcBef>
          <a:spcPct val="70000"/>
        </a:spcBef>
        <a:spcAft>
          <a:spcPct val="10000"/>
        </a:spcAft>
        <a:buClr>
          <a:schemeClr val="accent1"/>
        </a:buClr>
        <a:buSzPct val="50000"/>
        <a:buFont typeface="Monotype Sorts" pitchFamily="2" charset="2"/>
        <a:defRPr sz="2200" b="1">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50000"/>
        </a:spcBef>
        <a:spcAft>
          <a:spcPct val="10000"/>
        </a:spcAft>
        <a:buClr>
          <a:srgbClr val="0070C0"/>
        </a:buClr>
        <a:buSzPct val="75000"/>
        <a:buFont typeface="Wingdings" panose="05000000000000000000" pitchFamily="2" charset="2"/>
        <a:buChar char="l"/>
        <a:defRPr>
          <a:solidFill>
            <a:schemeClr val="tx1"/>
          </a:solidFill>
          <a:latin typeface="微软雅黑" panose="020B0503020204020204" pitchFamily="34" charset="-122"/>
          <a:ea typeface="微软雅黑" panose="020B0503020204020204" pitchFamily="34" charset="-122"/>
        </a:defRPr>
      </a:lvl2pPr>
      <a:lvl3pPr marL="1143000" indent="-228600" algn="l" rtl="0" eaLnBrk="0" fontAlgn="base" hangingPunct="0">
        <a:spcBef>
          <a:spcPct val="50000"/>
        </a:spcBef>
        <a:spcAft>
          <a:spcPct val="10000"/>
        </a:spcAft>
        <a:buClr>
          <a:srgbClr val="0070C0"/>
        </a:buClr>
        <a:buSzPct val="75000"/>
        <a:buChar char="—"/>
        <a:defRPr>
          <a:solidFill>
            <a:schemeClr val="tx1"/>
          </a:solidFill>
          <a:latin typeface="微软雅黑" panose="020B0503020204020204" pitchFamily="34" charset="-122"/>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vl6pPr marL="2514600" indent="-228600" algn="l" rtl="0" fontAlgn="base">
        <a:spcBef>
          <a:spcPct val="20000"/>
        </a:spcBef>
        <a:spcAft>
          <a:spcPct val="0"/>
        </a:spcAft>
        <a:buChar char="»"/>
        <a:defRPr sz="2000">
          <a:solidFill>
            <a:schemeClr val="tx1"/>
          </a:solidFill>
          <a:latin typeface="Times New Roman" panose="02020603050405020304" pitchFamily="18" charset="0"/>
        </a:defRPr>
      </a:lvl6pPr>
      <a:lvl7pPr marL="2971800" indent="-228600" algn="l" rtl="0" fontAlgn="base">
        <a:spcBef>
          <a:spcPct val="20000"/>
        </a:spcBef>
        <a:spcAft>
          <a:spcPct val="0"/>
        </a:spcAft>
        <a:buChar char="»"/>
        <a:defRPr sz="2000">
          <a:solidFill>
            <a:schemeClr val="tx1"/>
          </a:solidFill>
          <a:latin typeface="Times New Roman" panose="02020603050405020304" pitchFamily="18" charset="0"/>
        </a:defRPr>
      </a:lvl7pPr>
      <a:lvl8pPr marL="3429000" indent="-228600" algn="l" rtl="0" fontAlgn="base">
        <a:spcBef>
          <a:spcPct val="20000"/>
        </a:spcBef>
        <a:spcAft>
          <a:spcPct val="0"/>
        </a:spcAft>
        <a:buChar char="»"/>
        <a:defRPr sz="2000">
          <a:solidFill>
            <a:schemeClr val="tx1"/>
          </a:solidFill>
          <a:latin typeface="Times New Roman" panose="02020603050405020304" pitchFamily="18" charset="0"/>
        </a:defRPr>
      </a:lvl8pPr>
      <a:lvl9pPr marL="3886200" indent="-228600" algn="l" rtl="0" fontAlgn="base">
        <a:spcBef>
          <a:spcPct val="20000"/>
        </a:spcBef>
        <a:spcAft>
          <a:spcPct val="0"/>
        </a:spcAft>
        <a:buChar char="»"/>
        <a:defRPr sz="2000">
          <a:solidFill>
            <a:schemeClr val="tx1"/>
          </a:solidFill>
          <a:latin typeface="Times New Roman" panose="02020603050405020304"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5.jpe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 Target="slide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1098699" y="2276872"/>
            <a:ext cx="7705426" cy="2808783"/>
          </a:xfrm>
          <a:prstGeom prst="rect">
            <a:avLst/>
          </a:prstGeom>
          <a:solidFill>
            <a:srgbClr val="0070C0"/>
          </a:solidFill>
          <a:ln w="9525">
            <a:solidFill>
              <a:schemeClr val="tx1"/>
            </a:solidFill>
            <a:miter lim="800000"/>
          </a:ln>
          <a:effectLst>
            <a:outerShdw dist="107763" dir="18900000" algn="ctr" rotWithShape="0">
              <a:schemeClr val="bg2">
                <a:alpha val="50000"/>
              </a:schemeClr>
            </a:outerShdw>
          </a:effec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dirty="0">
              <a:solidFill>
                <a:schemeClr val="bg1"/>
              </a:solidFill>
              <a:latin typeface="微软雅黑" panose="020B0503020204020204" pitchFamily="34" charset="-122"/>
              <a:ea typeface="宋体" panose="02010600030101010101" pitchFamily="2" charset="-122"/>
            </a:endParaRPr>
          </a:p>
        </p:txBody>
      </p:sp>
      <p:sp>
        <p:nvSpPr>
          <p:cNvPr id="5124" name="Rectangle 4"/>
          <p:cNvSpPr>
            <a:spLocks noGrp="1" noChangeArrowheads="1"/>
          </p:cNvSpPr>
          <p:nvPr>
            <p:ph type="body" idx="1"/>
          </p:nvPr>
        </p:nvSpPr>
        <p:spPr>
          <a:xfrm>
            <a:off x="1991641" y="2563787"/>
            <a:ext cx="5552059" cy="2234952"/>
          </a:xfrm>
        </p:spPr>
        <p:txBody>
          <a:bodyPr/>
          <a:lstStyle/>
          <a:p>
            <a:pPr marL="609600" indent="-609600" algn="ctr">
              <a:buFontTx/>
              <a:buNone/>
            </a:pPr>
            <a:r>
              <a:rPr lang="en-US" altLang="zh-CN" sz="4000" dirty="0">
                <a:solidFill>
                  <a:schemeClr val="bg1"/>
                </a:solidFill>
                <a:ea typeface="宋体" panose="02010600030101010101" pitchFamily="2" charset="-122"/>
              </a:rPr>
              <a:t>1. </a:t>
            </a:r>
            <a:r>
              <a:rPr lang="zh-CN" altLang="en-US" sz="4000" dirty="0">
                <a:solidFill>
                  <a:schemeClr val="bg1"/>
                </a:solidFill>
                <a:ea typeface="宋体" panose="02010600030101010101" pitchFamily="2" charset="-122"/>
              </a:rPr>
              <a:t>公司卓越绩效目标，通过企业架构落地</a:t>
            </a:r>
            <a:endParaRPr lang="zh-CN" altLang="en-US" sz="3200" dirty="0">
              <a:solidFill>
                <a:schemeClr val="bg1"/>
              </a:solidFill>
              <a:ea typeface="宋体" panose="02010600030101010101" pitchFamily="2" charset="-122"/>
            </a:endParaRPr>
          </a:p>
          <a:p>
            <a:pPr marL="609600" indent="-609600" algn="ctr">
              <a:buFontTx/>
              <a:buNone/>
            </a:pPr>
            <a:endParaRPr lang="en-US" altLang="zh-CN" sz="4000" dirty="0">
              <a:ea typeface="宋体" panose="02010600030101010101" pitchFamily="2" charset="-122"/>
            </a:endParaRPr>
          </a:p>
        </p:txBody>
      </p:sp>
      <p:sp>
        <p:nvSpPr>
          <p:cNvPr id="2" name="Title 1"/>
          <p:cNvSpPr>
            <a:spLocks noGrp="1"/>
          </p:cNvSpPr>
          <p:nvPr>
            <p:ph type="title"/>
          </p:nvPr>
        </p:nvSpPr>
        <p:spPr/>
        <p:txBody>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650" y="377491"/>
            <a:ext cx="8520186" cy="643271"/>
          </a:xfrm>
        </p:spPr>
        <p:txBody>
          <a:bodyPr/>
          <a:lstStyle/>
          <a:p>
            <a:r>
              <a:rPr lang="zh-CN" altLang="en-US" dirty="0"/>
              <a:t>公司通过卓越绩效引入，全面建设世界一流企业</a:t>
            </a:r>
            <a:endParaRPr lang="en-GB" dirty="0"/>
          </a:p>
        </p:txBody>
      </p:sp>
      <p:pic>
        <p:nvPicPr>
          <p:cNvPr id="6" name="Picture 5"/>
          <p:cNvPicPr>
            <a:picLocks noChangeAspect="1"/>
          </p:cNvPicPr>
          <p:nvPr/>
        </p:nvPicPr>
        <p:blipFill>
          <a:blip r:embed="rId1"/>
          <a:stretch>
            <a:fillRect/>
          </a:stretch>
        </p:blipFill>
        <p:spPr>
          <a:xfrm>
            <a:off x="188009" y="1973340"/>
            <a:ext cx="5221787" cy="3628972"/>
          </a:xfrm>
          <a:prstGeom prst="rect">
            <a:avLst/>
          </a:prstGeom>
        </p:spPr>
      </p:pic>
      <p:grpSp>
        <p:nvGrpSpPr>
          <p:cNvPr id="316" name="Group 315"/>
          <p:cNvGrpSpPr/>
          <p:nvPr/>
        </p:nvGrpSpPr>
        <p:grpSpPr>
          <a:xfrm>
            <a:off x="5751108" y="1899502"/>
            <a:ext cx="4070350" cy="3806825"/>
            <a:chOff x="5007056" y="1690064"/>
            <a:chExt cx="4070350" cy="3806825"/>
          </a:xfrm>
        </p:grpSpPr>
        <p:sp>
          <p:nvSpPr>
            <p:cNvPr id="308" name="_s286731"/>
            <p:cNvSpPr>
              <a:spLocks noChangeArrowheads="1"/>
            </p:cNvSpPr>
            <p:nvPr/>
          </p:nvSpPr>
          <p:spPr bwMode="auto">
            <a:xfrm flipV="1">
              <a:off x="6704094" y="1690064"/>
              <a:ext cx="676275" cy="635000"/>
            </a:xfrm>
            <a:custGeom>
              <a:avLst/>
              <a:gdLst>
                <a:gd name="G0" fmla="+- 10800 0 0"/>
                <a:gd name="G1" fmla="+- 21600 0 10800"/>
                <a:gd name="G2" fmla="*/ 10800 1 2"/>
                <a:gd name="G3" fmla="+- 21600 0 G2"/>
                <a:gd name="G4" fmla="+/ 10800 21600 2"/>
                <a:gd name="G5" fmla="+/ G1 0 2"/>
                <a:gd name="G6" fmla="*/ 21600 21600 10800"/>
                <a:gd name="G7" fmla="*/ G6 1 2"/>
                <a:gd name="G8" fmla="+- 21600 0 G7"/>
                <a:gd name="G9" fmla="*/ 21600 1 2"/>
                <a:gd name="G10" fmla="+- 10800 0 G9"/>
                <a:gd name="G11" fmla="?: G10 G8 0"/>
                <a:gd name="G12" fmla="?: G10 G7 21600"/>
                <a:gd name="T0" fmla="*/ 16200 w 21600"/>
                <a:gd name="T1" fmla="*/ 10800 h 21600"/>
                <a:gd name="T2" fmla="*/ 10800 w 21600"/>
                <a:gd name="T3" fmla="*/ 21600 h 21600"/>
                <a:gd name="T4" fmla="*/ 5400 w 21600"/>
                <a:gd name="T5" fmla="*/ 10800 h 21600"/>
                <a:gd name="T6" fmla="*/ 10800 w 21600"/>
                <a:gd name="T7" fmla="*/ 0 h 21600"/>
                <a:gd name="T8" fmla="*/ 7200 w 21600"/>
                <a:gd name="T9" fmla="*/ 7200 h 21600"/>
                <a:gd name="T10" fmla="*/ 14400 w 21600"/>
                <a:gd name="T11" fmla="*/ 14400 h 21600"/>
              </a:gdLst>
              <a:ahLst/>
              <a:cxnLst>
                <a:cxn ang="0">
                  <a:pos x="T0" y="T1"/>
                </a:cxn>
                <a:cxn ang="0">
                  <a:pos x="T2" y="T3"/>
                </a:cxn>
                <a:cxn ang="0">
                  <a:pos x="T4" y="T5"/>
                </a:cxn>
                <a:cxn ang="0">
                  <a:pos x="T6" y="T7"/>
                </a:cxn>
              </a:cxnLst>
              <a:rect l="T8" t="T9" r="T10" b="T11"/>
              <a:pathLst>
                <a:path w="21600" h="21600">
                  <a:moveTo>
                    <a:pt x="0" y="0"/>
                  </a:moveTo>
                  <a:lnTo>
                    <a:pt x="10800" y="21600"/>
                  </a:lnTo>
                  <a:lnTo>
                    <a:pt x="10800" y="21600"/>
                  </a:lnTo>
                  <a:lnTo>
                    <a:pt x="21600" y="0"/>
                  </a:lnTo>
                  <a:close/>
                </a:path>
              </a:pathLst>
            </a:custGeom>
            <a:noFill/>
            <a:ln w="4670" algn="in">
              <a:noFill/>
              <a:miter lim="800000"/>
            </a:ln>
          </p:spPr>
          <p:txBody>
            <a:bodyPr rot="10800000" wrap="none" anchor="ctr"/>
            <a:lstStyle/>
            <a:p>
              <a:pPr eaLnBrk="1" hangingPunct="1"/>
              <a:r>
                <a:rPr lang="nb-NO">
                  <a:solidFill>
                    <a:srgbClr val="000000"/>
                  </a:solidFill>
                  <a:latin typeface="Verdana" panose="020B0604030504040204" pitchFamily="34" charset="0"/>
                </a:rPr>
                <a:t> </a:t>
              </a:r>
              <a:endParaRPr lang="nb-NO">
                <a:solidFill>
                  <a:srgbClr val="000000"/>
                </a:solidFill>
                <a:latin typeface="Verdana" panose="020B0604030504040204" pitchFamily="34" charset="0"/>
              </a:endParaRPr>
            </a:p>
          </p:txBody>
        </p:sp>
        <p:sp>
          <p:nvSpPr>
            <p:cNvPr id="309" name="_s286732"/>
            <p:cNvSpPr>
              <a:spLocks noChangeArrowheads="1"/>
            </p:cNvSpPr>
            <p:nvPr/>
          </p:nvSpPr>
          <p:spPr bwMode="auto">
            <a:xfrm flipV="1">
              <a:off x="6362781" y="2325064"/>
              <a:ext cx="1358900" cy="63341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2">
                <a:lumMod val="20000"/>
                <a:lumOff val="80000"/>
              </a:schemeClr>
            </a:solidFill>
            <a:ln w="4670" algn="in">
              <a:solidFill>
                <a:srgbClr val="000000"/>
              </a:solidFill>
              <a:miter lim="800000"/>
            </a:ln>
          </p:spPr>
          <p:txBody>
            <a:bodyPr rot="10800000"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Verdana" panose="020B0604030504040204" pitchFamily="34" charset="0"/>
                </a:rPr>
                <a:t>业务</a:t>
              </a:r>
              <a:endParaRPr kumimoji="0" lang="en-US" altLang="zh-CN" sz="1800" b="0" i="0" u="none" strike="noStrike" kern="0" cap="none" spc="0" normalizeH="0" baseline="0" noProof="0" dirty="0">
                <a:ln>
                  <a:noFill/>
                </a:ln>
                <a:solidFill>
                  <a:srgbClr val="000000"/>
                </a:solidFill>
                <a:effectLst/>
                <a:uLnTx/>
                <a:uFillTx/>
                <a:latin typeface="Verdana" panose="020B0604030504040204" pitchFamily="34" charset="0"/>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Verdana" panose="020B0604030504040204" pitchFamily="34" charset="0"/>
                </a:rPr>
                <a:t>能力</a:t>
              </a:r>
              <a:endParaRPr kumimoji="0" lang="nb-NO" sz="1800" b="0" i="0" u="none" strike="noStrike" kern="0" cap="none" spc="0" normalizeH="0" baseline="0" noProof="0" dirty="0">
                <a:ln>
                  <a:noFill/>
                </a:ln>
                <a:solidFill>
                  <a:srgbClr val="000000"/>
                </a:solidFill>
                <a:effectLst/>
                <a:uLnTx/>
                <a:uFillTx/>
                <a:latin typeface="Verdana" panose="020B0604030504040204" pitchFamily="34" charset="0"/>
              </a:endParaRPr>
            </a:p>
          </p:txBody>
        </p:sp>
        <p:sp>
          <p:nvSpPr>
            <p:cNvPr id="310" name="_s286733"/>
            <p:cNvSpPr>
              <a:spLocks noChangeArrowheads="1"/>
            </p:cNvSpPr>
            <p:nvPr/>
          </p:nvSpPr>
          <p:spPr bwMode="auto">
            <a:xfrm flipV="1">
              <a:off x="6024644" y="2958476"/>
              <a:ext cx="2035175" cy="635000"/>
            </a:xfrm>
            <a:custGeom>
              <a:avLst/>
              <a:gdLst>
                <a:gd name="G0" fmla="+- 3600 0 0"/>
                <a:gd name="G1" fmla="+- 21600 0 3600"/>
                <a:gd name="G2" fmla="*/ 3600 1 2"/>
                <a:gd name="G3" fmla="+- 21600 0 G2"/>
                <a:gd name="G4" fmla="+/ 3600 21600 2"/>
                <a:gd name="G5" fmla="+/ G1 0 2"/>
                <a:gd name="G6" fmla="*/ 21600 21600 3600"/>
                <a:gd name="G7" fmla="*/ G6 1 2"/>
                <a:gd name="G8" fmla="+- 21600 0 G7"/>
                <a:gd name="G9" fmla="*/ 21600 1 2"/>
                <a:gd name="G10" fmla="+- 3600 0 G9"/>
                <a:gd name="G11" fmla="?: G10 G8 0"/>
                <a:gd name="G12" fmla="?: G10 G7 21600"/>
                <a:gd name="T0" fmla="*/ 19800 w 21600"/>
                <a:gd name="T1" fmla="*/ 10800 h 21600"/>
                <a:gd name="T2" fmla="*/ 10800 w 21600"/>
                <a:gd name="T3" fmla="*/ 21600 h 21600"/>
                <a:gd name="T4" fmla="*/ 1800 w 21600"/>
                <a:gd name="T5" fmla="*/ 10800 h 21600"/>
                <a:gd name="T6" fmla="*/ 10800 w 21600"/>
                <a:gd name="T7" fmla="*/ 0 h 21600"/>
                <a:gd name="T8" fmla="*/ 3600 w 21600"/>
                <a:gd name="T9" fmla="*/ 3600 h 21600"/>
                <a:gd name="T10" fmla="*/ 18000 w 21600"/>
                <a:gd name="T11" fmla="*/ 18000 h 21600"/>
              </a:gdLst>
              <a:ahLst/>
              <a:cxnLst>
                <a:cxn ang="0">
                  <a:pos x="T0" y="T1"/>
                </a:cxn>
                <a:cxn ang="0">
                  <a:pos x="T2" y="T3"/>
                </a:cxn>
                <a:cxn ang="0">
                  <a:pos x="T4" y="T5"/>
                </a:cxn>
                <a:cxn ang="0">
                  <a:pos x="T6" y="T7"/>
                </a:cxn>
              </a:cxnLst>
              <a:rect l="T8" t="T9" r="T10" b="T11"/>
              <a:pathLst>
                <a:path w="21600" h="21600">
                  <a:moveTo>
                    <a:pt x="0" y="0"/>
                  </a:moveTo>
                  <a:lnTo>
                    <a:pt x="3600" y="21600"/>
                  </a:lnTo>
                  <a:lnTo>
                    <a:pt x="18000" y="21600"/>
                  </a:lnTo>
                  <a:lnTo>
                    <a:pt x="21600" y="0"/>
                  </a:lnTo>
                  <a:close/>
                </a:path>
              </a:pathLst>
            </a:custGeom>
            <a:solidFill>
              <a:schemeClr val="bg2">
                <a:lumMod val="20000"/>
                <a:lumOff val="80000"/>
              </a:schemeClr>
            </a:solidFill>
            <a:ln w="4670" algn="in">
              <a:solidFill>
                <a:srgbClr val="000000"/>
              </a:solidFill>
              <a:miter lim="800000"/>
            </a:ln>
            <a:effectLst/>
          </p:spPr>
          <p:txBody>
            <a:bodyPr rot="10800000"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Verdana" panose="020B0604030504040204" pitchFamily="34" charset="0"/>
                </a:rPr>
                <a:t>业务流程</a:t>
              </a:r>
              <a:endParaRPr kumimoji="0" lang="nb-NO" sz="1800" b="0" i="0" u="none" strike="noStrike" kern="0" cap="none" spc="0" normalizeH="0" baseline="0" noProof="0" dirty="0">
                <a:ln>
                  <a:noFill/>
                </a:ln>
                <a:solidFill>
                  <a:srgbClr val="000000"/>
                </a:solidFill>
                <a:effectLst/>
                <a:uLnTx/>
                <a:uFillTx/>
                <a:latin typeface="Verdana" panose="020B0604030504040204" pitchFamily="34" charset="0"/>
              </a:endParaRPr>
            </a:p>
          </p:txBody>
        </p:sp>
        <p:sp>
          <p:nvSpPr>
            <p:cNvPr id="311" name="_s286734"/>
            <p:cNvSpPr>
              <a:spLocks noChangeArrowheads="1"/>
            </p:cNvSpPr>
            <p:nvPr/>
          </p:nvSpPr>
          <p:spPr bwMode="auto">
            <a:xfrm flipV="1">
              <a:off x="5684919" y="3593476"/>
              <a:ext cx="2714625" cy="635000"/>
            </a:xfrm>
            <a:custGeom>
              <a:avLst/>
              <a:gdLst>
                <a:gd name="G0" fmla="+- 2700 0 0"/>
                <a:gd name="G1" fmla="+- 21600 0 2700"/>
                <a:gd name="G2" fmla="*/ 2700 1 2"/>
                <a:gd name="G3" fmla="+- 21600 0 G2"/>
                <a:gd name="G4" fmla="+/ 2700 21600 2"/>
                <a:gd name="G5" fmla="+/ G1 0 2"/>
                <a:gd name="G6" fmla="*/ 21600 21600 2700"/>
                <a:gd name="G7" fmla="*/ G6 1 2"/>
                <a:gd name="G8" fmla="+- 21600 0 G7"/>
                <a:gd name="G9" fmla="*/ 21600 1 2"/>
                <a:gd name="G10" fmla="+- 2700 0 G9"/>
                <a:gd name="G11" fmla="?: G10 G8 0"/>
                <a:gd name="G12" fmla="?: G10 G7 21600"/>
                <a:gd name="T0" fmla="*/ 20250 w 21600"/>
                <a:gd name="T1" fmla="*/ 10800 h 21600"/>
                <a:gd name="T2" fmla="*/ 10800 w 21600"/>
                <a:gd name="T3" fmla="*/ 21600 h 21600"/>
                <a:gd name="T4" fmla="*/ 1350 w 21600"/>
                <a:gd name="T5" fmla="*/ 10800 h 21600"/>
                <a:gd name="T6" fmla="*/ 10800 w 21600"/>
                <a:gd name="T7" fmla="*/ 0 h 21600"/>
                <a:gd name="T8" fmla="*/ 3150 w 21600"/>
                <a:gd name="T9" fmla="*/ 3150 h 21600"/>
                <a:gd name="T10" fmla="*/ 18450 w 21600"/>
                <a:gd name="T11" fmla="*/ 18450 h 21600"/>
              </a:gdLst>
              <a:ahLst/>
              <a:cxnLst>
                <a:cxn ang="0">
                  <a:pos x="T0" y="T1"/>
                </a:cxn>
                <a:cxn ang="0">
                  <a:pos x="T2" y="T3"/>
                </a:cxn>
                <a:cxn ang="0">
                  <a:pos x="T4" y="T5"/>
                </a:cxn>
                <a:cxn ang="0">
                  <a:pos x="T6" y="T7"/>
                </a:cxn>
              </a:cxnLst>
              <a:rect l="T8" t="T9" r="T10" b="T11"/>
              <a:pathLst>
                <a:path w="21600" h="21600">
                  <a:moveTo>
                    <a:pt x="0" y="0"/>
                  </a:moveTo>
                  <a:lnTo>
                    <a:pt x="2700" y="21600"/>
                  </a:lnTo>
                  <a:lnTo>
                    <a:pt x="18900" y="21600"/>
                  </a:lnTo>
                  <a:lnTo>
                    <a:pt x="21600" y="0"/>
                  </a:lnTo>
                  <a:close/>
                </a:path>
              </a:pathLst>
            </a:custGeom>
            <a:solidFill>
              <a:schemeClr val="bg2">
                <a:lumMod val="20000"/>
                <a:lumOff val="80000"/>
              </a:schemeClr>
            </a:solidFill>
            <a:ln w="4670" algn="in">
              <a:solidFill>
                <a:srgbClr val="000000"/>
              </a:solidFill>
              <a:miter lim="800000"/>
            </a:ln>
            <a:effectLst/>
          </p:spPr>
          <p:txBody>
            <a:bodyPr rot="10800000"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Verdana" panose="020B0604030504040204" pitchFamily="34" charset="0"/>
                </a:rPr>
                <a:t>业务需求</a:t>
              </a:r>
              <a:endParaRPr kumimoji="0" lang="nb-NO" sz="1800" b="0" i="0" u="none" strike="noStrike" kern="0" cap="none" spc="0" normalizeH="0" baseline="0" noProof="0" dirty="0">
                <a:ln>
                  <a:noFill/>
                </a:ln>
                <a:solidFill>
                  <a:srgbClr val="000000"/>
                </a:solidFill>
                <a:effectLst/>
                <a:uLnTx/>
                <a:uFillTx/>
                <a:latin typeface="Verdana" panose="020B0604030504040204" pitchFamily="34" charset="0"/>
              </a:endParaRPr>
            </a:p>
          </p:txBody>
        </p:sp>
        <p:sp>
          <p:nvSpPr>
            <p:cNvPr id="312" name="_s286735"/>
            <p:cNvSpPr>
              <a:spLocks noChangeArrowheads="1"/>
            </p:cNvSpPr>
            <p:nvPr/>
          </p:nvSpPr>
          <p:spPr bwMode="auto">
            <a:xfrm flipV="1">
              <a:off x="5345194" y="4228476"/>
              <a:ext cx="3394075" cy="633413"/>
            </a:xfrm>
            <a:custGeom>
              <a:avLst/>
              <a:gdLst>
                <a:gd name="G0" fmla="+- 2160 0 0"/>
                <a:gd name="G1" fmla="+- 21600 0 2160"/>
                <a:gd name="G2" fmla="*/ 2160 1 2"/>
                <a:gd name="G3" fmla="+- 21600 0 G2"/>
                <a:gd name="G4" fmla="+/ 2160 21600 2"/>
                <a:gd name="G5" fmla="+/ G1 0 2"/>
                <a:gd name="G6" fmla="*/ 21600 21600 2160"/>
                <a:gd name="G7" fmla="*/ G6 1 2"/>
                <a:gd name="G8" fmla="+- 21600 0 G7"/>
                <a:gd name="G9" fmla="*/ 21600 1 2"/>
                <a:gd name="G10" fmla="+- 2160 0 G9"/>
                <a:gd name="G11" fmla="?: G10 G8 0"/>
                <a:gd name="G12" fmla="?: G10 G7 21600"/>
                <a:gd name="T0" fmla="*/ 20520 w 21600"/>
                <a:gd name="T1" fmla="*/ 10800 h 21600"/>
                <a:gd name="T2" fmla="*/ 10800 w 21600"/>
                <a:gd name="T3" fmla="*/ 21600 h 21600"/>
                <a:gd name="T4" fmla="*/ 1080 w 21600"/>
                <a:gd name="T5" fmla="*/ 10800 h 21600"/>
                <a:gd name="T6" fmla="*/ 10800 w 21600"/>
                <a:gd name="T7" fmla="*/ 0 h 21600"/>
                <a:gd name="T8" fmla="*/ 2880 w 21600"/>
                <a:gd name="T9" fmla="*/ 2880 h 21600"/>
                <a:gd name="T10" fmla="*/ 18720 w 21600"/>
                <a:gd name="T11" fmla="*/ 18720 h 21600"/>
              </a:gdLst>
              <a:ahLst/>
              <a:cxnLst>
                <a:cxn ang="0">
                  <a:pos x="T0" y="T1"/>
                </a:cxn>
                <a:cxn ang="0">
                  <a:pos x="T2" y="T3"/>
                </a:cxn>
                <a:cxn ang="0">
                  <a:pos x="T4" y="T5"/>
                </a:cxn>
                <a:cxn ang="0">
                  <a:pos x="T6" y="T7"/>
                </a:cxn>
              </a:cxnLst>
              <a:rect l="T8" t="T9" r="T10" b="T11"/>
              <a:pathLst>
                <a:path w="21600" h="21600">
                  <a:moveTo>
                    <a:pt x="0" y="0"/>
                  </a:moveTo>
                  <a:lnTo>
                    <a:pt x="2160" y="21600"/>
                  </a:lnTo>
                  <a:lnTo>
                    <a:pt x="19440" y="21600"/>
                  </a:lnTo>
                  <a:lnTo>
                    <a:pt x="21600" y="0"/>
                  </a:lnTo>
                  <a:close/>
                </a:path>
              </a:pathLst>
            </a:custGeom>
            <a:solidFill>
              <a:schemeClr val="bg2">
                <a:lumMod val="20000"/>
                <a:lumOff val="80000"/>
              </a:schemeClr>
            </a:solidFill>
            <a:ln w="4670" algn="in">
              <a:solidFill>
                <a:srgbClr val="000000"/>
              </a:solidFill>
              <a:miter lim="800000"/>
            </a:ln>
            <a:effectLst/>
          </p:spPr>
          <p:txBody>
            <a:bodyPr rot="10800000"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kern="0" dirty="0">
                  <a:solidFill>
                    <a:srgbClr val="000000"/>
                  </a:solidFill>
                  <a:latin typeface="Verdana" panose="020B0604030504040204" pitchFamily="34" charset="0"/>
                </a:rPr>
                <a:t>组织架构</a:t>
              </a:r>
              <a:r>
                <a:rPr lang="en-US" altLang="zh-CN" kern="0" dirty="0">
                  <a:solidFill>
                    <a:srgbClr val="000000"/>
                  </a:solidFill>
                  <a:latin typeface="Verdana" panose="020B0604030504040204" pitchFamily="34" charset="0"/>
                </a:rPr>
                <a:t>/</a:t>
              </a:r>
              <a:r>
                <a:rPr lang="zh-CN" altLang="en-US" kern="0" dirty="0">
                  <a:solidFill>
                    <a:srgbClr val="000000"/>
                  </a:solidFill>
                  <a:latin typeface="Verdana" panose="020B0604030504040204" pitchFamily="34" charset="0"/>
                </a:rPr>
                <a:t>绩效</a:t>
              </a:r>
              <a:endParaRPr kumimoji="0" lang="nb-NO" sz="1800" b="0" i="0" u="none" strike="noStrike" kern="0" cap="none" spc="0" normalizeH="0" baseline="0" noProof="0" dirty="0">
                <a:ln>
                  <a:noFill/>
                </a:ln>
                <a:solidFill>
                  <a:srgbClr val="000000"/>
                </a:solidFill>
                <a:effectLst/>
                <a:uLnTx/>
                <a:uFillTx/>
                <a:latin typeface="Verdana" panose="020B0604030504040204" pitchFamily="34" charset="0"/>
              </a:endParaRPr>
            </a:p>
          </p:txBody>
        </p:sp>
        <p:sp>
          <p:nvSpPr>
            <p:cNvPr id="313" name="_s286736"/>
            <p:cNvSpPr>
              <a:spLocks noChangeArrowheads="1"/>
            </p:cNvSpPr>
            <p:nvPr/>
          </p:nvSpPr>
          <p:spPr bwMode="auto">
            <a:xfrm flipV="1">
              <a:off x="5007056" y="4861889"/>
              <a:ext cx="4070350" cy="635000"/>
            </a:xfrm>
            <a:custGeom>
              <a:avLst/>
              <a:gdLst>
                <a:gd name="G0" fmla="+- 1800 0 0"/>
                <a:gd name="G1" fmla="+- 21600 0 1800"/>
                <a:gd name="G2" fmla="*/ 1800 1 2"/>
                <a:gd name="G3" fmla="+- 21600 0 G2"/>
                <a:gd name="G4" fmla="+/ 1800 21600 2"/>
                <a:gd name="G5" fmla="+/ G1 0 2"/>
                <a:gd name="G6" fmla="*/ 21600 21600 1800"/>
                <a:gd name="G7" fmla="*/ G6 1 2"/>
                <a:gd name="G8" fmla="+- 21600 0 G7"/>
                <a:gd name="G9" fmla="*/ 21600 1 2"/>
                <a:gd name="G10" fmla="+- 1800 0 G9"/>
                <a:gd name="G11" fmla="?: G10 G8 0"/>
                <a:gd name="G12" fmla="?: G10 G7 21600"/>
                <a:gd name="T0" fmla="*/ 20700 w 21600"/>
                <a:gd name="T1" fmla="*/ 10800 h 21600"/>
                <a:gd name="T2" fmla="*/ 10800 w 21600"/>
                <a:gd name="T3" fmla="*/ 21600 h 21600"/>
                <a:gd name="T4" fmla="*/ 900 w 21600"/>
                <a:gd name="T5" fmla="*/ 10800 h 21600"/>
                <a:gd name="T6" fmla="*/ 10800 w 21600"/>
                <a:gd name="T7" fmla="*/ 0 h 21600"/>
                <a:gd name="T8" fmla="*/ 2700 w 21600"/>
                <a:gd name="T9" fmla="*/ 2700 h 21600"/>
                <a:gd name="T10" fmla="*/ 18900 w 21600"/>
                <a:gd name="T11" fmla="*/ 18900 h 21600"/>
              </a:gdLst>
              <a:ahLst/>
              <a:cxnLst>
                <a:cxn ang="0">
                  <a:pos x="T0" y="T1"/>
                </a:cxn>
                <a:cxn ang="0">
                  <a:pos x="T2" y="T3"/>
                </a:cxn>
                <a:cxn ang="0">
                  <a:pos x="T4" y="T5"/>
                </a:cxn>
                <a:cxn ang="0">
                  <a:pos x="T6" y="T7"/>
                </a:cxn>
              </a:cxnLst>
              <a:rect l="T8" t="T9" r="T10" b="T11"/>
              <a:pathLst>
                <a:path w="21600" h="21600">
                  <a:moveTo>
                    <a:pt x="0" y="0"/>
                  </a:moveTo>
                  <a:lnTo>
                    <a:pt x="1800" y="21600"/>
                  </a:lnTo>
                  <a:lnTo>
                    <a:pt x="19800" y="21600"/>
                  </a:lnTo>
                  <a:lnTo>
                    <a:pt x="21600" y="0"/>
                  </a:lnTo>
                  <a:close/>
                </a:path>
              </a:pathLst>
            </a:custGeom>
            <a:solidFill>
              <a:schemeClr val="bg2">
                <a:lumMod val="20000"/>
                <a:lumOff val="80000"/>
              </a:schemeClr>
            </a:solidFill>
            <a:ln w="4670" algn="in">
              <a:solidFill>
                <a:srgbClr val="000000"/>
              </a:solidFill>
              <a:miter lim="800000"/>
            </a:ln>
            <a:effectLst/>
          </p:spPr>
          <p:txBody>
            <a:bodyPr rot="10800000"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kern="0" dirty="0">
                  <a:solidFill>
                    <a:srgbClr val="000000"/>
                  </a:solidFill>
                  <a:latin typeface="Verdana" panose="020B0604030504040204" pitchFamily="34" charset="0"/>
                </a:rPr>
                <a:t>数字化</a:t>
              </a:r>
              <a:r>
                <a:rPr lang="en-US" altLang="zh-CN" kern="0" dirty="0">
                  <a:solidFill>
                    <a:srgbClr val="000000"/>
                  </a:solidFill>
                  <a:latin typeface="Verdana" panose="020B0604030504040204" pitchFamily="34" charset="0"/>
                </a:rPr>
                <a:t>IT</a:t>
              </a:r>
              <a:r>
                <a:rPr lang="zh-CN" altLang="en-US" kern="0" dirty="0">
                  <a:solidFill>
                    <a:srgbClr val="000000"/>
                  </a:solidFill>
                  <a:latin typeface="Verdana" panose="020B0604030504040204" pitchFamily="34" charset="0"/>
                </a:rPr>
                <a:t>架构固化</a:t>
              </a:r>
              <a:endParaRPr kumimoji="0" lang="nb-NO" sz="1800" b="0" i="0" u="none" strike="noStrike" kern="0" cap="none" spc="0" normalizeH="0" baseline="0" noProof="0" dirty="0">
                <a:ln>
                  <a:noFill/>
                </a:ln>
                <a:solidFill>
                  <a:srgbClr val="000000"/>
                </a:solidFill>
                <a:effectLst/>
                <a:uLnTx/>
                <a:uFillTx/>
                <a:latin typeface="Verdana" panose="020B0604030504040204" pitchFamily="34" charset="0"/>
              </a:endParaRPr>
            </a:p>
          </p:txBody>
        </p:sp>
        <p:sp>
          <p:nvSpPr>
            <p:cNvPr id="314" name="AutoShape 22"/>
            <p:cNvSpPr>
              <a:spLocks noChangeArrowheads="1"/>
            </p:cNvSpPr>
            <p:nvPr/>
          </p:nvSpPr>
          <p:spPr bwMode="auto">
            <a:xfrm>
              <a:off x="6704094" y="1699589"/>
              <a:ext cx="676275" cy="635000"/>
            </a:xfrm>
            <a:prstGeom prst="triangle">
              <a:avLst>
                <a:gd name="adj" fmla="val 50000"/>
              </a:avLst>
            </a:prstGeom>
            <a:solidFill>
              <a:schemeClr val="accent1">
                <a:lumMod val="20000"/>
                <a:lumOff val="80000"/>
              </a:schemeClr>
            </a:solidFill>
            <a:ln w="6350">
              <a:solidFill>
                <a:srgbClr val="000000"/>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dirty="0">
                <a:ln>
                  <a:noFill/>
                </a:ln>
                <a:solidFill>
                  <a:srgbClr val="000000"/>
                </a:solidFill>
                <a:effectLst/>
                <a:uLnTx/>
                <a:uFillTx/>
                <a:latin typeface="Verdana" panose="020B0604030504040204" pitchFamily="34" charset="0"/>
              </a:endParaRPr>
            </a:p>
          </p:txBody>
        </p:sp>
        <p:sp>
          <p:nvSpPr>
            <p:cNvPr id="315" name="TextBox 314"/>
            <p:cNvSpPr txBox="1"/>
            <p:nvPr/>
          </p:nvSpPr>
          <p:spPr>
            <a:xfrm>
              <a:off x="6175602" y="1940961"/>
              <a:ext cx="1473480" cy="307777"/>
            </a:xfrm>
            <a:prstGeom prst="rect">
              <a:avLst/>
            </a:prstGeom>
            <a:noFill/>
          </p:spPr>
          <p:txBody>
            <a:bodyPr wrap="none" rtlCol="0">
              <a:spAutoFit/>
            </a:bodyPr>
            <a:lstStyle/>
            <a:p>
              <a:pPr eaLnBrk="1" hangingPunct="1"/>
              <a:r>
                <a:rPr lang="zh-CN" altLang="en-US" sz="1400" b="1" dirty="0">
                  <a:solidFill>
                    <a:srgbClr val="000000"/>
                  </a:solidFill>
                  <a:latin typeface="Verdana" panose="020B0604030504040204" pitchFamily="34" charset="0"/>
                </a:rPr>
                <a:t>“卓越绩效”战略</a:t>
              </a:r>
              <a:endParaRPr lang="en-GB" sz="1400" b="1" dirty="0">
                <a:solidFill>
                  <a:srgbClr val="000000"/>
                </a:solidFill>
                <a:latin typeface="Verdana" panose="020B0604030504040204" pitchFamily="34" charset="0"/>
              </a:endParaRPr>
            </a:p>
          </p:txBody>
        </p:sp>
      </p:grpSp>
      <p:sp>
        <p:nvSpPr>
          <p:cNvPr id="318" name="AutoShape 34"/>
          <p:cNvSpPr>
            <a:spLocks noChangeArrowheads="1"/>
          </p:cNvSpPr>
          <p:nvPr/>
        </p:nvSpPr>
        <p:spPr bwMode="auto">
          <a:xfrm rot="16200000">
            <a:off x="6109695" y="1511808"/>
            <a:ext cx="228289" cy="1498882"/>
          </a:xfrm>
          <a:prstGeom prst="downArrow">
            <a:avLst>
              <a:gd name="adj1" fmla="val 50000"/>
              <a:gd name="adj2" fmla="val 31944"/>
            </a:avLst>
          </a:prstGeom>
          <a:solidFill>
            <a:schemeClr val="bg2">
              <a:lumMod val="20000"/>
              <a:lumOff val="80000"/>
            </a:schemeClr>
          </a:solidFill>
          <a:ln w="9525" algn="ctr">
            <a:solidFill>
              <a:schemeClr val="bg2">
                <a:lumMod val="60000"/>
                <a:lumOff val="40000"/>
              </a:schemeClr>
            </a:solidFill>
            <a:miter lim="800000"/>
          </a:ln>
          <a:effectLst/>
        </p:spPr>
        <p:txBody>
          <a:bodyPr rot="10800000" wrap="square" anchor="ct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dirty="0">
              <a:latin typeface="微软雅黑" panose="020B0503020204020204" pitchFamily="34" charset="-122"/>
              <a:ea typeface="宋体" panose="02010600030101010101" pitchFamily="2" charset="-122"/>
            </a:endParaRPr>
          </a:p>
        </p:txBody>
      </p:sp>
      <p:sp>
        <p:nvSpPr>
          <p:cNvPr id="320" name="Isosceles Triangle 319"/>
          <p:cNvSpPr/>
          <p:nvPr/>
        </p:nvSpPr>
        <p:spPr bwMode="auto">
          <a:xfrm rot="5400000">
            <a:off x="4804427" y="3574398"/>
            <a:ext cx="1467326" cy="612105"/>
          </a:xfrm>
          <a:prstGeom prst="triangle">
            <a:avLst>
              <a:gd name="adj" fmla="val 44784"/>
            </a:avLst>
          </a:prstGeom>
          <a:solidFill>
            <a:schemeClr val="bg2">
              <a:lumMod val="20000"/>
              <a:lumOff val="80000"/>
            </a:schemeClr>
          </a:solidFill>
          <a:ln w="9525" algn="ctr">
            <a:solidFill>
              <a:schemeClr val="bg2">
                <a:lumMod val="60000"/>
                <a:lumOff val="40000"/>
              </a:schemeClr>
            </a:solidFill>
            <a:miter lim="800000"/>
          </a:ln>
          <a:effectLst/>
        </p:spPr>
        <p:txBody>
          <a:bodyPr rot="10800000" vert="eaVert" wrap="square" anchor="ctr">
            <a:spAutoFit/>
          </a:bodyPr>
          <a:lstStyle/>
          <a:p>
            <a:pPr eaLnBrk="1" hangingPunct="1">
              <a:buClr>
                <a:schemeClr val="accent1"/>
              </a:buClr>
            </a:pPr>
            <a:r>
              <a:rPr lang="zh-CN" altLang="en-US" dirty="0">
                <a:latin typeface="微软雅黑" panose="020B0503020204020204" pitchFamily="34" charset="-122"/>
                <a:ea typeface="宋体" panose="02010600030101010101" pitchFamily="2" charset="-122"/>
              </a:rPr>
              <a:t>落地</a:t>
            </a:r>
            <a:endParaRPr lang="en-GB" dirty="0">
              <a:latin typeface="微软雅黑" panose="020B0503020204020204" pitchFamily="34" charset="-122"/>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650" y="80963"/>
            <a:ext cx="7698990" cy="939800"/>
          </a:xfrm>
        </p:spPr>
        <p:txBody>
          <a:bodyPr/>
          <a:lstStyle/>
          <a:p>
            <a:r>
              <a:rPr lang="zh-CN" altLang="en-US" dirty="0"/>
              <a:t>卓越绩效 </a:t>
            </a:r>
            <a:r>
              <a:rPr lang="zh-CN" altLang="en-US" i="1" u="sng" dirty="0"/>
              <a:t>落地  </a:t>
            </a:r>
            <a:r>
              <a:rPr lang="zh-CN" altLang="en-US" dirty="0"/>
              <a:t>需要战略、业务能力、组织、流程、数字化系统统一规划，分步实施</a:t>
            </a:r>
            <a:endParaRPr lang="en-US" altLang="zh-CN" dirty="0"/>
          </a:p>
        </p:txBody>
      </p:sp>
      <p:sp>
        <p:nvSpPr>
          <p:cNvPr id="3" name="TextBox 2"/>
          <p:cNvSpPr txBox="1"/>
          <p:nvPr/>
        </p:nvSpPr>
        <p:spPr>
          <a:xfrm>
            <a:off x="30591" y="1074782"/>
            <a:ext cx="9757799" cy="646331"/>
          </a:xfrm>
          <a:prstGeom prst="rect">
            <a:avLst/>
          </a:prstGeom>
          <a:noFill/>
        </p:spPr>
        <p:txBody>
          <a:bodyPr wrap="none" rtlCol="0">
            <a:spAutoFit/>
          </a:bodyPr>
          <a:lstStyle/>
          <a:p>
            <a:pPr marL="285750" indent="-285750">
              <a:buFont typeface="Arial" panose="020B0604020202020204" pitchFamily="34" charset="0"/>
              <a:buChar char="•"/>
            </a:pPr>
            <a:r>
              <a:rPr lang="zh-CN" altLang="en-US" dirty="0"/>
              <a:t>从领导、战略、客户与市场、人力资源、流程管理、绩效考核</a:t>
            </a:r>
            <a:r>
              <a:rPr lang="en-US" altLang="zh-CN" dirty="0"/>
              <a:t>7</a:t>
            </a:r>
            <a:r>
              <a:rPr lang="zh-CN" altLang="en-US" dirty="0"/>
              <a:t>个方面落地，打通</a:t>
            </a:r>
            <a:r>
              <a:rPr lang="en-US" altLang="zh-CN" dirty="0"/>
              <a:t>“</a:t>
            </a:r>
            <a:r>
              <a:rPr lang="zh-CN" altLang="en-US" dirty="0"/>
              <a:t>任督二脉</a:t>
            </a:r>
            <a:r>
              <a:rPr lang="en-US" altLang="zh-CN" dirty="0"/>
              <a:t>”</a:t>
            </a:r>
            <a:endParaRPr lang="en-US" altLang="zh-CN" dirty="0"/>
          </a:p>
          <a:p>
            <a:pPr marL="285750" indent="-285750">
              <a:buFont typeface="Arial" panose="020B0604020202020204" pitchFamily="34" charset="0"/>
              <a:buChar char="•"/>
            </a:pPr>
            <a:r>
              <a:rPr lang="zh-CN" altLang="en-US" dirty="0"/>
              <a:t>避免重复投资，孤岛</a:t>
            </a:r>
            <a:r>
              <a:rPr lang="en-US" altLang="zh-CN" dirty="0"/>
              <a:t>/</a:t>
            </a:r>
            <a:r>
              <a:rPr lang="zh-CN" altLang="en-US" dirty="0"/>
              <a:t>烟囱项目，局部优化</a:t>
            </a:r>
            <a:r>
              <a:rPr lang="en-US" altLang="zh-CN" dirty="0"/>
              <a:t>/</a:t>
            </a:r>
            <a:r>
              <a:rPr lang="zh-CN" altLang="en-US" dirty="0"/>
              <a:t>全局低效的情况</a:t>
            </a:r>
            <a:endParaRPr lang="en-GB" dirty="0"/>
          </a:p>
        </p:txBody>
      </p:sp>
      <p:pic>
        <p:nvPicPr>
          <p:cNvPr id="4" name="picture 218"/>
          <p:cNvPicPr>
            <a:picLocks noChangeAspect="1"/>
          </p:cNvPicPr>
          <p:nvPr/>
        </p:nvPicPr>
        <p:blipFill>
          <a:blip r:embed="rId1"/>
          <a:stretch>
            <a:fillRect/>
          </a:stretch>
        </p:blipFill>
        <p:spPr>
          <a:xfrm rot="21600000">
            <a:off x="432722" y="1795954"/>
            <a:ext cx="3939986" cy="4963730"/>
          </a:xfrm>
          <a:prstGeom prst="rect">
            <a:avLst/>
          </a:prstGeom>
        </p:spPr>
      </p:pic>
      <p:sp>
        <p:nvSpPr>
          <p:cNvPr id="135395" name="TextBox 135394"/>
          <p:cNvSpPr txBox="1"/>
          <p:nvPr/>
        </p:nvSpPr>
        <p:spPr>
          <a:xfrm>
            <a:off x="5039238" y="3724784"/>
            <a:ext cx="461665" cy="1015663"/>
          </a:xfrm>
          <a:prstGeom prst="rect">
            <a:avLst/>
          </a:prstGeom>
          <a:noFill/>
        </p:spPr>
        <p:txBody>
          <a:bodyPr vert="eaVert" wrap="none" rtlCol="0">
            <a:spAutoFit/>
          </a:bodyPr>
          <a:lstStyle/>
          <a:p>
            <a:r>
              <a:rPr lang="zh-CN" altLang="en-US" dirty="0"/>
              <a:t>企业架构</a:t>
            </a:r>
            <a:endParaRPr lang="en-GB" dirty="0"/>
          </a:p>
        </p:txBody>
      </p:sp>
      <p:sp>
        <p:nvSpPr>
          <p:cNvPr id="135396" name="Isosceles Triangle 135395"/>
          <p:cNvSpPr/>
          <p:nvPr/>
        </p:nvSpPr>
        <p:spPr bwMode="auto">
          <a:xfrm rot="5400000">
            <a:off x="3951337" y="4134785"/>
            <a:ext cx="1771378" cy="395526"/>
          </a:xfrm>
          <a:prstGeom prst="triangle">
            <a:avLst>
              <a:gd name="adj" fmla="val 44784"/>
            </a:avLst>
          </a:prstGeom>
          <a:solidFill>
            <a:schemeClr val="bg2">
              <a:lumMod val="20000"/>
              <a:lumOff val="80000"/>
            </a:schemeClr>
          </a:solidFill>
          <a:ln w="9525" algn="ctr">
            <a:solidFill>
              <a:schemeClr val="bg2">
                <a:lumMod val="60000"/>
                <a:lumOff val="40000"/>
              </a:schemeClr>
            </a:solidFill>
            <a:miter lim="800000"/>
          </a:ln>
          <a:effectLst/>
        </p:spPr>
        <p:txBody>
          <a:bodyPr rot="10800000" wrap="square" anchor="ctr">
            <a:spAutoFit/>
          </a:bodyPr>
          <a:lstStyle/>
          <a:p>
            <a:pPr eaLnBrk="1" hangingPunct="1">
              <a:buClr>
                <a:schemeClr val="accent1"/>
              </a:buClr>
              <a:buFont typeface="Wingdings" panose="05000000000000000000" pitchFamily="2" charset="2"/>
              <a:buChar char="§"/>
            </a:pPr>
            <a:endParaRPr lang="en-GB">
              <a:latin typeface="微软雅黑" panose="020B0503020204020204" pitchFamily="34" charset="-122"/>
              <a:ea typeface="宋体" panose="02010600030101010101" pitchFamily="2" charset="-122"/>
            </a:endParaRPr>
          </a:p>
        </p:txBody>
      </p:sp>
      <p:grpSp>
        <p:nvGrpSpPr>
          <p:cNvPr id="135397" name="Group 135396"/>
          <p:cNvGrpSpPr/>
          <p:nvPr/>
        </p:nvGrpSpPr>
        <p:grpSpPr>
          <a:xfrm>
            <a:off x="5530116" y="1795953"/>
            <a:ext cx="4079139" cy="4610775"/>
            <a:chOff x="5451594" y="1508709"/>
            <a:chExt cx="4157662" cy="4898019"/>
          </a:xfrm>
        </p:grpSpPr>
        <p:sp>
          <p:nvSpPr>
            <p:cNvPr id="135398" name="AutoShape 25"/>
            <p:cNvSpPr>
              <a:spLocks noChangeArrowheads="1"/>
            </p:cNvSpPr>
            <p:nvPr/>
          </p:nvSpPr>
          <p:spPr bwMode="auto">
            <a:xfrm>
              <a:off x="5451594" y="2060848"/>
              <a:ext cx="4157662" cy="4345880"/>
            </a:xfrm>
            <a:prstGeom prst="roundRect">
              <a:avLst>
                <a:gd name="adj" fmla="val 2185"/>
              </a:avLst>
            </a:prstGeom>
            <a:solidFill>
              <a:schemeClr val="accent2"/>
            </a:solidFill>
            <a:ln w="28575" algn="ctr">
              <a:solidFill>
                <a:schemeClr val="tx1"/>
              </a:solidFill>
              <a:round/>
            </a:ln>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ClrTx/>
                <a:buSzTx/>
                <a:buFontTx/>
                <a:buNone/>
              </a:pPr>
              <a:endParaRPr lang="zh-CN" altLang="en-US" sz="1800" b="0">
                <a:latin typeface="黑体" panose="02010609060101010101" pitchFamily="49" charset="-122"/>
                <a:ea typeface="黑体" panose="02010609060101010101" pitchFamily="49" charset="-122"/>
                <a:cs typeface="Arial" panose="020B0604020202020204" pitchFamily="34" charset="0"/>
              </a:endParaRPr>
            </a:p>
          </p:txBody>
        </p:sp>
        <p:sp>
          <p:nvSpPr>
            <p:cNvPr id="135399" name="Rectangle 27"/>
            <p:cNvSpPr>
              <a:spLocks noChangeArrowheads="1"/>
            </p:cNvSpPr>
            <p:nvPr/>
          </p:nvSpPr>
          <p:spPr bwMode="gray">
            <a:xfrm>
              <a:off x="5451594" y="1508709"/>
              <a:ext cx="4157662" cy="432238"/>
            </a:xfrm>
            <a:prstGeom prst="rect">
              <a:avLst/>
            </a:prstGeom>
            <a:solidFill>
              <a:schemeClr val="accent2"/>
            </a:solidFill>
            <a:ln w="28575" algn="ctr">
              <a:solidFill>
                <a:schemeClr val="tx1"/>
              </a:solidFill>
              <a:round/>
            </a:ln>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buClrTx/>
                <a:buSzTx/>
              </a:pPr>
              <a:r>
                <a:rPr lang="zh-CN" altLang="en-GB" sz="1800" dirty="0">
                  <a:latin typeface="黑体" panose="02010609060101010101" pitchFamily="49" charset="-122"/>
                  <a:ea typeface="黑体" panose="02010609060101010101" pitchFamily="49" charset="-122"/>
                  <a:cs typeface="Arial" panose="020B0604020202020204" pitchFamily="34" charset="0"/>
                </a:rPr>
                <a:t>战略</a:t>
              </a:r>
              <a:endParaRPr lang="zh-CN" altLang="en-GB" sz="1800" dirty="0">
                <a:latin typeface="黑体" panose="02010609060101010101" pitchFamily="49" charset="-122"/>
                <a:ea typeface="黑体" panose="02010609060101010101" pitchFamily="49" charset="-122"/>
                <a:cs typeface="Arial" panose="020B0604020202020204" pitchFamily="34" charset="0"/>
              </a:endParaRPr>
            </a:p>
          </p:txBody>
        </p:sp>
        <p:sp>
          <p:nvSpPr>
            <p:cNvPr id="135400" name="Rectangle 28"/>
            <p:cNvSpPr>
              <a:spLocks noChangeArrowheads="1"/>
            </p:cNvSpPr>
            <p:nvPr/>
          </p:nvSpPr>
          <p:spPr bwMode="gray">
            <a:xfrm>
              <a:off x="5599231" y="4913263"/>
              <a:ext cx="3905250" cy="179388"/>
            </a:xfrm>
            <a:prstGeom prst="rect">
              <a:avLst/>
            </a:prstGeom>
            <a:noFill/>
            <a:ln w="6350" algn="ctr">
              <a:solidFill>
                <a:srgbClr val="999999"/>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ClrTx/>
                <a:buSzTx/>
                <a:buFont typeface="Wingdings" panose="05000000000000000000" pitchFamily="2" charset="2"/>
                <a:buNone/>
              </a:pPr>
              <a:r>
                <a:rPr lang="zh-CN" altLang="en-US" sz="1800" dirty="0">
                  <a:latin typeface="黑体" panose="02010609060101010101" pitchFamily="49" charset="-122"/>
                  <a:ea typeface="黑体" panose="02010609060101010101" pitchFamily="49" charset="-122"/>
                  <a:cs typeface="Arial" panose="020B0604020202020204" pitchFamily="34" charset="0"/>
                </a:rPr>
                <a:t>数字化</a:t>
              </a:r>
              <a:r>
                <a:rPr lang="en-US" altLang="zh-CN" sz="1800" dirty="0">
                  <a:latin typeface="黑体" panose="02010609060101010101" pitchFamily="49" charset="-122"/>
                  <a:ea typeface="黑体" panose="02010609060101010101" pitchFamily="49" charset="-122"/>
                  <a:cs typeface="Arial" panose="020B0604020202020204" pitchFamily="34" charset="0"/>
                </a:rPr>
                <a:t>IT</a:t>
              </a:r>
              <a:r>
                <a:rPr lang="zh-CN" altLang="en-US" sz="1800" dirty="0">
                  <a:latin typeface="黑体" panose="02010609060101010101" pitchFamily="49" charset="-122"/>
                  <a:ea typeface="黑体" panose="02010609060101010101" pitchFamily="49" charset="-122"/>
                  <a:cs typeface="Arial" panose="020B0604020202020204" pitchFamily="34" charset="0"/>
                </a:rPr>
                <a:t>架构</a:t>
              </a:r>
              <a:endParaRPr lang="zh-CN" altLang="en-GB" sz="1800" dirty="0">
                <a:latin typeface="黑体" panose="02010609060101010101" pitchFamily="49" charset="-122"/>
                <a:ea typeface="黑体" panose="02010609060101010101" pitchFamily="49" charset="-122"/>
                <a:cs typeface="Arial" panose="020B0604020202020204" pitchFamily="34" charset="0"/>
              </a:endParaRPr>
            </a:p>
          </p:txBody>
        </p:sp>
        <p:sp>
          <p:nvSpPr>
            <p:cNvPr id="135401" name="Rectangle 185"/>
            <p:cNvSpPr>
              <a:spLocks noChangeArrowheads="1"/>
            </p:cNvSpPr>
            <p:nvPr/>
          </p:nvSpPr>
          <p:spPr bwMode="gray">
            <a:xfrm>
              <a:off x="5592881" y="2638445"/>
              <a:ext cx="3911600" cy="193675"/>
            </a:xfrm>
            <a:prstGeom prst="rect">
              <a:avLst/>
            </a:prstGeom>
            <a:noFill/>
            <a:ln w="6350" algn="ctr">
              <a:solidFill>
                <a:srgbClr val="999999"/>
              </a:solidFill>
              <a:miter lim="800000"/>
            </a:ln>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ClrTx/>
                <a:buSzTx/>
                <a:buFont typeface="Wingdings" panose="05000000000000000000" pitchFamily="2" charset="2"/>
                <a:buNone/>
              </a:pPr>
              <a:r>
                <a:rPr lang="zh-CN" altLang="en-GB" sz="1800" dirty="0">
                  <a:latin typeface="黑体" panose="02010609060101010101" pitchFamily="49" charset="-122"/>
                  <a:ea typeface="黑体" panose="02010609060101010101" pitchFamily="49" charset="-122"/>
                  <a:cs typeface="Arial" panose="020B0604020202020204" pitchFamily="34" charset="0"/>
                </a:rPr>
                <a:t>业务架构</a:t>
              </a:r>
              <a:endParaRPr lang="zh-CN" altLang="en-GB" sz="1800" dirty="0">
                <a:latin typeface="黑体" panose="02010609060101010101" pitchFamily="49" charset="-122"/>
                <a:ea typeface="黑体" panose="02010609060101010101" pitchFamily="49" charset="-122"/>
                <a:cs typeface="Arial" panose="020B0604020202020204" pitchFamily="34" charset="0"/>
              </a:endParaRPr>
            </a:p>
          </p:txBody>
        </p:sp>
        <p:sp>
          <p:nvSpPr>
            <p:cNvPr id="135402" name="Rectangle 186"/>
            <p:cNvSpPr>
              <a:spLocks noChangeArrowheads="1"/>
            </p:cNvSpPr>
            <p:nvPr/>
          </p:nvSpPr>
          <p:spPr bwMode="auto">
            <a:xfrm>
              <a:off x="5599231" y="2492896"/>
              <a:ext cx="3881438" cy="3744416"/>
            </a:xfrm>
            <a:prstGeom prst="rect">
              <a:avLst/>
            </a:prstGeom>
            <a:noFill/>
            <a:ln w="2857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ClrTx/>
                <a:buSzTx/>
                <a:buFontTx/>
                <a:buNone/>
              </a:pPr>
              <a:endParaRPr lang="zh-CN" altLang="en-US" sz="1800" b="0">
                <a:latin typeface="黑体" panose="02010609060101010101" pitchFamily="49" charset="-122"/>
                <a:ea typeface="黑体" panose="02010609060101010101" pitchFamily="49" charset="-122"/>
                <a:cs typeface="Arial" panose="020B0604020202020204" pitchFamily="34" charset="0"/>
              </a:endParaRPr>
            </a:p>
          </p:txBody>
        </p:sp>
        <p:grpSp>
          <p:nvGrpSpPr>
            <p:cNvPr id="135403" name="Group 135402"/>
            <p:cNvGrpSpPr/>
            <p:nvPr/>
          </p:nvGrpSpPr>
          <p:grpSpPr>
            <a:xfrm>
              <a:off x="5761156" y="2924944"/>
              <a:ext cx="3627998" cy="1754366"/>
              <a:chOff x="5684956" y="2569565"/>
              <a:chExt cx="3704198" cy="2176395"/>
            </a:xfrm>
          </p:grpSpPr>
          <p:sp>
            <p:nvSpPr>
              <p:cNvPr id="135409" name="Rectangle 153"/>
              <p:cNvSpPr>
                <a:spLocks noChangeArrowheads="1"/>
              </p:cNvSpPr>
              <p:nvPr/>
            </p:nvSpPr>
            <p:spPr bwMode="gray">
              <a:xfrm>
                <a:off x="5684956" y="2793951"/>
                <a:ext cx="1111011" cy="812184"/>
              </a:xfrm>
              <a:prstGeom prst="rect">
                <a:avLst/>
              </a:prstGeom>
              <a:solidFill>
                <a:srgbClr val="D9D9D9"/>
              </a:solidFill>
              <a:ln w="6350" algn="ctr">
                <a:solidFill>
                  <a:srgbClr val="999999"/>
                </a:solidFill>
                <a:miter lim="800000"/>
              </a:ln>
            </p:spPr>
            <p:txBody>
              <a:bodyPr lIns="18000" rIns="1800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ClrTx/>
                  <a:buSzTx/>
                  <a:buFont typeface="Wingdings" panose="05000000000000000000" pitchFamily="2" charset="2"/>
                  <a:buNone/>
                </a:pPr>
                <a:r>
                  <a:rPr lang="zh-CN" altLang="en-GB" sz="2000" b="0" dirty="0">
                    <a:latin typeface="黑体" panose="02010609060101010101" pitchFamily="49" charset="-122"/>
                    <a:ea typeface="黑体" panose="02010609060101010101" pitchFamily="49" charset="-122"/>
                    <a:cs typeface="Arial" panose="020B0604020202020204" pitchFamily="34" charset="0"/>
                  </a:rPr>
                  <a:t>流程模型</a:t>
                </a:r>
                <a:endParaRPr lang="zh-CN" altLang="en-GB" sz="2000" b="0" dirty="0">
                  <a:latin typeface="黑体" panose="02010609060101010101" pitchFamily="49" charset="-122"/>
                  <a:ea typeface="黑体" panose="02010609060101010101" pitchFamily="49" charset="-122"/>
                  <a:cs typeface="Arial" panose="020B0604020202020204" pitchFamily="34" charset="0"/>
                </a:endParaRPr>
              </a:p>
            </p:txBody>
          </p:sp>
          <p:sp>
            <p:nvSpPr>
              <p:cNvPr id="135410" name="Rectangle 153"/>
              <p:cNvSpPr>
                <a:spLocks noChangeArrowheads="1"/>
              </p:cNvSpPr>
              <p:nvPr/>
            </p:nvSpPr>
            <p:spPr bwMode="gray">
              <a:xfrm>
                <a:off x="6895628" y="2569565"/>
                <a:ext cx="1223963" cy="850900"/>
              </a:xfrm>
              <a:prstGeom prst="rect">
                <a:avLst/>
              </a:prstGeom>
              <a:solidFill>
                <a:srgbClr val="D9D9D9"/>
              </a:solidFill>
              <a:ln w="6350" algn="ctr">
                <a:solidFill>
                  <a:srgbClr val="999999"/>
                </a:solidFill>
                <a:miter lim="800000"/>
              </a:ln>
            </p:spPr>
            <p:txBody>
              <a:bodyPr lIns="18000" rIns="1800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ClrTx/>
                  <a:buSzTx/>
                  <a:buFont typeface="Wingdings" panose="05000000000000000000" pitchFamily="2" charset="2"/>
                  <a:buNone/>
                </a:pPr>
                <a:r>
                  <a:rPr lang="zh-CN" altLang="en-US" sz="2000" b="0" dirty="0">
                    <a:latin typeface="黑体" panose="02010609060101010101" pitchFamily="49" charset="-122"/>
                    <a:ea typeface="黑体" panose="02010609060101010101" pitchFamily="49" charset="-122"/>
                    <a:cs typeface="Arial" panose="020B0604020202020204" pitchFamily="34" charset="0"/>
                  </a:rPr>
                  <a:t>业务能力</a:t>
                </a:r>
                <a:endParaRPr lang="zh-CN" altLang="en-GB" sz="2000" b="0" dirty="0">
                  <a:latin typeface="黑体" panose="02010609060101010101" pitchFamily="49" charset="-122"/>
                  <a:ea typeface="黑体" panose="02010609060101010101" pitchFamily="49" charset="-122"/>
                  <a:cs typeface="Arial" panose="020B0604020202020204" pitchFamily="34" charset="0"/>
                </a:endParaRPr>
              </a:p>
            </p:txBody>
          </p:sp>
          <p:sp>
            <p:nvSpPr>
              <p:cNvPr id="135411" name="Rectangle 153"/>
              <p:cNvSpPr>
                <a:spLocks noChangeArrowheads="1"/>
              </p:cNvSpPr>
              <p:nvPr/>
            </p:nvSpPr>
            <p:spPr bwMode="gray">
              <a:xfrm>
                <a:off x="8234522" y="2747937"/>
                <a:ext cx="1111010" cy="797740"/>
              </a:xfrm>
              <a:prstGeom prst="rect">
                <a:avLst/>
              </a:prstGeom>
              <a:solidFill>
                <a:srgbClr val="D9D9D9"/>
              </a:solidFill>
              <a:ln w="6350" algn="ctr">
                <a:solidFill>
                  <a:srgbClr val="999999"/>
                </a:solidFill>
                <a:miter lim="800000"/>
              </a:ln>
            </p:spPr>
            <p:txBody>
              <a:bodyPr lIns="18000" rIns="1800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ClrTx/>
                  <a:buSzTx/>
                  <a:buFont typeface="Wingdings" panose="05000000000000000000" pitchFamily="2" charset="2"/>
                  <a:buNone/>
                </a:pPr>
                <a:r>
                  <a:rPr lang="zh-CN" altLang="en-US" sz="2000" b="0" dirty="0">
                    <a:latin typeface="黑体" panose="02010609060101010101" pitchFamily="49" charset="-122"/>
                    <a:ea typeface="黑体" panose="02010609060101010101" pitchFamily="49" charset="-122"/>
                    <a:cs typeface="Arial" panose="020B0604020202020204" pitchFamily="34" charset="0"/>
                  </a:rPr>
                  <a:t>资源分布</a:t>
                </a:r>
                <a:endParaRPr lang="zh-CN" altLang="en-GB" sz="2000" b="0" dirty="0">
                  <a:latin typeface="黑体" panose="02010609060101010101" pitchFamily="49" charset="-122"/>
                  <a:ea typeface="黑体" panose="02010609060101010101" pitchFamily="49" charset="-122"/>
                  <a:cs typeface="Arial" panose="020B0604020202020204" pitchFamily="34" charset="0"/>
                </a:endParaRPr>
              </a:p>
            </p:txBody>
          </p:sp>
          <p:sp>
            <p:nvSpPr>
              <p:cNvPr id="135412" name="Rectangle 153"/>
              <p:cNvSpPr>
                <a:spLocks noChangeArrowheads="1"/>
              </p:cNvSpPr>
              <p:nvPr/>
            </p:nvSpPr>
            <p:spPr bwMode="gray">
              <a:xfrm>
                <a:off x="8278144" y="3933776"/>
                <a:ext cx="1111010" cy="797740"/>
              </a:xfrm>
              <a:prstGeom prst="rect">
                <a:avLst/>
              </a:prstGeom>
              <a:solidFill>
                <a:srgbClr val="D9D9D9"/>
              </a:solidFill>
              <a:ln w="6350" algn="ctr">
                <a:solidFill>
                  <a:srgbClr val="999999"/>
                </a:solidFill>
                <a:miter lim="800000"/>
              </a:ln>
            </p:spPr>
            <p:txBody>
              <a:bodyPr lIns="18000" rIns="1800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ClrTx/>
                  <a:buSzTx/>
                  <a:buFont typeface="Wingdings" panose="05000000000000000000" pitchFamily="2" charset="2"/>
                  <a:buNone/>
                </a:pPr>
                <a:r>
                  <a:rPr lang="zh-CN" altLang="en-US" sz="2000" b="0" dirty="0">
                    <a:latin typeface="黑体" panose="02010609060101010101" pitchFamily="49" charset="-122"/>
                    <a:ea typeface="黑体" panose="02010609060101010101" pitchFamily="49" charset="-122"/>
                    <a:cs typeface="Arial" panose="020B0604020202020204" pitchFamily="34" charset="0"/>
                  </a:rPr>
                  <a:t>组织架构</a:t>
                </a:r>
                <a:endParaRPr lang="zh-CN" altLang="en-GB" sz="2000" b="0" dirty="0">
                  <a:latin typeface="黑体" panose="02010609060101010101" pitchFamily="49" charset="-122"/>
                  <a:ea typeface="黑体" panose="02010609060101010101" pitchFamily="49" charset="-122"/>
                  <a:cs typeface="Arial" panose="020B0604020202020204" pitchFamily="34" charset="0"/>
                </a:endParaRPr>
              </a:p>
            </p:txBody>
          </p:sp>
          <p:sp>
            <p:nvSpPr>
              <p:cNvPr id="135413" name="Rectangle 153"/>
              <p:cNvSpPr>
                <a:spLocks noChangeArrowheads="1"/>
              </p:cNvSpPr>
              <p:nvPr/>
            </p:nvSpPr>
            <p:spPr bwMode="gray">
              <a:xfrm>
                <a:off x="6913356" y="3759945"/>
                <a:ext cx="1223963" cy="850900"/>
              </a:xfrm>
              <a:prstGeom prst="rect">
                <a:avLst/>
              </a:prstGeom>
              <a:solidFill>
                <a:srgbClr val="D9D9D9"/>
              </a:solidFill>
              <a:ln w="6350" algn="ctr">
                <a:solidFill>
                  <a:srgbClr val="999999"/>
                </a:solidFill>
                <a:miter lim="800000"/>
              </a:ln>
            </p:spPr>
            <p:txBody>
              <a:bodyPr lIns="18000" rIns="1800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ClrTx/>
                  <a:buSzTx/>
                  <a:buFont typeface="Wingdings" panose="05000000000000000000" pitchFamily="2" charset="2"/>
                  <a:buNone/>
                </a:pPr>
                <a:r>
                  <a:rPr lang="zh-CN" altLang="en-US" sz="2000" b="0" dirty="0">
                    <a:latin typeface="黑体" panose="02010609060101010101" pitchFamily="49" charset="-122"/>
                    <a:ea typeface="黑体" panose="02010609060101010101" pitchFamily="49" charset="-122"/>
                    <a:cs typeface="Arial" panose="020B0604020202020204" pitchFamily="34" charset="0"/>
                  </a:rPr>
                  <a:t>治理管控</a:t>
                </a:r>
                <a:endParaRPr lang="zh-CN" altLang="en-GB" sz="2000" b="0" dirty="0">
                  <a:latin typeface="黑体" panose="02010609060101010101" pitchFamily="49" charset="-122"/>
                  <a:ea typeface="黑体" panose="02010609060101010101" pitchFamily="49" charset="-122"/>
                  <a:cs typeface="Arial" panose="020B0604020202020204" pitchFamily="34" charset="0"/>
                </a:endParaRPr>
              </a:p>
            </p:txBody>
          </p:sp>
          <p:sp>
            <p:nvSpPr>
              <p:cNvPr id="135414" name="Rectangle 153"/>
              <p:cNvSpPr>
                <a:spLocks noChangeArrowheads="1"/>
              </p:cNvSpPr>
              <p:nvPr/>
            </p:nvSpPr>
            <p:spPr bwMode="gray">
              <a:xfrm>
                <a:off x="5717756" y="3933776"/>
                <a:ext cx="1111011" cy="812184"/>
              </a:xfrm>
              <a:prstGeom prst="rect">
                <a:avLst/>
              </a:prstGeom>
              <a:solidFill>
                <a:srgbClr val="D9D9D9"/>
              </a:solidFill>
              <a:ln w="6350" algn="ctr">
                <a:solidFill>
                  <a:srgbClr val="999999"/>
                </a:solidFill>
                <a:miter lim="800000"/>
              </a:ln>
            </p:spPr>
            <p:txBody>
              <a:bodyPr lIns="18000" rIns="1800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ClrTx/>
                  <a:buSzTx/>
                  <a:buFont typeface="Wingdings" panose="05000000000000000000" pitchFamily="2" charset="2"/>
                  <a:buNone/>
                </a:pPr>
                <a:r>
                  <a:rPr lang="zh-CN" altLang="en-US" sz="2000" b="0" dirty="0">
                    <a:latin typeface="黑体" panose="02010609060101010101" pitchFamily="49" charset="-122"/>
                    <a:ea typeface="黑体" panose="02010609060101010101" pitchFamily="49" charset="-122"/>
                    <a:cs typeface="Arial" panose="020B0604020202020204" pitchFamily="34" charset="0"/>
                  </a:rPr>
                  <a:t>绩效考核</a:t>
                </a:r>
                <a:endParaRPr lang="zh-CN" altLang="en-GB" sz="2000" b="0" dirty="0">
                  <a:latin typeface="黑体" panose="02010609060101010101" pitchFamily="49" charset="-122"/>
                  <a:ea typeface="黑体" panose="02010609060101010101" pitchFamily="49" charset="-122"/>
                  <a:cs typeface="Arial" panose="020B0604020202020204" pitchFamily="34" charset="0"/>
                </a:endParaRPr>
              </a:p>
            </p:txBody>
          </p:sp>
        </p:grpSp>
        <p:sp>
          <p:nvSpPr>
            <p:cNvPr id="135404" name="Rectangle 153"/>
            <p:cNvSpPr>
              <a:spLocks noChangeArrowheads="1"/>
            </p:cNvSpPr>
            <p:nvPr/>
          </p:nvSpPr>
          <p:spPr bwMode="gray">
            <a:xfrm>
              <a:off x="5761156" y="5263734"/>
              <a:ext cx="1088156" cy="654692"/>
            </a:xfrm>
            <a:prstGeom prst="rect">
              <a:avLst/>
            </a:prstGeom>
            <a:solidFill>
              <a:srgbClr val="D9D9D9"/>
            </a:solidFill>
            <a:ln w="6350" algn="ctr">
              <a:solidFill>
                <a:srgbClr val="999999"/>
              </a:solidFill>
              <a:miter lim="800000"/>
            </a:ln>
          </p:spPr>
          <p:txBody>
            <a:bodyPr lIns="18000" rIns="1800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ClrTx/>
                <a:buSzTx/>
                <a:buFont typeface="Wingdings" panose="05000000000000000000" pitchFamily="2" charset="2"/>
                <a:buNone/>
              </a:pPr>
              <a:r>
                <a:rPr lang="zh-CN" altLang="en-US" sz="2000" b="0" dirty="0">
                  <a:latin typeface="黑体" panose="02010609060101010101" pitchFamily="49" charset="-122"/>
                  <a:ea typeface="黑体" panose="02010609060101010101" pitchFamily="49" charset="-122"/>
                  <a:cs typeface="Arial" panose="020B0604020202020204" pitchFamily="34" charset="0"/>
                </a:rPr>
                <a:t>应用架构</a:t>
              </a:r>
              <a:endParaRPr lang="zh-CN" altLang="en-GB" sz="2000" b="0" dirty="0">
                <a:latin typeface="黑体" panose="02010609060101010101" pitchFamily="49" charset="-122"/>
                <a:ea typeface="黑体" panose="02010609060101010101" pitchFamily="49" charset="-122"/>
                <a:cs typeface="Arial" panose="020B0604020202020204" pitchFamily="34" charset="0"/>
              </a:endParaRPr>
            </a:p>
          </p:txBody>
        </p:sp>
        <p:sp>
          <p:nvSpPr>
            <p:cNvPr id="135405" name="Rectangle 153"/>
            <p:cNvSpPr>
              <a:spLocks noChangeArrowheads="1"/>
            </p:cNvSpPr>
            <p:nvPr/>
          </p:nvSpPr>
          <p:spPr bwMode="gray">
            <a:xfrm>
              <a:off x="7062744" y="5282491"/>
              <a:ext cx="1088156" cy="654692"/>
            </a:xfrm>
            <a:prstGeom prst="rect">
              <a:avLst/>
            </a:prstGeom>
            <a:solidFill>
              <a:srgbClr val="D9D9D9"/>
            </a:solidFill>
            <a:ln w="6350" algn="ctr">
              <a:solidFill>
                <a:srgbClr val="999999"/>
              </a:solidFill>
              <a:miter lim="800000"/>
            </a:ln>
          </p:spPr>
          <p:txBody>
            <a:bodyPr lIns="18000" rIns="1800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ClrTx/>
                <a:buSzTx/>
                <a:buFont typeface="Wingdings" panose="05000000000000000000" pitchFamily="2" charset="2"/>
                <a:buNone/>
              </a:pPr>
              <a:r>
                <a:rPr lang="zh-CN" altLang="en-US" sz="2000" b="0" dirty="0">
                  <a:latin typeface="黑体" panose="02010609060101010101" pitchFamily="49" charset="-122"/>
                  <a:ea typeface="黑体" panose="02010609060101010101" pitchFamily="49" charset="-122"/>
                  <a:cs typeface="Arial" panose="020B0604020202020204" pitchFamily="34" charset="0"/>
                </a:rPr>
                <a:t>数据架构</a:t>
              </a:r>
              <a:endParaRPr lang="zh-CN" altLang="en-GB" sz="2000" b="0" dirty="0">
                <a:latin typeface="黑体" panose="02010609060101010101" pitchFamily="49" charset="-122"/>
                <a:ea typeface="黑体" panose="02010609060101010101" pitchFamily="49" charset="-122"/>
                <a:cs typeface="Arial" panose="020B0604020202020204" pitchFamily="34" charset="0"/>
              </a:endParaRPr>
            </a:p>
          </p:txBody>
        </p:sp>
        <p:sp>
          <p:nvSpPr>
            <p:cNvPr id="135406" name="Rectangle 153"/>
            <p:cNvSpPr>
              <a:spLocks noChangeArrowheads="1"/>
            </p:cNvSpPr>
            <p:nvPr/>
          </p:nvSpPr>
          <p:spPr bwMode="gray">
            <a:xfrm>
              <a:off x="8312825" y="5301631"/>
              <a:ext cx="1088156" cy="654692"/>
            </a:xfrm>
            <a:prstGeom prst="rect">
              <a:avLst/>
            </a:prstGeom>
            <a:solidFill>
              <a:srgbClr val="D9D9D9"/>
            </a:solidFill>
            <a:ln w="6350" algn="ctr">
              <a:solidFill>
                <a:srgbClr val="999999"/>
              </a:solidFill>
              <a:miter lim="800000"/>
            </a:ln>
          </p:spPr>
          <p:txBody>
            <a:bodyPr lIns="18000" rIns="1800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ClrTx/>
                <a:buSzTx/>
                <a:buFont typeface="Wingdings" panose="05000000000000000000" pitchFamily="2" charset="2"/>
                <a:buNone/>
              </a:pPr>
              <a:r>
                <a:rPr lang="en-US" altLang="zh-CN" sz="2000" b="0" dirty="0">
                  <a:latin typeface="黑体" panose="02010609060101010101" pitchFamily="49" charset="-122"/>
                  <a:ea typeface="黑体" panose="02010609060101010101" pitchFamily="49" charset="-122"/>
                  <a:cs typeface="Arial" panose="020B0604020202020204" pitchFamily="34" charset="0"/>
                </a:rPr>
                <a:t>IT</a:t>
              </a:r>
              <a:r>
                <a:rPr lang="zh-CN" altLang="en-US" sz="2000" b="0" dirty="0">
                  <a:latin typeface="黑体" panose="02010609060101010101" pitchFamily="49" charset="-122"/>
                  <a:ea typeface="黑体" panose="02010609060101010101" pitchFamily="49" charset="-122"/>
                  <a:cs typeface="Arial" panose="020B0604020202020204" pitchFamily="34" charset="0"/>
                </a:rPr>
                <a:t>基础设施</a:t>
              </a:r>
              <a:endParaRPr lang="zh-CN" altLang="en-GB" sz="2000" b="0" dirty="0">
                <a:latin typeface="黑体" panose="02010609060101010101" pitchFamily="49" charset="-122"/>
                <a:ea typeface="黑体" panose="02010609060101010101" pitchFamily="49" charset="-122"/>
                <a:cs typeface="Arial" panose="020B0604020202020204" pitchFamily="34" charset="0"/>
              </a:endParaRPr>
            </a:p>
          </p:txBody>
        </p:sp>
        <p:sp>
          <p:nvSpPr>
            <p:cNvPr id="135407" name="Rectangle 27"/>
            <p:cNvSpPr>
              <a:spLocks noChangeArrowheads="1"/>
            </p:cNvSpPr>
            <p:nvPr/>
          </p:nvSpPr>
          <p:spPr bwMode="gray">
            <a:xfrm>
              <a:off x="5574625" y="2079605"/>
              <a:ext cx="3911600" cy="381056"/>
            </a:xfrm>
            <a:prstGeom prst="rect">
              <a:avLst/>
            </a:prstGeom>
            <a:noFill/>
            <a:ln w="6350" algn="ctr">
              <a:solidFill>
                <a:srgbClr val="999999"/>
              </a:solidFill>
              <a:miter lim="800000"/>
            </a:ln>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ClrTx/>
                <a:buSzTx/>
                <a:buFont typeface="Wingdings" panose="05000000000000000000" pitchFamily="2" charset="2"/>
                <a:buNone/>
              </a:pPr>
              <a:r>
                <a:rPr lang="zh-CN" altLang="en-US" sz="1800" dirty="0">
                  <a:latin typeface="黑体" panose="02010609060101010101" pitchFamily="49" charset="-122"/>
                  <a:ea typeface="黑体" panose="02010609060101010101" pitchFamily="49" charset="-122"/>
                  <a:cs typeface="Arial" panose="020B0604020202020204" pitchFamily="34" charset="0"/>
                </a:rPr>
                <a:t>企业架构</a:t>
              </a:r>
              <a:endParaRPr lang="zh-CN" altLang="en-GB" sz="1800" dirty="0">
                <a:latin typeface="黑体" panose="02010609060101010101" pitchFamily="49" charset="-122"/>
                <a:ea typeface="黑体" panose="02010609060101010101" pitchFamily="49" charset="-122"/>
                <a:cs typeface="Arial" panose="020B0604020202020204" pitchFamily="34" charset="0"/>
              </a:endParaRPr>
            </a:p>
          </p:txBody>
        </p:sp>
        <p:cxnSp>
          <p:nvCxnSpPr>
            <p:cNvPr id="135408" name="Straight Connector 135407"/>
            <p:cNvCxnSpPr/>
            <p:nvPr/>
          </p:nvCxnSpPr>
          <p:spPr bwMode="auto">
            <a:xfrm>
              <a:off x="5599231" y="4797152"/>
              <a:ext cx="3881438" cy="0"/>
            </a:xfrm>
            <a:prstGeom prst="line">
              <a:avLst/>
            </a:prstGeom>
            <a:ln w="28575"/>
          </p:spPr>
          <p:style>
            <a:lnRef idx="1">
              <a:schemeClr val="dk1"/>
            </a:lnRef>
            <a:fillRef idx="0">
              <a:schemeClr val="dk1"/>
            </a:fillRef>
            <a:effectRef idx="0">
              <a:schemeClr val="dk1"/>
            </a:effectRef>
            <a:fontRef idx="minor">
              <a:schemeClr val="tx1"/>
            </a:fontRef>
          </p:style>
        </p:cxn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80" name="AutoShape 36"/>
          <p:cNvSpPr>
            <a:spLocks noChangeArrowheads="1"/>
          </p:cNvSpPr>
          <p:nvPr/>
        </p:nvSpPr>
        <p:spPr bwMode="auto">
          <a:xfrm>
            <a:off x="3881438" y="3841829"/>
            <a:ext cx="228600" cy="444341"/>
          </a:xfrm>
          <a:prstGeom prst="downArrow">
            <a:avLst>
              <a:gd name="adj1" fmla="val 50000"/>
              <a:gd name="adj2" fmla="val 65972"/>
            </a:avLst>
          </a:prstGeom>
          <a:solidFill>
            <a:schemeClr val="bg2">
              <a:lumMod val="20000"/>
              <a:lumOff val="80000"/>
            </a:schemeClr>
          </a:solidFill>
          <a:ln w="9525" algn="ctr">
            <a:solidFill>
              <a:schemeClr val="bg2">
                <a:lumMod val="60000"/>
                <a:lumOff val="40000"/>
              </a:schemeClr>
            </a:solidFill>
            <a:miter lim="800000"/>
          </a:ln>
          <a:effectLst/>
        </p:spPr>
        <p:txBody>
          <a:bodyPr rot="10800000" anchor="ct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dirty="0">
              <a:latin typeface="微软雅黑" panose="020B0503020204020204" pitchFamily="34" charset="-122"/>
              <a:ea typeface="宋体" panose="02010600030101010101" pitchFamily="2" charset="-122"/>
            </a:endParaRPr>
          </a:p>
        </p:txBody>
      </p:sp>
      <p:sp>
        <p:nvSpPr>
          <p:cNvPr id="11281" name="AutoShape 37"/>
          <p:cNvSpPr>
            <a:spLocks noChangeArrowheads="1"/>
          </p:cNvSpPr>
          <p:nvPr/>
        </p:nvSpPr>
        <p:spPr bwMode="auto">
          <a:xfrm flipV="1">
            <a:off x="4300538" y="3841829"/>
            <a:ext cx="228600" cy="444341"/>
          </a:xfrm>
          <a:prstGeom prst="downArrow">
            <a:avLst>
              <a:gd name="adj1" fmla="val 50000"/>
              <a:gd name="adj2" fmla="val 65972"/>
            </a:avLst>
          </a:prstGeom>
          <a:solidFill>
            <a:schemeClr val="bg2">
              <a:lumMod val="20000"/>
              <a:lumOff val="80000"/>
            </a:schemeClr>
          </a:solidFill>
          <a:ln w="9525" algn="ctr">
            <a:solidFill>
              <a:schemeClr val="bg2">
                <a:lumMod val="60000"/>
                <a:lumOff val="40000"/>
              </a:schemeClr>
            </a:solidFill>
            <a:miter lim="800000"/>
          </a:ln>
          <a:effectLst/>
        </p:spPr>
        <p:txBody>
          <a:bodyPr rot="10800000" anchor="ct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dirty="0">
              <a:latin typeface="微软雅黑" panose="020B0503020204020204" pitchFamily="34" charset="-122"/>
              <a:ea typeface="宋体" panose="02010600030101010101" pitchFamily="2" charset="-122"/>
            </a:endParaRPr>
          </a:p>
        </p:txBody>
      </p:sp>
      <p:sp>
        <p:nvSpPr>
          <p:cNvPr id="11266" name="Rectangle 2"/>
          <p:cNvSpPr>
            <a:spLocks noGrp="1" noChangeArrowheads="1"/>
          </p:cNvSpPr>
          <p:nvPr>
            <p:ph type="title"/>
          </p:nvPr>
        </p:nvSpPr>
        <p:spPr>
          <a:xfrm>
            <a:off x="287252" y="211288"/>
            <a:ext cx="7870825" cy="768350"/>
          </a:xfrm>
          <a:noFill/>
          <a:extLst>
            <a:ext uri="{91240B29-F687-4F45-9708-019B960494DF}">
              <a14:hiddenLine xmlns:a14="http://schemas.microsoft.com/office/drawing/2010/main" w="9525">
                <a:solidFill>
                  <a:schemeClr val="accent2"/>
                </a:solidFill>
                <a:prstDash val="solid"/>
                <a:miter lim="800000"/>
                <a:headEnd/>
                <a:tailEnd/>
              </a14:hiddenLine>
            </a:ext>
          </a:extLst>
        </p:spPr>
        <p:txBody>
          <a:bodyPr/>
          <a:lstStyle/>
          <a:p>
            <a:pPr eaLnBrk="1" hangingPunct="1"/>
            <a:r>
              <a:rPr lang="zh-CN" altLang="en-US" sz="2800" dirty="0">
                <a:ea typeface="微软雅黑" panose="020B0503020204020204" pitchFamily="34" charset="-122"/>
              </a:rPr>
              <a:t>企业架构是系统的描述、分析、改变企业的结构和组成，从而达到实现企业目标的  </a:t>
            </a:r>
            <a:r>
              <a:rPr lang="zh-CN" altLang="en-US" sz="2800" i="1" u="sng" dirty="0">
                <a:ea typeface="微软雅黑" panose="020B0503020204020204" pitchFamily="34" charset="-122"/>
              </a:rPr>
              <a:t>方法</a:t>
            </a:r>
            <a:endParaRPr lang="en-US" altLang="zh-CN" sz="2800" i="1" u="sng" dirty="0">
              <a:ea typeface="微软雅黑" panose="020B0503020204020204" pitchFamily="34" charset="-122"/>
            </a:endParaRPr>
          </a:p>
        </p:txBody>
      </p:sp>
      <p:grpSp>
        <p:nvGrpSpPr>
          <p:cNvPr id="11267" name="Group 3"/>
          <p:cNvGrpSpPr/>
          <p:nvPr/>
        </p:nvGrpSpPr>
        <p:grpSpPr bwMode="auto">
          <a:xfrm>
            <a:off x="377825" y="2020888"/>
            <a:ext cx="7745413" cy="1981200"/>
            <a:chOff x="253" y="1377"/>
            <a:chExt cx="4992" cy="1248"/>
          </a:xfrm>
        </p:grpSpPr>
        <p:sp>
          <p:nvSpPr>
            <p:cNvPr id="11320" name="Rectangle 4"/>
            <p:cNvSpPr>
              <a:spLocks noChangeArrowheads="1"/>
            </p:cNvSpPr>
            <p:nvPr/>
          </p:nvSpPr>
          <p:spPr bwMode="auto">
            <a:xfrm>
              <a:off x="253" y="1377"/>
              <a:ext cx="4992" cy="1248"/>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ClrTx/>
                <a:buSzTx/>
                <a:buFontTx/>
                <a:buNone/>
              </a:pPr>
              <a:endParaRPr lang="zh-CN" altLang="en-US" sz="1400" b="0" dirty="0">
                <a:latin typeface="宋体" panose="02010600030101010101" pitchFamily="2" charset="-122"/>
                <a:ea typeface="宋体" panose="02010600030101010101" pitchFamily="2" charset="-122"/>
                <a:cs typeface="Arial" panose="020B0604020202020204" pitchFamily="34" charset="0"/>
              </a:endParaRPr>
            </a:p>
          </p:txBody>
        </p:sp>
        <p:sp>
          <p:nvSpPr>
            <p:cNvPr id="11321" name="Text Box 5"/>
            <p:cNvSpPr txBox="1">
              <a:spLocks noChangeArrowheads="1"/>
            </p:cNvSpPr>
            <p:nvPr/>
          </p:nvSpPr>
          <p:spPr bwMode="auto">
            <a:xfrm rot="16200000">
              <a:off x="247" y="1920"/>
              <a:ext cx="271" cy="6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1363" tIns="45682" rIns="91363" bIns="45682">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ClrTx/>
                <a:buSzTx/>
                <a:buFontTx/>
                <a:buNone/>
              </a:pPr>
              <a:endParaRPr lang="zh-CN" altLang="en-US" sz="1600" b="0" dirty="0">
                <a:latin typeface="宋体" panose="02010600030101010101" pitchFamily="2" charset="-122"/>
                <a:ea typeface="宋体" panose="02010600030101010101" pitchFamily="2" charset="-122"/>
                <a:cs typeface="Arial" panose="020B0604020202020204" pitchFamily="34" charset="0"/>
              </a:endParaRPr>
            </a:p>
          </p:txBody>
        </p:sp>
      </p:grpSp>
      <p:grpSp>
        <p:nvGrpSpPr>
          <p:cNvPr id="11268" name="Group 6"/>
          <p:cNvGrpSpPr/>
          <p:nvPr/>
        </p:nvGrpSpPr>
        <p:grpSpPr bwMode="auto">
          <a:xfrm>
            <a:off x="368300" y="4167188"/>
            <a:ext cx="7743825" cy="2124075"/>
            <a:chOff x="247" y="2729"/>
            <a:chExt cx="4992" cy="1338"/>
          </a:xfrm>
        </p:grpSpPr>
        <p:sp>
          <p:nvSpPr>
            <p:cNvPr id="11318" name="Rectangle 7"/>
            <p:cNvSpPr>
              <a:spLocks noChangeArrowheads="1"/>
            </p:cNvSpPr>
            <p:nvPr/>
          </p:nvSpPr>
          <p:spPr bwMode="auto">
            <a:xfrm>
              <a:off x="247" y="2729"/>
              <a:ext cx="4992" cy="1338"/>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ClrTx/>
                <a:buSzTx/>
                <a:buFontTx/>
                <a:buNone/>
              </a:pPr>
              <a:endParaRPr lang="zh-CN" altLang="en-US" sz="1400" b="0" dirty="0">
                <a:latin typeface="宋体" panose="02010600030101010101" pitchFamily="2" charset="-122"/>
                <a:ea typeface="宋体" panose="02010600030101010101" pitchFamily="2" charset="-122"/>
                <a:cs typeface="Arial" panose="020B0604020202020204" pitchFamily="34" charset="0"/>
              </a:endParaRPr>
            </a:p>
          </p:txBody>
        </p:sp>
        <p:sp>
          <p:nvSpPr>
            <p:cNvPr id="11319" name="Text Box 8"/>
            <p:cNvSpPr txBox="1">
              <a:spLocks noChangeArrowheads="1"/>
            </p:cNvSpPr>
            <p:nvPr/>
          </p:nvSpPr>
          <p:spPr bwMode="auto">
            <a:xfrm rot="16200000">
              <a:off x="250" y="3264"/>
              <a:ext cx="271" cy="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1363" tIns="45682" rIns="91363" bIns="45682">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ClrTx/>
                <a:buSzTx/>
                <a:buFontTx/>
                <a:buNone/>
              </a:pPr>
              <a:endParaRPr lang="zh-CN" altLang="en-US" sz="1600" b="0" dirty="0">
                <a:latin typeface="宋体" panose="02010600030101010101" pitchFamily="2" charset="-122"/>
                <a:ea typeface="宋体" panose="02010600030101010101" pitchFamily="2" charset="-122"/>
                <a:cs typeface="Arial" panose="020B0604020202020204" pitchFamily="34" charset="0"/>
              </a:endParaRPr>
            </a:p>
          </p:txBody>
        </p:sp>
      </p:grpSp>
      <p:sp>
        <p:nvSpPr>
          <p:cNvPr id="11269" name="Oval 9"/>
          <p:cNvSpPr>
            <a:spLocks noChangeArrowheads="1"/>
          </p:cNvSpPr>
          <p:nvPr/>
        </p:nvSpPr>
        <p:spPr bwMode="auto">
          <a:xfrm>
            <a:off x="2679700" y="2204864"/>
            <a:ext cx="3052763" cy="609600"/>
          </a:xfrm>
          <a:prstGeom prst="ellipse">
            <a:avLst/>
          </a:prstGeom>
          <a:solidFill>
            <a:schemeClr val="bg2">
              <a:lumMod val="20000"/>
              <a:lumOff val="80000"/>
            </a:schemeClr>
          </a:solidFill>
          <a:ln w="9525" algn="ctr">
            <a:solidFill>
              <a:schemeClr val="tx1"/>
            </a:solidFill>
            <a:round/>
          </a:ln>
          <a:effectLst/>
        </p:spPr>
        <p:txBody>
          <a:bodyPr wrap="none" lIns="91363" tIns="45682" rIns="91363" bIns="45682"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ClrTx/>
              <a:buSzTx/>
              <a:buFontTx/>
              <a:buNone/>
            </a:pPr>
            <a:r>
              <a:rPr lang="zh-CN" altLang="en-US" sz="1600" b="0" dirty="0">
                <a:latin typeface="宋体" panose="02010600030101010101" pitchFamily="2" charset="-122"/>
                <a:ea typeface="宋体" panose="02010600030101010101" pitchFamily="2" charset="-122"/>
                <a:cs typeface="Arial" panose="020B0604020202020204" pitchFamily="34" charset="0"/>
              </a:rPr>
              <a:t>公司战略</a:t>
            </a:r>
            <a:endParaRPr lang="zh-CN" altLang="en-US" sz="1600" b="0" dirty="0">
              <a:latin typeface="宋体" panose="02010600030101010101" pitchFamily="2" charset="-122"/>
              <a:ea typeface="宋体" panose="02010600030101010101" pitchFamily="2" charset="-122"/>
              <a:cs typeface="Arial" panose="020B0604020202020204" pitchFamily="34" charset="0"/>
            </a:endParaRPr>
          </a:p>
        </p:txBody>
      </p:sp>
      <p:grpSp>
        <p:nvGrpSpPr>
          <p:cNvPr id="11270" name="Group 10"/>
          <p:cNvGrpSpPr/>
          <p:nvPr/>
        </p:nvGrpSpPr>
        <p:grpSpPr bwMode="auto">
          <a:xfrm>
            <a:off x="1277938" y="2303463"/>
            <a:ext cx="717550" cy="736600"/>
            <a:chOff x="776" y="1555"/>
            <a:chExt cx="418" cy="464"/>
          </a:xfrm>
        </p:grpSpPr>
        <p:sp>
          <p:nvSpPr>
            <p:cNvPr id="11314" name="Text Box 11"/>
            <p:cNvSpPr txBox="1">
              <a:spLocks noChangeArrowheads="1"/>
            </p:cNvSpPr>
            <p:nvPr/>
          </p:nvSpPr>
          <p:spPr bwMode="auto">
            <a:xfrm>
              <a:off x="776" y="1827"/>
              <a:ext cx="41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63" tIns="45682" rIns="91363" bIns="45682">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ClrTx/>
                <a:buSzTx/>
                <a:buFontTx/>
                <a:buNone/>
              </a:pPr>
              <a:r>
                <a:rPr lang="zh-CN" altLang="en-US" sz="1400" b="0" dirty="0">
                  <a:latin typeface="宋体" panose="02010600030101010101" pitchFamily="2" charset="-122"/>
                  <a:ea typeface="宋体" panose="02010600030101010101" pitchFamily="2" charset="-122"/>
                  <a:cs typeface="Arial" panose="020B0604020202020204" pitchFamily="34" charset="0"/>
                </a:rPr>
                <a:t>高管层</a:t>
              </a:r>
              <a:endParaRPr lang="zh-CN" altLang="en-US" sz="1400" b="0" dirty="0">
                <a:latin typeface="宋体" panose="02010600030101010101" pitchFamily="2" charset="-122"/>
                <a:ea typeface="宋体" panose="02010600030101010101" pitchFamily="2" charset="-122"/>
                <a:cs typeface="Arial" panose="020B0604020202020204" pitchFamily="34" charset="0"/>
              </a:endParaRPr>
            </a:p>
          </p:txBody>
        </p:sp>
        <p:grpSp>
          <p:nvGrpSpPr>
            <p:cNvPr id="11315" name="Group 12"/>
            <p:cNvGrpSpPr/>
            <p:nvPr/>
          </p:nvGrpSpPr>
          <p:grpSpPr bwMode="auto">
            <a:xfrm>
              <a:off x="914" y="1555"/>
              <a:ext cx="145" cy="321"/>
              <a:chOff x="979" y="2400"/>
              <a:chExt cx="146" cy="321"/>
            </a:xfrm>
          </p:grpSpPr>
          <p:sp>
            <p:nvSpPr>
              <p:cNvPr id="11316" name="Oval 13"/>
              <p:cNvSpPr>
                <a:spLocks noChangeArrowheads="1"/>
              </p:cNvSpPr>
              <p:nvPr/>
            </p:nvSpPr>
            <p:spPr bwMode="auto">
              <a:xfrm>
                <a:off x="1028" y="2400"/>
                <a:ext cx="49" cy="4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dirty="0">
                  <a:latin typeface="微软雅黑" panose="020B0503020204020204" pitchFamily="34" charset="-122"/>
                  <a:ea typeface="宋体" panose="02010600030101010101" pitchFamily="2" charset="-122"/>
                </a:endParaRPr>
              </a:p>
            </p:txBody>
          </p:sp>
          <p:sp>
            <p:nvSpPr>
              <p:cNvPr id="11317" name="Freeform 14"/>
              <p:cNvSpPr/>
              <p:nvPr/>
            </p:nvSpPr>
            <p:spPr bwMode="auto">
              <a:xfrm>
                <a:off x="979" y="2456"/>
                <a:ext cx="146" cy="265"/>
              </a:xfrm>
              <a:custGeom>
                <a:avLst/>
                <a:gdLst>
                  <a:gd name="T0" fmla="*/ 0 w 438"/>
                  <a:gd name="T1" fmla="*/ 0 h 794"/>
                  <a:gd name="T2" fmla="*/ 0 w 438"/>
                  <a:gd name="T3" fmla="*/ 0 h 794"/>
                  <a:gd name="T4" fmla="*/ 0 w 438"/>
                  <a:gd name="T5" fmla="*/ 0 h 794"/>
                  <a:gd name="T6" fmla="*/ 0 w 438"/>
                  <a:gd name="T7" fmla="*/ 0 h 794"/>
                  <a:gd name="T8" fmla="*/ 0 w 438"/>
                  <a:gd name="T9" fmla="*/ 0 h 794"/>
                  <a:gd name="T10" fmla="*/ 0 w 438"/>
                  <a:gd name="T11" fmla="*/ 0 h 794"/>
                  <a:gd name="T12" fmla="*/ 0 w 438"/>
                  <a:gd name="T13" fmla="*/ 0 h 794"/>
                  <a:gd name="T14" fmla="*/ 0 w 438"/>
                  <a:gd name="T15" fmla="*/ 0 h 794"/>
                  <a:gd name="T16" fmla="*/ 0 w 438"/>
                  <a:gd name="T17" fmla="*/ 0 h 794"/>
                  <a:gd name="T18" fmla="*/ 0 w 438"/>
                  <a:gd name="T19" fmla="*/ 0 h 794"/>
                  <a:gd name="T20" fmla="*/ 0 w 438"/>
                  <a:gd name="T21" fmla="*/ 0 h 794"/>
                  <a:gd name="T22" fmla="*/ 0 w 438"/>
                  <a:gd name="T23" fmla="*/ 0 h 794"/>
                  <a:gd name="T24" fmla="*/ 0 w 438"/>
                  <a:gd name="T25" fmla="*/ 0 h 794"/>
                  <a:gd name="T26" fmla="*/ 0 w 438"/>
                  <a:gd name="T27" fmla="*/ 0 h 794"/>
                  <a:gd name="T28" fmla="*/ 0 w 438"/>
                  <a:gd name="T29" fmla="*/ 0 h 794"/>
                  <a:gd name="T30" fmla="*/ 0 w 438"/>
                  <a:gd name="T31" fmla="*/ 0 h 794"/>
                  <a:gd name="T32" fmla="*/ 0 w 438"/>
                  <a:gd name="T33" fmla="*/ 0 h 794"/>
                  <a:gd name="T34" fmla="*/ 0 w 438"/>
                  <a:gd name="T35" fmla="*/ 0 h 794"/>
                  <a:gd name="T36" fmla="*/ 0 w 438"/>
                  <a:gd name="T37" fmla="*/ 0 h 794"/>
                  <a:gd name="T38" fmla="*/ 0 w 438"/>
                  <a:gd name="T39" fmla="*/ 0 h 794"/>
                  <a:gd name="T40" fmla="*/ 0 w 438"/>
                  <a:gd name="T41" fmla="*/ 0 h 794"/>
                  <a:gd name="T42" fmla="*/ 0 w 438"/>
                  <a:gd name="T43" fmla="*/ 0 h 794"/>
                  <a:gd name="T44" fmla="*/ 0 w 438"/>
                  <a:gd name="T45" fmla="*/ 0 h 794"/>
                  <a:gd name="T46" fmla="*/ 0 w 438"/>
                  <a:gd name="T47" fmla="*/ 0 h 794"/>
                  <a:gd name="T48" fmla="*/ 0 w 438"/>
                  <a:gd name="T49" fmla="*/ 0 h 794"/>
                  <a:gd name="T50" fmla="*/ 0 w 438"/>
                  <a:gd name="T51" fmla="*/ 0 h 794"/>
                  <a:gd name="T52" fmla="*/ 0 w 438"/>
                  <a:gd name="T53" fmla="*/ 0 h 794"/>
                  <a:gd name="T54" fmla="*/ 0 w 438"/>
                  <a:gd name="T55" fmla="*/ 0 h 794"/>
                  <a:gd name="T56" fmla="*/ 0 w 438"/>
                  <a:gd name="T57" fmla="*/ 0 h 794"/>
                  <a:gd name="T58" fmla="*/ 0 w 438"/>
                  <a:gd name="T59" fmla="*/ 0 h 794"/>
                  <a:gd name="T60" fmla="*/ 0 w 438"/>
                  <a:gd name="T61" fmla="*/ 0 h 794"/>
                  <a:gd name="T62" fmla="*/ 0 w 438"/>
                  <a:gd name="T63" fmla="*/ 0 h 794"/>
                  <a:gd name="T64" fmla="*/ 0 w 438"/>
                  <a:gd name="T65" fmla="*/ 0 h 794"/>
                  <a:gd name="T66" fmla="*/ 0 w 438"/>
                  <a:gd name="T67" fmla="*/ 0 h 794"/>
                  <a:gd name="T68" fmla="*/ 0 w 438"/>
                  <a:gd name="T69" fmla="*/ 0 h 794"/>
                  <a:gd name="T70" fmla="*/ 0 w 438"/>
                  <a:gd name="T71" fmla="*/ 0 h 794"/>
                  <a:gd name="T72" fmla="*/ 0 w 438"/>
                  <a:gd name="T73" fmla="*/ 0 h 794"/>
                  <a:gd name="T74" fmla="*/ 0 w 438"/>
                  <a:gd name="T75" fmla="*/ 0 h 794"/>
                  <a:gd name="T76" fmla="*/ 0 w 438"/>
                  <a:gd name="T77" fmla="*/ 0 h 794"/>
                  <a:gd name="T78" fmla="*/ 0 w 438"/>
                  <a:gd name="T79" fmla="*/ 0 h 794"/>
                  <a:gd name="T80" fmla="*/ 0 w 438"/>
                  <a:gd name="T81" fmla="*/ 0 h 794"/>
                  <a:gd name="T82" fmla="*/ 0 w 438"/>
                  <a:gd name="T83" fmla="*/ 0 h 794"/>
                  <a:gd name="T84" fmla="*/ 0 w 438"/>
                  <a:gd name="T85" fmla="*/ 0 h 794"/>
                  <a:gd name="T86" fmla="*/ 0 w 438"/>
                  <a:gd name="T87" fmla="*/ 0 h 794"/>
                  <a:gd name="T88" fmla="*/ 0 w 438"/>
                  <a:gd name="T89" fmla="*/ 0 h 794"/>
                  <a:gd name="T90" fmla="*/ 0 w 438"/>
                  <a:gd name="T91" fmla="*/ 0 h 794"/>
                  <a:gd name="T92" fmla="*/ 0 w 438"/>
                  <a:gd name="T93" fmla="*/ 0 h 794"/>
                  <a:gd name="T94" fmla="*/ 0 w 438"/>
                  <a:gd name="T95" fmla="*/ 0 h 794"/>
                  <a:gd name="T96" fmla="*/ 0 w 438"/>
                  <a:gd name="T97" fmla="*/ 0 h 794"/>
                  <a:gd name="T98" fmla="*/ 0 w 438"/>
                  <a:gd name="T99" fmla="*/ 0 h 794"/>
                  <a:gd name="T100" fmla="*/ 0 w 438"/>
                  <a:gd name="T101" fmla="*/ 0 h 794"/>
                  <a:gd name="T102" fmla="*/ 0 w 438"/>
                  <a:gd name="T103" fmla="*/ 0 h 79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438" h="794">
                    <a:moveTo>
                      <a:pt x="218" y="0"/>
                    </a:moveTo>
                    <a:lnTo>
                      <a:pt x="156" y="0"/>
                    </a:lnTo>
                    <a:lnTo>
                      <a:pt x="156" y="1"/>
                    </a:lnTo>
                    <a:lnTo>
                      <a:pt x="113" y="19"/>
                    </a:lnTo>
                    <a:lnTo>
                      <a:pt x="73" y="83"/>
                    </a:lnTo>
                    <a:lnTo>
                      <a:pt x="72" y="87"/>
                    </a:lnTo>
                    <a:lnTo>
                      <a:pt x="0" y="334"/>
                    </a:lnTo>
                    <a:lnTo>
                      <a:pt x="0" y="335"/>
                    </a:lnTo>
                    <a:lnTo>
                      <a:pt x="0" y="348"/>
                    </a:lnTo>
                    <a:lnTo>
                      <a:pt x="4" y="360"/>
                    </a:lnTo>
                    <a:lnTo>
                      <a:pt x="17" y="368"/>
                    </a:lnTo>
                    <a:lnTo>
                      <a:pt x="46" y="343"/>
                    </a:lnTo>
                    <a:lnTo>
                      <a:pt x="46" y="345"/>
                    </a:lnTo>
                    <a:lnTo>
                      <a:pt x="131" y="116"/>
                    </a:lnTo>
                    <a:lnTo>
                      <a:pt x="132" y="116"/>
                    </a:lnTo>
                    <a:lnTo>
                      <a:pt x="142" y="116"/>
                    </a:lnTo>
                    <a:lnTo>
                      <a:pt x="41" y="496"/>
                    </a:lnTo>
                    <a:lnTo>
                      <a:pt x="146" y="496"/>
                    </a:lnTo>
                    <a:lnTo>
                      <a:pt x="146" y="767"/>
                    </a:lnTo>
                    <a:lnTo>
                      <a:pt x="155" y="786"/>
                    </a:lnTo>
                    <a:lnTo>
                      <a:pt x="177" y="793"/>
                    </a:lnTo>
                    <a:lnTo>
                      <a:pt x="197" y="787"/>
                    </a:lnTo>
                    <a:lnTo>
                      <a:pt x="209" y="767"/>
                    </a:lnTo>
                    <a:lnTo>
                      <a:pt x="207" y="495"/>
                    </a:lnTo>
                    <a:lnTo>
                      <a:pt x="207" y="496"/>
                    </a:lnTo>
                    <a:lnTo>
                      <a:pt x="220" y="496"/>
                    </a:lnTo>
                    <a:lnTo>
                      <a:pt x="229" y="496"/>
                    </a:lnTo>
                    <a:lnTo>
                      <a:pt x="229" y="767"/>
                    </a:lnTo>
                    <a:lnTo>
                      <a:pt x="238" y="787"/>
                    </a:lnTo>
                    <a:lnTo>
                      <a:pt x="260" y="794"/>
                    </a:lnTo>
                    <a:lnTo>
                      <a:pt x="280" y="787"/>
                    </a:lnTo>
                    <a:lnTo>
                      <a:pt x="291" y="767"/>
                    </a:lnTo>
                    <a:lnTo>
                      <a:pt x="291" y="496"/>
                    </a:lnTo>
                    <a:lnTo>
                      <a:pt x="396" y="496"/>
                    </a:lnTo>
                    <a:lnTo>
                      <a:pt x="294" y="116"/>
                    </a:lnTo>
                    <a:lnTo>
                      <a:pt x="304" y="116"/>
                    </a:lnTo>
                    <a:lnTo>
                      <a:pt x="306" y="116"/>
                    </a:lnTo>
                    <a:lnTo>
                      <a:pt x="390" y="345"/>
                    </a:lnTo>
                    <a:lnTo>
                      <a:pt x="390" y="343"/>
                    </a:lnTo>
                    <a:lnTo>
                      <a:pt x="400" y="360"/>
                    </a:lnTo>
                    <a:lnTo>
                      <a:pt x="418" y="366"/>
                    </a:lnTo>
                    <a:lnTo>
                      <a:pt x="432" y="361"/>
                    </a:lnTo>
                    <a:lnTo>
                      <a:pt x="437" y="352"/>
                    </a:lnTo>
                    <a:lnTo>
                      <a:pt x="438" y="335"/>
                    </a:lnTo>
                    <a:lnTo>
                      <a:pt x="437" y="334"/>
                    </a:lnTo>
                    <a:lnTo>
                      <a:pt x="363" y="87"/>
                    </a:lnTo>
                    <a:lnTo>
                      <a:pt x="363" y="83"/>
                    </a:lnTo>
                    <a:lnTo>
                      <a:pt x="325" y="21"/>
                    </a:lnTo>
                    <a:lnTo>
                      <a:pt x="280" y="1"/>
                    </a:lnTo>
                    <a:lnTo>
                      <a:pt x="280" y="0"/>
                    </a:lnTo>
                    <a:lnTo>
                      <a:pt x="219" y="0"/>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GB" dirty="0">
                  <a:latin typeface="微软雅黑" panose="020B0503020204020204" pitchFamily="34" charset="-122"/>
                </a:endParaRPr>
              </a:p>
            </p:txBody>
          </p:sp>
        </p:grpSp>
      </p:grpSp>
      <p:grpSp>
        <p:nvGrpSpPr>
          <p:cNvPr id="11271" name="Group 15"/>
          <p:cNvGrpSpPr/>
          <p:nvPr/>
        </p:nvGrpSpPr>
        <p:grpSpPr bwMode="auto">
          <a:xfrm>
            <a:off x="693153" y="3179763"/>
            <a:ext cx="1890567" cy="762000"/>
            <a:chOff x="437" y="2107"/>
            <a:chExt cx="1098" cy="480"/>
          </a:xfrm>
        </p:grpSpPr>
        <p:sp>
          <p:nvSpPr>
            <p:cNvPr id="11310" name="Text Box 16"/>
            <p:cNvSpPr txBox="1">
              <a:spLocks noChangeArrowheads="1"/>
            </p:cNvSpPr>
            <p:nvPr/>
          </p:nvSpPr>
          <p:spPr bwMode="auto">
            <a:xfrm>
              <a:off x="437" y="2393"/>
              <a:ext cx="1098"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63" tIns="45682" rIns="91363" bIns="45682">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ClrTx/>
                <a:buSzTx/>
                <a:buFontTx/>
                <a:buNone/>
              </a:pPr>
              <a:r>
                <a:rPr lang="zh-CN" altLang="en-US" sz="1400" b="0" dirty="0">
                  <a:latin typeface="宋体" panose="02010600030101010101" pitchFamily="2" charset="-122"/>
                  <a:ea typeface="宋体" panose="02010600030101010101" pitchFamily="2" charset="-122"/>
                  <a:cs typeface="Arial" panose="020B0604020202020204" pitchFamily="34" charset="0"/>
                </a:rPr>
                <a:t>业务管理</a:t>
              </a:r>
              <a:r>
                <a:rPr lang="en-US" altLang="zh-CN" sz="1400" b="0" dirty="0">
                  <a:latin typeface="宋体" panose="02010600030101010101" pitchFamily="2" charset="-122"/>
                  <a:ea typeface="宋体" panose="02010600030101010101" pitchFamily="2" charset="-122"/>
                  <a:cs typeface="Arial" panose="020B0604020202020204" pitchFamily="34" charset="0"/>
                </a:rPr>
                <a:t>/</a:t>
              </a:r>
              <a:r>
                <a:rPr lang="zh-CN" altLang="en-US" sz="1400" b="0" dirty="0">
                  <a:latin typeface="宋体" panose="02010600030101010101" pitchFamily="2" charset="-122"/>
                  <a:ea typeface="宋体" panose="02010600030101010101" pitchFamily="2" charset="-122"/>
                  <a:cs typeface="Arial" panose="020B0604020202020204" pitchFamily="34" charset="0"/>
                </a:rPr>
                <a:t>业务架构师</a:t>
              </a:r>
              <a:endParaRPr lang="zh-CN" altLang="en-US" sz="1400" b="0" dirty="0">
                <a:latin typeface="宋体" panose="02010600030101010101" pitchFamily="2" charset="-122"/>
                <a:ea typeface="宋体" panose="02010600030101010101" pitchFamily="2" charset="-122"/>
                <a:cs typeface="Arial" panose="020B0604020202020204" pitchFamily="34" charset="0"/>
              </a:endParaRPr>
            </a:p>
          </p:txBody>
        </p:sp>
        <p:grpSp>
          <p:nvGrpSpPr>
            <p:cNvPr id="11311" name="Group 17"/>
            <p:cNvGrpSpPr/>
            <p:nvPr/>
          </p:nvGrpSpPr>
          <p:grpSpPr bwMode="auto">
            <a:xfrm>
              <a:off x="924" y="2107"/>
              <a:ext cx="122" cy="320"/>
              <a:chOff x="1139" y="2400"/>
              <a:chExt cx="122" cy="320"/>
            </a:xfrm>
          </p:grpSpPr>
          <p:sp>
            <p:nvSpPr>
              <p:cNvPr id="11312" name="Freeform 18"/>
              <p:cNvSpPr/>
              <p:nvPr/>
            </p:nvSpPr>
            <p:spPr bwMode="auto">
              <a:xfrm>
                <a:off x="1139" y="2454"/>
                <a:ext cx="122" cy="266"/>
              </a:xfrm>
              <a:custGeom>
                <a:avLst/>
                <a:gdLst>
                  <a:gd name="T0" fmla="*/ 0 w 366"/>
                  <a:gd name="T1" fmla="*/ 0 h 798"/>
                  <a:gd name="T2" fmla="*/ 0 w 366"/>
                  <a:gd name="T3" fmla="*/ 0 h 798"/>
                  <a:gd name="T4" fmla="*/ 0 w 366"/>
                  <a:gd name="T5" fmla="*/ 0 h 798"/>
                  <a:gd name="T6" fmla="*/ 0 w 366"/>
                  <a:gd name="T7" fmla="*/ 0 h 798"/>
                  <a:gd name="T8" fmla="*/ 0 w 366"/>
                  <a:gd name="T9" fmla="*/ 0 h 798"/>
                  <a:gd name="T10" fmla="*/ 0 w 366"/>
                  <a:gd name="T11" fmla="*/ 0 h 798"/>
                  <a:gd name="T12" fmla="*/ 0 w 366"/>
                  <a:gd name="T13" fmla="*/ 0 h 798"/>
                  <a:gd name="T14" fmla="*/ 0 w 366"/>
                  <a:gd name="T15" fmla="*/ 0 h 798"/>
                  <a:gd name="T16" fmla="*/ 0 w 366"/>
                  <a:gd name="T17" fmla="*/ 0 h 798"/>
                  <a:gd name="T18" fmla="*/ 0 w 366"/>
                  <a:gd name="T19" fmla="*/ 0 h 798"/>
                  <a:gd name="T20" fmla="*/ 0 w 366"/>
                  <a:gd name="T21" fmla="*/ 0 h 798"/>
                  <a:gd name="T22" fmla="*/ 0 w 366"/>
                  <a:gd name="T23" fmla="*/ 0 h 798"/>
                  <a:gd name="T24" fmla="*/ 0 w 366"/>
                  <a:gd name="T25" fmla="*/ 0 h 798"/>
                  <a:gd name="T26" fmla="*/ 0 w 366"/>
                  <a:gd name="T27" fmla="*/ 0 h 798"/>
                  <a:gd name="T28" fmla="*/ 0 w 366"/>
                  <a:gd name="T29" fmla="*/ 0 h 798"/>
                  <a:gd name="T30" fmla="*/ 0 w 366"/>
                  <a:gd name="T31" fmla="*/ 0 h 798"/>
                  <a:gd name="T32" fmla="*/ 0 w 366"/>
                  <a:gd name="T33" fmla="*/ 0 h 798"/>
                  <a:gd name="T34" fmla="*/ 0 w 366"/>
                  <a:gd name="T35" fmla="*/ 0 h 798"/>
                  <a:gd name="T36" fmla="*/ 0 w 366"/>
                  <a:gd name="T37" fmla="*/ 0 h 798"/>
                  <a:gd name="T38" fmla="*/ 0 w 366"/>
                  <a:gd name="T39" fmla="*/ 0 h 798"/>
                  <a:gd name="T40" fmla="*/ 0 w 366"/>
                  <a:gd name="T41" fmla="*/ 0 h 798"/>
                  <a:gd name="T42" fmla="*/ 0 w 366"/>
                  <a:gd name="T43" fmla="*/ 0 h 798"/>
                  <a:gd name="T44" fmla="*/ 0 w 366"/>
                  <a:gd name="T45" fmla="*/ 0 h 798"/>
                  <a:gd name="T46" fmla="*/ 0 w 366"/>
                  <a:gd name="T47" fmla="*/ 0 h 798"/>
                  <a:gd name="T48" fmla="*/ 0 w 366"/>
                  <a:gd name="T49" fmla="*/ 0 h 798"/>
                  <a:gd name="T50" fmla="*/ 0 w 366"/>
                  <a:gd name="T51" fmla="*/ 0 h 798"/>
                  <a:gd name="T52" fmla="*/ 0 w 366"/>
                  <a:gd name="T53" fmla="*/ 0 h 798"/>
                  <a:gd name="T54" fmla="*/ 0 w 366"/>
                  <a:gd name="T55" fmla="*/ 0 h 798"/>
                  <a:gd name="T56" fmla="*/ 0 w 366"/>
                  <a:gd name="T57" fmla="*/ 0 h 798"/>
                  <a:gd name="T58" fmla="*/ 0 w 366"/>
                  <a:gd name="T59" fmla="*/ 0 h 798"/>
                  <a:gd name="T60" fmla="*/ 0 w 366"/>
                  <a:gd name="T61" fmla="*/ 0 h 798"/>
                  <a:gd name="T62" fmla="*/ 0 w 366"/>
                  <a:gd name="T63" fmla="*/ 0 h 798"/>
                  <a:gd name="T64" fmla="*/ 0 w 366"/>
                  <a:gd name="T65" fmla="*/ 0 h 798"/>
                  <a:gd name="T66" fmla="*/ 0 w 366"/>
                  <a:gd name="T67" fmla="*/ 0 h 798"/>
                  <a:gd name="T68" fmla="*/ 0 w 366"/>
                  <a:gd name="T69" fmla="*/ 0 h 798"/>
                  <a:gd name="T70" fmla="*/ 0 w 366"/>
                  <a:gd name="T71" fmla="*/ 0 h 798"/>
                  <a:gd name="T72" fmla="*/ 0 w 366"/>
                  <a:gd name="T73" fmla="*/ 0 h 798"/>
                  <a:gd name="T74" fmla="*/ 0 w 366"/>
                  <a:gd name="T75" fmla="*/ 0 h 798"/>
                  <a:gd name="T76" fmla="*/ 0 w 366"/>
                  <a:gd name="T77" fmla="*/ 0 h 798"/>
                  <a:gd name="T78" fmla="*/ 0 w 366"/>
                  <a:gd name="T79" fmla="*/ 0 h 798"/>
                  <a:gd name="T80" fmla="*/ 0 w 366"/>
                  <a:gd name="T81" fmla="*/ 0 h 798"/>
                  <a:gd name="T82" fmla="*/ 0 w 366"/>
                  <a:gd name="T83" fmla="*/ 0 h 798"/>
                  <a:gd name="T84" fmla="*/ 0 w 366"/>
                  <a:gd name="T85" fmla="*/ 0 h 798"/>
                  <a:gd name="T86" fmla="*/ 0 w 366"/>
                  <a:gd name="T87" fmla="*/ 0 h 798"/>
                  <a:gd name="T88" fmla="*/ 0 w 366"/>
                  <a:gd name="T89" fmla="*/ 0 h 798"/>
                  <a:gd name="T90" fmla="*/ 0 w 366"/>
                  <a:gd name="T91" fmla="*/ 0 h 798"/>
                  <a:gd name="T92" fmla="*/ 0 w 366"/>
                  <a:gd name="T93" fmla="*/ 0 h 798"/>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6" h="798">
                    <a:moveTo>
                      <a:pt x="170" y="389"/>
                    </a:moveTo>
                    <a:lnTo>
                      <a:pt x="182" y="385"/>
                    </a:lnTo>
                    <a:lnTo>
                      <a:pt x="183" y="384"/>
                    </a:lnTo>
                    <a:lnTo>
                      <a:pt x="184" y="384"/>
                    </a:lnTo>
                    <a:lnTo>
                      <a:pt x="197" y="388"/>
                    </a:lnTo>
                    <a:lnTo>
                      <a:pt x="197" y="759"/>
                    </a:lnTo>
                    <a:lnTo>
                      <a:pt x="197" y="761"/>
                    </a:lnTo>
                    <a:lnTo>
                      <a:pt x="209" y="787"/>
                    </a:lnTo>
                    <a:lnTo>
                      <a:pt x="237" y="798"/>
                    </a:lnTo>
                    <a:lnTo>
                      <a:pt x="265" y="790"/>
                    </a:lnTo>
                    <a:lnTo>
                      <a:pt x="280" y="761"/>
                    </a:lnTo>
                    <a:lnTo>
                      <a:pt x="281" y="756"/>
                    </a:lnTo>
                    <a:lnTo>
                      <a:pt x="281" y="139"/>
                    </a:lnTo>
                    <a:lnTo>
                      <a:pt x="296" y="138"/>
                    </a:lnTo>
                    <a:lnTo>
                      <a:pt x="295" y="362"/>
                    </a:lnTo>
                    <a:lnTo>
                      <a:pt x="305" y="383"/>
                    </a:lnTo>
                    <a:lnTo>
                      <a:pt x="330" y="391"/>
                    </a:lnTo>
                    <a:lnTo>
                      <a:pt x="354" y="385"/>
                    </a:lnTo>
                    <a:lnTo>
                      <a:pt x="366" y="362"/>
                    </a:lnTo>
                    <a:lnTo>
                      <a:pt x="366" y="92"/>
                    </a:lnTo>
                    <a:lnTo>
                      <a:pt x="345" y="33"/>
                    </a:lnTo>
                    <a:lnTo>
                      <a:pt x="289" y="4"/>
                    </a:lnTo>
                    <a:lnTo>
                      <a:pt x="276" y="0"/>
                    </a:lnTo>
                    <a:lnTo>
                      <a:pt x="194" y="0"/>
                    </a:lnTo>
                    <a:lnTo>
                      <a:pt x="90" y="0"/>
                    </a:lnTo>
                    <a:lnTo>
                      <a:pt x="86" y="3"/>
                    </a:lnTo>
                    <a:lnTo>
                      <a:pt x="28" y="30"/>
                    </a:lnTo>
                    <a:lnTo>
                      <a:pt x="0" y="92"/>
                    </a:lnTo>
                    <a:lnTo>
                      <a:pt x="0" y="362"/>
                    </a:lnTo>
                    <a:lnTo>
                      <a:pt x="11" y="383"/>
                    </a:lnTo>
                    <a:lnTo>
                      <a:pt x="35" y="389"/>
                    </a:lnTo>
                    <a:lnTo>
                      <a:pt x="57" y="384"/>
                    </a:lnTo>
                    <a:lnTo>
                      <a:pt x="70" y="362"/>
                    </a:lnTo>
                    <a:lnTo>
                      <a:pt x="69" y="138"/>
                    </a:lnTo>
                    <a:lnTo>
                      <a:pt x="86" y="139"/>
                    </a:lnTo>
                    <a:lnTo>
                      <a:pt x="86" y="756"/>
                    </a:lnTo>
                    <a:lnTo>
                      <a:pt x="86" y="761"/>
                    </a:lnTo>
                    <a:lnTo>
                      <a:pt x="98" y="787"/>
                    </a:lnTo>
                    <a:lnTo>
                      <a:pt x="126" y="798"/>
                    </a:lnTo>
                    <a:lnTo>
                      <a:pt x="154" y="790"/>
                    </a:lnTo>
                    <a:lnTo>
                      <a:pt x="169" y="761"/>
                    </a:lnTo>
                    <a:lnTo>
                      <a:pt x="169" y="759"/>
                    </a:lnTo>
                    <a:lnTo>
                      <a:pt x="169" y="388"/>
                    </a:lnTo>
                    <a:lnTo>
                      <a:pt x="182" y="384"/>
                    </a:lnTo>
                    <a:lnTo>
                      <a:pt x="169" y="388"/>
                    </a:lnTo>
                    <a:lnTo>
                      <a:pt x="169" y="759"/>
                    </a:lnTo>
                    <a:lnTo>
                      <a:pt x="170" y="38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GB" dirty="0">
                  <a:latin typeface="微软雅黑" panose="020B0503020204020204" pitchFamily="34" charset="-122"/>
                </a:endParaRPr>
              </a:p>
            </p:txBody>
          </p:sp>
          <p:sp>
            <p:nvSpPr>
              <p:cNvPr id="11313" name="Oval 19"/>
              <p:cNvSpPr>
                <a:spLocks noChangeArrowheads="1"/>
              </p:cNvSpPr>
              <p:nvPr/>
            </p:nvSpPr>
            <p:spPr bwMode="auto">
              <a:xfrm>
                <a:off x="1176" y="2400"/>
                <a:ext cx="49" cy="4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dirty="0">
                  <a:latin typeface="微软雅黑" panose="020B0503020204020204" pitchFamily="34" charset="-122"/>
                  <a:ea typeface="宋体" panose="02010600030101010101" pitchFamily="2" charset="-122"/>
                </a:endParaRPr>
              </a:p>
            </p:txBody>
          </p:sp>
        </p:grpSp>
      </p:grpSp>
      <p:grpSp>
        <p:nvGrpSpPr>
          <p:cNvPr id="11272" name="Group 20"/>
          <p:cNvGrpSpPr/>
          <p:nvPr/>
        </p:nvGrpSpPr>
        <p:grpSpPr bwMode="auto">
          <a:xfrm>
            <a:off x="1149350" y="4411663"/>
            <a:ext cx="984250" cy="762000"/>
            <a:chOff x="701" y="2883"/>
            <a:chExt cx="574" cy="480"/>
          </a:xfrm>
        </p:grpSpPr>
        <p:sp>
          <p:nvSpPr>
            <p:cNvPr id="11306" name="Text Box 21"/>
            <p:cNvSpPr txBox="1">
              <a:spLocks noChangeArrowheads="1"/>
            </p:cNvSpPr>
            <p:nvPr/>
          </p:nvSpPr>
          <p:spPr bwMode="auto">
            <a:xfrm>
              <a:off x="701" y="3171"/>
              <a:ext cx="57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63" tIns="45682" rIns="91363" bIns="45682">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ClrTx/>
                <a:buSzTx/>
                <a:buFontTx/>
                <a:buNone/>
              </a:pPr>
              <a:r>
                <a:rPr lang="en-US" altLang="zh-TW" sz="1400" b="0" dirty="0">
                  <a:latin typeface="宋体" panose="02010600030101010101" pitchFamily="2" charset="-122"/>
                  <a:ea typeface="宋体" panose="02010600030101010101" pitchFamily="2" charset="-122"/>
                  <a:cs typeface="Arial" panose="020B0604020202020204" pitchFamily="34" charset="0"/>
                </a:rPr>
                <a:t>IT </a:t>
              </a:r>
              <a:r>
                <a:rPr lang="zh-CN" altLang="en-US" sz="1400" b="0" dirty="0">
                  <a:latin typeface="宋体" panose="02010600030101010101" pitchFamily="2" charset="-122"/>
                  <a:ea typeface="宋体" panose="02010600030101010101" pitchFamily="2" charset="-122"/>
                  <a:cs typeface="Arial" panose="020B0604020202020204" pitchFamily="34" charset="0"/>
                </a:rPr>
                <a:t>架构师</a:t>
              </a:r>
              <a:endParaRPr lang="zh-CN" altLang="en-US" sz="1400" b="0" dirty="0">
                <a:latin typeface="宋体" panose="02010600030101010101" pitchFamily="2" charset="-122"/>
                <a:ea typeface="宋体" panose="02010600030101010101" pitchFamily="2" charset="-122"/>
                <a:cs typeface="Arial" panose="020B0604020202020204" pitchFamily="34" charset="0"/>
              </a:endParaRPr>
            </a:p>
          </p:txBody>
        </p:sp>
        <p:grpSp>
          <p:nvGrpSpPr>
            <p:cNvPr id="11307" name="Group 22"/>
            <p:cNvGrpSpPr/>
            <p:nvPr/>
          </p:nvGrpSpPr>
          <p:grpSpPr bwMode="auto">
            <a:xfrm>
              <a:off x="925" y="2883"/>
              <a:ext cx="122" cy="320"/>
              <a:chOff x="1139" y="2400"/>
              <a:chExt cx="122" cy="320"/>
            </a:xfrm>
          </p:grpSpPr>
          <p:sp>
            <p:nvSpPr>
              <p:cNvPr id="11308" name="Freeform 23"/>
              <p:cNvSpPr/>
              <p:nvPr/>
            </p:nvSpPr>
            <p:spPr bwMode="auto">
              <a:xfrm>
                <a:off x="1139" y="2454"/>
                <a:ext cx="122" cy="266"/>
              </a:xfrm>
              <a:custGeom>
                <a:avLst/>
                <a:gdLst>
                  <a:gd name="T0" fmla="*/ 0 w 366"/>
                  <a:gd name="T1" fmla="*/ 0 h 798"/>
                  <a:gd name="T2" fmla="*/ 0 w 366"/>
                  <a:gd name="T3" fmla="*/ 0 h 798"/>
                  <a:gd name="T4" fmla="*/ 0 w 366"/>
                  <a:gd name="T5" fmla="*/ 0 h 798"/>
                  <a:gd name="T6" fmla="*/ 0 w 366"/>
                  <a:gd name="T7" fmla="*/ 0 h 798"/>
                  <a:gd name="T8" fmla="*/ 0 w 366"/>
                  <a:gd name="T9" fmla="*/ 0 h 798"/>
                  <a:gd name="T10" fmla="*/ 0 w 366"/>
                  <a:gd name="T11" fmla="*/ 0 h 798"/>
                  <a:gd name="T12" fmla="*/ 0 w 366"/>
                  <a:gd name="T13" fmla="*/ 0 h 798"/>
                  <a:gd name="T14" fmla="*/ 0 w 366"/>
                  <a:gd name="T15" fmla="*/ 0 h 798"/>
                  <a:gd name="T16" fmla="*/ 0 w 366"/>
                  <a:gd name="T17" fmla="*/ 0 h 798"/>
                  <a:gd name="T18" fmla="*/ 0 w 366"/>
                  <a:gd name="T19" fmla="*/ 0 h 798"/>
                  <a:gd name="T20" fmla="*/ 0 w 366"/>
                  <a:gd name="T21" fmla="*/ 0 h 798"/>
                  <a:gd name="T22" fmla="*/ 0 w 366"/>
                  <a:gd name="T23" fmla="*/ 0 h 798"/>
                  <a:gd name="T24" fmla="*/ 0 w 366"/>
                  <a:gd name="T25" fmla="*/ 0 h 798"/>
                  <a:gd name="T26" fmla="*/ 0 w 366"/>
                  <a:gd name="T27" fmla="*/ 0 h 798"/>
                  <a:gd name="T28" fmla="*/ 0 w 366"/>
                  <a:gd name="T29" fmla="*/ 0 h 798"/>
                  <a:gd name="T30" fmla="*/ 0 w 366"/>
                  <a:gd name="T31" fmla="*/ 0 h 798"/>
                  <a:gd name="T32" fmla="*/ 0 w 366"/>
                  <a:gd name="T33" fmla="*/ 0 h 798"/>
                  <a:gd name="T34" fmla="*/ 0 w 366"/>
                  <a:gd name="T35" fmla="*/ 0 h 798"/>
                  <a:gd name="T36" fmla="*/ 0 w 366"/>
                  <a:gd name="T37" fmla="*/ 0 h 798"/>
                  <a:gd name="T38" fmla="*/ 0 w 366"/>
                  <a:gd name="T39" fmla="*/ 0 h 798"/>
                  <a:gd name="T40" fmla="*/ 0 w 366"/>
                  <a:gd name="T41" fmla="*/ 0 h 798"/>
                  <a:gd name="T42" fmla="*/ 0 w 366"/>
                  <a:gd name="T43" fmla="*/ 0 h 798"/>
                  <a:gd name="T44" fmla="*/ 0 w 366"/>
                  <a:gd name="T45" fmla="*/ 0 h 798"/>
                  <a:gd name="T46" fmla="*/ 0 w 366"/>
                  <a:gd name="T47" fmla="*/ 0 h 798"/>
                  <a:gd name="T48" fmla="*/ 0 w 366"/>
                  <a:gd name="T49" fmla="*/ 0 h 798"/>
                  <a:gd name="T50" fmla="*/ 0 w 366"/>
                  <a:gd name="T51" fmla="*/ 0 h 798"/>
                  <a:gd name="T52" fmla="*/ 0 w 366"/>
                  <a:gd name="T53" fmla="*/ 0 h 798"/>
                  <a:gd name="T54" fmla="*/ 0 w 366"/>
                  <a:gd name="T55" fmla="*/ 0 h 798"/>
                  <a:gd name="T56" fmla="*/ 0 w 366"/>
                  <a:gd name="T57" fmla="*/ 0 h 798"/>
                  <a:gd name="T58" fmla="*/ 0 w 366"/>
                  <a:gd name="T59" fmla="*/ 0 h 798"/>
                  <a:gd name="T60" fmla="*/ 0 w 366"/>
                  <a:gd name="T61" fmla="*/ 0 h 798"/>
                  <a:gd name="T62" fmla="*/ 0 w 366"/>
                  <a:gd name="T63" fmla="*/ 0 h 798"/>
                  <a:gd name="T64" fmla="*/ 0 w 366"/>
                  <a:gd name="T65" fmla="*/ 0 h 798"/>
                  <a:gd name="T66" fmla="*/ 0 w 366"/>
                  <a:gd name="T67" fmla="*/ 0 h 798"/>
                  <a:gd name="T68" fmla="*/ 0 w 366"/>
                  <a:gd name="T69" fmla="*/ 0 h 798"/>
                  <a:gd name="T70" fmla="*/ 0 w 366"/>
                  <a:gd name="T71" fmla="*/ 0 h 798"/>
                  <a:gd name="T72" fmla="*/ 0 w 366"/>
                  <a:gd name="T73" fmla="*/ 0 h 798"/>
                  <a:gd name="T74" fmla="*/ 0 w 366"/>
                  <a:gd name="T75" fmla="*/ 0 h 798"/>
                  <a:gd name="T76" fmla="*/ 0 w 366"/>
                  <a:gd name="T77" fmla="*/ 0 h 798"/>
                  <a:gd name="T78" fmla="*/ 0 w 366"/>
                  <a:gd name="T79" fmla="*/ 0 h 798"/>
                  <a:gd name="T80" fmla="*/ 0 w 366"/>
                  <a:gd name="T81" fmla="*/ 0 h 798"/>
                  <a:gd name="T82" fmla="*/ 0 w 366"/>
                  <a:gd name="T83" fmla="*/ 0 h 798"/>
                  <a:gd name="T84" fmla="*/ 0 w 366"/>
                  <a:gd name="T85" fmla="*/ 0 h 798"/>
                  <a:gd name="T86" fmla="*/ 0 w 366"/>
                  <a:gd name="T87" fmla="*/ 0 h 798"/>
                  <a:gd name="T88" fmla="*/ 0 w 366"/>
                  <a:gd name="T89" fmla="*/ 0 h 798"/>
                  <a:gd name="T90" fmla="*/ 0 w 366"/>
                  <a:gd name="T91" fmla="*/ 0 h 798"/>
                  <a:gd name="T92" fmla="*/ 0 w 366"/>
                  <a:gd name="T93" fmla="*/ 0 h 798"/>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6" h="798">
                    <a:moveTo>
                      <a:pt x="170" y="389"/>
                    </a:moveTo>
                    <a:lnTo>
                      <a:pt x="182" y="385"/>
                    </a:lnTo>
                    <a:lnTo>
                      <a:pt x="183" y="384"/>
                    </a:lnTo>
                    <a:lnTo>
                      <a:pt x="184" y="384"/>
                    </a:lnTo>
                    <a:lnTo>
                      <a:pt x="197" y="388"/>
                    </a:lnTo>
                    <a:lnTo>
                      <a:pt x="197" y="759"/>
                    </a:lnTo>
                    <a:lnTo>
                      <a:pt x="197" y="761"/>
                    </a:lnTo>
                    <a:lnTo>
                      <a:pt x="209" y="787"/>
                    </a:lnTo>
                    <a:lnTo>
                      <a:pt x="237" y="798"/>
                    </a:lnTo>
                    <a:lnTo>
                      <a:pt x="265" y="790"/>
                    </a:lnTo>
                    <a:lnTo>
                      <a:pt x="280" y="761"/>
                    </a:lnTo>
                    <a:lnTo>
                      <a:pt x="281" y="756"/>
                    </a:lnTo>
                    <a:lnTo>
                      <a:pt x="281" y="139"/>
                    </a:lnTo>
                    <a:lnTo>
                      <a:pt x="296" y="138"/>
                    </a:lnTo>
                    <a:lnTo>
                      <a:pt x="295" y="362"/>
                    </a:lnTo>
                    <a:lnTo>
                      <a:pt x="305" y="383"/>
                    </a:lnTo>
                    <a:lnTo>
                      <a:pt x="330" y="391"/>
                    </a:lnTo>
                    <a:lnTo>
                      <a:pt x="354" y="385"/>
                    </a:lnTo>
                    <a:lnTo>
                      <a:pt x="366" y="362"/>
                    </a:lnTo>
                    <a:lnTo>
                      <a:pt x="366" y="92"/>
                    </a:lnTo>
                    <a:lnTo>
                      <a:pt x="345" y="33"/>
                    </a:lnTo>
                    <a:lnTo>
                      <a:pt x="289" y="4"/>
                    </a:lnTo>
                    <a:lnTo>
                      <a:pt x="276" y="0"/>
                    </a:lnTo>
                    <a:lnTo>
                      <a:pt x="194" y="0"/>
                    </a:lnTo>
                    <a:lnTo>
                      <a:pt x="90" y="0"/>
                    </a:lnTo>
                    <a:lnTo>
                      <a:pt x="86" y="3"/>
                    </a:lnTo>
                    <a:lnTo>
                      <a:pt x="28" y="30"/>
                    </a:lnTo>
                    <a:lnTo>
                      <a:pt x="0" y="92"/>
                    </a:lnTo>
                    <a:lnTo>
                      <a:pt x="0" y="362"/>
                    </a:lnTo>
                    <a:lnTo>
                      <a:pt x="11" y="383"/>
                    </a:lnTo>
                    <a:lnTo>
                      <a:pt x="35" y="389"/>
                    </a:lnTo>
                    <a:lnTo>
                      <a:pt x="57" y="384"/>
                    </a:lnTo>
                    <a:lnTo>
                      <a:pt x="70" y="362"/>
                    </a:lnTo>
                    <a:lnTo>
                      <a:pt x="69" y="138"/>
                    </a:lnTo>
                    <a:lnTo>
                      <a:pt x="86" y="139"/>
                    </a:lnTo>
                    <a:lnTo>
                      <a:pt x="86" y="756"/>
                    </a:lnTo>
                    <a:lnTo>
                      <a:pt x="86" y="761"/>
                    </a:lnTo>
                    <a:lnTo>
                      <a:pt x="98" y="787"/>
                    </a:lnTo>
                    <a:lnTo>
                      <a:pt x="126" y="798"/>
                    </a:lnTo>
                    <a:lnTo>
                      <a:pt x="154" y="790"/>
                    </a:lnTo>
                    <a:lnTo>
                      <a:pt x="169" y="761"/>
                    </a:lnTo>
                    <a:lnTo>
                      <a:pt x="169" y="759"/>
                    </a:lnTo>
                    <a:lnTo>
                      <a:pt x="169" y="388"/>
                    </a:lnTo>
                    <a:lnTo>
                      <a:pt x="182" y="384"/>
                    </a:lnTo>
                    <a:lnTo>
                      <a:pt x="169" y="388"/>
                    </a:lnTo>
                    <a:lnTo>
                      <a:pt x="169" y="759"/>
                    </a:lnTo>
                    <a:lnTo>
                      <a:pt x="170" y="38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GB" dirty="0">
                  <a:latin typeface="微软雅黑" panose="020B0503020204020204" pitchFamily="34" charset="-122"/>
                </a:endParaRPr>
              </a:p>
            </p:txBody>
          </p:sp>
          <p:sp>
            <p:nvSpPr>
              <p:cNvPr id="11309" name="Oval 24"/>
              <p:cNvSpPr>
                <a:spLocks noChangeArrowheads="1"/>
              </p:cNvSpPr>
              <p:nvPr/>
            </p:nvSpPr>
            <p:spPr bwMode="auto">
              <a:xfrm>
                <a:off x="1176" y="2400"/>
                <a:ext cx="49" cy="4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dirty="0">
                  <a:latin typeface="微软雅黑" panose="020B0503020204020204" pitchFamily="34" charset="-122"/>
                  <a:ea typeface="宋体" panose="02010600030101010101" pitchFamily="2" charset="-122"/>
                </a:endParaRPr>
              </a:p>
            </p:txBody>
          </p:sp>
        </p:grpSp>
      </p:grpSp>
      <p:grpSp>
        <p:nvGrpSpPr>
          <p:cNvPr id="11273" name="Group 25"/>
          <p:cNvGrpSpPr/>
          <p:nvPr/>
        </p:nvGrpSpPr>
        <p:grpSpPr bwMode="auto">
          <a:xfrm>
            <a:off x="1189038" y="5326063"/>
            <a:ext cx="901700" cy="965200"/>
            <a:chOff x="724" y="3459"/>
            <a:chExt cx="526" cy="608"/>
          </a:xfrm>
        </p:grpSpPr>
        <p:sp>
          <p:nvSpPr>
            <p:cNvPr id="11302" name="Text Box 26"/>
            <p:cNvSpPr txBox="1">
              <a:spLocks noChangeArrowheads="1"/>
            </p:cNvSpPr>
            <p:nvPr/>
          </p:nvSpPr>
          <p:spPr bwMode="auto">
            <a:xfrm>
              <a:off x="724" y="3737"/>
              <a:ext cx="52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63" tIns="45682" rIns="91363" bIns="45682">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ClrTx/>
                <a:buSzTx/>
                <a:buFontTx/>
                <a:buNone/>
              </a:pPr>
              <a:r>
                <a:rPr lang="zh-CN" altLang="en-US" sz="1400" b="0" dirty="0">
                  <a:latin typeface="宋体" panose="02010600030101010101" pitchFamily="2" charset="-122"/>
                  <a:ea typeface="宋体" panose="02010600030101010101" pitchFamily="2" charset="-122"/>
                  <a:cs typeface="Arial" panose="020B0604020202020204" pitchFamily="34" charset="0"/>
                </a:rPr>
                <a:t>操作人员</a:t>
              </a:r>
              <a:endParaRPr lang="en-US" altLang="zh-TW" sz="1400" b="0" dirty="0">
                <a:latin typeface="宋体" panose="02010600030101010101" pitchFamily="2" charset="-122"/>
                <a:ea typeface="宋体" panose="02010600030101010101" pitchFamily="2" charset="-122"/>
                <a:cs typeface="Arial" panose="020B0604020202020204" pitchFamily="34" charset="0"/>
              </a:endParaRPr>
            </a:p>
            <a:p>
              <a:pPr algn="ctr" eaLnBrk="1" hangingPunct="1">
                <a:spcBef>
                  <a:spcPct val="0"/>
                </a:spcBef>
                <a:spcAft>
                  <a:spcPct val="0"/>
                </a:spcAft>
                <a:buClrTx/>
                <a:buSzTx/>
                <a:buFontTx/>
                <a:buNone/>
              </a:pPr>
              <a:r>
                <a:rPr lang="en-US" altLang="zh-TW" sz="1400" b="0" dirty="0">
                  <a:latin typeface="宋体" panose="02010600030101010101" pitchFamily="2" charset="-122"/>
                  <a:ea typeface="宋体" panose="02010600030101010101" pitchFamily="2" charset="-122"/>
                  <a:cs typeface="Arial" panose="020B0604020202020204" pitchFamily="34" charset="0"/>
                </a:rPr>
                <a:t>IT </a:t>
              </a:r>
              <a:r>
                <a:rPr lang="zh-CN" altLang="en-US" sz="1400" b="0" dirty="0">
                  <a:latin typeface="宋体" panose="02010600030101010101" pitchFamily="2" charset="-122"/>
                  <a:ea typeface="宋体" panose="02010600030101010101" pitchFamily="2" charset="-122"/>
                  <a:cs typeface="Arial" panose="020B0604020202020204" pitchFamily="34" charset="0"/>
                </a:rPr>
                <a:t>开发</a:t>
              </a:r>
              <a:endParaRPr lang="zh-CN" altLang="en-US" sz="1400" b="0" dirty="0">
                <a:latin typeface="宋体" panose="02010600030101010101" pitchFamily="2" charset="-122"/>
                <a:ea typeface="宋体" panose="02010600030101010101" pitchFamily="2" charset="-122"/>
                <a:cs typeface="Arial" panose="020B0604020202020204" pitchFamily="34" charset="0"/>
              </a:endParaRPr>
            </a:p>
          </p:txBody>
        </p:sp>
        <p:grpSp>
          <p:nvGrpSpPr>
            <p:cNvPr id="11303" name="Group 27"/>
            <p:cNvGrpSpPr/>
            <p:nvPr/>
          </p:nvGrpSpPr>
          <p:grpSpPr bwMode="auto">
            <a:xfrm>
              <a:off x="913" y="3459"/>
              <a:ext cx="146" cy="321"/>
              <a:chOff x="979" y="2400"/>
              <a:chExt cx="146" cy="321"/>
            </a:xfrm>
          </p:grpSpPr>
          <p:sp>
            <p:nvSpPr>
              <p:cNvPr id="11304" name="Oval 28"/>
              <p:cNvSpPr>
                <a:spLocks noChangeArrowheads="1"/>
              </p:cNvSpPr>
              <p:nvPr/>
            </p:nvSpPr>
            <p:spPr bwMode="auto">
              <a:xfrm>
                <a:off x="1028" y="2400"/>
                <a:ext cx="49" cy="4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dirty="0">
                  <a:latin typeface="微软雅黑" panose="020B0503020204020204" pitchFamily="34" charset="-122"/>
                  <a:ea typeface="宋体" panose="02010600030101010101" pitchFamily="2" charset="-122"/>
                </a:endParaRPr>
              </a:p>
            </p:txBody>
          </p:sp>
          <p:sp>
            <p:nvSpPr>
              <p:cNvPr id="11305" name="Freeform 29"/>
              <p:cNvSpPr/>
              <p:nvPr/>
            </p:nvSpPr>
            <p:spPr bwMode="auto">
              <a:xfrm>
                <a:off x="979" y="2456"/>
                <a:ext cx="146" cy="265"/>
              </a:xfrm>
              <a:custGeom>
                <a:avLst/>
                <a:gdLst>
                  <a:gd name="T0" fmla="*/ 0 w 438"/>
                  <a:gd name="T1" fmla="*/ 0 h 794"/>
                  <a:gd name="T2" fmla="*/ 0 w 438"/>
                  <a:gd name="T3" fmla="*/ 0 h 794"/>
                  <a:gd name="T4" fmla="*/ 0 w 438"/>
                  <a:gd name="T5" fmla="*/ 0 h 794"/>
                  <a:gd name="T6" fmla="*/ 0 w 438"/>
                  <a:gd name="T7" fmla="*/ 0 h 794"/>
                  <a:gd name="T8" fmla="*/ 0 w 438"/>
                  <a:gd name="T9" fmla="*/ 0 h 794"/>
                  <a:gd name="T10" fmla="*/ 0 w 438"/>
                  <a:gd name="T11" fmla="*/ 0 h 794"/>
                  <a:gd name="T12" fmla="*/ 0 w 438"/>
                  <a:gd name="T13" fmla="*/ 0 h 794"/>
                  <a:gd name="T14" fmla="*/ 0 w 438"/>
                  <a:gd name="T15" fmla="*/ 0 h 794"/>
                  <a:gd name="T16" fmla="*/ 0 w 438"/>
                  <a:gd name="T17" fmla="*/ 0 h 794"/>
                  <a:gd name="T18" fmla="*/ 0 w 438"/>
                  <a:gd name="T19" fmla="*/ 0 h 794"/>
                  <a:gd name="T20" fmla="*/ 0 w 438"/>
                  <a:gd name="T21" fmla="*/ 0 h 794"/>
                  <a:gd name="T22" fmla="*/ 0 w 438"/>
                  <a:gd name="T23" fmla="*/ 0 h 794"/>
                  <a:gd name="T24" fmla="*/ 0 w 438"/>
                  <a:gd name="T25" fmla="*/ 0 h 794"/>
                  <a:gd name="T26" fmla="*/ 0 w 438"/>
                  <a:gd name="T27" fmla="*/ 0 h 794"/>
                  <a:gd name="T28" fmla="*/ 0 w 438"/>
                  <a:gd name="T29" fmla="*/ 0 h 794"/>
                  <a:gd name="T30" fmla="*/ 0 w 438"/>
                  <a:gd name="T31" fmla="*/ 0 h 794"/>
                  <a:gd name="T32" fmla="*/ 0 w 438"/>
                  <a:gd name="T33" fmla="*/ 0 h 794"/>
                  <a:gd name="T34" fmla="*/ 0 w 438"/>
                  <a:gd name="T35" fmla="*/ 0 h 794"/>
                  <a:gd name="T36" fmla="*/ 0 w 438"/>
                  <a:gd name="T37" fmla="*/ 0 h 794"/>
                  <a:gd name="T38" fmla="*/ 0 w 438"/>
                  <a:gd name="T39" fmla="*/ 0 h 794"/>
                  <a:gd name="T40" fmla="*/ 0 w 438"/>
                  <a:gd name="T41" fmla="*/ 0 h 794"/>
                  <a:gd name="T42" fmla="*/ 0 w 438"/>
                  <a:gd name="T43" fmla="*/ 0 h 794"/>
                  <a:gd name="T44" fmla="*/ 0 w 438"/>
                  <a:gd name="T45" fmla="*/ 0 h 794"/>
                  <a:gd name="T46" fmla="*/ 0 w 438"/>
                  <a:gd name="T47" fmla="*/ 0 h 794"/>
                  <a:gd name="T48" fmla="*/ 0 w 438"/>
                  <a:gd name="T49" fmla="*/ 0 h 794"/>
                  <a:gd name="T50" fmla="*/ 0 w 438"/>
                  <a:gd name="T51" fmla="*/ 0 h 794"/>
                  <a:gd name="T52" fmla="*/ 0 w 438"/>
                  <a:gd name="T53" fmla="*/ 0 h 794"/>
                  <a:gd name="T54" fmla="*/ 0 w 438"/>
                  <a:gd name="T55" fmla="*/ 0 h 794"/>
                  <a:gd name="T56" fmla="*/ 0 w 438"/>
                  <a:gd name="T57" fmla="*/ 0 h 794"/>
                  <a:gd name="T58" fmla="*/ 0 w 438"/>
                  <a:gd name="T59" fmla="*/ 0 h 794"/>
                  <a:gd name="T60" fmla="*/ 0 w 438"/>
                  <a:gd name="T61" fmla="*/ 0 h 794"/>
                  <a:gd name="T62" fmla="*/ 0 w 438"/>
                  <a:gd name="T63" fmla="*/ 0 h 794"/>
                  <a:gd name="T64" fmla="*/ 0 w 438"/>
                  <a:gd name="T65" fmla="*/ 0 h 794"/>
                  <a:gd name="T66" fmla="*/ 0 w 438"/>
                  <a:gd name="T67" fmla="*/ 0 h 794"/>
                  <a:gd name="T68" fmla="*/ 0 w 438"/>
                  <a:gd name="T69" fmla="*/ 0 h 794"/>
                  <a:gd name="T70" fmla="*/ 0 w 438"/>
                  <a:gd name="T71" fmla="*/ 0 h 794"/>
                  <a:gd name="T72" fmla="*/ 0 w 438"/>
                  <a:gd name="T73" fmla="*/ 0 h 794"/>
                  <a:gd name="T74" fmla="*/ 0 w 438"/>
                  <a:gd name="T75" fmla="*/ 0 h 794"/>
                  <a:gd name="T76" fmla="*/ 0 w 438"/>
                  <a:gd name="T77" fmla="*/ 0 h 794"/>
                  <a:gd name="T78" fmla="*/ 0 w 438"/>
                  <a:gd name="T79" fmla="*/ 0 h 794"/>
                  <a:gd name="T80" fmla="*/ 0 w 438"/>
                  <a:gd name="T81" fmla="*/ 0 h 794"/>
                  <a:gd name="T82" fmla="*/ 0 w 438"/>
                  <a:gd name="T83" fmla="*/ 0 h 794"/>
                  <a:gd name="T84" fmla="*/ 0 w 438"/>
                  <a:gd name="T85" fmla="*/ 0 h 794"/>
                  <a:gd name="T86" fmla="*/ 0 w 438"/>
                  <a:gd name="T87" fmla="*/ 0 h 794"/>
                  <a:gd name="T88" fmla="*/ 0 w 438"/>
                  <a:gd name="T89" fmla="*/ 0 h 794"/>
                  <a:gd name="T90" fmla="*/ 0 w 438"/>
                  <a:gd name="T91" fmla="*/ 0 h 794"/>
                  <a:gd name="T92" fmla="*/ 0 w 438"/>
                  <a:gd name="T93" fmla="*/ 0 h 794"/>
                  <a:gd name="T94" fmla="*/ 0 w 438"/>
                  <a:gd name="T95" fmla="*/ 0 h 794"/>
                  <a:gd name="T96" fmla="*/ 0 w 438"/>
                  <a:gd name="T97" fmla="*/ 0 h 794"/>
                  <a:gd name="T98" fmla="*/ 0 w 438"/>
                  <a:gd name="T99" fmla="*/ 0 h 794"/>
                  <a:gd name="T100" fmla="*/ 0 w 438"/>
                  <a:gd name="T101" fmla="*/ 0 h 794"/>
                  <a:gd name="T102" fmla="*/ 0 w 438"/>
                  <a:gd name="T103" fmla="*/ 0 h 79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438" h="794">
                    <a:moveTo>
                      <a:pt x="218" y="0"/>
                    </a:moveTo>
                    <a:lnTo>
                      <a:pt x="156" y="0"/>
                    </a:lnTo>
                    <a:lnTo>
                      <a:pt x="156" y="1"/>
                    </a:lnTo>
                    <a:lnTo>
                      <a:pt x="113" y="19"/>
                    </a:lnTo>
                    <a:lnTo>
                      <a:pt x="73" y="83"/>
                    </a:lnTo>
                    <a:lnTo>
                      <a:pt x="72" y="87"/>
                    </a:lnTo>
                    <a:lnTo>
                      <a:pt x="0" y="334"/>
                    </a:lnTo>
                    <a:lnTo>
                      <a:pt x="0" y="335"/>
                    </a:lnTo>
                    <a:lnTo>
                      <a:pt x="0" y="348"/>
                    </a:lnTo>
                    <a:lnTo>
                      <a:pt x="4" y="360"/>
                    </a:lnTo>
                    <a:lnTo>
                      <a:pt x="17" y="368"/>
                    </a:lnTo>
                    <a:lnTo>
                      <a:pt x="46" y="343"/>
                    </a:lnTo>
                    <a:lnTo>
                      <a:pt x="46" y="345"/>
                    </a:lnTo>
                    <a:lnTo>
                      <a:pt x="131" y="116"/>
                    </a:lnTo>
                    <a:lnTo>
                      <a:pt x="132" y="116"/>
                    </a:lnTo>
                    <a:lnTo>
                      <a:pt x="142" y="116"/>
                    </a:lnTo>
                    <a:lnTo>
                      <a:pt x="41" y="496"/>
                    </a:lnTo>
                    <a:lnTo>
                      <a:pt x="146" y="496"/>
                    </a:lnTo>
                    <a:lnTo>
                      <a:pt x="146" y="767"/>
                    </a:lnTo>
                    <a:lnTo>
                      <a:pt x="155" y="786"/>
                    </a:lnTo>
                    <a:lnTo>
                      <a:pt x="177" y="793"/>
                    </a:lnTo>
                    <a:lnTo>
                      <a:pt x="197" y="787"/>
                    </a:lnTo>
                    <a:lnTo>
                      <a:pt x="209" y="767"/>
                    </a:lnTo>
                    <a:lnTo>
                      <a:pt x="207" y="495"/>
                    </a:lnTo>
                    <a:lnTo>
                      <a:pt x="207" y="496"/>
                    </a:lnTo>
                    <a:lnTo>
                      <a:pt x="220" y="496"/>
                    </a:lnTo>
                    <a:lnTo>
                      <a:pt x="229" y="496"/>
                    </a:lnTo>
                    <a:lnTo>
                      <a:pt x="229" y="767"/>
                    </a:lnTo>
                    <a:lnTo>
                      <a:pt x="238" y="787"/>
                    </a:lnTo>
                    <a:lnTo>
                      <a:pt x="260" y="794"/>
                    </a:lnTo>
                    <a:lnTo>
                      <a:pt x="280" y="787"/>
                    </a:lnTo>
                    <a:lnTo>
                      <a:pt x="291" y="767"/>
                    </a:lnTo>
                    <a:lnTo>
                      <a:pt x="291" y="496"/>
                    </a:lnTo>
                    <a:lnTo>
                      <a:pt x="396" y="496"/>
                    </a:lnTo>
                    <a:lnTo>
                      <a:pt x="294" y="116"/>
                    </a:lnTo>
                    <a:lnTo>
                      <a:pt x="304" y="116"/>
                    </a:lnTo>
                    <a:lnTo>
                      <a:pt x="306" y="116"/>
                    </a:lnTo>
                    <a:lnTo>
                      <a:pt x="390" y="345"/>
                    </a:lnTo>
                    <a:lnTo>
                      <a:pt x="390" y="343"/>
                    </a:lnTo>
                    <a:lnTo>
                      <a:pt x="400" y="360"/>
                    </a:lnTo>
                    <a:lnTo>
                      <a:pt x="418" y="366"/>
                    </a:lnTo>
                    <a:lnTo>
                      <a:pt x="432" y="361"/>
                    </a:lnTo>
                    <a:lnTo>
                      <a:pt x="437" y="352"/>
                    </a:lnTo>
                    <a:lnTo>
                      <a:pt x="438" y="335"/>
                    </a:lnTo>
                    <a:lnTo>
                      <a:pt x="437" y="334"/>
                    </a:lnTo>
                    <a:lnTo>
                      <a:pt x="363" y="87"/>
                    </a:lnTo>
                    <a:lnTo>
                      <a:pt x="363" y="83"/>
                    </a:lnTo>
                    <a:lnTo>
                      <a:pt x="325" y="21"/>
                    </a:lnTo>
                    <a:lnTo>
                      <a:pt x="280" y="1"/>
                    </a:lnTo>
                    <a:lnTo>
                      <a:pt x="280" y="0"/>
                    </a:lnTo>
                    <a:lnTo>
                      <a:pt x="219" y="0"/>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GB" dirty="0">
                  <a:latin typeface="微软雅黑" panose="020B0503020204020204" pitchFamily="34" charset="-122"/>
                </a:endParaRPr>
              </a:p>
            </p:txBody>
          </p:sp>
        </p:grpSp>
      </p:grpSp>
      <p:sp>
        <p:nvSpPr>
          <p:cNvPr id="11278" name="AutoShape 34"/>
          <p:cNvSpPr>
            <a:spLocks noChangeArrowheads="1"/>
          </p:cNvSpPr>
          <p:nvPr/>
        </p:nvSpPr>
        <p:spPr bwMode="auto">
          <a:xfrm>
            <a:off x="3881438" y="2794675"/>
            <a:ext cx="228600" cy="405051"/>
          </a:xfrm>
          <a:prstGeom prst="downArrow">
            <a:avLst>
              <a:gd name="adj1" fmla="val 50000"/>
              <a:gd name="adj2" fmla="val 31944"/>
            </a:avLst>
          </a:prstGeom>
          <a:solidFill>
            <a:schemeClr val="bg2">
              <a:lumMod val="20000"/>
              <a:lumOff val="80000"/>
            </a:schemeClr>
          </a:solidFill>
          <a:ln w="9525" algn="ctr">
            <a:solidFill>
              <a:schemeClr val="bg2">
                <a:lumMod val="60000"/>
                <a:lumOff val="40000"/>
              </a:schemeClr>
            </a:solidFill>
            <a:miter lim="800000"/>
          </a:ln>
          <a:effectLst/>
        </p:spPr>
        <p:txBody>
          <a:bodyPr rot="10800000" anchor="ct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dirty="0">
              <a:latin typeface="微软雅黑" panose="020B0503020204020204" pitchFamily="34" charset="-122"/>
              <a:ea typeface="宋体" panose="02010600030101010101" pitchFamily="2" charset="-122"/>
            </a:endParaRPr>
          </a:p>
        </p:txBody>
      </p:sp>
      <p:sp>
        <p:nvSpPr>
          <p:cNvPr id="11279" name="AutoShape 35"/>
          <p:cNvSpPr>
            <a:spLocks noChangeArrowheads="1"/>
          </p:cNvSpPr>
          <p:nvPr/>
        </p:nvSpPr>
        <p:spPr bwMode="auto">
          <a:xfrm flipV="1">
            <a:off x="4300538" y="2794675"/>
            <a:ext cx="228600" cy="405051"/>
          </a:xfrm>
          <a:prstGeom prst="downArrow">
            <a:avLst>
              <a:gd name="adj1" fmla="val 50000"/>
              <a:gd name="adj2" fmla="val 31944"/>
            </a:avLst>
          </a:prstGeom>
          <a:solidFill>
            <a:schemeClr val="bg2">
              <a:lumMod val="20000"/>
              <a:lumOff val="80000"/>
            </a:schemeClr>
          </a:solidFill>
          <a:ln w="9525" algn="ctr">
            <a:solidFill>
              <a:schemeClr val="bg2">
                <a:lumMod val="60000"/>
                <a:lumOff val="40000"/>
              </a:schemeClr>
            </a:solidFill>
            <a:miter lim="800000"/>
          </a:ln>
          <a:effectLst/>
        </p:spPr>
        <p:txBody>
          <a:bodyPr rot="10800000" anchor="ct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dirty="0">
              <a:latin typeface="微软雅黑" panose="020B0503020204020204" pitchFamily="34" charset="-122"/>
              <a:ea typeface="宋体" panose="02010600030101010101" pitchFamily="2" charset="-122"/>
            </a:endParaRPr>
          </a:p>
        </p:txBody>
      </p:sp>
      <p:sp>
        <p:nvSpPr>
          <p:cNvPr id="11282" name="AutoShape 38"/>
          <p:cNvSpPr>
            <a:spLocks noChangeArrowheads="1"/>
          </p:cNvSpPr>
          <p:nvPr/>
        </p:nvSpPr>
        <p:spPr bwMode="auto">
          <a:xfrm>
            <a:off x="3881438" y="5002217"/>
            <a:ext cx="228600" cy="408623"/>
          </a:xfrm>
          <a:prstGeom prst="downArrow">
            <a:avLst>
              <a:gd name="adj1" fmla="val 50000"/>
              <a:gd name="adj2" fmla="val 36458"/>
            </a:avLst>
          </a:prstGeom>
          <a:solidFill>
            <a:schemeClr val="bg2">
              <a:lumMod val="20000"/>
              <a:lumOff val="80000"/>
            </a:schemeClr>
          </a:solidFill>
          <a:ln w="9525" algn="ctr">
            <a:solidFill>
              <a:schemeClr val="bg2">
                <a:lumMod val="60000"/>
                <a:lumOff val="40000"/>
              </a:schemeClr>
            </a:solidFill>
            <a:miter lim="800000"/>
          </a:ln>
          <a:effectLst/>
        </p:spPr>
        <p:txBody>
          <a:bodyPr rot="10800000" anchor="ct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dirty="0">
              <a:latin typeface="微软雅黑" panose="020B0503020204020204" pitchFamily="34" charset="-122"/>
              <a:ea typeface="宋体" panose="02010600030101010101" pitchFamily="2" charset="-122"/>
            </a:endParaRPr>
          </a:p>
        </p:txBody>
      </p:sp>
      <p:sp>
        <p:nvSpPr>
          <p:cNvPr id="11283" name="AutoShape 39"/>
          <p:cNvSpPr>
            <a:spLocks noChangeArrowheads="1"/>
          </p:cNvSpPr>
          <p:nvPr/>
        </p:nvSpPr>
        <p:spPr bwMode="auto">
          <a:xfrm flipV="1">
            <a:off x="4300538" y="5002217"/>
            <a:ext cx="228600" cy="408623"/>
          </a:xfrm>
          <a:prstGeom prst="downArrow">
            <a:avLst>
              <a:gd name="adj1" fmla="val 50000"/>
              <a:gd name="adj2" fmla="val 36458"/>
            </a:avLst>
          </a:prstGeom>
          <a:solidFill>
            <a:schemeClr val="bg2">
              <a:lumMod val="20000"/>
              <a:lumOff val="80000"/>
            </a:schemeClr>
          </a:solidFill>
          <a:ln w="9525" algn="ctr">
            <a:solidFill>
              <a:schemeClr val="bg2">
                <a:lumMod val="60000"/>
                <a:lumOff val="40000"/>
              </a:schemeClr>
            </a:solidFill>
            <a:miter lim="800000"/>
          </a:ln>
          <a:effectLst/>
        </p:spPr>
        <p:txBody>
          <a:bodyPr rot="10800000" anchor="ct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dirty="0">
              <a:latin typeface="微软雅黑" panose="020B0503020204020204" pitchFamily="34" charset="-122"/>
              <a:ea typeface="宋体" panose="02010600030101010101" pitchFamily="2" charset="-122"/>
            </a:endParaRPr>
          </a:p>
        </p:txBody>
      </p:sp>
      <p:sp>
        <p:nvSpPr>
          <p:cNvPr id="11284" name="Text Box 40"/>
          <p:cNvSpPr txBox="1">
            <a:spLocks noChangeArrowheads="1"/>
          </p:cNvSpPr>
          <p:nvPr/>
        </p:nvSpPr>
        <p:spPr bwMode="auto">
          <a:xfrm>
            <a:off x="2128838" y="2844800"/>
            <a:ext cx="1784350" cy="304800"/>
          </a:xfrm>
          <a:prstGeom prst="rect">
            <a:avLst/>
          </a:prstGeom>
          <a:noFill/>
          <a:ln>
            <a:noFill/>
          </a:ln>
          <a:effectLst/>
          <a:extLst>
            <a:ext uri="{909E8E84-426E-40DD-AFC4-6F175D3DCCD1}">
              <a14:hiddenFill xmlns:a14="http://schemas.microsoft.com/office/drawing/2010/main">
                <a:solidFill>
                  <a:srgbClr val="208482"/>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ClrTx/>
              <a:buSzTx/>
              <a:buFontTx/>
              <a:buNone/>
            </a:pPr>
            <a:r>
              <a:rPr lang="zh-CN" altLang="en-US" sz="1400" b="0" dirty="0">
                <a:latin typeface="宋体" panose="02010600030101010101" pitchFamily="2" charset="-122"/>
                <a:ea typeface="宋体" panose="02010600030101010101" pitchFamily="2" charset="-122"/>
                <a:cs typeface="Arial" panose="020B0604020202020204" pitchFamily="34" charset="0"/>
              </a:rPr>
              <a:t>商业模式，企业目标</a:t>
            </a:r>
            <a:endParaRPr lang="en-US" altLang="zh-CN" sz="1400" b="0" dirty="0">
              <a:latin typeface="宋体" panose="02010600030101010101" pitchFamily="2" charset="-122"/>
              <a:ea typeface="宋体" panose="02010600030101010101" pitchFamily="2" charset="-122"/>
              <a:cs typeface="Arial" panose="020B0604020202020204" pitchFamily="34" charset="0"/>
            </a:endParaRPr>
          </a:p>
        </p:txBody>
      </p:sp>
      <p:sp>
        <p:nvSpPr>
          <p:cNvPr id="11285" name="Text Box 41"/>
          <p:cNvSpPr txBox="1">
            <a:spLocks noChangeArrowheads="1"/>
          </p:cNvSpPr>
          <p:nvPr/>
        </p:nvSpPr>
        <p:spPr bwMode="auto">
          <a:xfrm>
            <a:off x="4573588" y="2859088"/>
            <a:ext cx="539750" cy="304800"/>
          </a:xfrm>
          <a:prstGeom prst="rect">
            <a:avLst/>
          </a:prstGeom>
          <a:noFill/>
          <a:ln>
            <a:noFill/>
          </a:ln>
          <a:effectLst/>
          <a:extLst>
            <a:ext uri="{909E8E84-426E-40DD-AFC4-6F175D3DCCD1}">
              <a14:hiddenFill xmlns:a14="http://schemas.microsoft.com/office/drawing/2010/main">
                <a:solidFill>
                  <a:srgbClr val="208482"/>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ClrTx/>
              <a:buSzTx/>
              <a:buFontTx/>
              <a:buNone/>
            </a:pPr>
            <a:r>
              <a:rPr lang="en-US" altLang="zh-CN" sz="1400" b="0" dirty="0">
                <a:latin typeface="宋体" panose="02010600030101010101" pitchFamily="2" charset="-122"/>
                <a:ea typeface="宋体" panose="02010600030101010101" pitchFamily="2" charset="-122"/>
                <a:cs typeface="Arial" panose="020B0604020202020204" pitchFamily="34" charset="0"/>
              </a:rPr>
              <a:t>KPIs</a:t>
            </a:r>
            <a:endParaRPr lang="en-US" altLang="zh-CN" sz="1400" b="0" dirty="0">
              <a:latin typeface="宋体" panose="02010600030101010101" pitchFamily="2" charset="-122"/>
              <a:ea typeface="宋体" panose="02010600030101010101" pitchFamily="2" charset="-122"/>
              <a:cs typeface="Arial" panose="020B0604020202020204" pitchFamily="34" charset="0"/>
            </a:endParaRPr>
          </a:p>
        </p:txBody>
      </p:sp>
      <p:sp>
        <p:nvSpPr>
          <p:cNvPr id="11286" name="Text Box 42"/>
          <p:cNvSpPr txBox="1">
            <a:spLocks noChangeArrowheads="1"/>
          </p:cNvSpPr>
          <p:nvPr/>
        </p:nvSpPr>
        <p:spPr bwMode="auto">
          <a:xfrm>
            <a:off x="3034486" y="3810000"/>
            <a:ext cx="543739" cy="413511"/>
          </a:xfrm>
          <a:prstGeom prst="rect">
            <a:avLst/>
          </a:prstGeom>
          <a:solidFill>
            <a:schemeClr val="bg1"/>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lnSpc>
                <a:spcPct val="180000"/>
              </a:lnSpc>
              <a:spcBef>
                <a:spcPct val="0"/>
              </a:spcBef>
              <a:spcAft>
                <a:spcPct val="0"/>
              </a:spcAft>
              <a:buClrTx/>
              <a:buSzTx/>
              <a:buFontTx/>
              <a:buNone/>
            </a:pPr>
            <a:r>
              <a:rPr lang="zh-CN" altLang="en-US" sz="1400" b="0" dirty="0">
                <a:latin typeface="宋体" panose="02010600030101010101" pitchFamily="2" charset="-122"/>
                <a:ea typeface="宋体" panose="02010600030101010101" pitchFamily="2" charset="-122"/>
                <a:cs typeface="Arial" panose="020B0604020202020204" pitchFamily="34" charset="0"/>
              </a:rPr>
              <a:t>转化</a:t>
            </a:r>
            <a:endParaRPr lang="zh-CN" altLang="en-US" sz="1400" b="0" dirty="0">
              <a:latin typeface="宋体" panose="02010600030101010101" pitchFamily="2" charset="-122"/>
              <a:ea typeface="宋体" panose="02010600030101010101" pitchFamily="2" charset="-122"/>
              <a:cs typeface="Arial" panose="020B0604020202020204" pitchFamily="34" charset="0"/>
            </a:endParaRPr>
          </a:p>
        </p:txBody>
      </p:sp>
      <p:sp>
        <p:nvSpPr>
          <p:cNvPr id="11287" name="Text Box 43"/>
          <p:cNvSpPr txBox="1">
            <a:spLocks noChangeArrowheads="1"/>
          </p:cNvSpPr>
          <p:nvPr/>
        </p:nvSpPr>
        <p:spPr bwMode="auto">
          <a:xfrm>
            <a:off x="4576763" y="3808413"/>
            <a:ext cx="902811" cy="413511"/>
          </a:xfrm>
          <a:prstGeom prst="rect">
            <a:avLst/>
          </a:prstGeom>
          <a:solidFill>
            <a:schemeClr val="bg1"/>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180000"/>
              </a:lnSpc>
              <a:spcBef>
                <a:spcPct val="0"/>
              </a:spcBef>
              <a:spcAft>
                <a:spcPct val="0"/>
              </a:spcAft>
              <a:buClrTx/>
              <a:buSzTx/>
              <a:buFontTx/>
              <a:buNone/>
            </a:pPr>
            <a:r>
              <a:rPr lang="zh-CN" altLang="en-US" sz="1400" b="0" dirty="0">
                <a:latin typeface="宋体" panose="02010600030101010101" pitchFamily="2" charset="-122"/>
                <a:ea typeface="宋体" panose="02010600030101010101" pitchFamily="2" charset="-122"/>
                <a:cs typeface="Arial" panose="020B0604020202020204" pitchFamily="34" charset="0"/>
              </a:rPr>
              <a:t>运营指标</a:t>
            </a:r>
            <a:endParaRPr lang="zh-CN" altLang="en-US" sz="1400" b="0" dirty="0">
              <a:latin typeface="宋体" panose="02010600030101010101" pitchFamily="2" charset="-122"/>
              <a:ea typeface="宋体" panose="02010600030101010101" pitchFamily="2" charset="-122"/>
              <a:cs typeface="Arial" panose="020B0604020202020204" pitchFamily="34" charset="0"/>
            </a:endParaRPr>
          </a:p>
        </p:txBody>
      </p:sp>
      <p:sp>
        <p:nvSpPr>
          <p:cNvPr id="11288" name="Text Box 44"/>
          <p:cNvSpPr txBox="1">
            <a:spLocks noChangeArrowheads="1"/>
          </p:cNvSpPr>
          <p:nvPr/>
        </p:nvSpPr>
        <p:spPr bwMode="auto">
          <a:xfrm>
            <a:off x="3157538" y="5006975"/>
            <a:ext cx="539750" cy="304800"/>
          </a:xfrm>
          <a:prstGeom prst="rect">
            <a:avLst/>
          </a:prstGeom>
          <a:noFill/>
          <a:ln>
            <a:noFill/>
          </a:ln>
          <a:effectLst/>
          <a:extLst>
            <a:ext uri="{909E8E84-426E-40DD-AFC4-6F175D3DCCD1}">
              <a14:hiddenFill xmlns:a14="http://schemas.microsoft.com/office/drawing/2010/main">
                <a:solidFill>
                  <a:srgbClr val="208482"/>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spcAft>
                <a:spcPct val="0"/>
              </a:spcAft>
              <a:buClrTx/>
              <a:buSzTx/>
              <a:buFontTx/>
              <a:buNone/>
            </a:pPr>
            <a:r>
              <a:rPr lang="zh-CN" altLang="en-US" sz="1400" b="0" dirty="0">
                <a:latin typeface="宋体" panose="02010600030101010101" pitchFamily="2" charset="-122"/>
                <a:ea typeface="宋体" panose="02010600030101010101" pitchFamily="2" charset="-122"/>
                <a:cs typeface="Arial" panose="020B0604020202020204" pitchFamily="34" charset="0"/>
              </a:rPr>
              <a:t>实现</a:t>
            </a:r>
            <a:endParaRPr lang="zh-CN" altLang="en-US" sz="1400" b="0" dirty="0">
              <a:latin typeface="宋体" panose="02010600030101010101" pitchFamily="2" charset="-122"/>
              <a:ea typeface="宋体" panose="02010600030101010101" pitchFamily="2" charset="-122"/>
              <a:cs typeface="Arial" panose="020B0604020202020204" pitchFamily="34" charset="0"/>
            </a:endParaRPr>
          </a:p>
        </p:txBody>
      </p:sp>
      <p:sp>
        <p:nvSpPr>
          <p:cNvPr id="11289" name="Text Box 45"/>
          <p:cNvSpPr txBox="1">
            <a:spLocks noChangeArrowheads="1"/>
          </p:cNvSpPr>
          <p:nvPr/>
        </p:nvSpPr>
        <p:spPr bwMode="auto">
          <a:xfrm>
            <a:off x="4518025" y="4999038"/>
            <a:ext cx="543739" cy="307777"/>
          </a:xfrm>
          <a:prstGeom prst="rect">
            <a:avLst/>
          </a:prstGeom>
          <a:noFill/>
          <a:ln>
            <a:noFill/>
          </a:ln>
          <a:effectLst/>
          <a:extLst>
            <a:ext uri="{909E8E84-426E-40DD-AFC4-6F175D3DCCD1}">
              <a14:hiddenFill xmlns:a14="http://schemas.microsoft.com/office/drawing/2010/main">
                <a:solidFill>
                  <a:srgbClr val="208482"/>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ClrTx/>
              <a:buSzTx/>
              <a:buFontTx/>
              <a:buNone/>
            </a:pPr>
            <a:r>
              <a:rPr lang="zh-CN" altLang="en-US" sz="1400" b="0" dirty="0">
                <a:latin typeface="宋体" panose="02010600030101010101" pitchFamily="2" charset="-122"/>
                <a:ea typeface="宋体" panose="02010600030101010101" pitchFamily="2" charset="-122"/>
                <a:cs typeface="Arial" panose="020B0604020202020204" pitchFamily="34" charset="0"/>
              </a:rPr>
              <a:t>反馈</a:t>
            </a:r>
            <a:endParaRPr lang="en-US" altLang="zh-CN" sz="1400" b="0" dirty="0">
              <a:latin typeface="宋体" panose="02010600030101010101" pitchFamily="2" charset="-122"/>
              <a:ea typeface="宋体" panose="02010600030101010101" pitchFamily="2" charset="-122"/>
              <a:cs typeface="Arial" panose="020B0604020202020204" pitchFamily="34" charset="0"/>
            </a:endParaRPr>
          </a:p>
        </p:txBody>
      </p:sp>
      <p:sp>
        <p:nvSpPr>
          <p:cNvPr id="11290" name="Oval 46"/>
          <p:cNvSpPr>
            <a:spLocks noChangeArrowheads="1"/>
          </p:cNvSpPr>
          <p:nvPr/>
        </p:nvSpPr>
        <p:spPr bwMode="auto">
          <a:xfrm>
            <a:off x="2679700" y="3143250"/>
            <a:ext cx="3052763" cy="609600"/>
          </a:xfrm>
          <a:prstGeom prst="ellipse">
            <a:avLst/>
          </a:prstGeom>
          <a:solidFill>
            <a:srgbClr val="0070C0"/>
          </a:solidFill>
          <a:ln w="9525" algn="ctr">
            <a:solidFill>
              <a:schemeClr val="tx1"/>
            </a:solidFill>
            <a:round/>
          </a:ln>
          <a:effectLst/>
        </p:spPr>
        <p:txBody>
          <a:bodyPr wrap="none" lIns="91363" tIns="45682" rIns="91363" bIns="45682"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ClrTx/>
              <a:buSzTx/>
              <a:buFontTx/>
              <a:buNone/>
            </a:pPr>
            <a:r>
              <a:rPr lang="zh-CN" altLang="en-US" sz="1600" b="0" dirty="0">
                <a:solidFill>
                  <a:schemeClr val="bg1"/>
                </a:solidFill>
                <a:latin typeface="宋体" panose="02010600030101010101" pitchFamily="2" charset="-122"/>
                <a:ea typeface="宋体" panose="02010600030101010101" pitchFamily="2" charset="-122"/>
                <a:cs typeface="Arial" panose="020B0604020202020204" pitchFamily="34" charset="0"/>
              </a:rPr>
              <a:t>业务架构</a:t>
            </a:r>
            <a:endParaRPr lang="zh-CN" altLang="en-US" sz="1600" b="0" dirty="0">
              <a:solidFill>
                <a:schemeClr val="bg1"/>
              </a:solidFill>
              <a:latin typeface="宋体" panose="02010600030101010101" pitchFamily="2" charset="-122"/>
              <a:ea typeface="宋体" panose="02010600030101010101" pitchFamily="2" charset="-122"/>
              <a:cs typeface="Arial" panose="020B0604020202020204" pitchFamily="34" charset="0"/>
            </a:endParaRPr>
          </a:p>
        </p:txBody>
      </p:sp>
      <p:sp>
        <p:nvSpPr>
          <p:cNvPr id="11291" name="Oval 47"/>
          <p:cNvSpPr>
            <a:spLocks noChangeArrowheads="1"/>
          </p:cNvSpPr>
          <p:nvPr/>
        </p:nvSpPr>
        <p:spPr bwMode="auto">
          <a:xfrm>
            <a:off x="2679700" y="4375150"/>
            <a:ext cx="3052763" cy="609600"/>
          </a:xfrm>
          <a:prstGeom prst="ellipse">
            <a:avLst/>
          </a:prstGeom>
          <a:solidFill>
            <a:srgbClr val="0070C0"/>
          </a:solidFill>
          <a:ln w="9525" algn="ctr">
            <a:solidFill>
              <a:schemeClr val="tx1"/>
            </a:solidFill>
            <a:round/>
          </a:ln>
          <a:effectLst/>
        </p:spPr>
        <p:txBody>
          <a:bodyPr wrap="none" lIns="91363" tIns="45682" rIns="91363" bIns="45682"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ClrTx/>
              <a:buSzTx/>
              <a:buFontTx/>
              <a:buNone/>
            </a:pPr>
            <a:r>
              <a:rPr lang="zh-CN" altLang="en-US" sz="1600" b="0" dirty="0">
                <a:solidFill>
                  <a:schemeClr val="bg1"/>
                </a:solidFill>
                <a:latin typeface="宋体" panose="02010600030101010101" pitchFamily="2" charset="-122"/>
                <a:ea typeface="宋体" panose="02010600030101010101" pitchFamily="2" charset="-122"/>
                <a:cs typeface="Arial" panose="020B0604020202020204" pitchFamily="34" charset="0"/>
              </a:rPr>
              <a:t>数字化</a:t>
            </a:r>
            <a:r>
              <a:rPr lang="en-US" altLang="zh-CN" sz="1600" b="0" dirty="0">
                <a:solidFill>
                  <a:schemeClr val="bg1"/>
                </a:solidFill>
                <a:latin typeface="宋体" panose="02010600030101010101" pitchFamily="2" charset="-122"/>
                <a:ea typeface="宋体" panose="02010600030101010101" pitchFamily="2" charset="-122"/>
                <a:cs typeface="Arial" panose="020B0604020202020204" pitchFamily="34" charset="0"/>
              </a:rPr>
              <a:t>IT</a:t>
            </a:r>
            <a:r>
              <a:rPr lang="zh-CN" altLang="en-US" sz="1600" b="0" dirty="0">
                <a:solidFill>
                  <a:schemeClr val="bg1"/>
                </a:solidFill>
                <a:latin typeface="宋体" panose="02010600030101010101" pitchFamily="2" charset="-122"/>
                <a:ea typeface="宋体" panose="02010600030101010101" pitchFamily="2" charset="-122"/>
                <a:cs typeface="Arial" panose="020B0604020202020204" pitchFamily="34" charset="0"/>
              </a:rPr>
              <a:t>架构</a:t>
            </a:r>
            <a:endParaRPr lang="zh-CN" altLang="en-US" sz="1600" b="0" dirty="0">
              <a:solidFill>
                <a:schemeClr val="bg1"/>
              </a:solidFill>
              <a:latin typeface="宋体" panose="02010600030101010101" pitchFamily="2" charset="-122"/>
              <a:ea typeface="宋体" panose="02010600030101010101" pitchFamily="2" charset="-122"/>
              <a:cs typeface="Arial" panose="020B0604020202020204" pitchFamily="34" charset="0"/>
            </a:endParaRPr>
          </a:p>
        </p:txBody>
      </p:sp>
      <p:sp>
        <p:nvSpPr>
          <p:cNvPr id="11292" name="Oval 48"/>
          <p:cNvSpPr>
            <a:spLocks noChangeArrowheads="1"/>
          </p:cNvSpPr>
          <p:nvPr/>
        </p:nvSpPr>
        <p:spPr bwMode="auto">
          <a:xfrm>
            <a:off x="2679700" y="5445224"/>
            <a:ext cx="3052763" cy="609600"/>
          </a:xfrm>
          <a:prstGeom prst="ellipse">
            <a:avLst/>
          </a:prstGeom>
          <a:solidFill>
            <a:schemeClr val="bg2">
              <a:lumMod val="20000"/>
              <a:lumOff val="80000"/>
            </a:schemeClr>
          </a:solidFill>
          <a:ln w="9525" algn="ctr">
            <a:solidFill>
              <a:schemeClr val="tx1"/>
            </a:solidFill>
            <a:round/>
          </a:ln>
          <a:effectLst/>
        </p:spPr>
        <p:txBody>
          <a:bodyPr wrap="none" lIns="91363" tIns="45682" rIns="91363" bIns="45682" anchor="ctr"/>
          <a:lstStyle/>
          <a:p>
            <a:pPr algn="ctr" eaLnBrk="1" hangingPunct="1"/>
            <a:r>
              <a:rPr lang="zh-CN" altLang="en-US" sz="1600" dirty="0">
                <a:latin typeface="宋体" panose="02010600030101010101" pitchFamily="2" charset="-122"/>
                <a:ea typeface="宋体" panose="02010600030101010101" pitchFamily="2" charset="-122"/>
                <a:cs typeface="Arial" panose="020B0604020202020204" pitchFamily="34" charset="0"/>
              </a:rPr>
              <a:t>日常运营、</a:t>
            </a:r>
            <a:r>
              <a:rPr lang="en-US" altLang="zh-CN" sz="1600" dirty="0">
                <a:latin typeface="宋体" panose="02010600030101010101" pitchFamily="2" charset="-122"/>
                <a:ea typeface="宋体" panose="02010600030101010101" pitchFamily="2" charset="-122"/>
                <a:cs typeface="Arial" panose="020B0604020202020204" pitchFamily="34" charset="0"/>
              </a:rPr>
              <a:t>IT</a:t>
            </a:r>
            <a:r>
              <a:rPr lang="zh-CN" altLang="en-US" sz="1600" dirty="0">
                <a:latin typeface="宋体" panose="02010600030101010101" pitchFamily="2" charset="-122"/>
                <a:ea typeface="宋体" panose="02010600030101010101" pitchFamily="2" charset="-122"/>
                <a:cs typeface="Arial" panose="020B0604020202020204" pitchFamily="34" charset="0"/>
              </a:rPr>
              <a:t>系统</a:t>
            </a:r>
            <a:endParaRPr lang="zh-CN" altLang="en-US" sz="1600" dirty="0">
              <a:latin typeface="宋体" panose="02010600030101010101" pitchFamily="2" charset="-122"/>
              <a:ea typeface="宋体" panose="02010600030101010101" pitchFamily="2" charset="-122"/>
              <a:cs typeface="Arial" panose="020B0604020202020204" pitchFamily="34" charset="0"/>
            </a:endParaRPr>
          </a:p>
        </p:txBody>
      </p:sp>
      <p:sp>
        <p:nvSpPr>
          <p:cNvPr id="11293" name="Rectangle 49"/>
          <p:cNvSpPr>
            <a:spLocks noChangeArrowheads="1"/>
          </p:cNvSpPr>
          <p:nvPr/>
        </p:nvSpPr>
        <p:spPr bwMode="auto">
          <a:xfrm flipV="1">
            <a:off x="5887516" y="5283224"/>
            <a:ext cx="2726259" cy="95408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square" anchor="ct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ClrTx/>
              <a:buSzTx/>
              <a:buFontTx/>
              <a:buNone/>
            </a:pPr>
            <a:endParaRPr lang="zh-CN" altLang="en-US" sz="800" b="0" dirty="0">
              <a:latin typeface="宋体" panose="02010600030101010101" pitchFamily="2" charset="-122"/>
              <a:ea typeface="宋体" panose="02010600030101010101" pitchFamily="2" charset="-122"/>
              <a:cs typeface="Arial" panose="020B0604020202020204" pitchFamily="34" charset="0"/>
            </a:endParaRPr>
          </a:p>
          <a:p>
            <a:pPr eaLnBrk="1" hangingPunct="1">
              <a:spcBef>
                <a:spcPct val="0"/>
              </a:spcBef>
              <a:spcAft>
                <a:spcPct val="0"/>
              </a:spcAft>
              <a:buClrTx/>
              <a:buSzTx/>
              <a:buFontTx/>
              <a:buNone/>
            </a:pPr>
            <a:r>
              <a:rPr lang="en-US" altLang="zh-CN" sz="1600" b="0" dirty="0">
                <a:solidFill>
                  <a:srgbClr val="FF0000"/>
                </a:solidFill>
                <a:latin typeface="宋体" panose="02010600030101010101" pitchFamily="2" charset="-122"/>
                <a:ea typeface="宋体" panose="02010600030101010101" pitchFamily="2" charset="-122"/>
                <a:cs typeface="Arial" panose="020B0604020202020204" pitchFamily="34" charset="0"/>
              </a:rPr>
              <a:t>Business How</a:t>
            </a:r>
            <a:r>
              <a:rPr lang="en-US" altLang="zh-CN" sz="1600" b="0" dirty="0">
                <a:latin typeface="宋体" panose="02010600030101010101" pitchFamily="2" charset="-122"/>
                <a:ea typeface="宋体" panose="02010600030101010101" pitchFamily="2" charset="-122"/>
                <a:cs typeface="Arial" panose="020B0604020202020204" pitchFamily="34" charset="0"/>
              </a:rPr>
              <a:t>: </a:t>
            </a:r>
            <a:r>
              <a:rPr lang="zh-CN" altLang="en-US" sz="1600" b="0" dirty="0">
                <a:latin typeface="宋体" panose="02010600030101010101" pitchFamily="2" charset="-122"/>
                <a:ea typeface="宋体" panose="02010600030101010101" pitchFamily="2" charset="-122"/>
                <a:cs typeface="Arial" panose="020B0604020202020204" pitchFamily="34" charset="0"/>
              </a:rPr>
              <a:t>业务怎么做</a:t>
            </a:r>
            <a:endParaRPr lang="en-US" altLang="zh-CN" sz="1600" b="0" dirty="0">
              <a:latin typeface="宋体" panose="02010600030101010101" pitchFamily="2" charset="-122"/>
              <a:ea typeface="宋体" panose="02010600030101010101" pitchFamily="2" charset="-122"/>
              <a:cs typeface="Arial" panose="020B0604020202020204" pitchFamily="34" charset="0"/>
            </a:endParaRPr>
          </a:p>
          <a:p>
            <a:pPr eaLnBrk="1" hangingPunct="1">
              <a:spcBef>
                <a:spcPct val="0"/>
              </a:spcBef>
              <a:spcAft>
                <a:spcPct val="0"/>
              </a:spcAft>
              <a:buClrTx/>
              <a:buSzTx/>
              <a:buFontTx/>
              <a:buNone/>
            </a:pPr>
            <a:r>
              <a:rPr lang="en-US" altLang="zh-CN" sz="1600" b="0" dirty="0">
                <a:solidFill>
                  <a:srgbClr val="FF0000"/>
                </a:solidFill>
                <a:latin typeface="宋体" panose="02010600030101010101" pitchFamily="2" charset="-122"/>
                <a:ea typeface="宋体" panose="02010600030101010101" pitchFamily="2" charset="-122"/>
                <a:cs typeface="Arial" panose="020B0604020202020204" pitchFamily="34" charset="0"/>
              </a:rPr>
              <a:t>IT How</a:t>
            </a:r>
            <a:r>
              <a:rPr lang="zh-CN" altLang="en-US" sz="1600" b="0" dirty="0">
                <a:latin typeface="宋体" panose="02010600030101010101" pitchFamily="2" charset="-122"/>
                <a:ea typeface="宋体" panose="02010600030101010101" pitchFamily="2" charset="-122"/>
                <a:cs typeface="Arial" panose="020B0604020202020204" pitchFamily="34" charset="0"/>
              </a:rPr>
              <a:t>：</a:t>
            </a:r>
            <a:r>
              <a:rPr lang="en-US" altLang="zh-CN" sz="1600" b="0" dirty="0">
                <a:latin typeface="宋体" panose="02010600030101010101" pitchFamily="2" charset="-122"/>
                <a:ea typeface="宋体" panose="02010600030101010101" pitchFamily="2" charset="-122"/>
                <a:cs typeface="Arial" panose="020B0604020202020204" pitchFamily="34" charset="0"/>
              </a:rPr>
              <a:t>IT</a:t>
            </a:r>
            <a:r>
              <a:rPr lang="zh-CN" altLang="en-US" sz="1600" b="0" dirty="0">
                <a:latin typeface="宋体" panose="02010600030101010101" pitchFamily="2" charset="-122"/>
                <a:ea typeface="宋体" panose="02010600030101010101" pitchFamily="2" charset="-122"/>
                <a:cs typeface="Arial" panose="020B0604020202020204" pitchFamily="34" charset="0"/>
              </a:rPr>
              <a:t>系统怎么做支持业务部门操作</a:t>
            </a:r>
            <a:endParaRPr lang="zh-CN" altLang="en-US" sz="800" b="0" dirty="0">
              <a:latin typeface="宋体" panose="02010600030101010101" pitchFamily="2" charset="-122"/>
              <a:ea typeface="宋体" panose="02010600030101010101" pitchFamily="2" charset="-122"/>
              <a:cs typeface="Arial" panose="020B0604020202020204" pitchFamily="34" charset="0"/>
            </a:endParaRPr>
          </a:p>
        </p:txBody>
      </p:sp>
      <p:sp>
        <p:nvSpPr>
          <p:cNvPr id="11294" name="Rectangle 50"/>
          <p:cNvSpPr>
            <a:spLocks noChangeArrowheads="1"/>
          </p:cNvSpPr>
          <p:nvPr/>
        </p:nvSpPr>
        <p:spPr bwMode="auto">
          <a:xfrm flipV="1">
            <a:off x="5826125" y="4381499"/>
            <a:ext cx="3309938" cy="703263"/>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square" anchor="ct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ClrTx/>
              <a:buSzTx/>
              <a:buFontTx/>
              <a:buNone/>
            </a:pPr>
            <a:endParaRPr lang="zh-CN" altLang="en-US" sz="800" b="0" dirty="0">
              <a:latin typeface="宋体" panose="02010600030101010101" pitchFamily="2" charset="-122"/>
              <a:ea typeface="宋体" panose="02010600030101010101" pitchFamily="2" charset="-122"/>
              <a:cs typeface="Arial" panose="020B0604020202020204" pitchFamily="34" charset="0"/>
            </a:endParaRPr>
          </a:p>
          <a:p>
            <a:pPr eaLnBrk="1" hangingPunct="1">
              <a:spcBef>
                <a:spcPct val="0"/>
              </a:spcBef>
              <a:spcAft>
                <a:spcPct val="0"/>
              </a:spcAft>
              <a:buClrTx/>
              <a:buSzTx/>
              <a:buFontTx/>
              <a:buNone/>
            </a:pPr>
            <a:r>
              <a:rPr lang="en-US" altLang="zh-CN" sz="1600" b="0" dirty="0">
                <a:solidFill>
                  <a:srgbClr val="FF0000"/>
                </a:solidFill>
                <a:latin typeface="宋体" panose="02010600030101010101" pitchFamily="2" charset="-122"/>
                <a:ea typeface="宋体" panose="02010600030101010101" pitchFamily="2" charset="-122"/>
                <a:cs typeface="Arial" panose="020B0604020202020204" pitchFamily="34" charset="0"/>
              </a:rPr>
              <a:t>IT What</a:t>
            </a:r>
            <a:r>
              <a:rPr lang="zh-CN" altLang="en-US" sz="1600" b="0" dirty="0">
                <a:latin typeface="宋体" panose="02010600030101010101" pitchFamily="2" charset="-122"/>
                <a:ea typeface="宋体" panose="02010600030101010101" pitchFamily="2" charset="-122"/>
                <a:cs typeface="Arial" panose="020B0604020202020204" pitchFamily="34" charset="0"/>
              </a:rPr>
              <a:t>：</a:t>
            </a:r>
            <a:r>
              <a:rPr lang="en-US" altLang="zh-CN" sz="1600" b="0" dirty="0">
                <a:latin typeface="宋体" panose="02010600030101010101" pitchFamily="2" charset="-122"/>
                <a:ea typeface="宋体" panose="02010600030101010101" pitchFamily="2" charset="-122"/>
                <a:cs typeface="Arial" panose="020B0604020202020204" pitchFamily="34" charset="0"/>
              </a:rPr>
              <a:t>IT</a:t>
            </a:r>
            <a:r>
              <a:rPr lang="zh-CN" altLang="en-US" sz="1600" b="0" dirty="0">
                <a:latin typeface="宋体" panose="02010600030101010101" pitchFamily="2" charset="-122"/>
                <a:ea typeface="宋体" panose="02010600030101010101" pitchFamily="2" charset="-122"/>
                <a:cs typeface="Arial" panose="020B0604020202020204" pitchFamily="34" charset="0"/>
              </a:rPr>
              <a:t>系统需要做什么？</a:t>
            </a:r>
            <a:endParaRPr lang="zh-CN" altLang="en-US" sz="1600" b="0" dirty="0">
              <a:latin typeface="宋体" panose="02010600030101010101" pitchFamily="2" charset="-122"/>
              <a:ea typeface="宋体" panose="02010600030101010101" pitchFamily="2" charset="-122"/>
              <a:cs typeface="Arial" panose="020B0604020202020204" pitchFamily="34" charset="0"/>
            </a:endParaRPr>
          </a:p>
          <a:p>
            <a:pPr eaLnBrk="1" hangingPunct="1">
              <a:spcBef>
                <a:spcPct val="0"/>
              </a:spcBef>
              <a:spcAft>
                <a:spcPct val="0"/>
              </a:spcAft>
              <a:buClrTx/>
              <a:buSzTx/>
              <a:buFontTx/>
              <a:buNone/>
            </a:pPr>
            <a:r>
              <a:rPr lang="zh-CN" altLang="en-US" sz="1600" b="0" dirty="0">
                <a:latin typeface="宋体" panose="02010600030101010101" pitchFamily="2" charset="-122"/>
                <a:ea typeface="宋体" panose="02010600030101010101" pitchFamily="2" charset="-122"/>
                <a:cs typeface="Arial" panose="020B0604020202020204" pitchFamily="34" charset="0"/>
              </a:rPr>
              <a:t>自动化</a:t>
            </a:r>
            <a:r>
              <a:rPr lang="en-US" altLang="zh-CN" sz="1600" b="0" dirty="0">
                <a:latin typeface="宋体" panose="02010600030101010101" pitchFamily="2" charset="-122"/>
                <a:ea typeface="宋体" panose="02010600030101010101" pitchFamily="2" charset="-122"/>
                <a:cs typeface="Arial" panose="020B0604020202020204" pitchFamily="34" charset="0"/>
              </a:rPr>
              <a:t>/</a:t>
            </a:r>
            <a:r>
              <a:rPr lang="zh-CN" altLang="en-US" sz="1600" b="0" dirty="0">
                <a:latin typeface="宋体" panose="02010600030101010101" pitchFamily="2" charset="-122"/>
                <a:ea typeface="宋体" panose="02010600030101010101" pitchFamily="2" charset="-122"/>
                <a:cs typeface="Arial" panose="020B0604020202020204" pitchFamily="34" charset="0"/>
              </a:rPr>
              <a:t>监控</a:t>
            </a:r>
            <a:endParaRPr lang="zh-CN" altLang="en-US" sz="800" b="0" dirty="0">
              <a:latin typeface="宋体" panose="02010600030101010101" pitchFamily="2" charset="-122"/>
              <a:ea typeface="宋体" panose="02010600030101010101" pitchFamily="2" charset="-122"/>
              <a:cs typeface="Arial" panose="020B0604020202020204" pitchFamily="34" charset="0"/>
            </a:endParaRPr>
          </a:p>
        </p:txBody>
      </p:sp>
      <p:sp>
        <p:nvSpPr>
          <p:cNvPr id="11295" name="Rectangle 51"/>
          <p:cNvSpPr>
            <a:spLocks noChangeArrowheads="1"/>
          </p:cNvSpPr>
          <p:nvPr/>
        </p:nvSpPr>
        <p:spPr bwMode="auto">
          <a:xfrm flipV="1">
            <a:off x="5868988" y="3140968"/>
            <a:ext cx="3208337" cy="58102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nchor="ct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ClrTx/>
              <a:buSzTx/>
              <a:buFontTx/>
              <a:buNone/>
            </a:pPr>
            <a:endParaRPr lang="zh-CN" altLang="en-US" sz="800" b="0" dirty="0">
              <a:latin typeface="宋体" panose="02010600030101010101" pitchFamily="2" charset="-122"/>
              <a:ea typeface="宋体" panose="02010600030101010101" pitchFamily="2" charset="-122"/>
              <a:cs typeface="Arial" panose="020B0604020202020204" pitchFamily="34" charset="0"/>
            </a:endParaRPr>
          </a:p>
          <a:p>
            <a:pPr eaLnBrk="1" hangingPunct="1">
              <a:spcBef>
                <a:spcPct val="0"/>
              </a:spcBef>
              <a:spcAft>
                <a:spcPct val="0"/>
              </a:spcAft>
              <a:buClrTx/>
              <a:buSzTx/>
              <a:buFontTx/>
              <a:buNone/>
            </a:pPr>
            <a:r>
              <a:rPr lang="en-US" altLang="zh-CN" sz="1600" b="0" dirty="0">
                <a:solidFill>
                  <a:srgbClr val="FF0000"/>
                </a:solidFill>
                <a:latin typeface="宋体" panose="02010600030101010101" pitchFamily="2" charset="-122"/>
                <a:ea typeface="宋体" panose="02010600030101010101" pitchFamily="2" charset="-122"/>
                <a:cs typeface="Arial" panose="020B0604020202020204" pitchFamily="34" charset="0"/>
              </a:rPr>
              <a:t>How</a:t>
            </a:r>
            <a:r>
              <a:rPr lang="zh-CN" altLang="en-US" sz="1600" b="0" dirty="0">
                <a:latin typeface="宋体" panose="02010600030101010101" pitchFamily="2" charset="-122"/>
                <a:ea typeface="宋体" panose="02010600030101010101" pitchFamily="2" charset="-122"/>
                <a:cs typeface="Arial" panose="020B0604020202020204" pitchFamily="34" charset="0"/>
              </a:rPr>
              <a:t>： 企业如何做事？</a:t>
            </a:r>
            <a:endParaRPr lang="zh-CN" altLang="en-US" sz="1600" b="0" dirty="0">
              <a:latin typeface="宋体" panose="02010600030101010101" pitchFamily="2" charset="-122"/>
              <a:ea typeface="宋体" panose="02010600030101010101" pitchFamily="2" charset="-122"/>
              <a:cs typeface="Arial" panose="020B0604020202020204" pitchFamily="34" charset="0"/>
            </a:endParaRPr>
          </a:p>
          <a:p>
            <a:pPr eaLnBrk="1" hangingPunct="1">
              <a:spcBef>
                <a:spcPct val="0"/>
              </a:spcBef>
              <a:spcAft>
                <a:spcPct val="0"/>
              </a:spcAft>
              <a:buClrTx/>
              <a:buSzTx/>
              <a:buFontTx/>
              <a:buNone/>
            </a:pPr>
            <a:endParaRPr lang="zh-CN" altLang="en-US" sz="800" b="0" dirty="0">
              <a:latin typeface="宋体" panose="02010600030101010101" pitchFamily="2" charset="-122"/>
              <a:ea typeface="宋体" panose="02010600030101010101" pitchFamily="2" charset="-122"/>
              <a:cs typeface="Arial" panose="020B0604020202020204" pitchFamily="34" charset="0"/>
            </a:endParaRPr>
          </a:p>
        </p:txBody>
      </p:sp>
      <p:sp>
        <p:nvSpPr>
          <p:cNvPr id="11296" name="Rectangle 52"/>
          <p:cNvSpPr>
            <a:spLocks noChangeArrowheads="1"/>
          </p:cNvSpPr>
          <p:nvPr/>
        </p:nvSpPr>
        <p:spPr bwMode="auto">
          <a:xfrm flipV="1">
            <a:off x="5873750" y="2260600"/>
            <a:ext cx="3208338" cy="58102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nchor="ct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ClrTx/>
              <a:buSzTx/>
              <a:buFontTx/>
              <a:buNone/>
            </a:pPr>
            <a:endParaRPr lang="zh-CN" altLang="en-US" sz="800" b="0" dirty="0">
              <a:latin typeface="宋体" panose="02010600030101010101" pitchFamily="2" charset="-122"/>
              <a:ea typeface="宋体" panose="02010600030101010101" pitchFamily="2" charset="-122"/>
              <a:cs typeface="Arial" panose="020B0604020202020204" pitchFamily="34" charset="0"/>
            </a:endParaRPr>
          </a:p>
          <a:p>
            <a:pPr eaLnBrk="1" hangingPunct="1">
              <a:spcBef>
                <a:spcPct val="0"/>
              </a:spcBef>
              <a:spcAft>
                <a:spcPct val="0"/>
              </a:spcAft>
              <a:buClrTx/>
              <a:buSzTx/>
              <a:buFontTx/>
              <a:buNone/>
            </a:pPr>
            <a:r>
              <a:rPr lang="en-US" altLang="zh-CN" sz="1600" b="0" dirty="0">
                <a:solidFill>
                  <a:srgbClr val="FF0000"/>
                </a:solidFill>
                <a:latin typeface="宋体" panose="02010600030101010101" pitchFamily="2" charset="-122"/>
                <a:ea typeface="宋体" panose="02010600030101010101" pitchFamily="2" charset="-122"/>
                <a:cs typeface="Arial" panose="020B0604020202020204" pitchFamily="34" charset="0"/>
              </a:rPr>
              <a:t>What</a:t>
            </a:r>
            <a:r>
              <a:rPr lang="zh-CN" altLang="en-US" sz="1600" b="0" dirty="0">
                <a:latin typeface="宋体" panose="02010600030101010101" pitchFamily="2" charset="-122"/>
                <a:ea typeface="宋体" panose="02010600030101010101" pitchFamily="2" charset="-122"/>
                <a:cs typeface="Arial" panose="020B0604020202020204" pitchFamily="34" charset="0"/>
              </a:rPr>
              <a:t>： 企业想做什么？</a:t>
            </a:r>
            <a:endParaRPr lang="zh-CN" altLang="en-US" sz="1600" b="0" dirty="0">
              <a:latin typeface="宋体" panose="02010600030101010101" pitchFamily="2" charset="-122"/>
              <a:ea typeface="宋体" panose="02010600030101010101" pitchFamily="2" charset="-122"/>
              <a:cs typeface="Arial" panose="020B0604020202020204" pitchFamily="34" charset="0"/>
            </a:endParaRPr>
          </a:p>
          <a:p>
            <a:pPr eaLnBrk="1" hangingPunct="1">
              <a:spcBef>
                <a:spcPct val="0"/>
              </a:spcBef>
              <a:spcAft>
                <a:spcPct val="0"/>
              </a:spcAft>
              <a:buClrTx/>
              <a:buSzTx/>
              <a:buFontTx/>
              <a:buNone/>
            </a:pPr>
            <a:endParaRPr lang="zh-CN" altLang="en-US" sz="800" b="0" dirty="0">
              <a:latin typeface="宋体" panose="02010600030101010101" pitchFamily="2" charset="-122"/>
              <a:ea typeface="宋体" panose="02010600030101010101" pitchFamily="2" charset="-122"/>
              <a:cs typeface="Arial" panose="020B0604020202020204" pitchFamily="34" charset="0"/>
            </a:endParaRPr>
          </a:p>
        </p:txBody>
      </p:sp>
      <p:sp>
        <p:nvSpPr>
          <p:cNvPr id="11297" name="Text Box 53"/>
          <p:cNvSpPr txBox="1">
            <a:spLocks noChangeArrowheads="1"/>
          </p:cNvSpPr>
          <p:nvPr/>
        </p:nvSpPr>
        <p:spPr bwMode="auto">
          <a:xfrm>
            <a:off x="376251" y="2137570"/>
            <a:ext cx="53975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folHlink"/>
                  </a:outerShdw>
                </a:effectLst>
              </a14:hiddenEffects>
            </a:ext>
          </a:extLst>
        </p:spPr>
        <p:txBody>
          <a:bodyPr wrap="none">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r>
              <a:rPr lang="zh-CN" altLang="en-US" sz="1400" dirty="0">
                <a:latin typeface="宋体" panose="02010600030101010101" pitchFamily="2" charset="-122"/>
                <a:ea typeface="宋体" panose="02010600030101010101" pitchFamily="2" charset="-122"/>
              </a:rPr>
              <a:t>业务</a:t>
            </a:r>
            <a:endParaRPr lang="zh-CN" altLang="en-US" sz="1400" dirty="0">
              <a:latin typeface="宋体" panose="02010600030101010101" pitchFamily="2" charset="-122"/>
              <a:ea typeface="宋体" panose="02010600030101010101" pitchFamily="2" charset="-122"/>
            </a:endParaRPr>
          </a:p>
        </p:txBody>
      </p:sp>
      <p:sp>
        <p:nvSpPr>
          <p:cNvPr id="11298" name="Text Box 54"/>
          <p:cNvSpPr txBox="1">
            <a:spLocks noChangeArrowheads="1"/>
          </p:cNvSpPr>
          <p:nvPr/>
        </p:nvSpPr>
        <p:spPr bwMode="auto">
          <a:xfrm>
            <a:off x="376251" y="5902424"/>
            <a:ext cx="36195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folHlink"/>
                  </a:outerShdw>
                </a:effectLst>
              </a14:hiddenEffects>
            </a:ext>
          </a:extLst>
        </p:spPr>
        <p:txBody>
          <a:bodyPr wrap="none">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r>
              <a:rPr lang="en-US" altLang="zh-CN" sz="1400" dirty="0">
                <a:latin typeface="宋体" panose="02010600030101010101" pitchFamily="2" charset="-122"/>
                <a:ea typeface="宋体" panose="02010600030101010101" pitchFamily="2" charset="-122"/>
              </a:rPr>
              <a:t>IT</a:t>
            </a:r>
            <a:endParaRPr lang="en-US" altLang="zh-CN" sz="1400" dirty="0">
              <a:latin typeface="宋体" panose="02010600030101010101" pitchFamily="2" charset="-122"/>
              <a:ea typeface="宋体" panose="02010600030101010101" pitchFamily="2" charset="-122"/>
            </a:endParaRPr>
          </a:p>
        </p:txBody>
      </p:sp>
      <p:sp>
        <p:nvSpPr>
          <p:cNvPr id="11299" name="Rectangle 56"/>
          <p:cNvSpPr>
            <a:spLocks noChangeArrowheads="1"/>
          </p:cNvSpPr>
          <p:nvPr/>
        </p:nvSpPr>
        <p:spPr bwMode="auto">
          <a:xfrm>
            <a:off x="241300" y="2959100"/>
            <a:ext cx="8331200" cy="2374900"/>
          </a:xfrm>
          <a:prstGeom prst="rect">
            <a:avLst/>
          </a:prstGeom>
          <a:noFill/>
          <a:ln w="9525">
            <a:solidFill>
              <a:schemeClr val="tx1"/>
            </a:solidFill>
            <a:prstDash val="dash"/>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folHlink"/>
                  </a:outerShdw>
                </a:effectLst>
              </a14:hiddenEffects>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dirty="0">
              <a:latin typeface="微软雅黑" panose="020B0503020204020204" pitchFamily="34" charset="-122"/>
              <a:ea typeface="宋体" panose="02010600030101010101" pitchFamily="2" charset="-122"/>
            </a:endParaRPr>
          </a:p>
        </p:txBody>
      </p:sp>
      <p:sp>
        <p:nvSpPr>
          <p:cNvPr id="11300" name="Text Box 57"/>
          <p:cNvSpPr txBox="1">
            <a:spLocks noChangeArrowheads="1"/>
          </p:cNvSpPr>
          <p:nvPr/>
        </p:nvSpPr>
        <p:spPr bwMode="auto">
          <a:xfrm>
            <a:off x="8874125" y="3679825"/>
            <a:ext cx="644525" cy="9159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folHlink"/>
                  </a:outerShdw>
                </a:effectLst>
              </a14:hiddenEffects>
            </a:ext>
          </a:extLst>
        </p:spPr>
        <p:txBody>
          <a:bodyPr wrap="none">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r>
              <a:rPr lang="zh-CN" altLang="en-US" sz="1800">
                <a:latin typeface="宋体" panose="02010600030101010101" pitchFamily="2" charset="-122"/>
                <a:ea typeface="宋体" panose="02010600030101010101" pitchFamily="2" charset="-122"/>
              </a:rPr>
              <a:t>企业</a:t>
            </a:r>
            <a:endParaRPr lang="zh-CN" altLang="en-US" sz="1800">
              <a:latin typeface="宋体" panose="02010600030101010101" pitchFamily="2" charset="-122"/>
              <a:ea typeface="宋体" panose="02010600030101010101" pitchFamily="2" charset="-122"/>
            </a:endParaRPr>
          </a:p>
          <a:p>
            <a:pPr eaLnBrk="1" hangingPunct="1">
              <a:spcBef>
                <a:spcPct val="0"/>
              </a:spcBef>
              <a:spcAft>
                <a:spcPct val="0"/>
              </a:spcAft>
              <a:buSzTx/>
              <a:buFont typeface="Wingdings" panose="05000000000000000000" pitchFamily="2" charset="2"/>
              <a:buNone/>
            </a:pPr>
            <a:r>
              <a:rPr lang="zh-CN" altLang="en-US" sz="1800">
                <a:latin typeface="宋体" panose="02010600030101010101" pitchFamily="2" charset="-122"/>
                <a:ea typeface="宋体" panose="02010600030101010101" pitchFamily="2" charset="-122"/>
              </a:rPr>
              <a:t>架构</a:t>
            </a:r>
            <a:endParaRPr lang="zh-CN" altLang="en-US" sz="1800">
              <a:latin typeface="宋体" panose="02010600030101010101" pitchFamily="2" charset="-122"/>
              <a:ea typeface="宋体" panose="02010600030101010101" pitchFamily="2" charset="-122"/>
            </a:endParaRPr>
          </a:p>
          <a:p>
            <a:pPr eaLnBrk="1" hangingPunct="1">
              <a:spcBef>
                <a:spcPct val="0"/>
              </a:spcBef>
              <a:spcAft>
                <a:spcPct val="0"/>
              </a:spcAft>
              <a:buSzTx/>
              <a:buFont typeface="Wingdings" panose="05000000000000000000" pitchFamily="2" charset="2"/>
              <a:buNone/>
            </a:pPr>
            <a:r>
              <a:rPr lang="zh-CN" altLang="en-US" sz="1800">
                <a:latin typeface="宋体" panose="02010600030101010101" pitchFamily="2" charset="-122"/>
                <a:ea typeface="宋体" panose="02010600030101010101" pitchFamily="2" charset="-122"/>
              </a:rPr>
              <a:t>范畴</a:t>
            </a:r>
            <a:endParaRPr lang="zh-CN" altLang="en-US" sz="1800">
              <a:latin typeface="宋体" panose="02010600030101010101" pitchFamily="2" charset="-122"/>
              <a:ea typeface="宋体" panose="02010600030101010101" pitchFamily="2" charset="-122"/>
            </a:endParaRPr>
          </a:p>
        </p:txBody>
      </p:sp>
      <p:sp>
        <p:nvSpPr>
          <p:cNvPr id="11301" name="AutoShape 55"/>
          <p:cNvSpPr/>
          <p:nvPr/>
        </p:nvSpPr>
        <p:spPr bwMode="auto">
          <a:xfrm>
            <a:off x="8551863" y="2971800"/>
            <a:ext cx="304800" cy="2362200"/>
          </a:xfrm>
          <a:prstGeom prst="rightBrace">
            <a:avLst>
              <a:gd name="adj1" fmla="val 64583"/>
              <a:gd name="adj2" fmla="val 50000"/>
            </a:avLst>
          </a:prstGeom>
          <a:solidFill>
            <a:schemeClr val="bg1"/>
          </a:solidFill>
          <a:ln w="9525">
            <a:solidFill>
              <a:schemeClr val="tx1"/>
            </a:solidFill>
            <a:prstDash val="dash"/>
            <a:round/>
          </a:ln>
          <a:effectLst/>
          <a:extLst>
            <a:ext uri="{AF507438-7753-43E0-B8FC-AC1667EBCBE1}">
              <a14:hiddenEffects xmlns:a14="http://schemas.microsoft.com/office/drawing/2010/main">
                <a:effectLst>
                  <a:outerShdw dist="35921" dir="2700000" algn="ctr" rotWithShape="0">
                    <a:schemeClr val="folHlink"/>
                  </a:outerShdw>
                </a:effectLst>
              </a14:hiddenEffects>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dirty="0">
              <a:latin typeface="微软雅黑" panose="020B0503020204020204" pitchFamily="34" charset="-122"/>
              <a:ea typeface="宋体" panose="02010600030101010101" pitchFamily="2" charset="-122"/>
            </a:endParaRPr>
          </a:p>
        </p:txBody>
      </p:sp>
      <p:sp>
        <p:nvSpPr>
          <p:cNvPr id="61" name="Rectangle 60"/>
          <p:cNvSpPr/>
          <p:nvPr/>
        </p:nvSpPr>
        <p:spPr>
          <a:xfrm>
            <a:off x="646126" y="1347716"/>
            <a:ext cx="8489937" cy="461665"/>
          </a:xfrm>
          <a:prstGeom prst="rect">
            <a:avLst/>
          </a:prstGeom>
        </p:spPr>
        <p:txBody>
          <a:bodyPr wrap="square">
            <a:spAutoFit/>
          </a:bodyPr>
          <a:lstStyle/>
          <a:p>
            <a:pPr algn="ctr">
              <a:buNone/>
            </a:pPr>
            <a:r>
              <a:rPr lang="zh-CN" altLang="en-US" sz="2400" b="1" dirty="0">
                <a:latin typeface="宋体" panose="02010600030101010101" pitchFamily="2" charset="-122"/>
                <a:ea typeface="宋体" panose="02010600030101010101" pitchFamily="2" charset="-122"/>
              </a:rPr>
              <a:t>企业架构 </a:t>
            </a: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业务架构 </a:t>
            </a:r>
            <a:r>
              <a:rPr lang="en-US" altLang="zh-CN" sz="2400" b="1" dirty="0">
                <a:latin typeface="宋体" panose="02010600030101010101" pitchFamily="2" charset="-122"/>
                <a:ea typeface="宋体" panose="02010600030101010101" pitchFamily="2" charset="-122"/>
              </a:rPr>
              <a:t>+ IT/</a:t>
            </a:r>
            <a:r>
              <a:rPr lang="zh-CN" altLang="en-US" sz="2400" b="1" dirty="0">
                <a:latin typeface="宋体" panose="02010600030101010101" pitchFamily="2" charset="-122"/>
                <a:ea typeface="宋体" panose="02010600030101010101" pitchFamily="2" charset="-122"/>
              </a:rPr>
              <a:t>数字化架构（任督二脉）</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领域专家的是企业架构落地的重要力量</a:t>
            </a:r>
            <a:endParaRPr lang="en-GB" dirty="0"/>
          </a:p>
        </p:txBody>
      </p:sp>
      <p:sp>
        <p:nvSpPr>
          <p:cNvPr id="3" name="Oval 2"/>
          <p:cNvSpPr/>
          <p:nvPr/>
        </p:nvSpPr>
        <p:spPr bwMode="auto">
          <a:xfrm>
            <a:off x="774947" y="1670239"/>
            <a:ext cx="4645793" cy="2736304"/>
          </a:xfrm>
          <a:prstGeom prst="ellipse">
            <a:avLst/>
          </a:prstGeom>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pPr>
            <a:endParaRPr kumimoji="0" lang="en-GB" sz="1800" b="0" i="0" u="none" strike="noStrike" cap="none" normalizeH="0" baseline="0">
              <a:ln>
                <a:noFill/>
              </a:ln>
              <a:solidFill>
                <a:schemeClr val="tx1"/>
              </a:solidFill>
              <a:effectLst/>
              <a:latin typeface="Arial" panose="020B0604020202020204" pitchFamily="34" charset="0"/>
            </a:endParaRPr>
          </a:p>
        </p:txBody>
      </p:sp>
      <p:sp>
        <p:nvSpPr>
          <p:cNvPr id="4" name="Oval 3"/>
          <p:cNvSpPr/>
          <p:nvPr/>
        </p:nvSpPr>
        <p:spPr bwMode="auto">
          <a:xfrm>
            <a:off x="4573804" y="1670239"/>
            <a:ext cx="4842104" cy="2736304"/>
          </a:xfrm>
          <a:prstGeom prst="ellipse">
            <a:avLst/>
          </a:prstGeom>
          <a:noFill/>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pPr>
            <a:endParaRPr kumimoji="0" lang="en-GB" sz="1800" b="0" i="0" u="none" strike="noStrike" cap="none" normalizeH="0" baseline="0">
              <a:ln>
                <a:noFill/>
              </a:ln>
              <a:solidFill>
                <a:schemeClr val="tx1"/>
              </a:solidFill>
              <a:effectLst/>
              <a:latin typeface="Arial" panose="020B0604020202020204" pitchFamily="34" charset="0"/>
            </a:endParaRPr>
          </a:p>
        </p:txBody>
      </p:sp>
      <p:sp>
        <p:nvSpPr>
          <p:cNvPr id="5" name="TextBox 4"/>
          <p:cNvSpPr txBox="1"/>
          <p:nvPr/>
        </p:nvSpPr>
        <p:spPr>
          <a:xfrm>
            <a:off x="2313013" y="1263868"/>
            <a:ext cx="1569660" cy="369332"/>
          </a:xfrm>
          <a:prstGeom prst="rect">
            <a:avLst/>
          </a:prstGeom>
          <a:noFill/>
        </p:spPr>
        <p:txBody>
          <a:bodyPr wrap="none" rtlCol="0">
            <a:spAutoFit/>
          </a:bodyPr>
          <a:lstStyle/>
          <a:p>
            <a:r>
              <a:rPr lang="zh-CN" altLang="en-US" dirty="0"/>
              <a:t>业务领域能力</a:t>
            </a:r>
            <a:endParaRPr lang="en-GB" dirty="0"/>
          </a:p>
        </p:txBody>
      </p:sp>
      <p:sp>
        <p:nvSpPr>
          <p:cNvPr id="7" name="TextBox 6"/>
          <p:cNvSpPr txBox="1"/>
          <p:nvPr/>
        </p:nvSpPr>
        <p:spPr>
          <a:xfrm>
            <a:off x="6210026" y="1268287"/>
            <a:ext cx="1569660" cy="369332"/>
          </a:xfrm>
          <a:prstGeom prst="rect">
            <a:avLst/>
          </a:prstGeom>
          <a:noFill/>
        </p:spPr>
        <p:txBody>
          <a:bodyPr wrap="none" rtlCol="0">
            <a:spAutoFit/>
          </a:bodyPr>
          <a:lstStyle/>
          <a:p>
            <a:r>
              <a:rPr lang="zh-CN" altLang="en-US" dirty="0"/>
              <a:t>规划架构能力</a:t>
            </a:r>
            <a:endParaRPr lang="en-US" altLang="zh-CN" dirty="0"/>
          </a:p>
        </p:txBody>
      </p:sp>
      <p:sp>
        <p:nvSpPr>
          <p:cNvPr id="9" name="TextBox 8"/>
          <p:cNvSpPr txBox="1"/>
          <p:nvPr/>
        </p:nvSpPr>
        <p:spPr>
          <a:xfrm>
            <a:off x="1369420" y="2035589"/>
            <a:ext cx="4146193" cy="231601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1400" dirty="0"/>
              <a:t>本领域深厚的经验和知识</a:t>
            </a:r>
            <a:endParaRPr lang="en-US" altLang="zh-CN" sz="1400" dirty="0"/>
          </a:p>
          <a:p>
            <a:pPr marL="342900" indent="-342900">
              <a:lnSpc>
                <a:spcPct val="150000"/>
              </a:lnSpc>
              <a:buFont typeface="Arial" panose="020B0604020202020204" pitchFamily="34" charset="0"/>
              <a:buChar char="•"/>
            </a:pPr>
            <a:r>
              <a:rPr lang="zh-CN" altLang="en-US" sz="1400" dirty="0"/>
              <a:t>行业深刻理解，解决问题</a:t>
            </a:r>
            <a:endParaRPr lang="en-US" altLang="zh-CN" sz="1400" dirty="0"/>
          </a:p>
          <a:p>
            <a:pPr marL="342900" indent="-342900">
              <a:lnSpc>
                <a:spcPct val="150000"/>
              </a:lnSpc>
              <a:buFont typeface="Arial" panose="020B0604020202020204" pitchFamily="34" charset="0"/>
              <a:buChar char="•"/>
            </a:pPr>
            <a:r>
              <a:rPr lang="zh-CN" altLang="en-US" sz="1400" dirty="0"/>
              <a:t>引领本行业的发展和前进</a:t>
            </a:r>
            <a:endParaRPr lang="en-US" altLang="zh-CN" sz="1400" dirty="0"/>
          </a:p>
          <a:p>
            <a:pPr marL="342900" indent="-342900">
              <a:lnSpc>
                <a:spcPct val="150000"/>
              </a:lnSpc>
              <a:buFont typeface="Arial" panose="020B0604020202020204" pitchFamily="34" charset="0"/>
              <a:buChar char="•"/>
            </a:pPr>
            <a:r>
              <a:rPr lang="zh-CN" altLang="en-US" sz="1400" dirty="0"/>
              <a:t>很强领导力</a:t>
            </a:r>
            <a:r>
              <a:rPr lang="en-US" altLang="zh-CN" sz="1400" dirty="0"/>
              <a:t>/</a:t>
            </a:r>
            <a:r>
              <a:rPr lang="zh-CN" altLang="en-US" sz="1400" dirty="0"/>
              <a:t>沟通</a:t>
            </a:r>
            <a:r>
              <a:rPr lang="en-US" altLang="zh-CN" sz="1400" dirty="0"/>
              <a:t>/</a:t>
            </a:r>
            <a:r>
              <a:rPr lang="zh-CN" altLang="en-US" sz="1400" dirty="0"/>
              <a:t>分析能力</a:t>
            </a:r>
            <a:endParaRPr lang="en-US" altLang="zh-CN" sz="1400" dirty="0"/>
          </a:p>
          <a:p>
            <a:pPr>
              <a:lnSpc>
                <a:spcPct val="150000"/>
              </a:lnSpc>
            </a:pPr>
            <a:r>
              <a:rPr lang="zh-CN" altLang="en-US" sz="1400" dirty="0"/>
              <a:t>制造专家、国际业务专家、财务专家、</a:t>
            </a:r>
            <a:endParaRPr lang="en-US" altLang="zh-CN" sz="1400" dirty="0"/>
          </a:p>
          <a:p>
            <a:pPr>
              <a:lnSpc>
                <a:spcPct val="150000"/>
              </a:lnSpc>
            </a:pPr>
            <a:r>
              <a:rPr lang="zh-CN" altLang="en-US" sz="1400" dirty="0"/>
              <a:t>供应链专家、安全专家、</a:t>
            </a:r>
            <a:r>
              <a:rPr lang="en-US" altLang="zh-CN" sz="1400" dirty="0"/>
              <a:t>IT</a:t>
            </a:r>
            <a:r>
              <a:rPr lang="zh-CN" altLang="en-US" sz="1400" dirty="0"/>
              <a:t>专家、人力资源、</a:t>
            </a:r>
            <a:endParaRPr lang="en-US" altLang="zh-CN" sz="1400" dirty="0"/>
          </a:p>
          <a:p>
            <a:pPr>
              <a:lnSpc>
                <a:spcPct val="150000"/>
              </a:lnSpc>
            </a:pPr>
            <a:r>
              <a:rPr lang="zh-CN" altLang="en-US" sz="1400" dirty="0">
                <a:solidFill>
                  <a:srgbClr val="FF0000"/>
                </a:solidFill>
              </a:rPr>
              <a:t>数字化专家</a:t>
            </a:r>
            <a:r>
              <a:rPr lang="zh-CN" altLang="en-US" sz="1400" dirty="0"/>
              <a:t>、</a:t>
            </a:r>
            <a:r>
              <a:rPr lang="zh-CN" altLang="en-US" sz="1400" dirty="0">
                <a:solidFill>
                  <a:srgbClr val="FF0000"/>
                </a:solidFill>
              </a:rPr>
              <a:t>业务架构专家</a:t>
            </a:r>
            <a:r>
              <a:rPr lang="zh-CN" altLang="en-US" sz="1400" dirty="0"/>
              <a:t>、等等</a:t>
            </a:r>
            <a:endParaRPr lang="en-US" altLang="zh-CN" sz="1400" dirty="0"/>
          </a:p>
        </p:txBody>
      </p:sp>
      <p:sp>
        <p:nvSpPr>
          <p:cNvPr id="10" name="TextBox 9"/>
          <p:cNvSpPr txBox="1"/>
          <p:nvPr/>
        </p:nvSpPr>
        <p:spPr>
          <a:xfrm>
            <a:off x="5420740" y="2035590"/>
            <a:ext cx="3480554" cy="199285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1400" dirty="0"/>
              <a:t>很强的企业规划、设计能力，掌握企业架构、流程等设计方法和经验</a:t>
            </a:r>
            <a:endParaRPr lang="en-US" altLang="zh-CN" sz="1400" dirty="0"/>
          </a:p>
          <a:p>
            <a:pPr marL="342900" indent="-342900">
              <a:lnSpc>
                <a:spcPct val="150000"/>
              </a:lnSpc>
              <a:buFont typeface="Arial" panose="020B0604020202020204" pitchFamily="34" charset="0"/>
              <a:buChar char="•"/>
            </a:pPr>
            <a:r>
              <a:rPr lang="zh-CN" altLang="en-US" sz="1400" dirty="0"/>
              <a:t>快速学习和理解能力，团队工作能力</a:t>
            </a:r>
            <a:endParaRPr lang="en-US" altLang="zh-CN" sz="1400" dirty="0"/>
          </a:p>
          <a:p>
            <a:pPr marL="342900" indent="-342900">
              <a:lnSpc>
                <a:spcPct val="150000"/>
              </a:lnSpc>
              <a:buFont typeface="Arial" panose="020B0604020202020204" pitchFamily="34" charset="0"/>
              <a:buChar char="•"/>
            </a:pPr>
            <a:r>
              <a:rPr lang="zh-CN" altLang="en-US" sz="1400" dirty="0"/>
              <a:t>项目规划、管理和实施能力</a:t>
            </a:r>
            <a:endParaRPr lang="en-US" altLang="zh-CN" sz="1400" dirty="0"/>
          </a:p>
          <a:p>
            <a:pPr>
              <a:lnSpc>
                <a:spcPct val="150000"/>
              </a:lnSpc>
            </a:pPr>
            <a:r>
              <a:rPr lang="zh-CN" altLang="en-US" sz="1400" dirty="0"/>
              <a:t>战略分析、业务能力设计、流程设计、组织架构设计、等等</a:t>
            </a:r>
            <a:endParaRPr lang="en-US" altLang="zh-CN" sz="1400" dirty="0"/>
          </a:p>
        </p:txBody>
      </p:sp>
      <p:sp>
        <p:nvSpPr>
          <p:cNvPr id="11" name="TextBox 10"/>
          <p:cNvSpPr txBox="1"/>
          <p:nvPr/>
        </p:nvSpPr>
        <p:spPr>
          <a:xfrm>
            <a:off x="4501796" y="3008774"/>
            <a:ext cx="972275" cy="461665"/>
          </a:xfrm>
          <a:prstGeom prst="rect">
            <a:avLst/>
          </a:prstGeom>
          <a:noFill/>
        </p:spPr>
        <p:txBody>
          <a:bodyPr wrap="square" rtlCol="0">
            <a:spAutoFit/>
          </a:bodyPr>
          <a:lstStyle/>
          <a:p>
            <a:pPr algn="ctr"/>
            <a:r>
              <a:rPr lang="zh-CN" altLang="en-US" sz="1200" dirty="0">
                <a:solidFill>
                  <a:srgbClr val="FF0000"/>
                </a:solidFill>
              </a:rPr>
              <a:t>复合型专家</a:t>
            </a:r>
            <a:endParaRPr lang="en-US" altLang="zh-CN" sz="1200" dirty="0">
              <a:solidFill>
                <a:srgbClr val="FF0000"/>
              </a:solidFill>
            </a:endParaRPr>
          </a:p>
          <a:p>
            <a:pPr algn="ctr"/>
            <a:r>
              <a:rPr lang="zh-CN" altLang="en-US" sz="1200" dirty="0">
                <a:solidFill>
                  <a:srgbClr val="FF0000"/>
                </a:solidFill>
              </a:rPr>
              <a:t>团队合作</a:t>
            </a:r>
            <a:endParaRPr lang="en-US" altLang="zh-CN" sz="1200" dirty="0">
              <a:solidFill>
                <a:srgbClr val="FF0000"/>
              </a:solidFill>
            </a:endParaRPr>
          </a:p>
        </p:txBody>
      </p:sp>
      <p:sp>
        <p:nvSpPr>
          <p:cNvPr id="6" name="Oval 5"/>
          <p:cNvSpPr/>
          <p:nvPr/>
        </p:nvSpPr>
        <p:spPr bwMode="auto">
          <a:xfrm>
            <a:off x="2701596" y="2966384"/>
            <a:ext cx="4645793" cy="2952328"/>
          </a:xfrm>
          <a:prstGeom prst="ellipse">
            <a:avLst/>
          </a:prstGeom>
          <a:noFill/>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pPr>
            <a:endParaRPr kumimoji="0" lang="en-GB" sz="1800" b="0" i="0" u="none" strike="noStrike" cap="none" normalizeH="0" baseline="0">
              <a:ln>
                <a:noFill/>
              </a:ln>
              <a:solidFill>
                <a:schemeClr val="tx1"/>
              </a:solidFill>
              <a:effectLst/>
              <a:latin typeface="Arial" panose="020B0604020202020204" pitchFamily="34" charset="0"/>
            </a:endParaRPr>
          </a:p>
        </p:txBody>
      </p:sp>
      <p:sp>
        <p:nvSpPr>
          <p:cNvPr id="8" name="TextBox 7"/>
          <p:cNvSpPr txBox="1"/>
          <p:nvPr/>
        </p:nvSpPr>
        <p:spPr>
          <a:xfrm>
            <a:off x="4429788" y="6011996"/>
            <a:ext cx="1338828" cy="369332"/>
          </a:xfrm>
          <a:prstGeom prst="rect">
            <a:avLst/>
          </a:prstGeom>
          <a:noFill/>
        </p:spPr>
        <p:txBody>
          <a:bodyPr wrap="none" rtlCol="0">
            <a:spAutoFit/>
          </a:bodyPr>
          <a:lstStyle/>
          <a:p>
            <a:r>
              <a:rPr lang="zh-CN" altLang="en-US" dirty="0"/>
              <a:t>数字化能力</a:t>
            </a:r>
            <a:endParaRPr lang="en-US" altLang="zh-CN" dirty="0"/>
          </a:p>
        </p:txBody>
      </p:sp>
      <p:sp>
        <p:nvSpPr>
          <p:cNvPr id="12" name="TextBox 11"/>
          <p:cNvSpPr txBox="1"/>
          <p:nvPr/>
        </p:nvSpPr>
        <p:spPr>
          <a:xfrm>
            <a:off x="3347643" y="4546777"/>
            <a:ext cx="4146193" cy="102335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1400" dirty="0"/>
              <a:t>数字化流程设计，需求分析，架构设计</a:t>
            </a:r>
            <a:endParaRPr lang="en-US" altLang="zh-CN" sz="1400" dirty="0"/>
          </a:p>
          <a:p>
            <a:pPr marL="285750" indent="-285750">
              <a:lnSpc>
                <a:spcPct val="150000"/>
              </a:lnSpc>
              <a:buFont typeface="Arial" panose="020B0604020202020204" pitchFamily="34" charset="0"/>
              <a:buChar char="•"/>
            </a:pPr>
            <a:r>
              <a:rPr lang="zh-CN" altLang="en-US" sz="1400" dirty="0">
                <a:solidFill>
                  <a:srgbClr val="FF0000"/>
                </a:solidFill>
              </a:rPr>
              <a:t>数字化学习能力、主动性、变革力</a:t>
            </a:r>
            <a:endParaRPr lang="en-US" altLang="zh-CN" sz="1400" dirty="0">
              <a:solidFill>
                <a:srgbClr val="FF0000"/>
              </a:solidFill>
            </a:endParaRPr>
          </a:p>
          <a:p>
            <a:pPr>
              <a:lnSpc>
                <a:spcPct val="150000"/>
              </a:lnSpc>
            </a:pPr>
            <a:r>
              <a:rPr lang="zh-CN" altLang="en-US" sz="1400" dirty="0">
                <a:solidFill>
                  <a:srgbClr val="FF0000"/>
                </a:solidFill>
              </a:rPr>
              <a:t>数字化专家</a:t>
            </a:r>
            <a:r>
              <a:rPr lang="zh-CN" altLang="en-US" sz="1400" dirty="0"/>
              <a:t>、</a:t>
            </a:r>
            <a:r>
              <a:rPr lang="zh-CN" altLang="en-US" sz="1400" dirty="0">
                <a:solidFill>
                  <a:srgbClr val="FF0000"/>
                </a:solidFill>
              </a:rPr>
              <a:t>业务架构专家</a:t>
            </a:r>
            <a:endParaRPr lang="en-US" altLang="zh-CN" sz="1400" dirty="0"/>
          </a:p>
        </p:txBody>
      </p:sp>
      <p:sp>
        <p:nvSpPr>
          <p:cNvPr id="13" name="TextBox 12"/>
          <p:cNvSpPr txBox="1"/>
          <p:nvPr/>
        </p:nvSpPr>
        <p:spPr>
          <a:xfrm>
            <a:off x="6894928" y="5368247"/>
            <a:ext cx="2716590" cy="873957"/>
          </a:xfrm>
          <a:prstGeom prst="rect">
            <a:avLst/>
          </a:prstGeom>
          <a:noFill/>
        </p:spPr>
        <p:txBody>
          <a:bodyPr wrap="square" rtlCol="0">
            <a:spAutoFit/>
          </a:bodyPr>
          <a:lstStyle/>
          <a:p>
            <a:pPr>
              <a:lnSpc>
                <a:spcPct val="150000"/>
              </a:lnSpc>
            </a:pPr>
            <a:r>
              <a:rPr lang="zh-CN" altLang="en-US" b="1" dirty="0"/>
              <a:t>外部项目式 </a:t>
            </a:r>
            <a:r>
              <a:rPr lang="en-US" altLang="zh-CN" b="1" dirty="0"/>
              <a:t>/</a:t>
            </a:r>
            <a:r>
              <a:rPr lang="zh-CN" altLang="en-US" b="1" dirty="0"/>
              <a:t> 内部主导式 </a:t>
            </a:r>
            <a:r>
              <a:rPr lang="en-US" altLang="zh-CN" b="1" dirty="0"/>
              <a:t>/ </a:t>
            </a:r>
            <a:r>
              <a:rPr lang="zh-CN" altLang="en-US" b="1" dirty="0"/>
              <a:t>过渡式</a:t>
            </a:r>
            <a:endParaRPr lang="en-US" altLang="zh-CN"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5" rIns="91430" bIns="45715" numCol="1" anchor="b" anchorCtr="0" compatLnSpc="1"/>
          <a:lstStyle/>
          <a:p>
            <a:r>
              <a:rPr lang="zh-CN" altLang="en-US" dirty="0">
                <a:latin typeface="微软雅黑" panose="020B0503020204020204" pitchFamily="34" charset="-122"/>
              </a:rPr>
              <a:t>数字化能力是当</a:t>
            </a:r>
            <a:r>
              <a:rPr lang="zh-CN" altLang="en-US" sz="2800" dirty="0">
                <a:latin typeface="微软雅黑" panose="020B0503020204020204" pitchFamily="34" charset="-122"/>
                <a:ea typeface="微软雅黑" panose="020B0503020204020204" pitchFamily="34" charset="-122"/>
              </a:rPr>
              <a:t>前企业转型的关键</a:t>
            </a:r>
            <a:br>
              <a:rPr lang="en-US" altLang="zh-CN" sz="2800" dirty="0">
                <a:latin typeface="微软雅黑" panose="020B0503020204020204" pitchFamily="34" charset="-122"/>
                <a:ea typeface="微软雅黑" panose="020B0503020204020204" pitchFamily="34" charset="-122"/>
              </a:rPr>
            </a:br>
            <a:r>
              <a:rPr lang="en-US" altLang="zh-CN" sz="2400" b="0" dirty="0">
                <a:latin typeface="微软雅黑" panose="020B0503020204020204" pitchFamily="34" charset="-122"/>
                <a:ea typeface="微软雅黑" panose="020B0503020204020204" pitchFamily="34" charset="-122"/>
              </a:rPr>
              <a:t>- </a:t>
            </a:r>
            <a:r>
              <a:rPr lang="zh-CN" altLang="en-US" sz="2400" b="0" dirty="0">
                <a:latin typeface="微软雅黑" panose="020B0503020204020204" pitchFamily="34" charset="-122"/>
                <a:ea typeface="微软雅黑" panose="020B0503020204020204" pitchFamily="34" charset="-122"/>
              </a:rPr>
              <a:t>数字化成熟度提升的层级</a:t>
            </a:r>
            <a:endParaRPr lang="en-US" altLang="zh-CN" sz="2800" b="0" dirty="0">
              <a:latin typeface="微软雅黑" panose="020B0503020204020204" pitchFamily="34" charset="-122"/>
              <a:ea typeface="微软雅黑" panose="020B0503020204020204" pitchFamily="34" charset="-122"/>
            </a:endParaRPr>
          </a:p>
        </p:txBody>
      </p:sp>
      <p:grpSp>
        <p:nvGrpSpPr>
          <p:cNvPr id="7" name="组合 6"/>
          <p:cNvGrpSpPr/>
          <p:nvPr/>
        </p:nvGrpSpPr>
        <p:grpSpPr>
          <a:xfrm>
            <a:off x="1018551" y="2269188"/>
            <a:ext cx="7984304" cy="4369111"/>
            <a:chOff x="687388" y="2550764"/>
            <a:chExt cx="6976949" cy="3900009"/>
          </a:xfrm>
        </p:grpSpPr>
        <p:grpSp>
          <p:nvGrpSpPr>
            <p:cNvPr id="2" name="组合 1"/>
            <p:cNvGrpSpPr/>
            <p:nvPr/>
          </p:nvGrpSpPr>
          <p:grpSpPr>
            <a:xfrm>
              <a:off x="687388" y="2925764"/>
              <a:ext cx="6976949" cy="3525009"/>
              <a:chOff x="687388" y="2925763"/>
              <a:chExt cx="6976949" cy="3525009"/>
            </a:xfrm>
          </p:grpSpPr>
          <p:sp>
            <p:nvSpPr>
              <p:cNvPr id="754691" name="AutoShape 3"/>
              <p:cNvSpPr>
                <a:spLocks noChangeArrowheads="1"/>
              </p:cNvSpPr>
              <p:nvPr/>
            </p:nvSpPr>
            <p:spPr bwMode="auto">
              <a:xfrm>
                <a:off x="687388" y="4860925"/>
                <a:ext cx="1689100" cy="549275"/>
              </a:xfrm>
              <a:prstGeom prst="homePlate">
                <a:avLst>
                  <a:gd name="adj" fmla="val 12941"/>
                </a:avLst>
              </a:prstGeom>
              <a:solidFill>
                <a:schemeClr val="accent3">
                  <a:lumMod val="95000"/>
                </a:schemeClr>
              </a:solidFill>
              <a:ln>
                <a:noFill/>
              </a:ln>
              <a:effectLst>
                <a:prstShdw prst="shdw17" dist="17961" dir="2700000">
                  <a:schemeClr val="accent1">
                    <a:gamma/>
                    <a:shade val="60000"/>
                    <a:invGamma/>
                  </a:schemeClr>
                </a:prst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endParaRPr lang="zh-CN" altLang="en-US" sz="2400">
                  <a:ea typeface="宋体" panose="02010600030101010101" pitchFamily="2" charset="-122"/>
                </a:endParaRPr>
              </a:p>
            </p:txBody>
          </p:sp>
          <p:sp>
            <p:nvSpPr>
              <p:cNvPr id="152580" name="Text Box 4"/>
              <p:cNvSpPr txBox="1">
                <a:spLocks noChangeArrowheads="1"/>
              </p:cNvSpPr>
              <p:nvPr/>
            </p:nvSpPr>
            <p:spPr bwMode="auto">
              <a:xfrm>
                <a:off x="762000" y="5026465"/>
                <a:ext cx="1490663" cy="219785"/>
              </a:xfrm>
              <a:prstGeom prst="rect">
                <a:avLst/>
              </a:prstGeom>
              <a:solidFill>
                <a:schemeClr val="accent3">
                  <a:lumMod val="95000"/>
                </a:schemeClr>
              </a:solidFill>
              <a:ln>
                <a:noFill/>
              </a:ln>
              <a:effectLst/>
            </p:spPr>
            <p:txBody>
              <a:bodyPr lIns="0" tIns="0" rIns="0" bIns="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a:buClrTx/>
                  <a:buFontTx/>
                  <a:buNone/>
                </a:pPr>
                <a:r>
                  <a:rPr kumimoji="1" lang="zh-CN" altLang="en-US" sz="1600" b="1" dirty="0">
                    <a:solidFill>
                      <a:srgbClr val="000000"/>
                    </a:solidFill>
                    <a:ea typeface="宋体" panose="02010600030101010101" pitchFamily="2" charset="-122"/>
                  </a:rPr>
                  <a:t>业务场景</a:t>
                </a:r>
                <a:endParaRPr kumimoji="1" lang="zh-CN" altLang="en-US" sz="1600" b="1" dirty="0">
                  <a:solidFill>
                    <a:srgbClr val="000000"/>
                  </a:solidFill>
                  <a:ea typeface="宋体" panose="02010600030101010101" pitchFamily="2" charset="-122"/>
                </a:endParaRPr>
              </a:p>
            </p:txBody>
          </p:sp>
          <p:sp>
            <p:nvSpPr>
              <p:cNvPr id="152581" name="Rectangle 5"/>
              <p:cNvSpPr>
                <a:spLocks noChangeArrowheads="1"/>
              </p:cNvSpPr>
              <p:nvPr/>
            </p:nvSpPr>
            <p:spPr bwMode="auto">
              <a:xfrm>
                <a:off x="785813" y="5527675"/>
                <a:ext cx="1584325" cy="923097"/>
              </a:xfrm>
              <a:prstGeom prst="rect">
                <a:avLst/>
              </a:prstGeom>
              <a:solidFill>
                <a:schemeClr val="bg1"/>
              </a:solidFill>
              <a:ln>
                <a:noFill/>
              </a:ln>
              <a:effectLst/>
            </p:spPr>
            <p:txBody>
              <a:bodyPr lIns="0" tIns="0" rIns="0" bIns="0">
                <a:spAutoFit/>
              </a:bodyPr>
              <a:lstStyle>
                <a:lvl1pPr marL="342900" indent="-342900" defTabSz="330200" eaLnBrk="0" hangingPunct="0">
                  <a:spcBef>
                    <a:spcPct val="70000"/>
                  </a:spcBef>
                  <a:spcAft>
                    <a:spcPct val="10000"/>
                  </a:spcAft>
                  <a:buSzPct val="50000"/>
                  <a:buFont typeface="Monotype Sorts" pitchFamily="2" charset="2"/>
                  <a:tabLst>
                    <a:tab pos="8521700" algn="r"/>
                  </a:tabLst>
                  <a:defRPr sz="2200" b="1">
                    <a:solidFill>
                      <a:schemeClr val="tx1"/>
                    </a:solidFill>
                    <a:latin typeface="Arial" panose="020B0604020202020204" pitchFamily="34" charset="0"/>
                  </a:defRPr>
                </a:lvl1pPr>
                <a:lvl2pPr marL="190500" indent="-189230" defTabSz="330200" eaLnBrk="0" hangingPunct="0">
                  <a:spcBef>
                    <a:spcPct val="50000"/>
                  </a:spcBef>
                  <a:spcAft>
                    <a:spcPct val="10000"/>
                  </a:spcAft>
                  <a:buSzPct val="75000"/>
                  <a:buChar char="l"/>
                  <a:tabLst>
                    <a:tab pos="8521700" algn="r"/>
                  </a:tabLst>
                  <a:defRPr>
                    <a:solidFill>
                      <a:schemeClr val="tx1"/>
                    </a:solidFill>
                    <a:latin typeface="Arial" panose="020B0604020202020204" pitchFamily="34" charset="0"/>
                  </a:defRPr>
                </a:lvl2pPr>
                <a:lvl3pPr marL="371475" indent="-179705" defTabSz="330200" eaLnBrk="0" hangingPunct="0">
                  <a:spcBef>
                    <a:spcPct val="50000"/>
                  </a:spcBef>
                  <a:spcAft>
                    <a:spcPct val="10000"/>
                  </a:spcAft>
                  <a:buSzPct val="75000"/>
                  <a:buChar char="—"/>
                  <a:tabLst>
                    <a:tab pos="8521700" algn="r"/>
                  </a:tabLst>
                  <a:defRPr>
                    <a:solidFill>
                      <a:schemeClr val="tx1"/>
                    </a:solidFill>
                    <a:latin typeface="Arial" panose="020B0604020202020204" pitchFamily="34" charset="0"/>
                  </a:defRPr>
                </a:lvl3pPr>
                <a:lvl4pPr marL="548005" indent="-174625" defTabSz="330200" eaLnBrk="0" hangingPunct="0">
                  <a:spcBef>
                    <a:spcPct val="20000"/>
                  </a:spcBef>
                  <a:buChar char="–"/>
                  <a:tabLst>
                    <a:tab pos="8521700" algn="r"/>
                  </a:tabLst>
                  <a:defRPr sz="2000">
                    <a:solidFill>
                      <a:schemeClr val="tx1"/>
                    </a:solidFill>
                    <a:latin typeface="Times New Roman" panose="02020603050405020304" pitchFamily="18" charset="0"/>
                  </a:defRPr>
                </a:lvl4pPr>
                <a:lvl5pPr marL="1511300" indent="-328930" defTabSz="330200" eaLnBrk="0" hangingPunct="0">
                  <a:spcBef>
                    <a:spcPct val="20000"/>
                  </a:spcBef>
                  <a:buChar char="»"/>
                  <a:tabLst>
                    <a:tab pos="8521700" algn="r"/>
                  </a:tabLst>
                  <a:defRPr sz="2000">
                    <a:solidFill>
                      <a:schemeClr val="tx1"/>
                    </a:solidFill>
                    <a:latin typeface="Times New Roman" panose="02020603050405020304" pitchFamily="18" charset="0"/>
                  </a:defRPr>
                </a:lvl5pPr>
                <a:lvl6pPr marL="1968500" indent="-328930" defTabSz="330200" eaLnBrk="0" fontAlgn="base" hangingPunct="0">
                  <a:spcBef>
                    <a:spcPct val="20000"/>
                  </a:spcBef>
                  <a:spcAft>
                    <a:spcPct val="0"/>
                  </a:spcAft>
                  <a:buChar char="»"/>
                  <a:tabLst>
                    <a:tab pos="8521700" algn="r"/>
                  </a:tabLst>
                  <a:defRPr sz="2000">
                    <a:solidFill>
                      <a:schemeClr val="tx1"/>
                    </a:solidFill>
                    <a:latin typeface="Times New Roman" panose="02020603050405020304" pitchFamily="18" charset="0"/>
                  </a:defRPr>
                </a:lvl6pPr>
                <a:lvl7pPr marL="2425700" indent="-328930" defTabSz="330200" eaLnBrk="0" fontAlgn="base" hangingPunct="0">
                  <a:spcBef>
                    <a:spcPct val="20000"/>
                  </a:spcBef>
                  <a:spcAft>
                    <a:spcPct val="0"/>
                  </a:spcAft>
                  <a:buChar char="»"/>
                  <a:tabLst>
                    <a:tab pos="8521700" algn="r"/>
                  </a:tabLst>
                  <a:defRPr sz="2000">
                    <a:solidFill>
                      <a:schemeClr val="tx1"/>
                    </a:solidFill>
                    <a:latin typeface="Times New Roman" panose="02020603050405020304" pitchFamily="18" charset="0"/>
                  </a:defRPr>
                </a:lvl7pPr>
                <a:lvl8pPr marL="2882900" indent="-328930" defTabSz="330200" eaLnBrk="0" fontAlgn="base" hangingPunct="0">
                  <a:spcBef>
                    <a:spcPct val="20000"/>
                  </a:spcBef>
                  <a:spcAft>
                    <a:spcPct val="0"/>
                  </a:spcAft>
                  <a:buChar char="»"/>
                  <a:tabLst>
                    <a:tab pos="8521700" algn="r"/>
                  </a:tabLst>
                  <a:defRPr sz="2000">
                    <a:solidFill>
                      <a:schemeClr val="tx1"/>
                    </a:solidFill>
                    <a:latin typeface="Times New Roman" panose="02020603050405020304" pitchFamily="18" charset="0"/>
                  </a:defRPr>
                </a:lvl8pPr>
                <a:lvl9pPr marL="3340100" indent="-328930" defTabSz="330200" eaLnBrk="0" fontAlgn="base" hangingPunct="0">
                  <a:spcBef>
                    <a:spcPct val="20000"/>
                  </a:spcBef>
                  <a:spcAft>
                    <a:spcPct val="0"/>
                  </a:spcAft>
                  <a:buChar char="»"/>
                  <a:tabLst>
                    <a:tab pos="8521700" algn="r"/>
                  </a:tabLst>
                  <a:defRPr sz="2000">
                    <a:solidFill>
                      <a:schemeClr val="tx1"/>
                    </a:solidFill>
                    <a:latin typeface="Times New Roman" panose="02020603050405020304" pitchFamily="18" charset="0"/>
                  </a:defRPr>
                </a:lvl9pPr>
              </a:lstStyle>
              <a:p>
                <a:pPr lvl="1">
                  <a:spcBef>
                    <a:spcPts val="0"/>
                  </a:spcBef>
                  <a:buFont typeface="Arial" panose="020B0604020202020204" pitchFamily="34" charset="0"/>
                  <a:buChar char="•"/>
                </a:pPr>
                <a:r>
                  <a:rPr lang="zh-CN" altLang="en-US" sz="1600" dirty="0">
                    <a:ea typeface="宋体" panose="02010600030101010101" pitchFamily="2" charset="-122"/>
                  </a:rPr>
                  <a:t>业务关心且紧迫</a:t>
                </a:r>
                <a:endParaRPr lang="en-US" altLang="zh-CN" sz="1600" dirty="0">
                  <a:ea typeface="宋体" panose="02010600030101010101" pitchFamily="2" charset="-122"/>
                </a:endParaRPr>
              </a:p>
              <a:p>
                <a:pPr lvl="1">
                  <a:spcBef>
                    <a:spcPts val="0"/>
                  </a:spcBef>
                  <a:buFont typeface="Arial" panose="020B0604020202020204" pitchFamily="34" charset="0"/>
                  <a:buChar char="•"/>
                </a:pPr>
                <a:r>
                  <a:rPr lang="zh-CN" altLang="en-US" sz="1600" dirty="0">
                    <a:ea typeface="宋体" panose="02010600030101010101" pitchFamily="2" charset="-122"/>
                  </a:rPr>
                  <a:t>明确定义的问题</a:t>
                </a:r>
                <a:endParaRPr lang="en-US" altLang="zh-CN" sz="1600" dirty="0">
                  <a:ea typeface="宋体" panose="02010600030101010101" pitchFamily="2" charset="-122"/>
                </a:endParaRPr>
              </a:p>
              <a:p>
                <a:pPr lvl="1">
                  <a:spcBef>
                    <a:spcPts val="0"/>
                  </a:spcBef>
                  <a:buFont typeface="Arial" panose="020B0604020202020204" pitchFamily="34" charset="0"/>
                  <a:buChar char="•"/>
                </a:pPr>
                <a:r>
                  <a:rPr lang="zh-CN" altLang="en-US" sz="1600" dirty="0">
                    <a:ea typeface="宋体" panose="02010600030101010101" pitchFamily="2" charset="-122"/>
                  </a:rPr>
                  <a:t>投入后能够产生价值</a:t>
                </a:r>
                <a:endParaRPr lang="zh-CN" altLang="de-DE" sz="1600" dirty="0">
                  <a:ea typeface="宋体" panose="02010600030101010101" pitchFamily="2" charset="-122"/>
                </a:endParaRPr>
              </a:p>
            </p:txBody>
          </p:sp>
          <p:sp>
            <p:nvSpPr>
              <p:cNvPr id="754694" name="AutoShape 6"/>
              <p:cNvSpPr>
                <a:spLocks noChangeArrowheads="1"/>
              </p:cNvSpPr>
              <p:nvPr/>
            </p:nvSpPr>
            <p:spPr bwMode="auto">
              <a:xfrm>
                <a:off x="2392363" y="4256088"/>
                <a:ext cx="1689100" cy="549275"/>
              </a:xfrm>
              <a:prstGeom prst="chevron">
                <a:avLst>
                  <a:gd name="adj" fmla="val 13155"/>
                </a:avLst>
              </a:prstGeom>
              <a:solidFill>
                <a:schemeClr val="accent3">
                  <a:lumMod val="95000"/>
                </a:schemeClr>
              </a:solidFill>
              <a:ln>
                <a:noFill/>
              </a:ln>
              <a:effectLst>
                <a:prstShdw prst="shdw17" dist="17961" dir="2700000">
                  <a:schemeClr val="accent1">
                    <a:gamma/>
                    <a:shade val="60000"/>
                    <a:invGamma/>
                  </a:schemeClr>
                </a:prst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endParaRPr lang="zh-CN" altLang="en-US" sz="2400">
                  <a:ea typeface="宋体" panose="02010600030101010101" pitchFamily="2" charset="-122"/>
                </a:endParaRPr>
              </a:p>
            </p:txBody>
          </p:sp>
          <p:sp>
            <p:nvSpPr>
              <p:cNvPr id="152583" name="Text Box 7"/>
              <p:cNvSpPr txBox="1">
                <a:spLocks noChangeArrowheads="1"/>
              </p:cNvSpPr>
              <p:nvPr/>
            </p:nvSpPr>
            <p:spPr bwMode="auto">
              <a:xfrm>
                <a:off x="2584450" y="4421627"/>
                <a:ext cx="1349375" cy="219785"/>
              </a:xfrm>
              <a:prstGeom prst="rect">
                <a:avLst/>
              </a:prstGeom>
              <a:solidFill>
                <a:schemeClr val="accent3">
                  <a:lumMod val="95000"/>
                </a:schemeClr>
              </a:solidFill>
              <a:ln>
                <a:noFill/>
              </a:ln>
              <a:effectLst/>
            </p:spPr>
            <p:txBody>
              <a:bodyPr lIns="0" tIns="0" rIns="0" bIns="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a:buClrTx/>
                  <a:buFontTx/>
                  <a:buNone/>
                </a:pPr>
                <a:r>
                  <a:rPr kumimoji="1" lang="zh-CN" altLang="en-US" sz="1600" b="1" dirty="0">
                    <a:solidFill>
                      <a:srgbClr val="000000"/>
                    </a:solidFill>
                    <a:ea typeface="宋体" panose="02010600030101010101" pitchFamily="2" charset="-122"/>
                  </a:rPr>
                  <a:t>数字化运营</a:t>
                </a:r>
                <a:endParaRPr kumimoji="1" lang="zh-CN" altLang="en-US" sz="1600" b="1" dirty="0">
                  <a:solidFill>
                    <a:srgbClr val="000000"/>
                  </a:solidFill>
                  <a:ea typeface="宋体" panose="02010600030101010101" pitchFamily="2" charset="-122"/>
                </a:endParaRPr>
              </a:p>
            </p:txBody>
          </p:sp>
          <p:sp>
            <p:nvSpPr>
              <p:cNvPr id="152584" name="Rectangle 8"/>
              <p:cNvSpPr>
                <a:spLocks noChangeArrowheads="1"/>
              </p:cNvSpPr>
              <p:nvPr/>
            </p:nvSpPr>
            <p:spPr bwMode="auto">
              <a:xfrm>
                <a:off x="2479675" y="4922838"/>
                <a:ext cx="1584325" cy="461549"/>
              </a:xfrm>
              <a:prstGeom prst="rect">
                <a:avLst/>
              </a:prstGeom>
              <a:solidFill>
                <a:schemeClr val="bg1"/>
              </a:solidFill>
              <a:ln>
                <a:noFill/>
              </a:ln>
              <a:effectLst/>
            </p:spPr>
            <p:txBody>
              <a:bodyPr lIns="0" tIns="0" rIns="0" bIns="0">
                <a:spAutoFit/>
              </a:bodyPr>
              <a:lstStyle/>
              <a:p>
                <a:pPr marL="190500" lvl="1" indent="-189230" defTabSz="330200">
                  <a:spcBef>
                    <a:spcPts val="0"/>
                  </a:spcBef>
                  <a:spcAft>
                    <a:spcPct val="10000"/>
                  </a:spcAft>
                  <a:buSzPct val="75000"/>
                  <a:buFont typeface="Arial" panose="020B0604020202020204" pitchFamily="34" charset="0"/>
                  <a:buChar char="•"/>
                  <a:tabLst>
                    <a:tab pos="8521700" algn="r"/>
                  </a:tabLst>
                </a:pPr>
                <a:r>
                  <a:rPr lang="zh-CN" altLang="en-US" sz="1600" dirty="0">
                    <a:latin typeface="Arial" panose="020B0604020202020204" pitchFamily="34" charset="0"/>
                    <a:ea typeface="宋体" panose="02010600030101010101" pitchFamily="2" charset="-122"/>
                  </a:rPr>
                  <a:t>业务流程数字化</a:t>
                </a:r>
                <a:endParaRPr lang="en-US" altLang="zh-CN" sz="1600" dirty="0">
                  <a:latin typeface="Arial" panose="020B0604020202020204" pitchFamily="34" charset="0"/>
                  <a:ea typeface="宋体" panose="02010600030101010101" pitchFamily="2" charset="-122"/>
                </a:endParaRPr>
              </a:p>
              <a:p>
                <a:pPr marL="190500" lvl="1" indent="-189230" defTabSz="330200">
                  <a:spcBef>
                    <a:spcPts val="0"/>
                  </a:spcBef>
                  <a:spcAft>
                    <a:spcPct val="10000"/>
                  </a:spcAft>
                  <a:buSzPct val="75000"/>
                  <a:buFont typeface="Arial" panose="020B0604020202020204" pitchFamily="34" charset="0"/>
                  <a:buChar char="•"/>
                  <a:tabLst>
                    <a:tab pos="8521700" algn="r"/>
                  </a:tabLst>
                </a:pPr>
                <a:r>
                  <a:rPr lang="zh-CN" altLang="en-US" sz="1600" dirty="0">
                    <a:latin typeface="Arial" panose="020B0604020202020204" pitchFamily="34" charset="0"/>
                    <a:ea typeface="宋体" panose="02010600030101010101" pitchFamily="2" charset="-122"/>
                  </a:rPr>
                  <a:t>全面数据化启动</a:t>
                </a:r>
                <a:endParaRPr lang="zh-CN" altLang="de-DE" sz="1600" dirty="0">
                  <a:latin typeface="Arial" panose="020B0604020202020204" pitchFamily="34" charset="0"/>
                  <a:ea typeface="宋体" panose="02010600030101010101" pitchFamily="2" charset="-122"/>
                </a:endParaRPr>
              </a:p>
            </p:txBody>
          </p:sp>
          <p:sp>
            <p:nvSpPr>
              <p:cNvPr id="754697" name="AutoShape 9"/>
              <p:cNvSpPr>
                <a:spLocks noChangeArrowheads="1"/>
              </p:cNvSpPr>
              <p:nvPr/>
            </p:nvSpPr>
            <p:spPr bwMode="auto">
              <a:xfrm>
                <a:off x="4098925" y="3649663"/>
                <a:ext cx="1690688" cy="549275"/>
              </a:xfrm>
              <a:prstGeom prst="chevron">
                <a:avLst>
                  <a:gd name="adj" fmla="val 13167"/>
                </a:avLst>
              </a:prstGeom>
              <a:solidFill>
                <a:schemeClr val="accent3">
                  <a:lumMod val="95000"/>
                </a:schemeClr>
              </a:solidFill>
              <a:ln>
                <a:noFill/>
              </a:ln>
              <a:effectLst>
                <a:prstShdw prst="shdw17" dist="17961" dir="2700000">
                  <a:schemeClr val="accent1">
                    <a:gamma/>
                    <a:shade val="60000"/>
                    <a:invGamma/>
                  </a:schemeClr>
                </a:prst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endParaRPr lang="zh-CN" altLang="en-US" sz="2400">
                  <a:ea typeface="宋体" panose="02010600030101010101" pitchFamily="2" charset="-122"/>
                </a:endParaRPr>
              </a:p>
            </p:txBody>
          </p:sp>
          <p:sp>
            <p:nvSpPr>
              <p:cNvPr id="152586" name="Text Box 10"/>
              <p:cNvSpPr txBox="1">
                <a:spLocks noChangeArrowheads="1"/>
              </p:cNvSpPr>
              <p:nvPr/>
            </p:nvSpPr>
            <p:spPr bwMode="auto">
              <a:xfrm>
                <a:off x="4292600" y="3815202"/>
                <a:ext cx="1349375" cy="219785"/>
              </a:xfrm>
              <a:prstGeom prst="rect">
                <a:avLst/>
              </a:prstGeom>
              <a:solidFill>
                <a:schemeClr val="accent3">
                  <a:lumMod val="95000"/>
                </a:schemeClr>
              </a:solidFill>
              <a:ln>
                <a:noFill/>
              </a:ln>
              <a:effectLst/>
            </p:spPr>
            <p:txBody>
              <a:bodyPr lIns="0" tIns="0" rIns="0" bIns="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a:buClrTx/>
                  <a:buFontTx/>
                  <a:buNone/>
                </a:pPr>
                <a:r>
                  <a:rPr kumimoji="1" lang="zh-CN" altLang="en-US" sz="1600" b="1" dirty="0">
                    <a:solidFill>
                      <a:srgbClr val="000000"/>
                    </a:solidFill>
                    <a:ea typeface="宋体" panose="02010600030101010101" pitchFamily="2" charset="-122"/>
                  </a:rPr>
                  <a:t>数据平台</a:t>
                </a:r>
                <a:endParaRPr kumimoji="1" lang="zh-CN" altLang="en-US" sz="1600" b="1" dirty="0">
                  <a:solidFill>
                    <a:srgbClr val="000000"/>
                  </a:solidFill>
                  <a:ea typeface="宋体" panose="02010600030101010101" pitchFamily="2" charset="-122"/>
                </a:endParaRPr>
              </a:p>
            </p:txBody>
          </p:sp>
          <p:sp>
            <p:nvSpPr>
              <p:cNvPr id="152587" name="Rectangle 11"/>
              <p:cNvSpPr>
                <a:spLocks noChangeArrowheads="1"/>
              </p:cNvSpPr>
              <p:nvPr/>
            </p:nvSpPr>
            <p:spPr bwMode="auto">
              <a:xfrm>
                <a:off x="4187825" y="4316413"/>
                <a:ext cx="1617663" cy="1142883"/>
              </a:xfrm>
              <a:prstGeom prst="rect">
                <a:avLst/>
              </a:prstGeom>
              <a:solidFill>
                <a:schemeClr val="bg1"/>
              </a:solidFill>
              <a:ln>
                <a:noFill/>
              </a:ln>
              <a:effectLst/>
            </p:spPr>
            <p:txBody>
              <a:bodyPr wrap="square" lIns="0" tIns="0" rIns="0" bIns="0">
                <a:spAutoFit/>
              </a:bodyPr>
              <a:lstStyle/>
              <a:p>
                <a:pPr marL="190500" lvl="1" indent="-189230" defTabSz="330200">
                  <a:spcBef>
                    <a:spcPts val="0"/>
                  </a:spcBef>
                  <a:spcAft>
                    <a:spcPct val="10000"/>
                  </a:spcAft>
                  <a:buSzPct val="75000"/>
                  <a:buFont typeface="Arial" panose="020B0604020202020204" pitchFamily="34" charset="0"/>
                  <a:buChar char="•"/>
                  <a:tabLst>
                    <a:tab pos="8521700" algn="r"/>
                  </a:tabLst>
                </a:pPr>
                <a:r>
                  <a:rPr lang="zh-CN" altLang="en-US" sz="1600" dirty="0">
                    <a:latin typeface="Arial" panose="020B0604020202020204" pitchFamily="34" charset="0"/>
                    <a:ea typeface="宋体" panose="02010600030101010101" pitchFamily="2" charset="-122"/>
                  </a:rPr>
                  <a:t>数据能准确收集和分析</a:t>
                </a:r>
                <a:endParaRPr lang="en-US" altLang="zh-CN" sz="1600" dirty="0">
                  <a:latin typeface="Arial" panose="020B0604020202020204" pitchFamily="34" charset="0"/>
                  <a:ea typeface="宋体" panose="02010600030101010101" pitchFamily="2" charset="-122"/>
                </a:endParaRPr>
              </a:p>
              <a:p>
                <a:pPr marL="190500" lvl="1" indent="-189230" defTabSz="330200">
                  <a:spcBef>
                    <a:spcPts val="0"/>
                  </a:spcBef>
                  <a:spcAft>
                    <a:spcPct val="10000"/>
                  </a:spcAft>
                  <a:buSzPct val="75000"/>
                  <a:buFont typeface="Arial" panose="020B0604020202020204" pitchFamily="34" charset="0"/>
                  <a:buChar char="•"/>
                  <a:tabLst>
                    <a:tab pos="8521700" algn="r"/>
                  </a:tabLst>
                </a:pPr>
                <a:r>
                  <a:rPr lang="zh-CN" altLang="en-US" sz="1600" dirty="0">
                    <a:latin typeface="Arial" panose="020B0604020202020204" pitchFamily="34" charset="0"/>
                    <a:ea typeface="宋体" panose="02010600030101010101" pitchFamily="2" charset="-122"/>
                  </a:rPr>
                  <a:t>数据平台化，支持业务运营和决策</a:t>
                </a:r>
                <a:endParaRPr lang="en-US" altLang="zh-CN" sz="1600" dirty="0">
                  <a:latin typeface="Arial" panose="020B0604020202020204" pitchFamily="34" charset="0"/>
                  <a:ea typeface="宋体" panose="02010600030101010101" pitchFamily="2" charset="-122"/>
                </a:endParaRPr>
              </a:p>
              <a:p>
                <a:pPr marL="190500" lvl="1" indent="-189230" defTabSz="330200">
                  <a:spcBef>
                    <a:spcPts val="0"/>
                  </a:spcBef>
                  <a:spcAft>
                    <a:spcPct val="10000"/>
                  </a:spcAft>
                  <a:buSzPct val="75000"/>
                  <a:buFont typeface="Arial" panose="020B0604020202020204" pitchFamily="34" charset="0"/>
                  <a:buChar char="•"/>
                  <a:tabLst>
                    <a:tab pos="8521700" algn="r"/>
                  </a:tabLst>
                </a:pPr>
                <a:r>
                  <a:rPr lang="zh-CN" altLang="en-US" sz="1600" dirty="0">
                    <a:latin typeface="Arial" panose="020B0604020202020204" pitchFamily="34" charset="0"/>
                    <a:ea typeface="宋体" panose="02010600030101010101" pitchFamily="2" charset="-122"/>
                  </a:rPr>
                  <a:t>完善数据治理体系</a:t>
                </a:r>
                <a:endParaRPr lang="zh-CN" altLang="de-DE" sz="1600" dirty="0">
                  <a:latin typeface="Arial" panose="020B0604020202020204" pitchFamily="34" charset="0"/>
                  <a:ea typeface="宋体" panose="02010600030101010101" pitchFamily="2" charset="-122"/>
                </a:endParaRPr>
              </a:p>
            </p:txBody>
          </p:sp>
          <p:sp>
            <p:nvSpPr>
              <p:cNvPr id="754700" name="AutoShape 12"/>
              <p:cNvSpPr>
                <a:spLocks noChangeArrowheads="1"/>
              </p:cNvSpPr>
              <p:nvPr/>
            </p:nvSpPr>
            <p:spPr bwMode="auto">
              <a:xfrm>
                <a:off x="5805488" y="3043238"/>
                <a:ext cx="1689100" cy="549275"/>
              </a:xfrm>
              <a:prstGeom prst="chevron">
                <a:avLst>
                  <a:gd name="adj" fmla="val 13155"/>
                </a:avLst>
              </a:prstGeom>
              <a:solidFill>
                <a:schemeClr val="accent3">
                  <a:lumMod val="95000"/>
                </a:schemeClr>
              </a:solidFill>
              <a:ln>
                <a:noFill/>
              </a:ln>
              <a:effectLst>
                <a:prstShdw prst="shdw17" dist="17961" dir="2700000">
                  <a:schemeClr val="accent1">
                    <a:gamma/>
                    <a:shade val="60000"/>
                    <a:invGamma/>
                  </a:schemeClr>
                </a:prst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endParaRPr lang="zh-CN" altLang="en-US" sz="2400">
                  <a:ea typeface="宋体" panose="02010600030101010101" pitchFamily="2" charset="-122"/>
                </a:endParaRPr>
              </a:p>
            </p:txBody>
          </p:sp>
          <p:sp>
            <p:nvSpPr>
              <p:cNvPr id="152589" name="Text Box 13"/>
              <p:cNvSpPr txBox="1">
                <a:spLocks noChangeArrowheads="1"/>
              </p:cNvSpPr>
              <p:nvPr/>
            </p:nvSpPr>
            <p:spPr bwMode="auto">
              <a:xfrm>
                <a:off x="5999163" y="3208778"/>
                <a:ext cx="1349375" cy="219785"/>
              </a:xfrm>
              <a:prstGeom prst="rect">
                <a:avLst/>
              </a:prstGeom>
              <a:solidFill>
                <a:schemeClr val="accent3">
                  <a:lumMod val="95000"/>
                </a:schemeClr>
              </a:solidFill>
              <a:ln>
                <a:noFill/>
              </a:ln>
              <a:effectLst/>
            </p:spPr>
            <p:txBody>
              <a:bodyPr lIns="0" tIns="0" rIns="0" bIns="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a:buClrTx/>
                  <a:buFontTx/>
                  <a:buNone/>
                </a:pPr>
                <a:r>
                  <a:rPr kumimoji="1" lang="zh-CN" altLang="en-US" sz="1600" b="1" dirty="0">
                    <a:solidFill>
                      <a:srgbClr val="000000"/>
                    </a:solidFill>
                    <a:ea typeface="宋体" panose="02010600030101010101" pitchFamily="2" charset="-122"/>
                  </a:rPr>
                  <a:t>数字智能</a:t>
                </a:r>
                <a:endParaRPr kumimoji="1" lang="zh-CN" altLang="en-US" sz="1600" b="1" dirty="0">
                  <a:solidFill>
                    <a:srgbClr val="000000"/>
                  </a:solidFill>
                  <a:ea typeface="宋体" panose="02010600030101010101" pitchFamily="2" charset="-122"/>
                </a:endParaRPr>
              </a:p>
            </p:txBody>
          </p:sp>
          <p:sp>
            <p:nvSpPr>
              <p:cNvPr id="152590" name="Rectangle 14"/>
              <p:cNvSpPr>
                <a:spLocks noChangeArrowheads="1"/>
              </p:cNvSpPr>
              <p:nvPr/>
            </p:nvSpPr>
            <p:spPr bwMode="auto">
              <a:xfrm>
                <a:off x="5894387" y="3709988"/>
                <a:ext cx="1769950" cy="703312"/>
              </a:xfrm>
              <a:prstGeom prst="rect">
                <a:avLst/>
              </a:prstGeom>
              <a:solidFill>
                <a:schemeClr val="bg1"/>
              </a:solidFill>
              <a:ln>
                <a:noFill/>
              </a:ln>
              <a:effectLst/>
            </p:spPr>
            <p:txBody>
              <a:bodyPr wrap="square" lIns="0" tIns="0" rIns="0" bIns="0">
                <a:spAutoFit/>
              </a:bodyPr>
              <a:lstStyle/>
              <a:p>
                <a:pPr marL="190500" lvl="1" indent="-189230" defTabSz="330200">
                  <a:spcBef>
                    <a:spcPts val="0"/>
                  </a:spcBef>
                  <a:spcAft>
                    <a:spcPct val="10000"/>
                  </a:spcAft>
                  <a:buSzPct val="75000"/>
                  <a:buFont typeface="Arial" panose="020B0604020202020204" pitchFamily="34" charset="0"/>
                  <a:buChar char="•"/>
                  <a:tabLst>
                    <a:tab pos="8521700" algn="r"/>
                  </a:tabLst>
                </a:pPr>
                <a:r>
                  <a:rPr lang="zh-CN" altLang="en-US" sz="1600" dirty="0">
                    <a:latin typeface="Arial" panose="020B0604020202020204" pitchFamily="34" charset="0"/>
                    <a:ea typeface="宋体" panose="02010600030101010101" pitchFamily="2" charset="-122"/>
                  </a:rPr>
                  <a:t>数据与业务的融合</a:t>
                </a:r>
                <a:endParaRPr lang="en-US" altLang="zh-CN" sz="1600" dirty="0">
                  <a:latin typeface="Arial" panose="020B0604020202020204" pitchFamily="34" charset="0"/>
                  <a:ea typeface="宋体" panose="02010600030101010101" pitchFamily="2" charset="-122"/>
                </a:endParaRPr>
              </a:p>
              <a:p>
                <a:pPr marL="190500" lvl="1" indent="-189230" defTabSz="330200">
                  <a:spcBef>
                    <a:spcPts val="0"/>
                  </a:spcBef>
                  <a:spcAft>
                    <a:spcPct val="10000"/>
                  </a:spcAft>
                  <a:buSzPct val="75000"/>
                  <a:buFont typeface="Arial" panose="020B0604020202020204" pitchFamily="34" charset="0"/>
                  <a:buChar char="•"/>
                  <a:tabLst>
                    <a:tab pos="8521700" algn="r"/>
                  </a:tabLst>
                </a:pPr>
                <a:r>
                  <a:rPr lang="zh-CN" altLang="en-US" sz="1600" dirty="0">
                    <a:latin typeface="Arial" panose="020B0604020202020204" pitchFamily="34" charset="0"/>
                    <a:ea typeface="宋体" panose="02010600030101010101" pitchFamily="2" charset="-122"/>
                  </a:rPr>
                  <a:t>数据与</a:t>
                </a:r>
                <a:r>
                  <a:rPr lang="en-US" altLang="zh-CN" sz="1600" dirty="0">
                    <a:latin typeface="Arial" panose="020B0604020202020204" pitchFamily="34" charset="0"/>
                    <a:ea typeface="宋体" panose="02010600030101010101" pitchFamily="2" charset="-122"/>
                  </a:rPr>
                  <a:t>AI</a:t>
                </a:r>
                <a:r>
                  <a:rPr lang="zh-CN" altLang="en-US" sz="1600" dirty="0">
                    <a:latin typeface="Arial" panose="020B0604020202020204" pitchFamily="34" charset="0"/>
                    <a:ea typeface="宋体" panose="02010600030101010101" pitchFamily="2" charset="-122"/>
                  </a:rPr>
                  <a:t>、管理结合</a:t>
                </a:r>
                <a:endParaRPr lang="en-US" altLang="zh-CN" sz="1600" dirty="0">
                  <a:latin typeface="Arial" panose="020B0604020202020204" pitchFamily="34" charset="0"/>
                  <a:ea typeface="宋体" panose="02010600030101010101" pitchFamily="2" charset="-122"/>
                </a:endParaRPr>
              </a:p>
              <a:p>
                <a:pPr marL="190500" lvl="1" indent="-189230" defTabSz="330200">
                  <a:spcBef>
                    <a:spcPts val="0"/>
                  </a:spcBef>
                  <a:spcAft>
                    <a:spcPct val="10000"/>
                  </a:spcAft>
                  <a:buSzPct val="75000"/>
                  <a:buFont typeface="Arial" panose="020B0604020202020204" pitchFamily="34" charset="0"/>
                  <a:buChar char="•"/>
                  <a:tabLst>
                    <a:tab pos="8521700" algn="r"/>
                  </a:tabLst>
                </a:pPr>
                <a:r>
                  <a:rPr lang="zh-CN" altLang="en-US" sz="1600" dirty="0">
                    <a:latin typeface="Arial" panose="020B0604020202020204" pitchFamily="34" charset="0"/>
                    <a:ea typeface="宋体" panose="02010600030101010101" pitchFamily="2" charset="-122"/>
                  </a:rPr>
                  <a:t>智能数据化阶段</a:t>
                </a:r>
                <a:endParaRPr lang="zh-CN" altLang="de-DE" sz="1600" dirty="0">
                  <a:latin typeface="Arial" panose="020B0604020202020204" pitchFamily="34" charset="0"/>
                  <a:ea typeface="宋体" panose="02010600030101010101" pitchFamily="2" charset="-122"/>
                </a:endParaRPr>
              </a:p>
            </p:txBody>
          </p:sp>
          <p:sp>
            <p:nvSpPr>
              <p:cNvPr id="152594" name="Rectangle 18"/>
              <p:cNvSpPr>
                <a:spLocks noChangeArrowheads="1"/>
              </p:cNvSpPr>
              <p:nvPr/>
            </p:nvSpPr>
            <p:spPr bwMode="auto">
              <a:xfrm>
                <a:off x="817563" y="4746625"/>
                <a:ext cx="225425" cy="225425"/>
              </a:xfrm>
              <a:prstGeom prst="rect">
                <a:avLst/>
              </a:prstGeom>
              <a:solidFill>
                <a:schemeClr val="accent3">
                  <a:lumMod val="95000"/>
                </a:schemeClr>
              </a:solidFill>
              <a:ln>
                <a:noFill/>
              </a:ln>
              <a:effectLst/>
            </p:spPr>
            <p:txBody>
              <a:bodyPr lIns="0" tIns="0" rIns="0" bIns="0" anchor="ctr" anchorCtr="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a:buClrTx/>
                  <a:buFontTx/>
                  <a:buNone/>
                </a:pPr>
                <a:r>
                  <a:rPr kumimoji="1" lang="zh-CN" altLang="en-US" sz="1600" b="1">
                    <a:solidFill>
                      <a:schemeClr val="accent1"/>
                    </a:solidFill>
                    <a:ea typeface="宋体" panose="02010600030101010101" pitchFamily="2" charset="-122"/>
                  </a:rPr>
                  <a:t>1</a:t>
                </a:r>
                <a:endParaRPr kumimoji="1" lang="zh-CN" altLang="en-US" sz="1600" b="1">
                  <a:solidFill>
                    <a:schemeClr val="accent1"/>
                  </a:solidFill>
                  <a:ea typeface="宋体" panose="02010600030101010101" pitchFamily="2" charset="-122"/>
                </a:endParaRPr>
              </a:p>
            </p:txBody>
          </p:sp>
          <p:sp>
            <p:nvSpPr>
              <p:cNvPr id="152595" name="Rectangle 19"/>
              <p:cNvSpPr>
                <a:spLocks noChangeArrowheads="1"/>
              </p:cNvSpPr>
              <p:nvPr/>
            </p:nvSpPr>
            <p:spPr bwMode="auto">
              <a:xfrm>
                <a:off x="2551113" y="4132263"/>
                <a:ext cx="225425" cy="225425"/>
              </a:xfrm>
              <a:prstGeom prst="rect">
                <a:avLst/>
              </a:prstGeom>
              <a:solidFill>
                <a:schemeClr val="accent3">
                  <a:lumMod val="95000"/>
                </a:schemeClr>
              </a:solidFill>
              <a:ln>
                <a:noFill/>
              </a:ln>
              <a:effectLst/>
            </p:spPr>
            <p:txBody>
              <a:bodyPr lIns="0" tIns="0" rIns="0" bIns="0" anchor="ctr" anchorCtr="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a:buClrTx/>
                  <a:buFontTx/>
                  <a:buNone/>
                </a:pPr>
                <a:r>
                  <a:rPr kumimoji="1" lang="zh-CN" altLang="en-US" sz="1600" b="1">
                    <a:solidFill>
                      <a:schemeClr val="accent1"/>
                    </a:solidFill>
                    <a:ea typeface="宋体" panose="02010600030101010101" pitchFamily="2" charset="-122"/>
                  </a:rPr>
                  <a:t>2</a:t>
                </a:r>
                <a:endParaRPr kumimoji="1" lang="zh-CN" altLang="en-US" sz="2400" b="1">
                  <a:solidFill>
                    <a:schemeClr val="accent1"/>
                  </a:solidFill>
                  <a:ea typeface="宋体" panose="02010600030101010101" pitchFamily="2" charset="-122"/>
                </a:endParaRPr>
              </a:p>
            </p:txBody>
          </p:sp>
          <p:sp>
            <p:nvSpPr>
              <p:cNvPr id="152596" name="Rectangle 20"/>
              <p:cNvSpPr>
                <a:spLocks noChangeArrowheads="1"/>
              </p:cNvSpPr>
              <p:nvPr/>
            </p:nvSpPr>
            <p:spPr bwMode="auto">
              <a:xfrm>
                <a:off x="4233863" y="3532188"/>
                <a:ext cx="225425" cy="225425"/>
              </a:xfrm>
              <a:prstGeom prst="rect">
                <a:avLst/>
              </a:prstGeom>
              <a:solidFill>
                <a:schemeClr val="accent3">
                  <a:lumMod val="95000"/>
                </a:schemeClr>
              </a:solidFill>
              <a:ln>
                <a:noFill/>
              </a:ln>
              <a:effectLst/>
            </p:spPr>
            <p:txBody>
              <a:bodyPr lIns="0" tIns="0" rIns="0" bIns="0" anchor="ctr" anchorCtr="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a:buClrTx/>
                  <a:buFontTx/>
                  <a:buNone/>
                </a:pPr>
                <a:r>
                  <a:rPr kumimoji="1" lang="zh-CN" altLang="en-US" sz="1600" b="1">
                    <a:solidFill>
                      <a:schemeClr val="accent1"/>
                    </a:solidFill>
                    <a:ea typeface="宋体" panose="02010600030101010101" pitchFamily="2" charset="-122"/>
                  </a:rPr>
                  <a:t>3</a:t>
                </a:r>
                <a:endParaRPr kumimoji="1" lang="zh-CN" altLang="en-US" sz="2400" b="1">
                  <a:solidFill>
                    <a:schemeClr val="accent1"/>
                  </a:solidFill>
                  <a:ea typeface="宋体" panose="02010600030101010101" pitchFamily="2" charset="-122"/>
                </a:endParaRPr>
              </a:p>
            </p:txBody>
          </p:sp>
          <p:sp>
            <p:nvSpPr>
              <p:cNvPr id="152597" name="Rectangle 21"/>
              <p:cNvSpPr>
                <a:spLocks noChangeArrowheads="1"/>
              </p:cNvSpPr>
              <p:nvPr/>
            </p:nvSpPr>
            <p:spPr bwMode="auto">
              <a:xfrm>
                <a:off x="5957888" y="2925763"/>
                <a:ext cx="225425" cy="225425"/>
              </a:xfrm>
              <a:prstGeom prst="rect">
                <a:avLst/>
              </a:prstGeom>
              <a:solidFill>
                <a:schemeClr val="accent3">
                  <a:lumMod val="95000"/>
                </a:schemeClr>
              </a:solidFill>
              <a:ln>
                <a:noFill/>
              </a:ln>
              <a:effectLst/>
            </p:spPr>
            <p:txBody>
              <a:bodyPr lIns="0" tIns="0" rIns="0" bIns="0" anchor="ctr" anchorCtr="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a:buClrTx/>
                  <a:buFontTx/>
                  <a:buNone/>
                </a:pPr>
                <a:r>
                  <a:rPr kumimoji="1" lang="zh-CN" altLang="en-US" sz="1600" b="1">
                    <a:solidFill>
                      <a:schemeClr val="accent1"/>
                    </a:solidFill>
                    <a:ea typeface="宋体" panose="02010600030101010101" pitchFamily="2" charset="-122"/>
                  </a:rPr>
                  <a:t>4</a:t>
                </a:r>
                <a:endParaRPr kumimoji="1" lang="zh-CN" altLang="en-US" sz="1600" b="1">
                  <a:solidFill>
                    <a:schemeClr val="accent1"/>
                  </a:solidFill>
                  <a:ea typeface="宋体" panose="02010600030101010101" pitchFamily="2" charset="-122"/>
                </a:endParaRPr>
              </a:p>
            </p:txBody>
          </p:sp>
        </p:grpSp>
        <p:sp>
          <p:nvSpPr>
            <p:cNvPr id="6" name="TextBox 5"/>
            <p:cNvSpPr txBox="1"/>
            <p:nvPr/>
          </p:nvSpPr>
          <p:spPr>
            <a:xfrm>
              <a:off x="1206996" y="4439187"/>
              <a:ext cx="519961" cy="302204"/>
            </a:xfrm>
            <a:prstGeom prst="rect">
              <a:avLst/>
            </a:prstGeom>
            <a:noFill/>
          </p:spPr>
          <p:txBody>
            <a:bodyPr wrap="none" rtlCol="0">
              <a:spAutoFit/>
            </a:bodyPr>
            <a:lstStyle/>
            <a:p>
              <a:pPr>
                <a:buNone/>
              </a:pPr>
              <a:r>
                <a:rPr lang="zh-CN" altLang="en-US" sz="1600" b="1" dirty="0"/>
                <a:t>“点”</a:t>
              </a:r>
              <a:endParaRPr lang="zh-CN" altLang="en-US" sz="1600" b="1" dirty="0"/>
            </a:p>
          </p:txBody>
        </p:sp>
        <p:sp>
          <p:nvSpPr>
            <p:cNvPr id="24" name="TextBox 23"/>
            <p:cNvSpPr txBox="1"/>
            <p:nvPr/>
          </p:nvSpPr>
          <p:spPr>
            <a:xfrm>
              <a:off x="2952219" y="3762932"/>
              <a:ext cx="519961" cy="302204"/>
            </a:xfrm>
            <a:prstGeom prst="rect">
              <a:avLst/>
            </a:prstGeom>
            <a:noFill/>
          </p:spPr>
          <p:txBody>
            <a:bodyPr wrap="none" rtlCol="0">
              <a:spAutoFit/>
            </a:bodyPr>
            <a:lstStyle/>
            <a:p>
              <a:pPr>
                <a:buNone/>
              </a:pPr>
              <a:r>
                <a:rPr lang="zh-CN" altLang="en-US" sz="1600" b="1" dirty="0"/>
                <a:t>“线”</a:t>
              </a:r>
              <a:endParaRPr lang="zh-CN" altLang="en-US" sz="1600" b="1" dirty="0"/>
            </a:p>
          </p:txBody>
        </p:sp>
        <p:sp>
          <p:nvSpPr>
            <p:cNvPr id="25" name="TextBox 24"/>
            <p:cNvSpPr txBox="1"/>
            <p:nvPr/>
          </p:nvSpPr>
          <p:spPr>
            <a:xfrm>
              <a:off x="4659575" y="3162857"/>
              <a:ext cx="519961" cy="302204"/>
            </a:xfrm>
            <a:prstGeom prst="rect">
              <a:avLst/>
            </a:prstGeom>
            <a:noFill/>
          </p:spPr>
          <p:txBody>
            <a:bodyPr wrap="none" rtlCol="0">
              <a:spAutoFit/>
            </a:bodyPr>
            <a:lstStyle/>
            <a:p>
              <a:pPr>
                <a:buNone/>
              </a:pPr>
              <a:r>
                <a:rPr lang="zh-CN" altLang="en-US" sz="1600" b="1" dirty="0"/>
                <a:t>“面”</a:t>
              </a:r>
              <a:endParaRPr lang="zh-CN" altLang="en-US" sz="1600" b="1" dirty="0"/>
            </a:p>
          </p:txBody>
        </p:sp>
        <p:sp>
          <p:nvSpPr>
            <p:cNvPr id="26" name="TextBox 25"/>
            <p:cNvSpPr txBox="1"/>
            <p:nvPr/>
          </p:nvSpPr>
          <p:spPr>
            <a:xfrm>
              <a:off x="6175548" y="2550764"/>
              <a:ext cx="878554" cy="302204"/>
            </a:xfrm>
            <a:prstGeom prst="rect">
              <a:avLst/>
            </a:prstGeom>
            <a:noFill/>
          </p:spPr>
          <p:txBody>
            <a:bodyPr wrap="none" rtlCol="0">
              <a:spAutoFit/>
            </a:bodyPr>
            <a:lstStyle/>
            <a:p>
              <a:pPr>
                <a:buNone/>
              </a:pPr>
              <a:r>
                <a:rPr lang="zh-CN" altLang="en-US" sz="1600" b="1" dirty="0"/>
                <a:t>“智能化”</a:t>
              </a:r>
              <a:endParaRPr lang="zh-CN" altLang="en-US" sz="1600" b="1" dirty="0"/>
            </a:p>
          </p:txBody>
        </p:sp>
      </p:grpSp>
      <p:cxnSp>
        <p:nvCxnSpPr>
          <p:cNvPr id="5" name="Straight Arrow Connector 4"/>
          <p:cNvCxnSpPr/>
          <p:nvPr/>
        </p:nvCxnSpPr>
        <p:spPr bwMode="auto">
          <a:xfrm flipV="1">
            <a:off x="1417464" y="2269188"/>
            <a:ext cx="4912862" cy="2032615"/>
          </a:xfrm>
          <a:prstGeom prst="straightConnector1">
            <a:avLst/>
          </a:prstGeom>
          <a:solidFill>
            <a:schemeClr val="bg1"/>
          </a:solidFill>
          <a:ln w="38100" cap="flat" cmpd="sng" algn="ctr">
            <a:solidFill>
              <a:schemeClr val="tx1"/>
            </a:solidFill>
            <a:prstDash val="solid"/>
            <a:round/>
            <a:headEnd type="none" w="med" len="med"/>
            <a:tailEnd type="triangle" w="med" len="med"/>
          </a:ln>
          <a:effectLst/>
        </p:spPr>
      </p:cxnSp>
      <p:sp>
        <p:nvSpPr>
          <p:cNvPr id="10" name="TextBox 9"/>
          <p:cNvSpPr txBox="1"/>
          <p:nvPr/>
        </p:nvSpPr>
        <p:spPr>
          <a:xfrm rot="20251914">
            <a:off x="1918360" y="2905923"/>
            <a:ext cx="3647152" cy="369332"/>
          </a:xfrm>
          <a:prstGeom prst="rect">
            <a:avLst/>
          </a:prstGeom>
          <a:noFill/>
        </p:spPr>
        <p:txBody>
          <a:bodyPr wrap="none" rtlCol="0">
            <a:spAutoFit/>
          </a:bodyPr>
          <a:lstStyle/>
          <a:p>
            <a:pPr>
              <a:buNone/>
            </a:pPr>
            <a:r>
              <a:rPr lang="zh-CN" altLang="en-US" dirty="0"/>
              <a:t>数字化成熟度越高，业务价值越大</a:t>
            </a:r>
            <a:endParaRPr lang="zh-CN" altLang="en-US" dirty="0"/>
          </a:p>
        </p:txBody>
      </p:sp>
      <p:sp>
        <p:nvSpPr>
          <p:cNvPr id="9" name="TextBox 8"/>
          <p:cNvSpPr txBox="1"/>
          <p:nvPr/>
        </p:nvSpPr>
        <p:spPr>
          <a:xfrm>
            <a:off x="805912" y="1299696"/>
            <a:ext cx="7745899" cy="707886"/>
          </a:xfrm>
          <a:prstGeom prst="rect">
            <a:avLst/>
          </a:prstGeom>
          <a:noFill/>
        </p:spPr>
        <p:txBody>
          <a:bodyPr wrap="square">
            <a:spAutoFit/>
          </a:bodyPr>
          <a:lstStyle/>
          <a:p>
            <a:r>
              <a:rPr lang="en-US" sz="2000" dirty="0"/>
              <a:t>“目前大约 70% 的数字化转型已涉及 AI，但只有 30% 左右真正实现了 AI 对业务模式的重构。”</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3794" name="Rectangle 2"/>
          <p:cNvSpPr>
            <a:spLocks noGrp="1" noChangeArrowheads="1"/>
          </p:cNvSpPr>
          <p:nvPr>
            <p:ph type="title"/>
          </p:nvPr>
        </p:nvSpPr>
        <p:spPr>
          <a:xfrm>
            <a:off x="247650" y="404663"/>
            <a:ext cx="8808218" cy="616099"/>
          </a:xfrm>
        </p:spPr>
        <p:txBody>
          <a:bodyPr/>
          <a:lstStyle/>
          <a:p>
            <a:r>
              <a:rPr lang="zh-CN" altLang="en-US" sz="2400" dirty="0">
                <a:ea typeface="微软雅黑" panose="020B0503020204020204" pitchFamily="34" charset="-122"/>
              </a:rPr>
              <a:t>“人人都是架构师”：有设计就需要架构</a:t>
            </a:r>
            <a:br>
              <a:rPr lang="en-US" altLang="zh-CN" sz="2400" dirty="0">
                <a:ea typeface="微软雅黑" panose="020B0503020204020204" pitchFamily="34" charset="-122"/>
              </a:rPr>
            </a:br>
            <a:r>
              <a:rPr lang="en-US" altLang="zh-CN" sz="2000" b="0" dirty="0">
                <a:ea typeface="微软雅黑" panose="020B0503020204020204" pitchFamily="34" charset="-122"/>
              </a:rPr>
              <a:t>- </a:t>
            </a:r>
            <a:r>
              <a:rPr lang="zh-CN" altLang="en-US" sz="2000" b="0" dirty="0">
                <a:ea typeface="微软雅黑" panose="020B0503020204020204" pitchFamily="34" charset="-122"/>
              </a:rPr>
              <a:t>各个维度的对齐，才能实现卓越绩效战略</a:t>
            </a:r>
            <a:endParaRPr lang="zh-CN" altLang="en-US" sz="2400" b="0" dirty="0">
              <a:ea typeface="微软雅黑" panose="020B0503020204020204" pitchFamily="34" charset="-122"/>
            </a:endParaRPr>
          </a:p>
        </p:txBody>
      </p:sp>
      <p:sp>
        <p:nvSpPr>
          <p:cNvPr id="1313796" name="Rectangle 4"/>
          <p:cNvSpPr>
            <a:spLocks noChangeArrowheads="1"/>
          </p:cNvSpPr>
          <p:nvPr/>
        </p:nvSpPr>
        <p:spPr bwMode="auto">
          <a:xfrm>
            <a:off x="734206" y="1412681"/>
            <a:ext cx="8321662" cy="388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algn="ctr">
              <a:lnSpc>
                <a:spcPct val="200000"/>
              </a:lnSpc>
            </a:pPr>
            <a:r>
              <a:rPr lang="zh-CN" altLang="en-US" sz="1800" b="1" dirty="0">
                <a:ea typeface="微软雅黑" panose="020B0503020204020204" pitchFamily="34" charset="-122"/>
              </a:rPr>
              <a:t>战略规划，运营，财务，人力，</a:t>
            </a:r>
            <a:r>
              <a:rPr lang="en-US" altLang="zh-CN" sz="1800" b="1" dirty="0">
                <a:ea typeface="微软雅黑" panose="020B0503020204020204" pitchFamily="34" charset="-122"/>
              </a:rPr>
              <a:t>IT</a:t>
            </a:r>
            <a:r>
              <a:rPr lang="zh-CN" altLang="en-US" sz="1800" b="1" dirty="0"/>
              <a:t> 管理者</a:t>
            </a:r>
            <a:r>
              <a:rPr lang="zh-CN" altLang="en-US" sz="1800" b="1" dirty="0">
                <a:ea typeface="微软雅黑" panose="020B0503020204020204" pitchFamily="34" charset="-122"/>
              </a:rPr>
              <a:t>都需要</a:t>
            </a:r>
            <a:r>
              <a:rPr lang="zh-CN" altLang="en-US" sz="1800" b="1" i="1" u="sng" dirty="0">
                <a:ea typeface="微软雅黑" panose="020B0503020204020204" pitchFamily="34" charset="-122"/>
              </a:rPr>
              <a:t>架构思维</a:t>
            </a:r>
            <a:r>
              <a:rPr lang="zh-CN" altLang="en-US" sz="1800" b="1" dirty="0">
                <a:ea typeface="微软雅黑" panose="020B0503020204020204" pitchFamily="34" charset="-122"/>
              </a:rPr>
              <a:t>，了解企业架构原理</a:t>
            </a:r>
            <a:endParaRPr lang="en-US" altLang="zh-CN" b="1" dirty="0">
              <a:latin typeface="微软雅黑" panose="020B0503020204020204" pitchFamily="34" charset="-122"/>
            </a:endParaRPr>
          </a:p>
          <a:p>
            <a:pPr marL="171450" indent="-171450">
              <a:lnSpc>
                <a:spcPct val="200000"/>
              </a:lnSpc>
              <a:buFont typeface="Arial" panose="020B0604020202020204" pitchFamily="34" charset="0"/>
              <a:buChar char="•"/>
            </a:pPr>
            <a:r>
              <a:rPr lang="zh-CN" altLang="en-US" dirty="0">
                <a:latin typeface="微软雅黑" panose="020B0503020204020204" pitchFamily="34" charset="-122"/>
              </a:rPr>
              <a:t>过程、方法、工具</a:t>
            </a:r>
            <a:r>
              <a:rPr lang="zh-CN" altLang="en-US" dirty="0">
                <a:highlight>
                  <a:srgbClr val="FFFF00"/>
                </a:highlight>
                <a:latin typeface="微软雅黑" panose="020B0503020204020204" pitchFamily="34" charset="-122"/>
              </a:rPr>
              <a:t>对齐</a:t>
            </a:r>
            <a:r>
              <a:rPr lang="zh-CN" altLang="en-US" dirty="0">
                <a:latin typeface="微软雅黑" panose="020B0503020204020204" pitchFamily="34" charset="-122"/>
              </a:rPr>
              <a:t>，统一、一致地设计和改进企业运营</a:t>
            </a:r>
            <a:endParaRPr lang="en-US" altLang="zh-CN" dirty="0">
              <a:latin typeface="微软雅黑" panose="020B0503020204020204" pitchFamily="34" charset="-122"/>
            </a:endParaRPr>
          </a:p>
          <a:p>
            <a:pPr marL="171450" indent="-171450">
              <a:lnSpc>
                <a:spcPct val="200000"/>
              </a:lnSpc>
              <a:buFont typeface="Arial" panose="020B0604020202020204" pitchFamily="34" charset="0"/>
              <a:buChar char="•"/>
            </a:pPr>
            <a:r>
              <a:rPr lang="zh-CN" altLang="en-US" dirty="0">
                <a:latin typeface="微软雅黑" panose="020B0503020204020204" pitchFamily="34" charset="-122"/>
              </a:rPr>
              <a:t>在业务和</a:t>
            </a:r>
            <a:r>
              <a:rPr lang="en-US" altLang="zh-CN" dirty="0">
                <a:latin typeface="微软雅黑" panose="020B0503020204020204" pitchFamily="34" charset="-122"/>
              </a:rPr>
              <a:t>IT</a:t>
            </a:r>
            <a:r>
              <a:rPr lang="zh-CN" altLang="en-US" dirty="0">
                <a:latin typeface="微软雅黑" panose="020B0503020204020204" pitchFamily="34" charset="-122"/>
              </a:rPr>
              <a:t>数字化双轮驱动之间</a:t>
            </a:r>
            <a:r>
              <a:rPr lang="zh-CN" altLang="en-US" dirty="0">
                <a:highlight>
                  <a:srgbClr val="FFFF00"/>
                </a:highlight>
                <a:latin typeface="微软雅黑" panose="020B0503020204020204" pitchFamily="34" charset="-122"/>
              </a:rPr>
              <a:t>对齐</a:t>
            </a:r>
            <a:endParaRPr lang="en-US" altLang="zh-CN" dirty="0">
              <a:highlight>
                <a:srgbClr val="FFFF00"/>
              </a:highlight>
              <a:latin typeface="微软雅黑" panose="020B0503020204020204" pitchFamily="34" charset="-122"/>
            </a:endParaRPr>
          </a:p>
          <a:p>
            <a:pPr marL="171450" indent="-171450">
              <a:lnSpc>
                <a:spcPct val="200000"/>
              </a:lnSpc>
              <a:buFont typeface="Arial" panose="020B0604020202020204" pitchFamily="34" charset="0"/>
              <a:buChar char="•"/>
            </a:pPr>
            <a:r>
              <a:rPr lang="zh-CN" altLang="en-US" dirty="0">
                <a:latin typeface="微软雅黑" panose="020B0503020204020204" pitchFamily="34" charset="-122"/>
              </a:rPr>
              <a:t>可靠的方法和转型设计，以便在转型不同阶段的</a:t>
            </a:r>
            <a:r>
              <a:rPr lang="zh-CN" altLang="en-US" dirty="0">
                <a:highlight>
                  <a:srgbClr val="FFFF00"/>
                </a:highlight>
                <a:latin typeface="微软雅黑" panose="020B0503020204020204" pitchFamily="34" charset="-122"/>
              </a:rPr>
              <a:t>对齐</a:t>
            </a:r>
            <a:endParaRPr lang="en-US" altLang="zh-CN" dirty="0">
              <a:highlight>
                <a:srgbClr val="FFFF00"/>
              </a:highlight>
              <a:latin typeface="微软雅黑" panose="020B0503020204020204" pitchFamily="34" charset="-122"/>
            </a:endParaRPr>
          </a:p>
          <a:p>
            <a:pPr marL="171450" indent="-171450">
              <a:lnSpc>
                <a:spcPct val="200000"/>
              </a:lnSpc>
              <a:buFont typeface="Arial" panose="020B0604020202020204" pitchFamily="34" charset="0"/>
              <a:buChar char="•"/>
            </a:pPr>
            <a:r>
              <a:rPr lang="zh-CN" altLang="en-US" dirty="0">
                <a:latin typeface="微软雅黑" panose="020B0503020204020204" pitchFamily="34" charset="-122"/>
              </a:rPr>
              <a:t>自上而下指导、自下而上的优化，企业管理者和员工价值</a:t>
            </a:r>
            <a:r>
              <a:rPr lang="zh-CN" altLang="en-US" dirty="0">
                <a:highlight>
                  <a:srgbClr val="FFFF00"/>
                </a:highlight>
                <a:latin typeface="微软雅黑" panose="020B0503020204020204" pitchFamily="34" charset="-122"/>
              </a:rPr>
              <a:t>对齐</a:t>
            </a:r>
            <a:endParaRPr lang="en-US" altLang="zh-CN" dirty="0">
              <a:highlight>
                <a:srgbClr val="FFFF00"/>
              </a:highlight>
              <a:latin typeface="微软雅黑" panose="020B0503020204020204" pitchFamily="34" charset="-122"/>
            </a:endParaRPr>
          </a:p>
          <a:p>
            <a:pPr marL="171450" indent="-171450">
              <a:lnSpc>
                <a:spcPct val="200000"/>
              </a:lnSpc>
              <a:buFont typeface="Arial" panose="020B0604020202020204" pitchFamily="34" charset="0"/>
              <a:buChar char="•"/>
            </a:pPr>
            <a:r>
              <a:rPr lang="zh-CN" altLang="en-US" dirty="0">
                <a:latin typeface="微软雅黑" panose="020B0503020204020204" pitchFamily="34" charset="-122"/>
              </a:rPr>
              <a:t>企业架构工具共享信息，信息</a:t>
            </a:r>
            <a:r>
              <a:rPr lang="zh-CN" altLang="en-US" dirty="0">
                <a:highlight>
                  <a:srgbClr val="FFFF00"/>
                </a:highlight>
                <a:latin typeface="微软雅黑" panose="020B0503020204020204" pitchFamily="34" charset="-122"/>
              </a:rPr>
              <a:t>对齐</a:t>
            </a:r>
            <a:endParaRPr lang="en-US" altLang="zh-CN" dirty="0">
              <a:highlight>
                <a:srgbClr val="FFFF00"/>
              </a:highlight>
              <a:latin typeface="微软雅黑" panose="020B0503020204020204" pitchFamily="34" charset="-122"/>
            </a:endParaRPr>
          </a:p>
          <a:p>
            <a:pPr marL="171450" indent="-171450">
              <a:lnSpc>
                <a:spcPct val="200000"/>
              </a:lnSpc>
              <a:buFont typeface="Arial" panose="020B0604020202020204" pitchFamily="34" charset="0"/>
              <a:buChar char="•"/>
            </a:pPr>
            <a:endParaRPr lang="en-US" altLang="zh-CN" dirty="0">
              <a:latin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1098699" y="2276872"/>
            <a:ext cx="7705426" cy="2808783"/>
          </a:xfrm>
          <a:prstGeom prst="rect">
            <a:avLst/>
          </a:prstGeom>
          <a:solidFill>
            <a:srgbClr val="0070C0"/>
          </a:solidFill>
          <a:ln w="9525">
            <a:solidFill>
              <a:schemeClr val="tx1"/>
            </a:solidFill>
            <a:miter lim="800000"/>
          </a:ln>
          <a:effectLst>
            <a:outerShdw dist="107763" dir="18900000" algn="ctr" rotWithShape="0">
              <a:schemeClr val="bg2">
                <a:alpha val="50000"/>
              </a:schemeClr>
            </a:outerShdw>
          </a:effec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SzTx/>
              <a:buFont typeface="Wingdings" panose="05000000000000000000" pitchFamily="2" charset="2"/>
              <a:buChar char="§"/>
            </a:pPr>
            <a:endParaRPr lang="zh-CN" altLang="zh-CN" sz="1800" b="0" dirty="0">
              <a:solidFill>
                <a:schemeClr val="bg1"/>
              </a:solidFill>
              <a:latin typeface="微软雅黑" panose="020B0503020204020204" pitchFamily="34" charset="-122"/>
              <a:ea typeface="宋体" panose="02010600030101010101" pitchFamily="2" charset="-122"/>
            </a:endParaRPr>
          </a:p>
        </p:txBody>
      </p:sp>
      <p:sp>
        <p:nvSpPr>
          <p:cNvPr id="5124" name="Rectangle 4"/>
          <p:cNvSpPr>
            <a:spLocks noGrp="1" noChangeArrowheads="1"/>
          </p:cNvSpPr>
          <p:nvPr>
            <p:ph type="body" idx="1"/>
          </p:nvPr>
        </p:nvSpPr>
        <p:spPr>
          <a:xfrm>
            <a:off x="1991641" y="2563787"/>
            <a:ext cx="5849541" cy="2234952"/>
          </a:xfrm>
        </p:spPr>
        <p:txBody>
          <a:bodyPr/>
          <a:lstStyle/>
          <a:p>
            <a:pPr marL="609600" indent="-609600" algn="ctr">
              <a:buFontTx/>
              <a:buNone/>
            </a:pPr>
            <a:r>
              <a:rPr lang="en-US" altLang="zh-CN" sz="4000" dirty="0">
                <a:solidFill>
                  <a:schemeClr val="bg1"/>
                </a:solidFill>
                <a:ea typeface="宋体" panose="02010600030101010101" pitchFamily="2" charset="-122"/>
              </a:rPr>
              <a:t>2. </a:t>
            </a:r>
            <a:r>
              <a:rPr lang="zh-CN" altLang="en-US" sz="4000" dirty="0">
                <a:solidFill>
                  <a:schemeClr val="bg1"/>
                </a:solidFill>
                <a:ea typeface="宋体" panose="02010600030101010101" pitchFamily="2" charset="-122"/>
              </a:rPr>
              <a:t>企业架构概要介绍</a:t>
            </a:r>
            <a:endParaRPr lang="en-US" altLang="zh-CN" sz="4000" dirty="0">
              <a:solidFill>
                <a:schemeClr val="bg1"/>
              </a:solidFill>
              <a:ea typeface="宋体" panose="02010600030101010101" pitchFamily="2" charset="-122"/>
            </a:endParaRPr>
          </a:p>
          <a:p>
            <a:pPr marL="609600" indent="-609600" algn="ctr">
              <a:buFontTx/>
              <a:buNone/>
            </a:pPr>
            <a:r>
              <a:rPr lang="en-US" altLang="zh-CN" sz="3200" dirty="0">
                <a:solidFill>
                  <a:schemeClr val="bg1"/>
                </a:solidFill>
                <a:ea typeface="宋体" panose="02010600030101010101" pitchFamily="2" charset="-122"/>
              </a:rPr>
              <a:t>EA Introduction</a:t>
            </a:r>
            <a:endParaRPr lang="zh-CN" altLang="en-US" sz="3200" dirty="0">
              <a:solidFill>
                <a:schemeClr val="bg1"/>
              </a:solidFill>
              <a:ea typeface="宋体" panose="02010600030101010101" pitchFamily="2" charset="-122"/>
            </a:endParaRPr>
          </a:p>
          <a:p>
            <a:pPr marL="609600" indent="-609600" algn="ctr">
              <a:buFontTx/>
              <a:buNone/>
            </a:pPr>
            <a:endParaRPr lang="en-US" altLang="zh-CN" sz="4000" dirty="0">
              <a:ea typeface="宋体" panose="02010600030101010101" pitchFamily="2" charset="-122"/>
            </a:endParaRPr>
          </a:p>
        </p:txBody>
      </p:sp>
      <p:sp>
        <p:nvSpPr>
          <p:cNvPr id="2" name="Title 1"/>
          <p:cNvSpPr>
            <a:spLocks noGrp="1"/>
          </p:cNvSpPr>
          <p:nvPr>
            <p:ph type="title"/>
          </p:nvPr>
        </p:nvSpPr>
        <p:spPr/>
        <p:txBody>
          <a:bodyPr/>
          <a:lstStyle/>
          <a:p>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“架构”是一种抽象方法</a:t>
            </a:r>
            <a:br>
              <a:rPr lang="en-US" altLang="zh-CN" dirty="0"/>
            </a:br>
            <a:r>
              <a:rPr lang="zh-CN" altLang="en-US" dirty="0"/>
              <a:t>有不同的视角和维度</a:t>
            </a:r>
            <a:endParaRPr lang="en-GB" dirty="0"/>
          </a:p>
        </p:txBody>
      </p:sp>
      <p:pic>
        <p:nvPicPr>
          <p:cNvPr id="3" name="Picture 2"/>
          <p:cNvPicPr>
            <a:picLocks noChangeAspect="1"/>
          </p:cNvPicPr>
          <p:nvPr/>
        </p:nvPicPr>
        <p:blipFill>
          <a:blip r:embed="rId1"/>
          <a:stretch>
            <a:fillRect/>
          </a:stretch>
        </p:blipFill>
        <p:spPr>
          <a:xfrm>
            <a:off x="-89148" y="1196752"/>
            <a:ext cx="4416971" cy="3140696"/>
          </a:xfrm>
          <a:prstGeom prst="rect">
            <a:avLst/>
          </a:prstGeom>
        </p:spPr>
      </p:pic>
      <p:sp>
        <p:nvSpPr>
          <p:cNvPr id="4" name="TextBox 3"/>
          <p:cNvSpPr txBox="1"/>
          <p:nvPr/>
        </p:nvSpPr>
        <p:spPr>
          <a:xfrm>
            <a:off x="4943288" y="1643715"/>
            <a:ext cx="2909771" cy="2246769"/>
          </a:xfrm>
          <a:prstGeom prst="rect">
            <a:avLst/>
          </a:prstGeom>
          <a:noFill/>
        </p:spPr>
        <p:txBody>
          <a:bodyPr wrap="none" rtlCol="0">
            <a:spAutoFit/>
          </a:bodyPr>
          <a:lstStyle/>
          <a:p>
            <a:pPr marL="342900" indent="-342900">
              <a:buFont typeface="Arial" panose="020B0604020202020204" pitchFamily="34" charset="0"/>
              <a:buChar char="•"/>
            </a:pPr>
            <a:r>
              <a:rPr lang="zh-CN" altLang="en-US" sz="2000" dirty="0"/>
              <a:t>结构图（原始</a:t>
            </a:r>
            <a:r>
              <a:rPr lang="en-US" altLang="zh-CN" sz="2000" dirty="0"/>
              <a:t>/</a:t>
            </a:r>
            <a:r>
              <a:rPr lang="zh-CN" altLang="en-US" sz="2000" dirty="0"/>
              <a:t>改造）</a:t>
            </a:r>
            <a:endParaRPr lang="en-GB" altLang="zh-CN" sz="2000" dirty="0"/>
          </a:p>
          <a:p>
            <a:pPr marL="342900" indent="-342900">
              <a:buFont typeface="Arial" panose="020B0604020202020204" pitchFamily="34" charset="0"/>
              <a:buChar char="•"/>
            </a:pPr>
            <a:r>
              <a:rPr lang="zh-CN" altLang="en-US" sz="2000" dirty="0"/>
              <a:t>电路图</a:t>
            </a:r>
            <a:endParaRPr lang="en-US" altLang="zh-CN" sz="2000" dirty="0"/>
          </a:p>
          <a:p>
            <a:pPr marL="342900" indent="-342900">
              <a:buFont typeface="Arial" panose="020B0604020202020204" pitchFamily="34" charset="0"/>
              <a:buChar char="•"/>
            </a:pPr>
            <a:r>
              <a:rPr lang="zh-CN" altLang="en-US" sz="2000" dirty="0"/>
              <a:t>水管图</a:t>
            </a:r>
            <a:endParaRPr lang="en-US" altLang="zh-CN" sz="2000" dirty="0"/>
          </a:p>
          <a:p>
            <a:pPr marL="342900" indent="-342900">
              <a:buFont typeface="Arial" panose="020B0604020202020204" pitchFamily="34" charset="0"/>
              <a:buChar char="•"/>
            </a:pPr>
            <a:r>
              <a:rPr lang="zh-CN" altLang="en-US" sz="2000" dirty="0"/>
              <a:t>平面布置图</a:t>
            </a:r>
            <a:endParaRPr lang="en-US" altLang="zh-CN" sz="2000" dirty="0"/>
          </a:p>
          <a:p>
            <a:pPr marL="342900" indent="-342900">
              <a:buFont typeface="Arial" panose="020B0604020202020204" pitchFamily="34" charset="0"/>
              <a:buChar char="•"/>
            </a:pPr>
            <a:r>
              <a:rPr lang="zh-CN" altLang="en-US" sz="2000" dirty="0"/>
              <a:t>吊顶图</a:t>
            </a:r>
            <a:endParaRPr lang="en-US" altLang="zh-CN" sz="2000" dirty="0"/>
          </a:p>
          <a:p>
            <a:pPr marL="342900" indent="-342900">
              <a:buFont typeface="Arial" panose="020B0604020202020204" pitchFamily="34" charset="0"/>
              <a:buChar char="•"/>
            </a:pPr>
            <a:endParaRPr lang="en-US" altLang="zh-CN" sz="2000" dirty="0"/>
          </a:p>
          <a:p>
            <a:endParaRPr lang="en-GB" sz="2000"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358987" y="3716682"/>
            <a:ext cx="4270678" cy="2968122"/>
          </a:xfrm>
          <a:prstGeom prst="rect">
            <a:avLst/>
          </a:prstGeom>
          <a:solidFill>
            <a:srgbClr val="FFFFFF"/>
          </a:solid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1"/>
          <p:cNvSpPr>
            <a:spLocks noGrp="1"/>
          </p:cNvSpPr>
          <p:nvPr>
            <p:ph type="sldNum" sz="quarter" idx="10"/>
          </p:nvPr>
        </p:nvSpPr>
        <p:spPr bwMode="auto">
          <a:xfrm>
            <a:off x="6204148" y="6171529"/>
            <a:ext cx="2779712" cy="457200"/>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228600" rIns="457200" bIns="164592" numCol="1" anchor="ctr" anchorCtr="0" compatLnSpc="1"/>
          <a:lstStyle>
            <a:defPPr>
              <a:defRPr lang="en-US"/>
            </a:defPPr>
            <a:lvl1pPr algn="r" rtl="0" eaLnBrk="0" fontAlgn="base" hangingPunct="0">
              <a:spcBef>
                <a:spcPct val="0"/>
              </a:spcBef>
              <a:spcAft>
                <a:spcPct val="0"/>
              </a:spcAft>
              <a:defRPr sz="6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5pPr>
            <a:lvl6pPr marL="2286000" algn="l" defTabSz="914400" rtl="0" eaLnBrk="1" latinLnBrk="0" hangingPunct="1">
              <a:defRPr sz="1600" kern="1200">
                <a:solidFill>
                  <a:schemeClr val="tx1"/>
                </a:solidFill>
                <a:latin typeface="Arial" panose="020B0604020202020204" pitchFamily="34" charset="0"/>
                <a:ea typeface="+mn-ea"/>
                <a:cs typeface="+mn-cs"/>
              </a:defRPr>
            </a:lvl6pPr>
            <a:lvl7pPr marL="2743200" algn="l" defTabSz="914400" rtl="0" eaLnBrk="1" latinLnBrk="0" hangingPunct="1">
              <a:defRPr sz="1600" kern="1200">
                <a:solidFill>
                  <a:schemeClr val="tx1"/>
                </a:solidFill>
                <a:latin typeface="Arial" panose="020B0604020202020204" pitchFamily="34" charset="0"/>
                <a:ea typeface="+mn-ea"/>
                <a:cs typeface="+mn-cs"/>
              </a:defRPr>
            </a:lvl7pPr>
            <a:lvl8pPr marL="3200400" algn="l" defTabSz="914400" rtl="0" eaLnBrk="1" latinLnBrk="0" hangingPunct="1">
              <a:defRPr sz="1600" kern="1200">
                <a:solidFill>
                  <a:schemeClr val="tx1"/>
                </a:solidFill>
                <a:latin typeface="Arial" panose="020B0604020202020204" pitchFamily="34" charset="0"/>
                <a:ea typeface="+mn-ea"/>
                <a:cs typeface="+mn-cs"/>
              </a:defRPr>
            </a:lvl8pPr>
            <a:lvl9pPr marL="3657600" algn="l" defTabSz="914400" rtl="0" eaLnBrk="1" latinLnBrk="0" hangingPunct="1">
              <a:defRPr sz="1600" kern="1200">
                <a:solidFill>
                  <a:schemeClr val="tx1"/>
                </a:solidFill>
                <a:latin typeface="Arial" panose="020B0604020202020204" pitchFamily="34" charset="0"/>
                <a:ea typeface="+mn-ea"/>
                <a:cs typeface="+mn-cs"/>
              </a:defRPr>
            </a:lvl9pPr>
          </a:lstStyle>
          <a:p>
            <a:r>
              <a:rPr lang="en-US" altLang="zh-CN" dirty="0">
                <a:latin typeface="微软雅黑" panose="020B0503020204020204" pitchFamily="34" charset="-122"/>
              </a:rPr>
              <a:t> | </a:t>
            </a:r>
            <a:fld id="{E83745F7-3FF2-41D9-BC24-8414A61FFA1E}" type="slidenum">
              <a:rPr lang="en-US" altLang="zh-CN" smtClean="0">
                <a:latin typeface="微软雅黑" panose="020B0503020204020204" pitchFamily="34" charset="-122"/>
              </a:rPr>
            </a:fld>
            <a:endParaRPr lang="en-US" altLang="zh-CN" sz="600" dirty="0">
              <a:latin typeface="微软雅黑" panose="020B0503020204020204" pitchFamily="34" charset="-122"/>
            </a:endParaRPr>
          </a:p>
        </p:txBody>
      </p:sp>
      <p:sp>
        <p:nvSpPr>
          <p:cNvPr id="4100" name="Rectangle 2"/>
          <p:cNvSpPr>
            <a:spLocks noChangeArrowheads="1"/>
          </p:cNvSpPr>
          <p:nvPr/>
        </p:nvSpPr>
        <p:spPr bwMode="auto">
          <a:xfrm>
            <a:off x="379412" y="81138"/>
            <a:ext cx="9144000" cy="574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0" tIns="228600" rIns="457200" bIns="0" anchor="ctr">
            <a:spAutoFit/>
          </a:bodyPr>
          <a:lstStyle>
            <a:lvl1pPr defTabSz="885825">
              <a:defRPr sz="1600">
                <a:solidFill>
                  <a:schemeClr val="tx1"/>
                </a:solidFill>
                <a:latin typeface="Arial" panose="020B0604020202020204" pitchFamily="34" charset="0"/>
              </a:defRPr>
            </a:lvl1pPr>
            <a:lvl2pPr marL="742950" indent="-285750" defTabSz="885825">
              <a:defRPr sz="1600">
                <a:solidFill>
                  <a:schemeClr val="tx1"/>
                </a:solidFill>
                <a:latin typeface="Arial" panose="020B0604020202020204" pitchFamily="34" charset="0"/>
              </a:defRPr>
            </a:lvl2pPr>
            <a:lvl3pPr marL="1143000" indent="-228600" defTabSz="885825">
              <a:defRPr sz="1600">
                <a:solidFill>
                  <a:schemeClr val="tx1"/>
                </a:solidFill>
                <a:latin typeface="Arial" panose="020B0604020202020204" pitchFamily="34" charset="0"/>
              </a:defRPr>
            </a:lvl3pPr>
            <a:lvl4pPr marL="1600200" indent="-228600" defTabSz="885825">
              <a:defRPr sz="1600">
                <a:solidFill>
                  <a:schemeClr val="tx1"/>
                </a:solidFill>
                <a:latin typeface="Arial" panose="020B0604020202020204" pitchFamily="34" charset="0"/>
              </a:defRPr>
            </a:lvl4pPr>
            <a:lvl5pPr marL="2057400" indent="-228600" defTabSz="885825">
              <a:defRPr sz="1600">
                <a:solidFill>
                  <a:schemeClr val="tx1"/>
                </a:solidFill>
                <a:latin typeface="Arial" panose="020B0604020202020204" pitchFamily="34" charset="0"/>
              </a:defRPr>
            </a:lvl5pPr>
            <a:lvl6pPr marL="2514600" indent="-228600" defTabSz="88582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88582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88582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885825"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lnSpc>
                <a:spcPts val="2600"/>
              </a:lnSpc>
            </a:pPr>
            <a:r>
              <a:rPr lang="en-US" altLang="zh-CN" sz="3200" b="1" dirty="0">
                <a:solidFill>
                  <a:schemeClr val="bg1"/>
                </a:solidFill>
                <a:latin typeface="微软雅黑" panose="020B0503020204020204" pitchFamily="34" charset="-122"/>
                <a:ea typeface="宋体" panose="02010600030101010101" pitchFamily="2" charset="-122"/>
              </a:rPr>
              <a:t>Architecture Concept</a:t>
            </a:r>
            <a:endParaRPr lang="en-US" altLang="zh-CN" sz="2000" b="1" dirty="0">
              <a:solidFill>
                <a:schemeClr val="bg1"/>
              </a:solidFill>
              <a:latin typeface="微软雅黑" panose="020B0503020204020204" pitchFamily="34" charset="-122"/>
              <a:ea typeface="宋体" panose="02010600030101010101" pitchFamily="2" charset="-122"/>
            </a:endParaRPr>
          </a:p>
        </p:txBody>
      </p:sp>
      <p:grpSp>
        <p:nvGrpSpPr>
          <p:cNvPr id="4101" name="Group 3"/>
          <p:cNvGrpSpPr/>
          <p:nvPr/>
        </p:nvGrpSpPr>
        <p:grpSpPr bwMode="auto">
          <a:xfrm>
            <a:off x="1273372" y="1340768"/>
            <a:ext cx="2255838" cy="2211387"/>
            <a:chOff x="63" y="356"/>
            <a:chExt cx="1421" cy="1393"/>
          </a:xfrm>
        </p:grpSpPr>
        <p:grpSp>
          <p:nvGrpSpPr>
            <p:cNvPr id="4109" name="Group 4"/>
            <p:cNvGrpSpPr/>
            <p:nvPr/>
          </p:nvGrpSpPr>
          <p:grpSpPr bwMode="auto">
            <a:xfrm>
              <a:off x="1221" y="563"/>
              <a:ext cx="230" cy="303"/>
              <a:chOff x="1714" y="1787"/>
              <a:chExt cx="230" cy="303"/>
            </a:xfrm>
          </p:grpSpPr>
          <p:sp>
            <p:nvSpPr>
              <p:cNvPr id="4366" name="Freeform 5"/>
              <p:cNvSpPr/>
              <p:nvPr/>
            </p:nvSpPr>
            <p:spPr bwMode="auto">
              <a:xfrm>
                <a:off x="1726" y="1797"/>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367" name="Rectangle 6"/>
              <p:cNvSpPr>
                <a:spLocks noChangeArrowheads="1"/>
              </p:cNvSpPr>
              <p:nvPr/>
            </p:nvSpPr>
            <p:spPr bwMode="auto">
              <a:xfrm>
                <a:off x="1727" y="1812"/>
                <a:ext cx="185" cy="277"/>
              </a:xfrm>
              <a:prstGeom prst="rect">
                <a:avLst/>
              </a:prstGeom>
              <a:solidFill>
                <a:srgbClr val="CCFFCC"/>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368" name="Line 7"/>
              <p:cNvSpPr>
                <a:spLocks noChangeShapeType="1"/>
              </p:cNvSpPr>
              <p:nvPr/>
            </p:nvSpPr>
            <p:spPr bwMode="auto">
              <a:xfrm flipV="1">
                <a:off x="1911" y="1797"/>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369" name="Text Box 8"/>
              <p:cNvSpPr txBox="1">
                <a:spLocks noChangeArrowheads="1"/>
              </p:cNvSpPr>
              <p:nvPr/>
            </p:nvSpPr>
            <p:spPr bwMode="auto">
              <a:xfrm>
                <a:off x="1714" y="1787"/>
                <a:ext cx="23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UG</a:t>
                </a:r>
                <a:endParaRPr lang="en-US" altLang="zh-CN" sz="800" dirty="0">
                  <a:latin typeface="微软雅黑" panose="020B0503020204020204" pitchFamily="34" charset="-122"/>
                  <a:ea typeface="宋体" panose="02010600030101010101" pitchFamily="2" charset="-122"/>
                </a:endParaRPr>
              </a:p>
            </p:txBody>
          </p:sp>
        </p:grpSp>
        <p:grpSp>
          <p:nvGrpSpPr>
            <p:cNvPr id="4110" name="Group 9"/>
            <p:cNvGrpSpPr/>
            <p:nvPr/>
          </p:nvGrpSpPr>
          <p:grpSpPr bwMode="auto">
            <a:xfrm>
              <a:off x="1157" y="537"/>
              <a:ext cx="266" cy="302"/>
              <a:chOff x="1937" y="2132"/>
              <a:chExt cx="266" cy="302"/>
            </a:xfrm>
          </p:grpSpPr>
          <p:sp>
            <p:nvSpPr>
              <p:cNvPr id="4362" name="Freeform 10"/>
              <p:cNvSpPr/>
              <p:nvPr/>
            </p:nvSpPr>
            <p:spPr bwMode="auto">
              <a:xfrm>
                <a:off x="1971" y="2141"/>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363" name="Rectangle 11"/>
              <p:cNvSpPr>
                <a:spLocks noChangeArrowheads="1"/>
              </p:cNvSpPr>
              <p:nvPr/>
            </p:nvSpPr>
            <p:spPr bwMode="auto">
              <a:xfrm>
                <a:off x="1972" y="2156"/>
                <a:ext cx="185" cy="277"/>
              </a:xfrm>
              <a:prstGeom prst="rect">
                <a:avLst/>
              </a:prstGeom>
              <a:solidFill>
                <a:srgbClr val="CCFFFF"/>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364" name="Line 12"/>
              <p:cNvSpPr>
                <a:spLocks noChangeShapeType="1"/>
              </p:cNvSpPr>
              <p:nvPr/>
            </p:nvSpPr>
            <p:spPr bwMode="auto">
              <a:xfrm flipV="1">
                <a:off x="2156" y="2141"/>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365" name="Text Box 13"/>
              <p:cNvSpPr txBox="1">
                <a:spLocks noChangeArrowheads="1"/>
              </p:cNvSpPr>
              <p:nvPr/>
            </p:nvSpPr>
            <p:spPr bwMode="auto">
              <a:xfrm>
                <a:off x="1937" y="2132"/>
                <a:ext cx="26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D-DOC</a:t>
                </a:r>
                <a:endParaRPr lang="en-US" altLang="zh-CN" sz="800" dirty="0">
                  <a:latin typeface="微软雅黑" panose="020B0503020204020204" pitchFamily="34" charset="-122"/>
                  <a:ea typeface="宋体" panose="02010600030101010101" pitchFamily="2" charset="-122"/>
                </a:endParaRPr>
              </a:p>
            </p:txBody>
          </p:sp>
        </p:grpSp>
        <p:grpSp>
          <p:nvGrpSpPr>
            <p:cNvPr id="4111" name="Group 14"/>
            <p:cNvGrpSpPr/>
            <p:nvPr/>
          </p:nvGrpSpPr>
          <p:grpSpPr bwMode="auto">
            <a:xfrm>
              <a:off x="1254" y="653"/>
              <a:ext cx="230" cy="303"/>
              <a:chOff x="1714" y="1787"/>
              <a:chExt cx="230" cy="303"/>
            </a:xfrm>
          </p:grpSpPr>
          <p:sp>
            <p:nvSpPr>
              <p:cNvPr id="4358" name="Freeform 15"/>
              <p:cNvSpPr/>
              <p:nvPr/>
            </p:nvSpPr>
            <p:spPr bwMode="auto">
              <a:xfrm>
                <a:off x="1726" y="1797"/>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359" name="Rectangle 16"/>
              <p:cNvSpPr>
                <a:spLocks noChangeArrowheads="1"/>
              </p:cNvSpPr>
              <p:nvPr/>
            </p:nvSpPr>
            <p:spPr bwMode="auto">
              <a:xfrm>
                <a:off x="1727" y="1812"/>
                <a:ext cx="185" cy="277"/>
              </a:xfrm>
              <a:prstGeom prst="rect">
                <a:avLst/>
              </a:prstGeom>
              <a:solidFill>
                <a:srgbClr val="CCFFCC"/>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360" name="Line 17"/>
              <p:cNvSpPr>
                <a:spLocks noChangeShapeType="1"/>
              </p:cNvSpPr>
              <p:nvPr/>
            </p:nvSpPr>
            <p:spPr bwMode="auto">
              <a:xfrm flipV="1">
                <a:off x="1911" y="1797"/>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361" name="Text Box 18"/>
              <p:cNvSpPr txBox="1">
                <a:spLocks noChangeArrowheads="1"/>
              </p:cNvSpPr>
              <p:nvPr/>
            </p:nvSpPr>
            <p:spPr bwMode="auto">
              <a:xfrm>
                <a:off x="1714" y="1787"/>
                <a:ext cx="23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UG</a:t>
                </a:r>
                <a:endParaRPr lang="en-US" altLang="zh-CN" sz="800" dirty="0">
                  <a:latin typeface="微软雅黑" panose="020B0503020204020204" pitchFamily="34" charset="-122"/>
                  <a:ea typeface="宋体" panose="02010600030101010101" pitchFamily="2" charset="-122"/>
                </a:endParaRPr>
              </a:p>
            </p:txBody>
          </p:sp>
        </p:grpSp>
        <p:grpSp>
          <p:nvGrpSpPr>
            <p:cNvPr id="4112" name="Group 19"/>
            <p:cNvGrpSpPr/>
            <p:nvPr/>
          </p:nvGrpSpPr>
          <p:grpSpPr bwMode="auto">
            <a:xfrm>
              <a:off x="1204" y="883"/>
              <a:ext cx="230" cy="303"/>
              <a:chOff x="1714" y="1787"/>
              <a:chExt cx="230" cy="303"/>
            </a:xfrm>
          </p:grpSpPr>
          <p:sp>
            <p:nvSpPr>
              <p:cNvPr id="4354" name="Freeform 20"/>
              <p:cNvSpPr/>
              <p:nvPr/>
            </p:nvSpPr>
            <p:spPr bwMode="auto">
              <a:xfrm>
                <a:off x="1726" y="1797"/>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355" name="Rectangle 21"/>
              <p:cNvSpPr>
                <a:spLocks noChangeArrowheads="1"/>
              </p:cNvSpPr>
              <p:nvPr/>
            </p:nvSpPr>
            <p:spPr bwMode="auto">
              <a:xfrm>
                <a:off x="1727" y="1812"/>
                <a:ext cx="185" cy="277"/>
              </a:xfrm>
              <a:prstGeom prst="rect">
                <a:avLst/>
              </a:prstGeom>
              <a:solidFill>
                <a:srgbClr val="CCFFCC"/>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356" name="Line 22"/>
              <p:cNvSpPr>
                <a:spLocks noChangeShapeType="1"/>
              </p:cNvSpPr>
              <p:nvPr/>
            </p:nvSpPr>
            <p:spPr bwMode="auto">
              <a:xfrm flipV="1">
                <a:off x="1911" y="1797"/>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357" name="Text Box 23"/>
              <p:cNvSpPr txBox="1">
                <a:spLocks noChangeArrowheads="1"/>
              </p:cNvSpPr>
              <p:nvPr/>
            </p:nvSpPr>
            <p:spPr bwMode="auto">
              <a:xfrm>
                <a:off x="1714" y="1787"/>
                <a:ext cx="23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UG</a:t>
                </a:r>
                <a:endParaRPr lang="en-US" altLang="zh-CN" sz="800" dirty="0">
                  <a:latin typeface="微软雅黑" panose="020B0503020204020204" pitchFamily="34" charset="-122"/>
                  <a:ea typeface="宋体" panose="02010600030101010101" pitchFamily="2" charset="-122"/>
                </a:endParaRPr>
              </a:p>
            </p:txBody>
          </p:sp>
        </p:grpSp>
        <p:grpSp>
          <p:nvGrpSpPr>
            <p:cNvPr id="4113" name="Group 24"/>
            <p:cNvGrpSpPr/>
            <p:nvPr/>
          </p:nvGrpSpPr>
          <p:grpSpPr bwMode="auto">
            <a:xfrm>
              <a:off x="583" y="1147"/>
              <a:ext cx="230" cy="303"/>
              <a:chOff x="1714" y="1787"/>
              <a:chExt cx="230" cy="303"/>
            </a:xfrm>
          </p:grpSpPr>
          <p:sp>
            <p:nvSpPr>
              <p:cNvPr id="4350" name="Freeform 25"/>
              <p:cNvSpPr/>
              <p:nvPr/>
            </p:nvSpPr>
            <p:spPr bwMode="auto">
              <a:xfrm>
                <a:off x="1726" y="1797"/>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351" name="Rectangle 26"/>
              <p:cNvSpPr>
                <a:spLocks noChangeArrowheads="1"/>
              </p:cNvSpPr>
              <p:nvPr/>
            </p:nvSpPr>
            <p:spPr bwMode="auto">
              <a:xfrm>
                <a:off x="1727" y="1812"/>
                <a:ext cx="185" cy="277"/>
              </a:xfrm>
              <a:prstGeom prst="rect">
                <a:avLst/>
              </a:prstGeom>
              <a:solidFill>
                <a:srgbClr val="CCFFCC"/>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352" name="Line 27"/>
              <p:cNvSpPr>
                <a:spLocks noChangeShapeType="1"/>
              </p:cNvSpPr>
              <p:nvPr/>
            </p:nvSpPr>
            <p:spPr bwMode="auto">
              <a:xfrm flipV="1">
                <a:off x="1911" y="1797"/>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353" name="Text Box 28"/>
              <p:cNvSpPr txBox="1">
                <a:spLocks noChangeArrowheads="1"/>
              </p:cNvSpPr>
              <p:nvPr/>
            </p:nvSpPr>
            <p:spPr bwMode="auto">
              <a:xfrm>
                <a:off x="1714" y="1787"/>
                <a:ext cx="23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UG</a:t>
                </a:r>
                <a:endParaRPr lang="en-US" altLang="zh-CN" sz="800" dirty="0">
                  <a:latin typeface="微软雅黑" panose="020B0503020204020204" pitchFamily="34" charset="-122"/>
                  <a:ea typeface="宋体" panose="02010600030101010101" pitchFamily="2" charset="-122"/>
                </a:endParaRPr>
              </a:p>
            </p:txBody>
          </p:sp>
        </p:grpSp>
        <p:grpSp>
          <p:nvGrpSpPr>
            <p:cNvPr id="4114" name="Group 29"/>
            <p:cNvGrpSpPr/>
            <p:nvPr/>
          </p:nvGrpSpPr>
          <p:grpSpPr bwMode="auto">
            <a:xfrm>
              <a:off x="1078" y="400"/>
              <a:ext cx="266" cy="302"/>
              <a:chOff x="1937" y="2132"/>
              <a:chExt cx="266" cy="302"/>
            </a:xfrm>
          </p:grpSpPr>
          <p:sp>
            <p:nvSpPr>
              <p:cNvPr id="4346" name="Freeform 30"/>
              <p:cNvSpPr/>
              <p:nvPr/>
            </p:nvSpPr>
            <p:spPr bwMode="auto">
              <a:xfrm>
                <a:off x="1971" y="2141"/>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347" name="Rectangle 31"/>
              <p:cNvSpPr>
                <a:spLocks noChangeArrowheads="1"/>
              </p:cNvSpPr>
              <p:nvPr/>
            </p:nvSpPr>
            <p:spPr bwMode="auto">
              <a:xfrm>
                <a:off x="1972" y="2156"/>
                <a:ext cx="185" cy="277"/>
              </a:xfrm>
              <a:prstGeom prst="rect">
                <a:avLst/>
              </a:prstGeom>
              <a:solidFill>
                <a:srgbClr val="CCFFFF"/>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348" name="Line 32"/>
              <p:cNvSpPr>
                <a:spLocks noChangeShapeType="1"/>
              </p:cNvSpPr>
              <p:nvPr/>
            </p:nvSpPr>
            <p:spPr bwMode="auto">
              <a:xfrm flipV="1">
                <a:off x="2156" y="2141"/>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349" name="Text Box 33"/>
              <p:cNvSpPr txBox="1">
                <a:spLocks noChangeArrowheads="1"/>
              </p:cNvSpPr>
              <p:nvPr/>
            </p:nvSpPr>
            <p:spPr bwMode="auto">
              <a:xfrm>
                <a:off x="1937" y="2132"/>
                <a:ext cx="26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D-DOC</a:t>
                </a:r>
                <a:endParaRPr lang="en-US" altLang="zh-CN" sz="800" dirty="0">
                  <a:latin typeface="微软雅黑" panose="020B0503020204020204" pitchFamily="34" charset="-122"/>
                  <a:ea typeface="宋体" panose="02010600030101010101" pitchFamily="2" charset="-122"/>
                </a:endParaRPr>
              </a:p>
            </p:txBody>
          </p:sp>
        </p:grpSp>
        <p:grpSp>
          <p:nvGrpSpPr>
            <p:cNvPr id="4115" name="Group 34"/>
            <p:cNvGrpSpPr/>
            <p:nvPr/>
          </p:nvGrpSpPr>
          <p:grpSpPr bwMode="auto">
            <a:xfrm>
              <a:off x="1045" y="468"/>
              <a:ext cx="266" cy="302"/>
              <a:chOff x="1937" y="2132"/>
              <a:chExt cx="266" cy="302"/>
            </a:xfrm>
          </p:grpSpPr>
          <p:sp>
            <p:nvSpPr>
              <p:cNvPr id="4342" name="Freeform 35"/>
              <p:cNvSpPr/>
              <p:nvPr/>
            </p:nvSpPr>
            <p:spPr bwMode="auto">
              <a:xfrm>
                <a:off x="1971" y="2141"/>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343" name="Rectangle 36"/>
              <p:cNvSpPr>
                <a:spLocks noChangeArrowheads="1"/>
              </p:cNvSpPr>
              <p:nvPr/>
            </p:nvSpPr>
            <p:spPr bwMode="auto">
              <a:xfrm>
                <a:off x="1972" y="2156"/>
                <a:ext cx="185" cy="277"/>
              </a:xfrm>
              <a:prstGeom prst="rect">
                <a:avLst/>
              </a:prstGeom>
              <a:solidFill>
                <a:srgbClr val="CCFFFF"/>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344" name="Line 37"/>
              <p:cNvSpPr>
                <a:spLocks noChangeShapeType="1"/>
              </p:cNvSpPr>
              <p:nvPr/>
            </p:nvSpPr>
            <p:spPr bwMode="auto">
              <a:xfrm flipV="1">
                <a:off x="2156" y="2141"/>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345" name="Text Box 38"/>
              <p:cNvSpPr txBox="1">
                <a:spLocks noChangeArrowheads="1"/>
              </p:cNvSpPr>
              <p:nvPr/>
            </p:nvSpPr>
            <p:spPr bwMode="auto">
              <a:xfrm>
                <a:off x="1937" y="2132"/>
                <a:ext cx="26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D-DOC</a:t>
                </a:r>
                <a:endParaRPr lang="en-US" altLang="zh-CN" sz="800" dirty="0">
                  <a:latin typeface="微软雅黑" panose="020B0503020204020204" pitchFamily="34" charset="-122"/>
                  <a:ea typeface="宋体" panose="02010600030101010101" pitchFamily="2" charset="-122"/>
                </a:endParaRPr>
              </a:p>
            </p:txBody>
          </p:sp>
        </p:grpSp>
        <p:grpSp>
          <p:nvGrpSpPr>
            <p:cNvPr id="4116" name="Group 39"/>
            <p:cNvGrpSpPr/>
            <p:nvPr/>
          </p:nvGrpSpPr>
          <p:grpSpPr bwMode="auto">
            <a:xfrm>
              <a:off x="1088" y="1072"/>
              <a:ext cx="230" cy="303"/>
              <a:chOff x="1714" y="1787"/>
              <a:chExt cx="230" cy="303"/>
            </a:xfrm>
          </p:grpSpPr>
          <p:sp>
            <p:nvSpPr>
              <p:cNvPr id="4338" name="Freeform 40"/>
              <p:cNvSpPr/>
              <p:nvPr/>
            </p:nvSpPr>
            <p:spPr bwMode="auto">
              <a:xfrm>
                <a:off x="1726" y="1797"/>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339" name="Rectangle 41"/>
              <p:cNvSpPr>
                <a:spLocks noChangeArrowheads="1"/>
              </p:cNvSpPr>
              <p:nvPr/>
            </p:nvSpPr>
            <p:spPr bwMode="auto">
              <a:xfrm>
                <a:off x="1727" y="1812"/>
                <a:ext cx="185" cy="277"/>
              </a:xfrm>
              <a:prstGeom prst="rect">
                <a:avLst/>
              </a:prstGeom>
              <a:solidFill>
                <a:srgbClr val="CCFFCC"/>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340" name="Line 42"/>
              <p:cNvSpPr>
                <a:spLocks noChangeShapeType="1"/>
              </p:cNvSpPr>
              <p:nvPr/>
            </p:nvSpPr>
            <p:spPr bwMode="auto">
              <a:xfrm flipV="1">
                <a:off x="1911" y="1797"/>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341" name="Text Box 43"/>
              <p:cNvSpPr txBox="1">
                <a:spLocks noChangeArrowheads="1"/>
              </p:cNvSpPr>
              <p:nvPr/>
            </p:nvSpPr>
            <p:spPr bwMode="auto">
              <a:xfrm>
                <a:off x="1714" y="1787"/>
                <a:ext cx="23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UG</a:t>
                </a:r>
                <a:endParaRPr lang="en-US" altLang="zh-CN" sz="800" dirty="0">
                  <a:latin typeface="微软雅黑" panose="020B0503020204020204" pitchFamily="34" charset="-122"/>
                  <a:ea typeface="宋体" panose="02010600030101010101" pitchFamily="2" charset="-122"/>
                </a:endParaRPr>
              </a:p>
            </p:txBody>
          </p:sp>
        </p:grpSp>
        <p:grpSp>
          <p:nvGrpSpPr>
            <p:cNvPr id="4117" name="Group 44"/>
            <p:cNvGrpSpPr/>
            <p:nvPr/>
          </p:nvGrpSpPr>
          <p:grpSpPr bwMode="auto">
            <a:xfrm>
              <a:off x="932" y="1135"/>
              <a:ext cx="230" cy="303"/>
              <a:chOff x="1714" y="1787"/>
              <a:chExt cx="230" cy="303"/>
            </a:xfrm>
          </p:grpSpPr>
          <p:sp>
            <p:nvSpPr>
              <p:cNvPr id="4334" name="Freeform 45"/>
              <p:cNvSpPr/>
              <p:nvPr/>
            </p:nvSpPr>
            <p:spPr bwMode="auto">
              <a:xfrm>
                <a:off x="1726" y="1797"/>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335" name="Rectangle 46"/>
              <p:cNvSpPr>
                <a:spLocks noChangeArrowheads="1"/>
              </p:cNvSpPr>
              <p:nvPr/>
            </p:nvSpPr>
            <p:spPr bwMode="auto">
              <a:xfrm>
                <a:off x="1727" y="1812"/>
                <a:ext cx="185" cy="277"/>
              </a:xfrm>
              <a:prstGeom prst="rect">
                <a:avLst/>
              </a:prstGeom>
              <a:solidFill>
                <a:srgbClr val="CCFFCC"/>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336" name="Line 47"/>
              <p:cNvSpPr>
                <a:spLocks noChangeShapeType="1"/>
              </p:cNvSpPr>
              <p:nvPr/>
            </p:nvSpPr>
            <p:spPr bwMode="auto">
              <a:xfrm flipV="1">
                <a:off x="1911" y="1797"/>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337" name="Text Box 48"/>
              <p:cNvSpPr txBox="1">
                <a:spLocks noChangeArrowheads="1"/>
              </p:cNvSpPr>
              <p:nvPr/>
            </p:nvSpPr>
            <p:spPr bwMode="auto">
              <a:xfrm>
                <a:off x="1714" y="1787"/>
                <a:ext cx="23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UG</a:t>
                </a:r>
                <a:endParaRPr lang="en-US" altLang="zh-CN" sz="800" dirty="0">
                  <a:latin typeface="微软雅黑" panose="020B0503020204020204" pitchFamily="34" charset="-122"/>
                  <a:ea typeface="宋体" panose="02010600030101010101" pitchFamily="2" charset="-122"/>
                </a:endParaRPr>
              </a:p>
            </p:txBody>
          </p:sp>
        </p:grpSp>
        <p:grpSp>
          <p:nvGrpSpPr>
            <p:cNvPr id="4118" name="Group 49"/>
            <p:cNvGrpSpPr/>
            <p:nvPr/>
          </p:nvGrpSpPr>
          <p:grpSpPr bwMode="auto">
            <a:xfrm>
              <a:off x="794" y="1174"/>
              <a:ext cx="230" cy="303"/>
              <a:chOff x="1714" y="1787"/>
              <a:chExt cx="230" cy="303"/>
            </a:xfrm>
          </p:grpSpPr>
          <p:sp>
            <p:nvSpPr>
              <p:cNvPr id="4330" name="Freeform 50"/>
              <p:cNvSpPr/>
              <p:nvPr/>
            </p:nvSpPr>
            <p:spPr bwMode="auto">
              <a:xfrm>
                <a:off x="1726" y="1797"/>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331" name="Rectangle 51"/>
              <p:cNvSpPr>
                <a:spLocks noChangeArrowheads="1"/>
              </p:cNvSpPr>
              <p:nvPr/>
            </p:nvSpPr>
            <p:spPr bwMode="auto">
              <a:xfrm>
                <a:off x="1727" y="1812"/>
                <a:ext cx="185" cy="277"/>
              </a:xfrm>
              <a:prstGeom prst="rect">
                <a:avLst/>
              </a:prstGeom>
              <a:solidFill>
                <a:srgbClr val="CCFFCC"/>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332" name="Line 52"/>
              <p:cNvSpPr>
                <a:spLocks noChangeShapeType="1"/>
              </p:cNvSpPr>
              <p:nvPr/>
            </p:nvSpPr>
            <p:spPr bwMode="auto">
              <a:xfrm flipV="1">
                <a:off x="1911" y="1797"/>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333" name="Text Box 53"/>
              <p:cNvSpPr txBox="1">
                <a:spLocks noChangeArrowheads="1"/>
              </p:cNvSpPr>
              <p:nvPr/>
            </p:nvSpPr>
            <p:spPr bwMode="auto">
              <a:xfrm>
                <a:off x="1714" y="1787"/>
                <a:ext cx="23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UG</a:t>
                </a:r>
                <a:endParaRPr lang="en-US" altLang="zh-CN" sz="800" dirty="0">
                  <a:latin typeface="微软雅黑" panose="020B0503020204020204" pitchFamily="34" charset="-122"/>
                  <a:ea typeface="宋体" panose="02010600030101010101" pitchFamily="2" charset="-122"/>
                </a:endParaRPr>
              </a:p>
            </p:txBody>
          </p:sp>
        </p:grpSp>
        <p:grpSp>
          <p:nvGrpSpPr>
            <p:cNvPr id="4119" name="Group 54"/>
            <p:cNvGrpSpPr/>
            <p:nvPr/>
          </p:nvGrpSpPr>
          <p:grpSpPr bwMode="auto">
            <a:xfrm>
              <a:off x="587" y="356"/>
              <a:ext cx="231" cy="304"/>
              <a:chOff x="975" y="1797"/>
              <a:chExt cx="231" cy="304"/>
            </a:xfrm>
          </p:grpSpPr>
          <p:sp>
            <p:nvSpPr>
              <p:cNvPr id="4326" name="Freeform 55"/>
              <p:cNvSpPr/>
              <p:nvPr/>
            </p:nvSpPr>
            <p:spPr bwMode="auto">
              <a:xfrm>
                <a:off x="992" y="1808"/>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327" name="Rectangle 56"/>
              <p:cNvSpPr>
                <a:spLocks noChangeArrowheads="1"/>
              </p:cNvSpPr>
              <p:nvPr/>
            </p:nvSpPr>
            <p:spPr bwMode="auto">
              <a:xfrm>
                <a:off x="993" y="1823"/>
                <a:ext cx="185" cy="277"/>
              </a:xfrm>
              <a:prstGeom prst="rect">
                <a:avLst/>
              </a:prstGeom>
              <a:solidFill>
                <a:srgbClr val="FFCC99"/>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328" name="Line 57"/>
              <p:cNvSpPr>
                <a:spLocks noChangeShapeType="1"/>
              </p:cNvSpPr>
              <p:nvPr/>
            </p:nvSpPr>
            <p:spPr bwMode="auto">
              <a:xfrm flipV="1">
                <a:off x="1177" y="1808"/>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329" name="Text Box 58"/>
              <p:cNvSpPr txBox="1">
                <a:spLocks noChangeArrowheads="1"/>
              </p:cNvSpPr>
              <p:nvPr/>
            </p:nvSpPr>
            <p:spPr bwMode="auto">
              <a:xfrm>
                <a:off x="975" y="1797"/>
                <a:ext cx="23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BPI</a:t>
                </a:r>
                <a:endParaRPr lang="en-US" altLang="zh-CN" sz="800" dirty="0">
                  <a:latin typeface="微软雅黑" panose="020B0503020204020204" pitchFamily="34" charset="-122"/>
                  <a:ea typeface="宋体" panose="02010600030101010101" pitchFamily="2" charset="-122"/>
                </a:endParaRPr>
              </a:p>
            </p:txBody>
          </p:sp>
        </p:grpSp>
        <p:grpSp>
          <p:nvGrpSpPr>
            <p:cNvPr id="4120" name="Group 59"/>
            <p:cNvGrpSpPr/>
            <p:nvPr/>
          </p:nvGrpSpPr>
          <p:grpSpPr bwMode="auto">
            <a:xfrm>
              <a:off x="444" y="381"/>
              <a:ext cx="231" cy="304"/>
              <a:chOff x="975" y="1797"/>
              <a:chExt cx="231" cy="304"/>
            </a:xfrm>
          </p:grpSpPr>
          <p:sp>
            <p:nvSpPr>
              <p:cNvPr id="4322" name="Freeform 60"/>
              <p:cNvSpPr/>
              <p:nvPr/>
            </p:nvSpPr>
            <p:spPr bwMode="auto">
              <a:xfrm>
                <a:off x="992" y="1808"/>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323" name="Rectangle 61"/>
              <p:cNvSpPr>
                <a:spLocks noChangeArrowheads="1"/>
              </p:cNvSpPr>
              <p:nvPr/>
            </p:nvSpPr>
            <p:spPr bwMode="auto">
              <a:xfrm>
                <a:off x="993" y="1823"/>
                <a:ext cx="185" cy="277"/>
              </a:xfrm>
              <a:prstGeom prst="rect">
                <a:avLst/>
              </a:prstGeom>
              <a:solidFill>
                <a:srgbClr val="FFCC99"/>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324" name="Line 62"/>
              <p:cNvSpPr>
                <a:spLocks noChangeShapeType="1"/>
              </p:cNvSpPr>
              <p:nvPr/>
            </p:nvSpPr>
            <p:spPr bwMode="auto">
              <a:xfrm flipV="1">
                <a:off x="1177" y="1808"/>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325" name="Text Box 63"/>
              <p:cNvSpPr txBox="1">
                <a:spLocks noChangeArrowheads="1"/>
              </p:cNvSpPr>
              <p:nvPr/>
            </p:nvSpPr>
            <p:spPr bwMode="auto">
              <a:xfrm>
                <a:off x="975" y="1797"/>
                <a:ext cx="23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BPI</a:t>
                </a:r>
                <a:endParaRPr lang="en-US" altLang="zh-CN" sz="800" dirty="0">
                  <a:latin typeface="微软雅黑" panose="020B0503020204020204" pitchFamily="34" charset="-122"/>
                  <a:ea typeface="宋体" panose="02010600030101010101" pitchFamily="2" charset="-122"/>
                </a:endParaRPr>
              </a:p>
            </p:txBody>
          </p:sp>
        </p:grpSp>
        <p:grpSp>
          <p:nvGrpSpPr>
            <p:cNvPr id="4121" name="Group 64"/>
            <p:cNvGrpSpPr/>
            <p:nvPr/>
          </p:nvGrpSpPr>
          <p:grpSpPr bwMode="auto">
            <a:xfrm>
              <a:off x="963" y="1035"/>
              <a:ext cx="231" cy="304"/>
              <a:chOff x="975" y="1797"/>
              <a:chExt cx="231" cy="304"/>
            </a:xfrm>
          </p:grpSpPr>
          <p:sp>
            <p:nvSpPr>
              <p:cNvPr id="4318" name="Freeform 65"/>
              <p:cNvSpPr/>
              <p:nvPr/>
            </p:nvSpPr>
            <p:spPr bwMode="auto">
              <a:xfrm>
                <a:off x="992" y="1808"/>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319" name="Rectangle 66"/>
              <p:cNvSpPr>
                <a:spLocks noChangeArrowheads="1"/>
              </p:cNvSpPr>
              <p:nvPr/>
            </p:nvSpPr>
            <p:spPr bwMode="auto">
              <a:xfrm>
                <a:off x="993" y="1823"/>
                <a:ext cx="185" cy="277"/>
              </a:xfrm>
              <a:prstGeom prst="rect">
                <a:avLst/>
              </a:prstGeom>
              <a:solidFill>
                <a:srgbClr val="FFCC99"/>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320" name="Line 67"/>
              <p:cNvSpPr>
                <a:spLocks noChangeShapeType="1"/>
              </p:cNvSpPr>
              <p:nvPr/>
            </p:nvSpPr>
            <p:spPr bwMode="auto">
              <a:xfrm flipV="1">
                <a:off x="1177" y="1808"/>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321" name="Text Box 68"/>
              <p:cNvSpPr txBox="1">
                <a:spLocks noChangeArrowheads="1"/>
              </p:cNvSpPr>
              <p:nvPr/>
            </p:nvSpPr>
            <p:spPr bwMode="auto">
              <a:xfrm>
                <a:off x="975" y="1797"/>
                <a:ext cx="23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BPI</a:t>
                </a:r>
                <a:endParaRPr lang="en-US" altLang="zh-CN" sz="800" dirty="0">
                  <a:latin typeface="微软雅黑" panose="020B0503020204020204" pitchFamily="34" charset="-122"/>
                  <a:ea typeface="宋体" panose="02010600030101010101" pitchFamily="2" charset="-122"/>
                </a:endParaRPr>
              </a:p>
            </p:txBody>
          </p:sp>
        </p:grpSp>
        <p:grpSp>
          <p:nvGrpSpPr>
            <p:cNvPr id="4122" name="Group 69"/>
            <p:cNvGrpSpPr/>
            <p:nvPr/>
          </p:nvGrpSpPr>
          <p:grpSpPr bwMode="auto">
            <a:xfrm>
              <a:off x="157" y="982"/>
              <a:ext cx="264" cy="307"/>
              <a:chOff x="1402" y="1961"/>
              <a:chExt cx="264" cy="307"/>
            </a:xfrm>
          </p:grpSpPr>
          <p:sp>
            <p:nvSpPr>
              <p:cNvPr id="4314" name="Freeform 70"/>
              <p:cNvSpPr/>
              <p:nvPr/>
            </p:nvSpPr>
            <p:spPr bwMode="auto">
              <a:xfrm>
                <a:off x="1431" y="1975"/>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315" name="Rectangle 71"/>
              <p:cNvSpPr>
                <a:spLocks noChangeArrowheads="1"/>
              </p:cNvSpPr>
              <p:nvPr/>
            </p:nvSpPr>
            <p:spPr bwMode="auto">
              <a:xfrm>
                <a:off x="1432" y="1990"/>
                <a:ext cx="185" cy="277"/>
              </a:xfrm>
              <a:prstGeom prst="rect">
                <a:avLst/>
              </a:prstGeom>
              <a:solidFill>
                <a:srgbClr val="FFFF99"/>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316" name="Line 72"/>
              <p:cNvSpPr>
                <a:spLocks noChangeShapeType="1"/>
              </p:cNvSpPr>
              <p:nvPr/>
            </p:nvSpPr>
            <p:spPr bwMode="auto">
              <a:xfrm flipV="1">
                <a:off x="1616" y="1975"/>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317" name="Text Box 73"/>
              <p:cNvSpPr txBox="1">
                <a:spLocks noChangeArrowheads="1"/>
              </p:cNvSpPr>
              <p:nvPr/>
            </p:nvSpPr>
            <p:spPr bwMode="auto">
              <a:xfrm>
                <a:off x="1402" y="1961"/>
                <a:ext cx="264"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BOS</a:t>
                </a:r>
                <a:endParaRPr lang="en-US" altLang="zh-CN" sz="800" dirty="0">
                  <a:latin typeface="微软雅黑" panose="020B0503020204020204" pitchFamily="34" charset="-122"/>
                  <a:ea typeface="宋体" panose="02010600030101010101" pitchFamily="2" charset="-122"/>
                </a:endParaRPr>
              </a:p>
            </p:txBody>
          </p:sp>
        </p:grpSp>
        <p:grpSp>
          <p:nvGrpSpPr>
            <p:cNvPr id="4123" name="Group 74"/>
            <p:cNvGrpSpPr/>
            <p:nvPr/>
          </p:nvGrpSpPr>
          <p:grpSpPr bwMode="auto">
            <a:xfrm>
              <a:off x="1150" y="985"/>
              <a:ext cx="264" cy="307"/>
              <a:chOff x="1402" y="1961"/>
              <a:chExt cx="264" cy="307"/>
            </a:xfrm>
          </p:grpSpPr>
          <p:sp>
            <p:nvSpPr>
              <p:cNvPr id="4310" name="Freeform 75"/>
              <p:cNvSpPr/>
              <p:nvPr/>
            </p:nvSpPr>
            <p:spPr bwMode="auto">
              <a:xfrm>
                <a:off x="1431" y="1975"/>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311" name="Rectangle 76"/>
              <p:cNvSpPr>
                <a:spLocks noChangeArrowheads="1"/>
              </p:cNvSpPr>
              <p:nvPr/>
            </p:nvSpPr>
            <p:spPr bwMode="auto">
              <a:xfrm>
                <a:off x="1432" y="1990"/>
                <a:ext cx="185" cy="277"/>
              </a:xfrm>
              <a:prstGeom prst="rect">
                <a:avLst/>
              </a:prstGeom>
              <a:solidFill>
                <a:srgbClr val="FFFF99"/>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312" name="Line 77"/>
              <p:cNvSpPr>
                <a:spLocks noChangeShapeType="1"/>
              </p:cNvSpPr>
              <p:nvPr/>
            </p:nvSpPr>
            <p:spPr bwMode="auto">
              <a:xfrm flipV="1">
                <a:off x="1616" y="1975"/>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313" name="Text Box 78"/>
              <p:cNvSpPr txBox="1">
                <a:spLocks noChangeArrowheads="1"/>
              </p:cNvSpPr>
              <p:nvPr/>
            </p:nvSpPr>
            <p:spPr bwMode="auto">
              <a:xfrm>
                <a:off x="1402" y="1961"/>
                <a:ext cx="264"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BOS</a:t>
                </a:r>
                <a:endParaRPr lang="en-US" altLang="zh-CN" sz="800" dirty="0">
                  <a:latin typeface="微软雅黑" panose="020B0503020204020204" pitchFamily="34" charset="-122"/>
                  <a:ea typeface="宋体" panose="02010600030101010101" pitchFamily="2" charset="-122"/>
                </a:endParaRPr>
              </a:p>
            </p:txBody>
          </p:sp>
        </p:grpSp>
        <p:grpSp>
          <p:nvGrpSpPr>
            <p:cNvPr id="4124" name="Group 79"/>
            <p:cNvGrpSpPr/>
            <p:nvPr/>
          </p:nvGrpSpPr>
          <p:grpSpPr bwMode="auto">
            <a:xfrm>
              <a:off x="1010" y="440"/>
              <a:ext cx="264" cy="307"/>
              <a:chOff x="1402" y="1961"/>
              <a:chExt cx="264" cy="307"/>
            </a:xfrm>
          </p:grpSpPr>
          <p:sp>
            <p:nvSpPr>
              <p:cNvPr id="4306" name="Freeform 80"/>
              <p:cNvSpPr/>
              <p:nvPr/>
            </p:nvSpPr>
            <p:spPr bwMode="auto">
              <a:xfrm>
                <a:off x="1431" y="1975"/>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307" name="Rectangle 81"/>
              <p:cNvSpPr>
                <a:spLocks noChangeArrowheads="1"/>
              </p:cNvSpPr>
              <p:nvPr/>
            </p:nvSpPr>
            <p:spPr bwMode="auto">
              <a:xfrm>
                <a:off x="1432" y="1990"/>
                <a:ext cx="185" cy="277"/>
              </a:xfrm>
              <a:prstGeom prst="rect">
                <a:avLst/>
              </a:prstGeom>
              <a:solidFill>
                <a:srgbClr val="FFFF99"/>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308" name="Line 82"/>
              <p:cNvSpPr>
                <a:spLocks noChangeShapeType="1"/>
              </p:cNvSpPr>
              <p:nvPr/>
            </p:nvSpPr>
            <p:spPr bwMode="auto">
              <a:xfrm flipV="1">
                <a:off x="1616" y="1975"/>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309" name="Text Box 83"/>
              <p:cNvSpPr txBox="1">
                <a:spLocks noChangeArrowheads="1"/>
              </p:cNvSpPr>
              <p:nvPr/>
            </p:nvSpPr>
            <p:spPr bwMode="auto">
              <a:xfrm>
                <a:off x="1402" y="1961"/>
                <a:ext cx="264"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BOS</a:t>
                </a:r>
                <a:endParaRPr lang="en-US" altLang="zh-CN" sz="800" dirty="0">
                  <a:latin typeface="微软雅黑" panose="020B0503020204020204" pitchFamily="34" charset="-122"/>
                  <a:ea typeface="宋体" panose="02010600030101010101" pitchFamily="2" charset="-122"/>
                </a:endParaRPr>
              </a:p>
            </p:txBody>
          </p:sp>
        </p:grpSp>
        <p:grpSp>
          <p:nvGrpSpPr>
            <p:cNvPr id="4125" name="Group 84"/>
            <p:cNvGrpSpPr/>
            <p:nvPr/>
          </p:nvGrpSpPr>
          <p:grpSpPr bwMode="auto">
            <a:xfrm>
              <a:off x="1115" y="503"/>
              <a:ext cx="264" cy="307"/>
              <a:chOff x="1402" y="1961"/>
              <a:chExt cx="264" cy="307"/>
            </a:xfrm>
          </p:grpSpPr>
          <p:sp>
            <p:nvSpPr>
              <p:cNvPr id="4302" name="Freeform 85"/>
              <p:cNvSpPr/>
              <p:nvPr/>
            </p:nvSpPr>
            <p:spPr bwMode="auto">
              <a:xfrm>
                <a:off x="1431" y="1975"/>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303" name="Rectangle 86"/>
              <p:cNvSpPr>
                <a:spLocks noChangeArrowheads="1"/>
              </p:cNvSpPr>
              <p:nvPr/>
            </p:nvSpPr>
            <p:spPr bwMode="auto">
              <a:xfrm>
                <a:off x="1432" y="1990"/>
                <a:ext cx="185" cy="277"/>
              </a:xfrm>
              <a:prstGeom prst="rect">
                <a:avLst/>
              </a:prstGeom>
              <a:solidFill>
                <a:srgbClr val="FFFF99"/>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304" name="Line 87"/>
              <p:cNvSpPr>
                <a:spLocks noChangeShapeType="1"/>
              </p:cNvSpPr>
              <p:nvPr/>
            </p:nvSpPr>
            <p:spPr bwMode="auto">
              <a:xfrm flipV="1">
                <a:off x="1616" y="1975"/>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305" name="Text Box 88"/>
              <p:cNvSpPr txBox="1">
                <a:spLocks noChangeArrowheads="1"/>
              </p:cNvSpPr>
              <p:nvPr/>
            </p:nvSpPr>
            <p:spPr bwMode="auto">
              <a:xfrm>
                <a:off x="1402" y="1961"/>
                <a:ext cx="264"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BOS</a:t>
                </a:r>
                <a:endParaRPr lang="en-US" altLang="zh-CN" sz="800" dirty="0">
                  <a:latin typeface="微软雅黑" panose="020B0503020204020204" pitchFamily="34" charset="-122"/>
                  <a:ea typeface="宋体" panose="02010600030101010101" pitchFamily="2" charset="-122"/>
                </a:endParaRPr>
              </a:p>
            </p:txBody>
          </p:sp>
        </p:grpSp>
        <p:grpSp>
          <p:nvGrpSpPr>
            <p:cNvPr id="4126" name="Group 89"/>
            <p:cNvGrpSpPr/>
            <p:nvPr/>
          </p:nvGrpSpPr>
          <p:grpSpPr bwMode="auto">
            <a:xfrm>
              <a:off x="1166" y="611"/>
              <a:ext cx="264" cy="307"/>
              <a:chOff x="1402" y="1961"/>
              <a:chExt cx="264" cy="307"/>
            </a:xfrm>
          </p:grpSpPr>
          <p:sp>
            <p:nvSpPr>
              <p:cNvPr id="4298" name="Freeform 90"/>
              <p:cNvSpPr/>
              <p:nvPr/>
            </p:nvSpPr>
            <p:spPr bwMode="auto">
              <a:xfrm>
                <a:off x="1431" y="1975"/>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299" name="Rectangle 91"/>
              <p:cNvSpPr>
                <a:spLocks noChangeArrowheads="1"/>
              </p:cNvSpPr>
              <p:nvPr/>
            </p:nvSpPr>
            <p:spPr bwMode="auto">
              <a:xfrm>
                <a:off x="1432" y="1990"/>
                <a:ext cx="185" cy="277"/>
              </a:xfrm>
              <a:prstGeom prst="rect">
                <a:avLst/>
              </a:prstGeom>
              <a:solidFill>
                <a:srgbClr val="FFFF99"/>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300" name="Line 92"/>
              <p:cNvSpPr>
                <a:spLocks noChangeShapeType="1"/>
              </p:cNvSpPr>
              <p:nvPr/>
            </p:nvSpPr>
            <p:spPr bwMode="auto">
              <a:xfrm flipV="1">
                <a:off x="1616" y="1975"/>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301" name="Text Box 93"/>
              <p:cNvSpPr txBox="1">
                <a:spLocks noChangeArrowheads="1"/>
              </p:cNvSpPr>
              <p:nvPr/>
            </p:nvSpPr>
            <p:spPr bwMode="auto">
              <a:xfrm>
                <a:off x="1402" y="1961"/>
                <a:ext cx="264"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BOS</a:t>
                </a:r>
                <a:endParaRPr lang="en-US" altLang="zh-CN" sz="800" dirty="0">
                  <a:latin typeface="微软雅黑" panose="020B0503020204020204" pitchFamily="34" charset="-122"/>
                  <a:ea typeface="宋体" panose="02010600030101010101" pitchFamily="2" charset="-122"/>
                </a:endParaRPr>
              </a:p>
            </p:txBody>
          </p:sp>
        </p:grpSp>
        <p:grpSp>
          <p:nvGrpSpPr>
            <p:cNvPr id="4127" name="Group 94"/>
            <p:cNvGrpSpPr/>
            <p:nvPr/>
          </p:nvGrpSpPr>
          <p:grpSpPr bwMode="auto">
            <a:xfrm>
              <a:off x="807" y="1074"/>
              <a:ext cx="264" cy="307"/>
              <a:chOff x="1402" y="1961"/>
              <a:chExt cx="264" cy="307"/>
            </a:xfrm>
          </p:grpSpPr>
          <p:sp>
            <p:nvSpPr>
              <p:cNvPr id="4294" name="Freeform 95"/>
              <p:cNvSpPr/>
              <p:nvPr/>
            </p:nvSpPr>
            <p:spPr bwMode="auto">
              <a:xfrm>
                <a:off x="1431" y="1975"/>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295" name="Rectangle 96"/>
              <p:cNvSpPr>
                <a:spLocks noChangeArrowheads="1"/>
              </p:cNvSpPr>
              <p:nvPr/>
            </p:nvSpPr>
            <p:spPr bwMode="auto">
              <a:xfrm>
                <a:off x="1432" y="1990"/>
                <a:ext cx="185" cy="277"/>
              </a:xfrm>
              <a:prstGeom prst="rect">
                <a:avLst/>
              </a:prstGeom>
              <a:solidFill>
                <a:srgbClr val="FFFF99"/>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296" name="Line 97"/>
              <p:cNvSpPr>
                <a:spLocks noChangeShapeType="1"/>
              </p:cNvSpPr>
              <p:nvPr/>
            </p:nvSpPr>
            <p:spPr bwMode="auto">
              <a:xfrm flipV="1">
                <a:off x="1616" y="1975"/>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297" name="Text Box 98"/>
              <p:cNvSpPr txBox="1">
                <a:spLocks noChangeArrowheads="1"/>
              </p:cNvSpPr>
              <p:nvPr/>
            </p:nvSpPr>
            <p:spPr bwMode="auto">
              <a:xfrm>
                <a:off x="1402" y="1961"/>
                <a:ext cx="264"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BOS</a:t>
                </a:r>
                <a:endParaRPr lang="en-US" altLang="zh-CN" sz="800" dirty="0">
                  <a:latin typeface="微软雅黑" panose="020B0503020204020204" pitchFamily="34" charset="-122"/>
                  <a:ea typeface="宋体" panose="02010600030101010101" pitchFamily="2" charset="-122"/>
                </a:endParaRPr>
              </a:p>
            </p:txBody>
          </p:sp>
        </p:grpSp>
        <p:grpSp>
          <p:nvGrpSpPr>
            <p:cNvPr id="4128" name="Group 99"/>
            <p:cNvGrpSpPr/>
            <p:nvPr/>
          </p:nvGrpSpPr>
          <p:grpSpPr bwMode="auto">
            <a:xfrm>
              <a:off x="242" y="397"/>
              <a:ext cx="266" cy="302"/>
              <a:chOff x="1937" y="2132"/>
              <a:chExt cx="266" cy="302"/>
            </a:xfrm>
          </p:grpSpPr>
          <p:sp>
            <p:nvSpPr>
              <p:cNvPr id="4290" name="Freeform 100"/>
              <p:cNvSpPr/>
              <p:nvPr/>
            </p:nvSpPr>
            <p:spPr bwMode="auto">
              <a:xfrm>
                <a:off x="1971" y="2141"/>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291" name="Rectangle 101"/>
              <p:cNvSpPr>
                <a:spLocks noChangeArrowheads="1"/>
              </p:cNvSpPr>
              <p:nvPr/>
            </p:nvSpPr>
            <p:spPr bwMode="auto">
              <a:xfrm>
                <a:off x="1972" y="2156"/>
                <a:ext cx="185" cy="277"/>
              </a:xfrm>
              <a:prstGeom prst="rect">
                <a:avLst/>
              </a:prstGeom>
              <a:solidFill>
                <a:srgbClr val="CCFFFF"/>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292" name="Line 102"/>
              <p:cNvSpPr>
                <a:spLocks noChangeShapeType="1"/>
              </p:cNvSpPr>
              <p:nvPr/>
            </p:nvSpPr>
            <p:spPr bwMode="auto">
              <a:xfrm flipV="1">
                <a:off x="2156" y="2141"/>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293" name="Text Box 103"/>
              <p:cNvSpPr txBox="1">
                <a:spLocks noChangeArrowheads="1"/>
              </p:cNvSpPr>
              <p:nvPr/>
            </p:nvSpPr>
            <p:spPr bwMode="auto">
              <a:xfrm>
                <a:off x="1937" y="2132"/>
                <a:ext cx="26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D-DOC</a:t>
                </a:r>
                <a:endParaRPr lang="en-US" altLang="zh-CN" sz="800" dirty="0">
                  <a:latin typeface="微软雅黑" panose="020B0503020204020204" pitchFamily="34" charset="-122"/>
                  <a:ea typeface="宋体" panose="02010600030101010101" pitchFamily="2" charset="-122"/>
                </a:endParaRPr>
              </a:p>
            </p:txBody>
          </p:sp>
        </p:grpSp>
        <p:grpSp>
          <p:nvGrpSpPr>
            <p:cNvPr id="4129" name="Group 104"/>
            <p:cNvGrpSpPr/>
            <p:nvPr/>
          </p:nvGrpSpPr>
          <p:grpSpPr bwMode="auto">
            <a:xfrm>
              <a:off x="1195" y="730"/>
              <a:ext cx="266" cy="302"/>
              <a:chOff x="1937" y="2132"/>
              <a:chExt cx="266" cy="302"/>
            </a:xfrm>
          </p:grpSpPr>
          <p:sp>
            <p:nvSpPr>
              <p:cNvPr id="4286" name="Freeform 105"/>
              <p:cNvSpPr/>
              <p:nvPr/>
            </p:nvSpPr>
            <p:spPr bwMode="auto">
              <a:xfrm>
                <a:off x="1971" y="2141"/>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287" name="Rectangle 106"/>
              <p:cNvSpPr>
                <a:spLocks noChangeArrowheads="1"/>
              </p:cNvSpPr>
              <p:nvPr/>
            </p:nvSpPr>
            <p:spPr bwMode="auto">
              <a:xfrm>
                <a:off x="1972" y="2156"/>
                <a:ext cx="185" cy="277"/>
              </a:xfrm>
              <a:prstGeom prst="rect">
                <a:avLst/>
              </a:prstGeom>
              <a:solidFill>
                <a:srgbClr val="CCFFFF"/>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288" name="Line 107"/>
              <p:cNvSpPr>
                <a:spLocks noChangeShapeType="1"/>
              </p:cNvSpPr>
              <p:nvPr/>
            </p:nvSpPr>
            <p:spPr bwMode="auto">
              <a:xfrm flipV="1">
                <a:off x="2156" y="2141"/>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289" name="Text Box 108"/>
              <p:cNvSpPr txBox="1">
                <a:spLocks noChangeArrowheads="1"/>
              </p:cNvSpPr>
              <p:nvPr/>
            </p:nvSpPr>
            <p:spPr bwMode="auto">
              <a:xfrm>
                <a:off x="1937" y="2132"/>
                <a:ext cx="26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D-DOC</a:t>
                </a:r>
                <a:endParaRPr lang="en-US" altLang="zh-CN" sz="800" dirty="0">
                  <a:latin typeface="微软雅黑" panose="020B0503020204020204" pitchFamily="34" charset="-122"/>
                  <a:ea typeface="宋体" panose="02010600030101010101" pitchFamily="2" charset="-122"/>
                </a:endParaRPr>
              </a:p>
            </p:txBody>
          </p:sp>
        </p:grpSp>
        <p:grpSp>
          <p:nvGrpSpPr>
            <p:cNvPr id="4130" name="Group 109"/>
            <p:cNvGrpSpPr/>
            <p:nvPr/>
          </p:nvGrpSpPr>
          <p:grpSpPr bwMode="auto">
            <a:xfrm>
              <a:off x="129" y="493"/>
              <a:ext cx="266" cy="302"/>
              <a:chOff x="1937" y="2132"/>
              <a:chExt cx="266" cy="302"/>
            </a:xfrm>
          </p:grpSpPr>
          <p:sp>
            <p:nvSpPr>
              <p:cNvPr id="4282" name="Freeform 110"/>
              <p:cNvSpPr/>
              <p:nvPr/>
            </p:nvSpPr>
            <p:spPr bwMode="auto">
              <a:xfrm>
                <a:off x="1971" y="2141"/>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283" name="Rectangle 111"/>
              <p:cNvSpPr>
                <a:spLocks noChangeArrowheads="1"/>
              </p:cNvSpPr>
              <p:nvPr/>
            </p:nvSpPr>
            <p:spPr bwMode="auto">
              <a:xfrm>
                <a:off x="1972" y="2156"/>
                <a:ext cx="185" cy="277"/>
              </a:xfrm>
              <a:prstGeom prst="rect">
                <a:avLst/>
              </a:prstGeom>
              <a:solidFill>
                <a:srgbClr val="CCFFFF"/>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284" name="Line 112"/>
              <p:cNvSpPr>
                <a:spLocks noChangeShapeType="1"/>
              </p:cNvSpPr>
              <p:nvPr/>
            </p:nvSpPr>
            <p:spPr bwMode="auto">
              <a:xfrm flipV="1">
                <a:off x="2156" y="2141"/>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285" name="Text Box 113"/>
              <p:cNvSpPr txBox="1">
                <a:spLocks noChangeArrowheads="1"/>
              </p:cNvSpPr>
              <p:nvPr/>
            </p:nvSpPr>
            <p:spPr bwMode="auto">
              <a:xfrm>
                <a:off x="1937" y="2132"/>
                <a:ext cx="26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D-DOC</a:t>
                </a:r>
                <a:endParaRPr lang="en-US" altLang="zh-CN" sz="800" dirty="0">
                  <a:latin typeface="微软雅黑" panose="020B0503020204020204" pitchFamily="34" charset="-122"/>
                  <a:ea typeface="宋体" panose="02010600030101010101" pitchFamily="2" charset="-122"/>
                </a:endParaRPr>
              </a:p>
            </p:txBody>
          </p:sp>
        </p:grpSp>
        <p:grpSp>
          <p:nvGrpSpPr>
            <p:cNvPr id="4131" name="Group 114"/>
            <p:cNvGrpSpPr/>
            <p:nvPr/>
          </p:nvGrpSpPr>
          <p:grpSpPr bwMode="auto">
            <a:xfrm>
              <a:off x="682" y="376"/>
              <a:ext cx="266" cy="302"/>
              <a:chOff x="1937" y="2132"/>
              <a:chExt cx="266" cy="302"/>
            </a:xfrm>
          </p:grpSpPr>
          <p:sp>
            <p:nvSpPr>
              <p:cNvPr id="4278" name="Freeform 115"/>
              <p:cNvSpPr/>
              <p:nvPr/>
            </p:nvSpPr>
            <p:spPr bwMode="auto">
              <a:xfrm>
                <a:off x="1971" y="2141"/>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279" name="Rectangle 116"/>
              <p:cNvSpPr>
                <a:spLocks noChangeArrowheads="1"/>
              </p:cNvSpPr>
              <p:nvPr/>
            </p:nvSpPr>
            <p:spPr bwMode="auto">
              <a:xfrm>
                <a:off x="1972" y="2156"/>
                <a:ext cx="185" cy="277"/>
              </a:xfrm>
              <a:prstGeom prst="rect">
                <a:avLst/>
              </a:prstGeom>
              <a:solidFill>
                <a:srgbClr val="CCFFFF"/>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280" name="Line 117"/>
              <p:cNvSpPr>
                <a:spLocks noChangeShapeType="1"/>
              </p:cNvSpPr>
              <p:nvPr/>
            </p:nvSpPr>
            <p:spPr bwMode="auto">
              <a:xfrm flipV="1">
                <a:off x="2156" y="2141"/>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281" name="Text Box 118"/>
              <p:cNvSpPr txBox="1">
                <a:spLocks noChangeArrowheads="1"/>
              </p:cNvSpPr>
              <p:nvPr/>
            </p:nvSpPr>
            <p:spPr bwMode="auto">
              <a:xfrm>
                <a:off x="1937" y="2132"/>
                <a:ext cx="26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D-DOC</a:t>
                </a:r>
                <a:endParaRPr lang="en-US" altLang="zh-CN" sz="800" dirty="0">
                  <a:latin typeface="微软雅黑" panose="020B0503020204020204" pitchFamily="34" charset="-122"/>
                  <a:ea typeface="宋体" panose="02010600030101010101" pitchFamily="2" charset="-122"/>
                </a:endParaRPr>
              </a:p>
            </p:txBody>
          </p:sp>
        </p:grpSp>
        <p:grpSp>
          <p:nvGrpSpPr>
            <p:cNvPr id="4132" name="Group 119"/>
            <p:cNvGrpSpPr/>
            <p:nvPr/>
          </p:nvGrpSpPr>
          <p:grpSpPr bwMode="auto">
            <a:xfrm>
              <a:off x="841" y="396"/>
              <a:ext cx="266" cy="302"/>
              <a:chOff x="1937" y="2132"/>
              <a:chExt cx="266" cy="302"/>
            </a:xfrm>
          </p:grpSpPr>
          <p:sp>
            <p:nvSpPr>
              <p:cNvPr id="4274" name="Freeform 120"/>
              <p:cNvSpPr/>
              <p:nvPr/>
            </p:nvSpPr>
            <p:spPr bwMode="auto">
              <a:xfrm>
                <a:off x="1971" y="2141"/>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275" name="Rectangle 121"/>
              <p:cNvSpPr>
                <a:spLocks noChangeArrowheads="1"/>
              </p:cNvSpPr>
              <p:nvPr/>
            </p:nvSpPr>
            <p:spPr bwMode="auto">
              <a:xfrm>
                <a:off x="1972" y="2156"/>
                <a:ext cx="185" cy="277"/>
              </a:xfrm>
              <a:prstGeom prst="rect">
                <a:avLst/>
              </a:prstGeom>
              <a:solidFill>
                <a:srgbClr val="CCFFFF"/>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276" name="Line 122"/>
              <p:cNvSpPr>
                <a:spLocks noChangeShapeType="1"/>
              </p:cNvSpPr>
              <p:nvPr/>
            </p:nvSpPr>
            <p:spPr bwMode="auto">
              <a:xfrm flipV="1">
                <a:off x="2156" y="2141"/>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277" name="Text Box 123"/>
              <p:cNvSpPr txBox="1">
                <a:spLocks noChangeArrowheads="1"/>
              </p:cNvSpPr>
              <p:nvPr/>
            </p:nvSpPr>
            <p:spPr bwMode="auto">
              <a:xfrm>
                <a:off x="1937" y="2132"/>
                <a:ext cx="26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D-DOC</a:t>
                </a:r>
                <a:endParaRPr lang="en-US" altLang="zh-CN" sz="800" dirty="0">
                  <a:latin typeface="微软雅黑" panose="020B0503020204020204" pitchFamily="34" charset="-122"/>
                  <a:ea typeface="宋体" panose="02010600030101010101" pitchFamily="2" charset="-122"/>
                </a:endParaRPr>
              </a:p>
            </p:txBody>
          </p:sp>
        </p:grpSp>
        <p:grpSp>
          <p:nvGrpSpPr>
            <p:cNvPr id="4133" name="Group 124"/>
            <p:cNvGrpSpPr/>
            <p:nvPr/>
          </p:nvGrpSpPr>
          <p:grpSpPr bwMode="auto">
            <a:xfrm>
              <a:off x="1063" y="928"/>
              <a:ext cx="266" cy="302"/>
              <a:chOff x="1937" y="2132"/>
              <a:chExt cx="266" cy="302"/>
            </a:xfrm>
          </p:grpSpPr>
          <p:sp>
            <p:nvSpPr>
              <p:cNvPr id="4270" name="Freeform 125"/>
              <p:cNvSpPr/>
              <p:nvPr/>
            </p:nvSpPr>
            <p:spPr bwMode="auto">
              <a:xfrm>
                <a:off x="1971" y="2141"/>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271" name="Rectangle 126"/>
              <p:cNvSpPr>
                <a:spLocks noChangeArrowheads="1"/>
              </p:cNvSpPr>
              <p:nvPr/>
            </p:nvSpPr>
            <p:spPr bwMode="auto">
              <a:xfrm>
                <a:off x="1972" y="2156"/>
                <a:ext cx="185" cy="277"/>
              </a:xfrm>
              <a:prstGeom prst="rect">
                <a:avLst/>
              </a:prstGeom>
              <a:solidFill>
                <a:srgbClr val="CCFFFF"/>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272" name="Line 127"/>
              <p:cNvSpPr>
                <a:spLocks noChangeShapeType="1"/>
              </p:cNvSpPr>
              <p:nvPr/>
            </p:nvSpPr>
            <p:spPr bwMode="auto">
              <a:xfrm flipV="1">
                <a:off x="2156" y="2141"/>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273" name="Text Box 128"/>
              <p:cNvSpPr txBox="1">
                <a:spLocks noChangeArrowheads="1"/>
              </p:cNvSpPr>
              <p:nvPr/>
            </p:nvSpPr>
            <p:spPr bwMode="auto">
              <a:xfrm>
                <a:off x="1937" y="2132"/>
                <a:ext cx="26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D-DOC</a:t>
                </a:r>
                <a:endParaRPr lang="en-US" altLang="zh-CN" sz="800" dirty="0">
                  <a:latin typeface="微软雅黑" panose="020B0503020204020204" pitchFamily="34" charset="-122"/>
                  <a:ea typeface="宋体" panose="02010600030101010101" pitchFamily="2" charset="-122"/>
                </a:endParaRPr>
              </a:p>
            </p:txBody>
          </p:sp>
        </p:grpSp>
        <p:grpSp>
          <p:nvGrpSpPr>
            <p:cNvPr id="4134" name="Group 129"/>
            <p:cNvGrpSpPr/>
            <p:nvPr/>
          </p:nvGrpSpPr>
          <p:grpSpPr bwMode="auto">
            <a:xfrm>
              <a:off x="643" y="1125"/>
              <a:ext cx="266" cy="302"/>
              <a:chOff x="1937" y="2132"/>
              <a:chExt cx="266" cy="302"/>
            </a:xfrm>
          </p:grpSpPr>
          <p:sp>
            <p:nvSpPr>
              <p:cNvPr id="4266" name="Freeform 130"/>
              <p:cNvSpPr/>
              <p:nvPr/>
            </p:nvSpPr>
            <p:spPr bwMode="auto">
              <a:xfrm>
                <a:off x="1971" y="2141"/>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267" name="Rectangle 131"/>
              <p:cNvSpPr>
                <a:spLocks noChangeArrowheads="1"/>
              </p:cNvSpPr>
              <p:nvPr/>
            </p:nvSpPr>
            <p:spPr bwMode="auto">
              <a:xfrm>
                <a:off x="1972" y="2156"/>
                <a:ext cx="185" cy="277"/>
              </a:xfrm>
              <a:prstGeom prst="rect">
                <a:avLst/>
              </a:prstGeom>
              <a:solidFill>
                <a:srgbClr val="CCFFFF"/>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268" name="Line 132"/>
              <p:cNvSpPr>
                <a:spLocks noChangeShapeType="1"/>
              </p:cNvSpPr>
              <p:nvPr/>
            </p:nvSpPr>
            <p:spPr bwMode="auto">
              <a:xfrm flipV="1">
                <a:off x="2156" y="2141"/>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269" name="Text Box 133"/>
              <p:cNvSpPr txBox="1">
                <a:spLocks noChangeArrowheads="1"/>
              </p:cNvSpPr>
              <p:nvPr/>
            </p:nvSpPr>
            <p:spPr bwMode="auto">
              <a:xfrm>
                <a:off x="1937" y="2132"/>
                <a:ext cx="26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D-DOC</a:t>
                </a:r>
                <a:endParaRPr lang="en-US" altLang="zh-CN" sz="800" dirty="0">
                  <a:latin typeface="微软雅黑" panose="020B0503020204020204" pitchFamily="34" charset="-122"/>
                  <a:ea typeface="宋体" panose="02010600030101010101" pitchFamily="2" charset="-122"/>
                </a:endParaRPr>
              </a:p>
            </p:txBody>
          </p:sp>
        </p:grpSp>
        <p:grpSp>
          <p:nvGrpSpPr>
            <p:cNvPr id="4135" name="Group 134"/>
            <p:cNvGrpSpPr/>
            <p:nvPr/>
          </p:nvGrpSpPr>
          <p:grpSpPr bwMode="auto">
            <a:xfrm>
              <a:off x="507" y="1048"/>
              <a:ext cx="266" cy="302"/>
              <a:chOff x="1937" y="2132"/>
              <a:chExt cx="266" cy="302"/>
            </a:xfrm>
          </p:grpSpPr>
          <p:sp>
            <p:nvSpPr>
              <p:cNvPr id="4262" name="Freeform 135"/>
              <p:cNvSpPr/>
              <p:nvPr/>
            </p:nvSpPr>
            <p:spPr bwMode="auto">
              <a:xfrm>
                <a:off x="1971" y="2141"/>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263" name="Rectangle 136"/>
              <p:cNvSpPr>
                <a:spLocks noChangeArrowheads="1"/>
              </p:cNvSpPr>
              <p:nvPr/>
            </p:nvSpPr>
            <p:spPr bwMode="auto">
              <a:xfrm>
                <a:off x="1972" y="2156"/>
                <a:ext cx="185" cy="277"/>
              </a:xfrm>
              <a:prstGeom prst="rect">
                <a:avLst/>
              </a:prstGeom>
              <a:solidFill>
                <a:srgbClr val="CCFFFF"/>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264" name="Line 137"/>
              <p:cNvSpPr>
                <a:spLocks noChangeShapeType="1"/>
              </p:cNvSpPr>
              <p:nvPr/>
            </p:nvSpPr>
            <p:spPr bwMode="auto">
              <a:xfrm flipV="1">
                <a:off x="2156" y="2141"/>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265" name="Text Box 138"/>
              <p:cNvSpPr txBox="1">
                <a:spLocks noChangeArrowheads="1"/>
              </p:cNvSpPr>
              <p:nvPr/>
            </p:nvSpPr>
            <p:spPr bwMode="auto">
              <a:xfrm>
                <a:off x="1937" y="2132"/>
                <a:ext cx="26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D-DOC</a:t>
                </a:r>
                <a:endParaRPr lang="en-US" altLang="zh-CN" sz="800" dirty="0">
                  <a:latin typeface="微软雅黑" panose="020B0503020204020204" pitchFamily="34" charset="-122"/>
                  <a:ea typeface="宋体" panose="02010600030101010101" pitchFamily="2" charset="-122"/>
                </a:endParaRPr>
              </a:p>
            </p:txBody>
          </p:sp>
        </p:grpSp>
        <p:grpSp>
          <p:nvGrpSpPr>
            <p:cNvPr id="4136" name="Group 139"/>
            <p:cNvGrpSpPr/>
            <p:nvPr/>
          </p:nvGrpSpPr>
          <p:grpSpPr bwMode="auto">
            <a:xfrm>
              <a:off x="90" y="576"/>
              <a:ext cx="266" cy="302"/>
              <a:chOff x="1937" y="2132"/>
              <a:chExt cx="266" cy="302"/>
            </a:xfrm>
          </p:grpSpPr>
          <p:sp>
            <p:nvSpPr>
              <p:cNvPr id="4258" name="Freeform 140"/>
              <p:cNvSpPr/>
              <p:nvPr/>
            </p:nvSpPr>
            <p:spPr bwMode="auto">
              <a:xfrm>
                <a:off x="1971" y="2141"/>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259" name="Rectangle 141"/>
              <p:cNvSpPr>
                <a:spLocks noChangeArrowheads="1"/>
              </p:cNvSpPr>
              <p:nvPr/>
            </p:nvSpPr>
            <p:spPr bwMode="auto">
              <a:xfrm>
                <a:off x="1972" y="2156"/>
                <a:ext cx="185" cy="277"/>
              </a:xfrm>
              <a:prstGeom prst="rect">
                <a:avLst/>
              </a:prstGeom>
              <a:solidFill>
                <a:srgbClr val="CCFFFF"/>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260" name="Line 142"/>
              <p:cNvSpPr>
                <a:spLocks noChangeShapeType="1"/>
              </p:cNvSpPr>
              <p:nvPr/>
            </p:nvSpPr>
            <p:spPr bwMode="auto">
              <a:xfrm flipV="1">
                <a:off x="2156" y="2141"/>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261" name="Text Box 143"/>
              <p:cNvSpPr txBox="1">
                <a:spLocks noChangeArrowheads="1"/>
              </p:cNvSpPr>
              <p:nvPr/>
            </p:nvSpPr>
            <p:spPr bwMode="auto">
              <a:xfrm>
                <a:off x="1937" y="2132"/>
                <a:ext cx="26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D-DOC</a:t>
                </a:r>
                <a:endParaRPr lang="en-US" altLang="zh-CN" sz="800" dirty="0">
                  <a:latin typeface="微软雅黑" panose="020B0503020204020204" pitchFamily="34" charset="-122"/>
                  <a:ea typeface="宋体" panose="02010600030101010101" pitchFamily="2" charset="-122"/>
                </a:endParaRPr>
              </a:p>
            </p:txBody>
          </p:sp>
        </p:grpSp>
        <p:grpSp>
          <p:nvGrpSpPr>
            <p:cNvPr id="4137" name="Group 144"/>
            <p:cNvGrpSpPr/>
            <p:nvPr/>
          </p:nvGrpSpPr>
          <p:grpSpPr bwMode="auto">
            <a:xfrm>
              <a:off x="115" y="902"/>
              <a:ext cx="230" cy="303"/>
              <a:chOff x="1714" y="1787"/>
              <a:chExt cx="230" cy="303"/>
            </a:xfrm>
          </p:grpSpPr>
          <p:sp>
            <p:nvSpPr>
              <p:cNvPr id="4254" name="Freeform 145"/>
              <p:cNvSpPr/>
              <p:nvPr/>
            </p:nvSpPr>
            <p:spPr bwMode="auto">
              <a:xfrm>
                <a:off x="1726" y="1797"/>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255" name="Rectangle 146"/>
              <p:cNvSpPr>
                <a:spLocks noChangeArrowheads="1"/>
              </p:cNvSpPr>
              <p:nvPr/>
            </p:nvSpPr>
            <p:spPr bwMode="auto">
              <a:xfrm>
                <a:off x="1727" y="1812"/>
                <a:ext cx="185" cy="277"/>
              </a:xfrm>
              <a:prstGeom prst="rect">
                <a:avLst/>
              </a:prstGeom>
              <a:solidFill>
                <a:srgbClr val="CCFFCC"/>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256" name="Line 147"/>
              <p:cNvSpPr>
                <a:spLocks noChangeShapeType="1"/>
              </p:cNvSpPr>
              <p:nvPr/>
            </p:nvSpPr>
            <p:spPr bwMode="auto">
              <a:xfrm flipV="1">
                <a:off x="1911" y="1797"/>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257" name="Text Box 148"/>
              <p:cNvSpPr txBox="1">
                <a:spLocks noChangeArrowheads="1"/>
              </p:cNvSpPr>
              <p:nvPr/>
            </p:nvSpPr>
            <p:spPr bwMode="auto">
              <a:xfrm>
                <a:off x="1714" y="1787"/>
                <a:ext cx="23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UG</a:t>
                </a:r>
                <a:endParaRPr lang="en-US" altLang="zh-CN" sz="800" dirty="0">
                  <a:latin typeface="微软雅黑" panose="020B0503020204020204" pitchFamily="34" charset="-122"/>
                  <a:ea typeface="宋体" panose="02010600030101010101" pitchFamily="2" charset="-122"/>
                </a:endParaRPr>
              </a:p>
            </p:txBody>
          </p:sp>
        </p:grpSp>
        <p:grpSp>
          <p:nvGrpSpPr>
            <p:cNvPr id="4138" name="Group 149"/>
            <p:cNvGrpSpPr/>
            <p:nvPr/>
          </p:nvGrpSpPr>
          <p:grpSpPr bwMode="auto">
            <a:xfrm>
              <a:off x="1137" y="775"/>
              <a:ext cx="230" cy="303"/>
              <a:chOff x="1714" y="1787"/>
              <a:chExt cx="230" cy="303"/>
            </a:xfrm>
          </p:grpSpPr>
          <p:sp>
            <p:nvSpPr>
              <p:cNvPr id="4250" name="Freeform 150"/>
              <p:cNvSpPr/>
              <p:nvPr/>
            </p:nvSpPr>
            <p:spPr bwMode="auto">
              <a:xfrm>
                <a:off x="1726" y="1797"/>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251" name="Rectangle 151"/>
              <p:cNvSpPr>
                <a:spLocks noChangeArrowheads="1"/>
              </p:cNvSpPr>
              <p:nvPr/>
            </p:nvSpPr>
            <p:spPr bwMode="auto">
              <a:xfrm>
                <a:off x="1727" y="1812"/>
                <a:ext cx="185" cy="277"/>
              </a:xfrm>
              <a:prstGeom prst="rect">
                <a:avLst/>
              </a:prstGeom>
              <a:solidFill>
                <a:srgbClr val="CCFFCC"/>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252" name="Line 152"/>
              <p:cNvSpPr>
                <a:spLocks noChangeShapeType="1"/>
              </p:cNvSpPr>
              <p:nvPr/>
            </p:nvSpPr>
            <p:spPr bwMode="auto">
              <a:xfrm flipV="1">
                <a:off x="1911" y="1797"/>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253" name="Text Box 153"/>
              <p:cNvSpPr txBox="1">
                <a:spLocks noChangeArrowheads="1"/>
              </p:cNvSpPr>
              <p:nvPr/>
            </p:nvSpPr>
            <p:spPr bwMode="auto">
              <a:xfrm>
                <a:off x="1714" y="1787"/>
                <a:ext cx="23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UG</a:t>
                </a:r>
                <a:endParaRPr lang="en-US" altLang="zh-CN" sz="800" dirty="0">
                  <a:latin typeface="微软雅黑" panose="020B0503020204020204" pitchFamily="34" charset="-122"/>
                  <a:ea typeface="宋体" panose="02010600030101010101" pitchFamily="2" charset="-122"/>
                </a:endParaRPr>
              </a:p>
            </p:txBody>
          </p:sp>
        </p:grpSp>
        <p:grpSp>
          <p:nvGrpSpPr>
            <p:cNvPr id="4139" name="Group 154"/>
            <p:cNvGrpSpPr/>
            <p:nvPr/>
          </p:nvGrpSpPr>
          <p:grpSpPr bwMode="auto">
            <a:xfrm>
              <a:off x="298" y="420"/>
              <a:ext cx="230" cy="303"/>
              <a:chOff x="1714" y="1787"/>
              <a:chExt cx="230" cy="303"/>
            </a:xfrm>
          </p:grpSpPr>
          <p:sp>
            <p:nvSpPr>
              <p:cNvPr id="4246" name="Freeform 155"/>
              <p:cNvSpPr/>
              <p:nvPr/>
            </p:nvSpPr>
            <p:spPr bwMode="auto">
              <a:xfrm>
                <a:off x="1726" y="1797"/>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247" name="Rectangle 156"/>
              <p:cNvSpPr>
                <a:spLocks noChangeArrowheads="1"/>
              </p:cNvSpPr>
              <p:nvPr/>
            </p:nvSpPr>
            <p:spPr bwMode="auto">
              <a:xfrm>
                <a:off x="1727" y="1812"/>
                <a:ext cx="185" cy="277"/>
              </a:xfrm>
              <a:prstGeom prst="rect">
                <a:avLst/>
              </a:prstGeom>
              <a:solidFill>
                <a:srgbClr val="CCFFCC"/>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248" name="Line 157"/>
              <p:cNvSpPr>
                <a:spLocks noChangeShapeType="1"/>
              </p:cNvSpPr>
              <p:nvPr/>
            </p:nvSpPr>
            <p:spPr bwMode="auto">
              <a:xfrm flipV="1">
                <a:off x="1911" y="1797"/>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249" name="Text Box 158"/>
              <p:cNvSpPr txBox="1">
                <a:spLocks noChangeArrowheads="1"/>
              </p:cNvSpPr>
              <p:nvPr/>
            </p:nvSpPr>
            <p:spPr bwMode="auto">
              <a:xfrm>
                <a:off x="1714" y="1787"/>
                <a:ext cx="23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UG</a:t>
                </a:r>
                <a:endParaRPr lang="en-US" altLang="zh-CN" sz="800" dirty="0">
                  <a:latin typeface="微软雅黑" panose="020B0503020204020204" pitchFamily="34" charset="-122"/>
                  <a:ea typeface="宋体" panose="02010600030101010101" pitchFamily="2" charset="-122"/>
                </a:endParaRPr>
              </a:p>
            </p:txBody>
          </p:sp>
        </p:grpSp>
        <p:grpSp>
          <p:nvGrpSpPr>
            <p:cNvPr id="4140" name="Group 159"/>
            <p:cNvGrpSpPr/>
            <p:nvPr/>
          </p:nvGrpSpPr>
          <p:grpSpPr bwMode="auto">
            <a:xfrm>
              <a:off x="205" y="462"/>
              <a:ext cx="230" cy="303"/>
              <a:chOff x="1714" y="1787"/>
              <a:chExt cx="230" cy="303"/>
            </a:xfrm>
          </p:grpSpPr>
          <p:sp>
            <p:nvSpPr>
              <p:cNvPr id="4242" name="Freeform 160"/>
              <p:cNvSpPr/>
              <p:nvPr/>
            </p:nvSpPr>
            <p:spPr bwMode="auto">
              <a:xfrm>
                <a:off x="1726" y="1797"/>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243" name="Rectangle 161"/>
              <p:cNvSpPr>
                <a:spLocks noChangeArrowheads="1"/>
              </p:cNvSpPr>
              <p:nvPr/>
            </p:nvSpPr>
            <p:spPr bwMode="auto">
              <a:xfrm>
                <a:off x="1727" y="1812"/>
                <a:ext cx="185" cy="277"/>
              </a:xfrm>
              <a:prstGeom prst="rect">
                <a:avLst/>
              </a:prstGeom>
              <a:solidFill>
                <a:srgbClr val="CCFFCC"/>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244" name="Line 162"/>
              <p:cNvSpPr>
                <a:spLocks noChangeShapeType="1"/>
              </p:cNvSpPr>
              <p:nvPr/>
            </p:nvSpPr>
            <p:spPr bwMode="auto">
              <a:xfrm flipV="1">
                <a:off x="1911" y="1797"/>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245" name="Text Box 163"/>
              <p:cNvSpPr txBox="1">
                <a:spLocks noChangeArrowheads="1"/>
              </p:cNvSpPr>
              <p:nvPr/>
            </p:nvSpPr>
            <p:spPr bwMode="auto">
              <a:xfrm>
                <a:off x="1714" y="1787"/>
                <a:ext cx="23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UG</a:t>
                </a:r>
                <a:endParaRPr lang="en-US" altLang="zh-CN" sz="800" dirty="0">
                  <a:latin typeface="微软雅黑" panose="020B0503020204020204" pitchFamily="34" charset="-122"/>
                  <a:ea typeface="宋体" panose="02010600030101010101" pitchFamily="2" charset="-122"/>
                </a:endParaRPr>
              </a:p>
            </p:txBody>
          </p:sp>
        </p:grpSp>
        <p:sp>
          <p:nvSpPr>
            <p:cNvPr id="4141" name="Text Box 164"/>
            <p:cNvSpPr txBox="1">
              <a:spLocks noChangeArrowheads="1"/>
            </p:cNvSpPr>
            <p:nvPr/>
          </p:nvSpPr>
          <p:spPr bwMode="auto">
            <a:xfrm>
              <a:off x="186" y="1461"/>
              <a:ext cx="10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spcBef>
                  <a:spcPct val="50000"/>
                </a:spcBef>
              </a:pPr>
              <a:r>
                <a:rPr lang="en-US" altLang="zh-CN" sz="1200" dirty="0">
                  <a:latin typeface="微软雅黑" panose="020B0503020204020204" pitchFamily="34" charset="-122"/>
                  <a:ea typeface="宋体" panose="02010600030101010101" pitchFamily="2" charset="-122"/>
                </a:rPr>
                <a:t>Thousands of Process Documents</a:t>
              </a:r>
              <a:endParaRPr lang="en-US" altLang="zh-CN" sz="1200" dirty="0">
                <a:latin typeface="微软雅黑" panose="020B0503020204020204" pitchFamily="34" charset="-122"/>
                <a:ea typeface="宋体" panose="02010600030101010101" pitchFamily="2" charset="-122"/>
              </a:endParaRPr>
            </a:p>
          </p:txBody>
        </p:sp>
        <p:grpSp>
          <p:nvGrpSpPr>
            <p:cNvPr id="4142" name="Group 165"/>
            <p:cNvGrpSpPr/>
            <p:nvPr/>
          </p:nvGrpSpPr>
          <p:grpSpPr bwMode="auto">
            <a:xfrm>
              <a:off x="63" y="717"/>
              <a:ext cx="264" cy="307"/>
              <a:chOff x="1402" y="1961"/>
              <a:chExt cx="264" cy="307"/>
            </a:xfrm>
          </p:grpSpPr>
          <p:sp>
            <p:nvSpPr>
              <p:cNvPr id="4238" name="Freeform 166"/>
              <p:cNvSpPr/>
              <p:nvPr/>
            </p:nvSpPr>
            <p:spPr bwMode="auto">
              <a:xfrm>
                <a:off x="1431" y="1975"/>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239" name="Rectangle 167"/>
              <p:cNvSpPr>
                <a:spLocks noChangeArrowheads="1"/>
              </p:cNvSpPr>
              <p:nvPr/>
            </p:nvSpPr>
            <p:spPr bwMode="auto">
              <a:xfrm>
                <a:off x="1432" y="1990"/>
                <a:ext cx="185" cy="277"/>
              </a:xfrm>
              <a:prstGeom prst="rect">
                <a:avLst/>
              </a:prstGeom>
              <a:solidFill>
                <a:srgbClr val="FFFF99"/>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240" name="Line 168"/>
              <p:cNvSpPr>
                <a:spLocks noChangeShapeType="1"/>
              </p:cNvSpPr>
              <p:nvPr/>
            </p:nvSpPr>
            <p:spPr bwMode="auto">
              <a:xfrm flipV="1">
                <a:off x="1616" y="1975"/>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241" name="Text Box 169"/>
              <p:cNvSpPr txBox="1">
                <a:spLocks noChangeArrowheads="1"/>
              </p:cNvSpPr>
              <p:nvPr/>
            </p:nvSpPr>
            <p:spPr bwMode="auto">
              <a:xfrm>
                <a:off x="1402" y="1961"/>
                <a:ext cx="264"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BOS</a:t>
                </a:r>
                <a:endParaRPr lang="en-US" altLang="zh-CN" sz="800" dirty="0">
                  <a:latin typeface="微软雅黑" panose="020B0503020204020204" pitchFamily="34" charset="-122"/>
                  <a:ea typeface="宋体" panose="02010600030101010101" pitchFamily="2" charset="-122"/>
                </a:endParaRPr>
              </a:p>
            </p:txBody>
          </p:sp>
        </p:grpSp>
        <p:grpSp>
          <p:nvGrpSpPr>
            <p:cNvPr id="4143" name="Group 170"/>
            <p:cNvGrpSpPr/>
            <p:nvPr/>
          </p:nvGrpSpPr>
          <p:grpSpPr bwMode="auto">
            <a:xfrm>
              <a:off x="163" y="847"/>
              <a:ext cx="231" cy="304"/>
              <a:chOff x="975" y="1797"/>
              <a:chExt cx="231" cy="304"/>
            </a:xfrm>
          </p:grpSpPr>
          <p:sp>
            <p:nvSpPr>
              <p:cNvPr id="4234" name="Freeform 171"/>
              <p:cNvSpPr/>
              <p:nvPr/>
            </p:nvSpPr>
            <p:spPr bwMode="auto">
              <a:xfrm>
                <a:off x="992" y="1808"/>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235" name="Rectangle 172"/>
              <p:cNvSpPr>
                <a:spLocks noChangeArrowheads="1"/>
              </p:cNvSpPr>
              <p:nvPr/>
            </p:nvSpPr>
            <p:spPr bwMode="auto">
              <a:xfrm>
                <a:off x="993" y="1823"/>
                <a:ext cx="185" cy="277"/>
              </a:xfrm>
              <a:prstGeom prst="rect">
                <a:avLst/>
              </a:prstGeom>
              <a:solidFill>
                <a:srgbClr val="FFCC99"/>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236" name="Line 173"/>
              <p:cNvSpPr>
                <a:spLocks noChangeShapeType="1"/>
              </p:cNvSpPr>
              <p:nvPr/>
            </p:nvSpPr>
            <p:spPr bwMode="auto">
              <a:xfrm flipV="1">
                <a:off x="1177" y="1808"/>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237" name="Text Box 174"/>
              <p:cNvSpPr txBox="1">
                <a:spLocks noChangeArrowheads="1"/>
              </p:cNvSpPr>
              <p:nvPr/>
            </p:nvSpPr>
            <p:spPr bwMode="auto">
              <a:xfrm>
                <a:off x="975" y="1797"/>
                <a:ext cx="23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BPI</a:t>
                </a:r>
                <a:endParaRPr lang="en-US" altLang="zh-CN" sz="800" dirty="0">
                  <a:latin typeface="微软雅黑" panose="020B0503020204020204" pitchFamily="34" charset="-122"/>
                  <a:ea typeface="宋体" panose="02010600030101010101" pitchFamily="2" charset="-122"/>
                </a:endParaRPr>
              </a:p>
            </p:txBody>
          </p:sp>
        </p:grpSp>
        <p:grpSp>
          <p:nvGrpSpPr>
            <p:cNvPr id="4144" name="Group 175"/>
            <p:cNvGrpSpPr/>
            <p:nvPr/>
          </p:nvGrpSpPr>
          <p:grpSpPr bwMode="auto">
            <a:xfrm>
              <a:off x="207" y="1023"/>
              <a:ext cx="231" cy="304"/>
              <a:chOff x="975" y="1797"/>
              <a:chExt cx="231" cy="304"/>
            </a:xfrm>
          </p:grpSpPr>
          <p:sp>
            <p:nvSpPr>
              <p:cNvPr id="4230" name="Freeform 176"/>
              <p:cNvSpPr/>
              <p:nvPr/>
            </p:nvSpPr>
            <p:spPr bwMode="auto">
              <a:xfrm>
                <a:off x="992" y="1808"/>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231" name="Rectangle 177"/>
              <p:cNvSpPr>
                <a:spLocks noChangeArrowheads="1"/>
              </p:cNvSpPr>
              <p:nvPr/>
            </p:nvSpPr>
            <p:spPr bwMode="auto">
              <a:xfrm>
                <a:off x="993" y="1823"/>
                <a:ext cx="185" cy="277"/>
              </a:xfrm>
              <a:prstGeom prst="rect">
                <a:avLst/>
              </a:prstGeom>
              <a:solidFill>
                <a:srgbClr val="FFCC99"/>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232" name="Line 178"/>
              <p:cNvSpPr>
                <a:spLocks noChangeShapeType="1"/>
              </p:cNvSpPr>
              <p:nvPr/>
            </p:nvSpPr>
            <p:spPr bwMode="auto">
              <a:xfrm flipV="1">
                <a:off x="1177" y="1808"/>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233" name="Text Box 179"/>
              <p:cNvSpPr txBox="1">
                <a:spLocks noChangeArrowheads="1"/>
              </p:cNvSpPr>
              <p:nvPr/>
            </p:nvSpPr>
            <p:spPr bwMode="auto">
              <a:xfrm>
                <a:off x="975" y="1797"/>
                <a:ext cx="23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BPI</a:t>
                </a:r>
                <a:endParaRPr lang="en-US" altLang="zh-CN" sz="800" dirty="0">
                  <a:latin typeface="微软雅黑" panose="020B0503020204020204" pitchFamily="34" charset="-122"/>
                  <a:ea typeface="宋体" panose="02010600030101010101" pitchFamily="2" charset="-122"/>
                </a:endParaRPr>
              </a:p>
            </p:txBody>
          </p:sp>
        </p:grpSp>
        <p:grpSp>
          <p:nvGrpSpPr>
            <p:cNvPr id="4145" name="Group 180"/>
            <p:cNvGrpSpPr/>
            <p:nvPr/>
          </p:nvGrpSpPr>
          <p:grpSpPr bwMode="auto">
            <a:xfrm>
              <a:off x="351" y="1120"/>
              <a:ext cx="230" cy="303"/>
              <a:chOff x="1714" y="1787"/>
              <a:chExt cx="230" cy="303"/>
            </a:xfrm>
          </p:grpSpPr>
          <p:sp>
            <p:nvSpPr>
              <p:cNvPr id="4226" name="Freeform 181"/>
              <p:cNvSpPr/>
              <p:nvPr/>
            </p:nvSpPr>
            <p:spPr bwMode="auto">
              <a:xfrm>
                <a:off x="1726" y="1797"/>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227" name="Rectangle 182"/>
              <p:cNvSpPr>
                <a:spLocks noChangeArrowheads="1"/>
              </p:cNvSpPr>
              <p:nvPr/>
            </p:nvSpPr>
            <p:spPr bwMode="auto">
              <a:xfrm>
                <a:off x="1727" y="1812"/>
                <a:ext cx="185" cy="277"/>
              </a:xfrm>
              <a:prstGeom prst="rect">
                <a:avLst/>
              </a:prstGeom>
              <a:solidFill>
                <a:srgbClr val="CCFFCC"/>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228" name="Line 183"/>
              <p:cNvSpPr>
                <a:spLocks noChangeShapeType="1"/>
              </p:cNvSpPr>
              <p:nvPr/>
            </p:nvSpPr>
            <p:spPr bwMode="auto">
              <a:xfrm flipV="1">
                <a:off x="1911" y="1797"/>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229" name="Text Box 184"/>
              <p:cNvSpPr txBox="1">
                <a:spLocks noChangeArrowheads="1"/>
              </p:cNvSpPr>
              <p:nvPr/>
            </p:nvSpPr>
            <p:spPr bwMode="auto">
              <a:xfrm>
                <a:off x="1714" y="1787"/>
                <a:ext cx="23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UG</a:t>
                </a:r>
                <a:endParaRPr lang="en-US" altLang="zh-CN" sz="800" dirty="0">
                  <a:latin typeface="微软雅黑" panose="020B0503020204020204" pitchFamily="34" charset="-122"/>
                  <a:ea typeface="宋体" panose="02010600030101010101" pitchFamily="2" charset="-122"/>
                </a:endParaRPr>
              </a:p>
            </p:txBody>
          </p:sp>
        </p:grpSp>
        <p:grpSp>
          <p:nvGrpSpPr>
            <p:cNvPr id="4146" name="Group 185"/>
            <p:cNvGrpSpPr/>
            <p:nvPr/>
          </p:nvGrpSpPr>
          <p:grpSpPr bwMode="auto">
            <a:xfrm>
              <a:off x="282" y="852"/>
              <a:ext cx="230" cy="303"/>
              <a:chOff x="1714" y="1787"/>
              <a:chExt cx="230" cy="303"/>
            </a:xfrm>
          </p:grpSpPr>
          <p:sp>
            <p:nvSpPr>
              <p:cNvPr id="4222" name="Freeform 186"/>
              <p:cNvSpPr/>
              <p:nvPr/>
            </p:nvSpPr>
            <p:spPr bwMode="auto">
              <a:xfrm>
                <a:off x="1726" y="1797"/>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223" name="Rectangle 187"/>
              <p:cNvSpPr>
                <a:spLocks noChangeArrowheads="1"/>
              </p:cNvSpPr>
              <p:nvPr/>
            </p:nvSpPr>
            <p:spPr bwMode="auto">
              <a:xfrm>
                <a:off x="1727" y="1812"/>
                <a:ext cx="185" cy="277"/>
              </a:xfrm>
              <a:prstGeom prst="rect">
                <a:avLst/>
              </a:prstGeom>
              <a:solidFill>
                <a:srgbClr val="CCFFCC"/>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224" name="Line 188"/>
              <p:cNvSpPr>
                <a:spLocks noChangeShapeType="1"/>
              </p:cNvSpPr>
              <p:nvPr/>
            </p:nvSpPr>
            <p:spPr bwMode="auto">
              <a:xfrm flipV="1">
                <a:off x="1911" y="1797"/>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225" name="Text Box 189"/>
              <p:cNvSpPr txBox="1">
                <a:spLocks noChangeArrowheads="1"/>
              </p:cNvSpPr>
              <p:nvPr/>
            </p:nvSpPr>
            <p:spPr bwMode="auto">
              <a:xfrm>
                <a:off x="1714" y="1787"/>
                <a:ext cx="23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UG</a:t>
                </a:r>
                <a:endParaRPr lang="en-US" altLang="zh-CN" sz="800" dirty="0">
                  <a:latin typeface="微软雅黑" panose="020B0503020204020204" pitchFamily="34" charset="-122"/>
                  <a:ea typeface="宋体" panose="02010600030101010101" pitchFamily="2" charset="-122"/>
                </a:endParaRPr>
              </a:p>
            </p:txBody>
          </p:sp>
        </p:grpSp>
        <p:grpSp>
          <p:nvGrpSpPr>
            <p:cNvPr id="4147" name="Group 190"/>
            <p:cNvGrpSpPr/>
            <p:nvPr/>
          </p:nvGrpSpPr>
          <p:grpSpPr bwMode="auto">
            <a:xfrm>
              <a:off x="203" y="567"/>
              <a:ext cx="266" cy="302"/>
              <a:chOff x="1937" y="2132"/>
              <a:chExt cx="266" cy="302"/>
            </a:xfrm>
          </p:grpSpPr>
          <p:sp>
            <p:nvSpPr>
              <p:cNvPr id="4218" name="Freeform 191"/>
              <p:cNvSpPr/>
              <p:nvPr/>
            </p:nvSpPr>
            <p:spPr bwMode="auto">
              <a:xfrm>
                <a:off x="1971" y="2141"/>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219" name="Rectangle 192"/>
              <p:cNvSpPr>
                <a:spLocks noChangeArrowheads="1"/>
              </p:cNvSpPr>
              <p:nvPr/>
            </p:nvSpPr>
            <p:spPr bwMode="auto">
              <a:xfrm>
                <a:off x="1972" y="2156"/>
                <a:ext cx="185" cy="277"/>
              </a:xfrm>
              <a:prstGeom prst="rect">
                <a:avLst/>
              </a:prstGeom>
              <a:solidFill>
                <a:srgbClr val="CCFFFF"/>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220" name="Line 193"/>
              <p:cNvSpPr>
                <a:spLocks noChangeShapeType="1"/>
              </p:cNvSpPr>
              <p:nvPr/>
            </p:nvSpPr>
            <p:spPr bwMode="auto">
              <a:xfrm flipV="1">
                <a:off x="2156" y="2141"/>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221" name="Text Box 194"/>
              <p:cNvSpPr txBox="1">
                <a:spLocks noChangeArrowheads="1"/>
              </p:cNvSpPr>
              <p:nvPr/>
            </p:nvSpPr>
            <p:spPr bwMode="auto">
              <a:xfrm>
                <a:off x="1937" y="2132"/>
                <a:ext cx="26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D-DOC</a:t>
                </a:r>
                <a:endParaRPr lang="en-US" altLang="zh-CN" sz="800" dirty="0">
                  <a:latin typeface="微软雅黑" panose="020B0503020204020204" pitchFamily="34" charset="-122"/>
                  <a:ea typeface="宋体" panose="02010600030101010101" pitchFamily="2" charset="-122"/>
                </a:endParaRPr>
              </a:p>
            </p:txBody>
          </p:sp>
        </p:grpSp>
        <p:grpSp>
          <p:nvGrpSpPr>
            <p:cNvPr id="4148" name="Group 195"/>
            <p:cNvGrpSpPr/>
            <p:nvPr/>
          </p:nvGrpSpPr>
          <p:grpSpPr bwMode="auto">
            <a:xfrm>
              <a:off x="383" y="536"/>
              <a:ext cx="231" cy="304"/>
              <a:chOff x="975" y="1797"/>
              <a:chExt cx="231" cy="304"/>
            </a:xfrm>
          </p:grpSpPr>
          <p:sp>
            <p:nvSpPr>
              <p:cNvPr id="4214" name="Freeform 196"/>
              <p:cNvSpPr/>
              <p:nvPr/>
            </p:nvSpPr>
            <p:spPr bwMode="auto">
              <a:xfrm>
                <a:off x="992" y="1808"/>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215" name="Rectangle 197"/>
              <p:cNvSpPr>
                <a:spLocks noChangeArrowheads="1"/>
              </p:cNvSpPr>
              <p:nvPr/>
            </p:nvSpPr>
            <p:spPr bwMode="auto">
              <a:xfrm>
                <a:off x="993" y="1823"/>
                <a:ext cx="185" cy="277"/>
              </a:xfrm>
              <a:prstGeom prst="rect">
                <a:avLst/>
              </a:prstGeom>
              <a:solidFill>
                <a:srgbClr val="FFCC99"/>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216" name="Line 198"/>
              <p:cNvSpPr>
                <a:spLocks noChangeShapeType="1"/>
              </p:cNvSpPr>
              <p:nvPr/>
            </p:nvSpPr>
            <p:spPr bwMode="auto">
              <a:xfrm flipV="1">
                <a:off x="1177" y="1808"/>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217" name="Text Box 199"/>
              <p:cNvSpPr txBox="1">
                <a:spLocks noChangeArrowheads="1"/>
              </p:cNvSpPr>
              <p:nvPr/>
            </p:nvSpPr>
            <p:spPr bwMode="auto">
              <a:xfrm>
                <a:off x="975" y="1797"/>
                <a:ext cx="23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BPI</a:t>
                </a:r>
                <a:endParaRPr lang="en-US" altLang="zh-CN" sz="800" dirty="0">
                  <a:latin typeface="微软雅黑" panose="020B0503020204020204" pitchFamily="34" charset="-122"/>
                  <a:ea typeface="宋体" panose="02010600030101010101" pitchFamily="2" charset="-122"/>
                </a:endParaRPr>
              </a:p>
            </p:txBody>
          </p:sp>
        </p:grpSp>
        <p:grpSp>
          <p:nvGrpSpPr>
            <p:cNvPr id="4149" name="Group 200"/>
            <p:cNvGrpSpPr/>
            <p:nvPr/>
          </p:nvGrpSpPr>
          <p:grpSpPr bwMode="auto">
            <a:xfrm>
              <a:off x="527" y="499"/>
              <a:ext cx="266" cy="302"/>
              <a:chOff x="1937" y="2132"/>
              <a:chExt cx="266" cy="302"/>
            </a:xfrm>
          </p:grpSpPr>
          <p:sp>
            <p:nvSpPr>
              <p:cNvPr id="4210" name="Freeform 201"/>
              <p:cNvSpPr/>
              <p:nvPr/>
            </p:nvSpPr>
            <p:spPr bwMode="auto">
              <a:xfrm>
                <a:off x="1971" y="2141"/>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211" name="Rectangle 202"/>
              <p:cNvSpPr>
                <a:spLocks noChangeArrowheads="1"/>
              </p:cNvSpPr>
              <p:nvPr/>
            </p:nvSpPr>
            <p:spPr bwMode="auto">
              <a:xfrm>
                <a:off x="1972" y="2156"/>
                <a:ext cx="185" cy="277"/>
              </a:xfrm>
              <a:prstGeom prst="rect">
                <a:avLst/>
              </a:prstGeom>
              <a:solidFill>
                <a:srgbClr val="CCFFFF"/>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212" name="Line 203"/>
              <p:cNvSpPr>
                <a:spLocks noChangeShapeType="1"/>
              </p:cNvSpPr>
              <p:nvPr/>
            </p:nvSpPr>
            <p:spPr bwMode="auto">
              <a:xfrm flipV="1">
                <a:off x="2156" y="2141"/>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213" name="Text Box 204"/>
              <p:cNvSpPr txBox="1">
                <a:spLocks noChangeArrowheads="1"/>
              </p:cNvSpPr>
              <p:nvPr/>
            </p:nvSpPr>
            <p:spPr bwMode="auto">
              <a:xfrm>
                <a:off x="1937" y="2132"/>
                <a:ext cx="26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D-DOC</a:t>
                </a:r>
                <a:endParaRPr lang="en-US" altLang="zh-CN" sz="800" dirty="0">
                  <a:latin typeface="微软雅黑" panose="020B0503020204020204" pitchFamily="34" charset="-122"/>
                  <a:ea typeface="宋体" panose="02010600030101010101" pitchFamily="2" charset="-122"/>
                </a:endParaRPr>
              </a:p>
            </p:txBody>
          </p:sp>
        </p:grpSp>
        <p:grpSp>
          <p:nvGrpSpPr>
            <p:cNvPr id="4150" name="Group 205"/>
            <p:cNvGrpSpPr/>
            <p:nvPr/>
          </p:nvGrpSpPr>
          <p:grpSpPr bwMode="auto">
            <a:xfrm>
              <a:off x="701" y="512"/>
              <a:ext cx="264" cy="307"/>
              <a:chOff x="1402" y="1961"/>
              <a:chExt cx="264" cy="307"/>
            </a:xfrm>
          </p:grpSpPr>
          <p:sp>
            <p:nvSpPr>
              <p:cNvPr id="4206" name="Freeform 206"/>
              <p:cNvSpPr/>
              <p:nvPr/>
            </p:nvSpPr>
            <p:spPr bwMode="auto">
              <a:xfrm>
                <a:off x="1431" y="1975"/>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207" name="Rectangle 207"/>
              <p:cNvSpPr>
                <a:spLocks noChangeArrowheads="1"/>
              </p:cNvSpPr>
              <p:nvPr/>
            </p:nvSpPr>
            <p:spPr bwMode="auto">
              <a:xfrm>
                <a:off x="1432" y="1990"/>
                <a:ext cx="185" cy="277"/>
              </a:xfrm>
              <a:prstGeom prst="rect">
                <a:avLst/>
              </a:prstGeom>
              <a:solidFill>
                <a:srgbClr val="FFFF99"/>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208" name="Line 208"/>
              <p:cNvSpPr>
                <a:spLocks noChangeShapeType="1"/>
              </p:cNvSpPr>
              <p:nvPr/>
            </p:nvSpPr>
            <p:spPr bwMode="auto">
              <a:xfrm flipV="1">
                <a:off x="1616" y="1975"/>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209" name="Text Box 209"/>
              <p:cNvSpPr txBox="1">
                <a:spLocks noChangeArrowheads="1"/>
              </p:cNvSpPr>
              <p:nvPr/>
            </p:nvSpPr>
            <p:spPr bwMode="auto">
              <a:xfrm>
                <a:off x="1402" y="1961"/>
                <a:ext cx="264"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BOS</a:t>
                </a:r>
                <a:endParaRPr lang="en-US" altLang="zh-CN" sz="800" dirty="0">
                  <a:latin typeface="微软雅黑" panose="020B0503020204020204" pitchFamily="34" charset="-122"/>
                  <a:ea typeface="宋体" panose="02010600030101010101" pitchFamily="2" charset="-122"/>
                </a:endParaRPr>
              </a:p>
            </p:txBody>
          </p:sp>
        </p:grpSp>
        <p:grpSp>
          <p:nvGrpSpPr>
            <p:cNvPr id="4151" name="Group 210"/>
            <p:cNvGrpSpPr/>
            <p:nvPr/>
          </p:nvGrpSpPr>
          <p:grpSpPr bwMode="auto">
            <a:xfrm>
              <a:off x="873" y="562"/>
              <a:ext cx="231" cy="304"/>
              <a:chOff x="975" y="1797"/>
              <a:chExt cx="231" cy="304"/>
            </a:xfrm>
          </p:grpSpPr>
          <p:sp>
            <p:nvSpPr>
              <p:cNvPr id="4202" name="Freeform 211"/>
              <p:cNvSpPr/>
              <p:nvPr/>
            </p:nvSpPr>
            <p:spPr bwMode="auto">
              <a:xfrm>
                <a:off x="992" y="1808"/>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203" name="Rectangle 212"/>
              <p:cNvSpPr>
                <a:spLocks noChangeArrowheads="1"/>
              </p:cNvSpPr>
              <p:nvPr/>
            </p:nvSpPr>
            <p:spPr bwMode="auto">
              <a:xfrm>
                <a:off x="993" y="1823"/>
                <a:ext cx="185" cy="277"/>
              </a:xfrm>
              <a:prstGeom prst="rect">
                <a:avLst/>
              </a:prstGeom>
              <a:solidFill>
                <a:srgbClr val="FFCC99"/>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204" name="Line 213"/>
              <p:cNvSpPr>
                <a:spLocks noChangeShapeType="1"/>
              </p:cNvSpPr>
              <p:nvPr/>
            </p:nvSpPr>
            <p:spPr bwMode="auto">
              <a:xfrm flipV="1">
                <a:off x="1177" y="1808"/>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205" name="Text Box 214"/>
              <p:cNvSpPr txBox="1">
                <a:spLocks noChangeArrowheads="1"/>
              </p:cNvSpPr>
              <p:nvPr/>
            </p:nvSpPr>
            <p:spPr bwMode="auto">
              <a:xfrm>
                <a:off x="975" y="1797"/>
                <a:ext cx="23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BPI</a:t>
                </a:r>
                <a:endParaRPr lang="en-US" altLang="zh-CN" sz="800" dirty="0">
                  <a:latin typeface="微软雅黑" panose="020B0503020204020204" pitchFamily="34" charset="-122"/>
                  <a:ea typeface="宋体" panose="02010600030101010101" pitchFamily="2" charset="-122"/>
                </a:endParaRPr>
              </a:p>
            </p:txBody>
          </p:sp>
        </p:grpSp>
        <p:grpSp>
          <p:nvGrpSpPr>
            <p:cNvPr id="4152" name="Group 215"/>
            <p:cNvGrpSpPr/>
            <p:nvPr/>
          </p:nvGrpSpPr>
          <p:grpSpPr bwMode="auto">
            <a:xfrm>
              <a:off x="1040" y="612"/>
              <a:ext cx="231" cy="304"/>
              <a:chOff x="975" y="1797"/>
              <a:chExt cx="231" cy="304"/>
            </a:xfrm>
          </p:grpSpPr>
          <p:sp>
            <p:nvSpPr>
              <p:cNvPr id="4198" name="Freeform 216"/>
              <p:cNvSpPr/>
              <p:nvPr/>
            </p:nvSpPr>
            <p:spPr bwMode="auto">
              <a:xfrm>
                <a:off x="992" y="1808"/>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199" name="Rectangle 217"/>
              <p:cNvSpPr>
                <a:spLocks noChangeArrowheads="1"/>
              </p:cNvSpPr>
              <p:nvPr/>
            </p:nvSpPr>
            <p:spPr bwMode="auto">
              <a:xfrm>
                <a:off x="993" y="1823"/>
                <a:ext cx="185" cy="277"/>
              </a:xfrm>
              <a:prstGeom prst="rect">
                <a:avLst/>
              </a:prstGeom>
              <a:solidFill>
                <a:srgbClr val="FFCC99"/>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200" name="Line 218"/>
              <p:cNvSpPr>
                <a:spLocks noChangeShapeType="1"/>
              </p:cNvSpPr>
              <p:nvPr/>
            </p:nvSpPr>
            <p:spPr bwMode="auto">
              <a:xfrm flipV="1">
                <a:off x="1177" y="1808"/>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201" name="Text Box 219"/>
              <p:cNvSpPr txBox="1">
                <a:spLocks noChangeArrowheads="1"/>
              </p:cNvSpPr>
              <p:nvPr/>
            </p:nvSpPr>
            <p:spPr bwMode="auto">
              <a:xfrm>
                <a:off x="975" y="1797"/>
                <a:ext cx="23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BPI</a:t>
                </a:r>
                <a:endParaRPr lang="en-US" altLang="zh-CN" sz="800" dirty="0">
                  <a:latin typeface="微软雅黑" panose="020B0503020204020204" pitchFamily="34" charset="-122"/>
                  <a:ea typeface="宋体" panose="02010600030101010101" pitchFamily="2" charset="-122"/>
                </a:endParaRPr>
              </a:p>
            </p:txBody>
          </p:sp>
        </p:grpSp>
        <p:grpSp>
          <p:nvGrpSpPr>
            <p:cNvPr id="4153" name="Group 220"/>
            <p:cNvGrpSpPr/>
            <p:nvPr/>
          </p:nvGrpSpPr>
          <p:grpSpPr bwMode="auto">
            <a:xfrm>
              <a:off x="402" y="864"/>
              <a:ext cx="230" cy="303"/>
              <a:chOff x="1714" y="1787"/>
              <a:chExt cx="230" cy="303"/>
            </a:xfrm>
          </p:grpSpPr>
          <p:sp>
            <p:nvSpPr>
              <p:cNvPr id="4194" name="Freeform 221"/>
              <p:cNvSpPr/>
              <p:nvPr/>
            </p:nvSpPr>
            <p:spPr bwMode="auto">
              <a:xfrm>
                <a:off x="1726" y="1797"/>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195" name="Rectangle 222"/>
              <p:cNvSpPr>
                <a:spLocks noChangeArrowheads="1"/>
              </p:cNvSpPr>
              <p:nvPr/>
            </p:nvSpPr>
            <p:spPr bwMode="auto">
              <a:xfrm>
                <a:off x="1727" y="1812"/>
                <a:ext cx="185" cy="277"/>
              </a:xfrm>
              <a:prstGeom prst="rect">
                <a:avLst/>
              </a:prstGeom>
              <a:solidFill>
                <a:srgbClr val="CCFFCC"/>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196" name="Line 223"/>
              <p:cNvSpPr>
                <a:spLocks noChangeShapeType="1"/>
              </p:cNvSpPr>
              <p:nvPr/>
            </p:nvSpPr>
            <p:spPr bwMode="auto">
              <a:xfrm flipV="1">
                <a:off x="1911" y="1797"/>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197" name="Text Box 224"/>
              <p:cNvSpPr txBox="1">
                <a:spLocks noChangeArrowheads="1"/>
              </p:cNvSpPr>
              <p:nvPr/>
            </p:nvSpPr>
            <p:spPr bwMode="auto">
              <a:xfrm>
                <a:off x="1714" y="1787"/>
                <a:ext cx="23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UG</a:t>
                </a:r>
                <a:endParaRPr lang="en-US" altLang="zh-CN" sz="800" dirty="0">
                  <a:latin typeface="微软雅黑" panose="020B0503020204020204" pitchFamily="34" charset="-122"/>
                  <a:ea typeface="宋体" panose="02010600030101010101" pitchFamily="2" charset="-122"/>
                </a:endParaRPr>
              </a:p>
            </p:txBody>
          </p:sp>
        </p:grpSp>
        <p:grpSp>
          <p:nvGrpSpPr>
            <p:cNvPr id="4154" name="Group 225"/>
            <p:cNvGrpSpPr/>
            <p:nvPr/>
          </p:nvGrpSpPr>
          <p:grpSpPr bwMode="auto">
            <a:xfrm>
              <a:off x="927" y="858"/>
              <a:ext cx="266" cy="302"/>
              <a:chOff x="1937" y="2132"/>
              <a:chExt cx="266" cy="302"/>
            </a:xfrm>
          </p:grpSpPr>
          <p:sp>
            <p:nvSpPr>
              <p:cNvPr id="4190" name="Freeform 226"/>
              <p:cNvSpPr/>
              <p:nvPr/>
            </p:nvSpPr>
            <p:spPr bwMode="auto">
              <a:xfrm>
                <a:off x="1971" y="2141"/>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191" name="Rectangle 227"/>
              <p:cNvSpPr>
                <a:spLocks noChangeArrowheads="1"/>
              </p:cNvSpPr>
              <p:nvPr/>
            </p:nvSpPr>
            <p:spPr bwMode="auto">
              <a:xfrm>
                <a:off x="1972" y="2156"/>
                <a:ext cx="185" cy="277"/>
              </a:xfrm>
              <a:prstGeom prst="rect">
                <a:avLst/>
              </a:prstGeom>
              <a:solidFill>
                <a:srgbClr val="CCFFFF"/>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192" name="Line 228"/>
              <p:cNvSpPr>
                <a:spLocks noChangeShapeType="1"/>
              </p:cNvSpPr>
              <p:nvPr/>
            </p:nvSpPr>
            <p:spPr bwMode="auto">
              <a:xfrm flipV="1">
                <a:off x="2156" y="2141"/>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193" name="Text Box 229"/>
              <p:cNvSpPr txBox="1">
                <a:spLocks noChangeArrowheads="1"/>
              </p:cNvSpPr>
              <p:nvPr/>
            </p:nvSpPr>
            <p:spPr bwMode="auto">
              <a:xfrm>
                <a:off x="1937" y="2132"/>
                <a:ext cx="26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D-DOC</a:t>
                </a:r>
                <a:endParaRPr lang="en-US" altLang="zh-CN" sz="800" dirty="0">
                  <a:latin typeface="微软雅黑" panose="020B0503020204020204" pitchFamily="34" charset="-122"/>
                  <a:ea typeface="宋体" panose="02010600030101010101" pitchFamily="2" charset="-122"/>
                </a:endParaRPr>
              </a:p>
            </p:txBody>
          </p:sp>
        </p:grpSp>
        <p:grpSp>
          <p:nvGrpSpPr>
            <p:cNvPr id="4155" name="Group 230"/>
            <p:cNvGrpSpPr/>
            <p:nvPr/>
          </p:nvGrpSpPr>
          <p:grpSpPr bwMode="auto">
            <a:xfrm>
              <a:off x="764" y="930"/>
              <a:ext cx="231" cy="304"/>
              <a:chOff x="975" y="1797"/>
              <a:chExt cx="231" cy="304"/>
            </a:xfrm>
          </p:grpSpPr>
          <p:sp>
            <p:nvSpPr>
              <p:cNvPr id="4186" name="Freeform 231"/>
              <p:cNvSpPr/>
              <p:nvPr/>
            </p:nvSpPr>
            <p:spPr bwMode="auto">
              <a:xfrm>
                <a:off x="992" y="1808"/>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187" name="Rectangle 232"/>
              <p:cNvSpPr>
                <a:spLocks noChangeArrowheads="1"/>
              </p:cNvSpPr>
              <p:nvPr/>
            </p:nvSpPr>
            <p:spPr bwMode="auto">
              <a:xfrm>
                <a:off x="993" y="1823"/>
                <a:ext cx="185" cy="277"/>
              </a:xfrm>
              <a:prstGeom prst="rect">
                <a:avLst/>
              </a:prstGeom>
              <a:solidFill>
                <a:srgbClr val="FFCC99"/>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188" name="Line 233"/>
              <p:cNvSpPr>
                <a:spLocks noChangeShapeType="1"/>
              </p:cNvSpPr>
              <p:nvPr/>
            </p:nvSpPr>
            <p:spPr bwMode="auto">
              <a:xfrm flipV="1">
                <a:off x="1177" y="1808"/>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189" name="Text Box 234"/>
              <p:cNvSpPr txBox="1">
                <a:spLocks noChangeArrowheads="1"/>
              </p:cNvSpPr>
              <p:nvPr/>
            </p:nvSpPr>
            <p:spPr bwMode="auto">
              <a:xfrm>
                <a:off x="975" y="1797"/>
                <a:ext cx="23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BPI</a:t>
                </a:r>
                <a:endParaRPr lang="en-US" altLang="zh-CN" sz="800" dirty="0">
                  <a:latin typeface="微软雅黑" panose="020B0503020204020204" pitchFamily="34" charset="-122"/>
                  <a:ea typeface="宋体" panose="02010600030101010101" pitchFamily="2" charset="-122"/>
                </a:endParaRPr>
              </a:p>
            </p:txBody>
          </p:sp>
        </p:grpSp>
        <p:grpSp>
          <p:nvGrpSpPr>
            <p:cNvPr id="4156" name="Group 235"/>
            <p:cNvGrpSpPr/>
            <p:nvPr/>
          </p:nvGrpSpPr>
          <p:grpSpPr bwMode="auto">
            <a:xfrm>
              <a:off x="572" y="903"/>
              <a:ext cx="231" cy="304"/>
              <a:chOff x="975" y="1797"/>
              <a:chExt cx="231" cy="304"/>
            </a:xfrm>
          </p:grpSpPr>
          <p:sp>
            <p:nvSpPr>
              <p:cNvPr id="4182" name="Freeform 236"/>
              <p:cNvSpPr/>
              <p:nvPr/>
            </p:nvSpPr>
            <p:spPr bwMode="auto">
              <a:xfrm>
                <a:off x="992" y="1808"/>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183" name="Rectangle 237"/>
              <p:cNvSpPr>
                <a:spLocks noChangeArrowheads="1"/>
              </p:cNvSpPr>
              <p:nvPr/>
            </p:nvSpPr>
            <p:spPr bwMode="auto">
              <a:xfrm>
                <a:off x="993" y="1823"/>
                <a:ext cx="185" cy="277"/>
              </a:xfrm>
              <a:prstGeom prst="rect">
                <a:avLst/>
              </a:prstGeom>
              <a:solidFill>
                <a:srgbClr val="FFCC99"/>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184" name="Line 238"/>
              <p:cNvSpPr>
                <a:spLocks noChangeShapeType="1"/>
              </p:cNvSpPr>
              <p:nvPr/>
            </p:nvSpPr>
            <p:spPr bwMode="auto">
              <a:xfrm flipV="1">
                <a:off x="1177" y="1808"/>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185" name="Text Box 239"/>
              <p:cNvSpPr txBox="1">
                <a:spLocks noChangeArrowheads="1"/>
              </p:cNvSpPr>
              <p:nvPr/>
            </p:nvSpPr>
            <p:spPr bwMode="auto">
              <a:xfrm>
                <a:off x="975" y="1797"/>
                <a:ext cx="23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BPI</a:t>
                </a:r>
                <a:endParaRPr lang="en-US" altLang="zh-CN" sz="800" dirty="0">
                  <a:latin typeface="微软雅黑" panose="020B0503020204020204" pitchFamily="34" charset="-122"/>
                  <a:ea typeface="宋体" panose="02010600030101010101" pitchFamily="2" charset="-122"/>
                </a:endParaRPr>
              </a:p>
            </p:txBody>
          </p:sp>
        </p:grpSp>
        <p:grpSp>
          <p:nvGrpSpPr>
            <p:cNvPr id="4157" name="Group 240"/>
            <p:cNvGrpSpPr/>
            <p:nvPr/>
          </p:nvGrpSpPr>
          <p:grpSpPr bwMode="auto">
            <a:xfrm>
              <a:off x="322" y="698"/>
              <a:ext cx="231" cy="304"/>
              <a:chOff x="975" y="1797"/>
              <a:chExt cx="231" cy="304"/>
            </a:xfrm>
          </p:grpSpPr>
          <p:sp>
            <p:nvSpPr>
              <p:cNvPr id="4178" name="Freeform 241"/>
              <p:cNvSpPr/>
              <p:nvPr/>
            </p:nvSpPr>
            <p:spPr bwMode="auto">
              <a:xfrm>
                <a:off x="992" y="1808"/>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179" name="Rectangle 242"/>
              <p:cNvSpPr>
                <a:spLocks noChangeArrowheads="1"/>
              </p:cNvSpPr>
              <p:nvPr/>
            </p:nvSpPr>
            <p:spPr bwMode="auto">
              <a:xfrm>
                <a:off x="993" y="1823"/>
                <a:ext cx="185" cy="277"/>
              </a:xfrm>
              <a:prstGeom prst="rect">
                <a:avLst/>
              </a:prstGeom>
              <a:solidFill>
                <a:srgbClr val="FFCC99"/>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180" name="Line 243"/>
              <p:cNvSpPr>
                <a:spLocks noChangeShapeType="1"/>
              </p:cNvSpPr>
              <p:nvPr/>
            </p:nvSpPr>
            <p:spPr bwMode="auto">
              <a:xfrm flipV="1">
                <a:off x="1177" y="1808"/>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181" name="Text Box 244"/>
              <p:cNvSpPr txBox="1">
                <a:spLocks noChangeArrowheads="1"/>
              </p:cNvSpPr>
              <p:nvPr/>
            </p:nvSpPr>
            <p:spPr bwMode="auto">
              <a:xfrm>
                <a:off x="975" y="1797"/>
                <a:ext cx="23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BPI</a:t>
                </a:r>
                <a:endParaRPr lang="en-US" altLang="zh-CN" sz="800" dirty="0">
                  <a:latin typeface="微软雅黑" panose="020B0503020204020204" pitchFamily="34" charset="-122"/>
                  <a:ea typeface="宋体" panose="02010600030101010101" pitchFamily="2" charset="-122"/>
                </a:endParaRPr>
              </a:p>
            </p:txBody>
          </p:sp>
        </p:grpSp>
        <p:grpSp>
          <p:nvGrpSpPr>
            <p:cNvPr id="4158" name="Group 245"/>
            <p:cNvGrpSpPr/>
            <p:nvPr/>
          </p:nvGrpSpPr>
          <p:grpSpPr bwMode="auto">
            <a:xfrm>
              <a:off x="499" y="674"/>
              <a:ext cx="231" cy="304"/>
              <a:chOff x="975" y="1797"/>
              <a:chExt cx="231" cy="304"/>
            </a:xfrm>
          </p:grpSpPr>
          <p:sp>
            <p:nvSpPr>
              <p:cNvPr id="4174" name="Freeform 246"/>
              <p:cNvSpPr/>
              <p:nvPr/>
            </p:nvSpPr>
            <p:spPr bwMode="auto">
              <a:xfrm>
                <a:off x="992" y="1808"/>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175" name="Rectangle 247"/>
              <p:cNvSpPr>
                <a:spLocks noChangeArrowheads="1"/>
              </p:cNvSpPr>
              <p:nvPr/>
            </p:nvSpPr>
            <p:spPr bwMode="auto">
              <a:xfrm>
                <a:off x="993" y="1823"/>
                <a:ext cx="185" cy="277"/>
              </a:xfrm>
              <a:prstGeom prst="rect">
                <a:avLst/>
              </a:prstGeom>
              <a:solidFill>
                <a:srgbClr val="FFCC99"/>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176" name="Line 248"/>
              <p:cNvSpPr>
                <a:spLocks noChangeShapeType="1"/>
              </p:cNvSpPr>
              <p:nvPr/>
            </p:nvSpPr>
            <p:spPr bwMode="auto">
              <a:xfrm flipV="1">
                <a:off x="1177" y="1808"/>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177" name="Text Box 249"/>
              <p:cNvSpPr txBox="1">
                <a:spLocks noChangeArrowheads="1"/>
              </p:cNvSpPr>
              <p:nvPr/>
            </p:nvSpPr>
            <p:spPr bwMode="auto">
              <a:xfrm>
                <a:off x="975" y="1797"/>
                <a:ext cx="23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BPI</a:t>
                </a:r>
                <a:endParaRPr lang="en-US" altLang="zh-CN" sz="800" dirty="0">
                  <a:latin typeface="微软雅黑" panose="020B0503020204020204" pitchFamily="34" charset="-122"/>
                  <a:ea typeface="宋体" panose="02010600030101010101" pitchFamily="2" charset="-122"/>
                </a:endParaRPr>
              </a:p>
            </p:txBody>
          </p:sp>
        </p:grpSp>
        <p:grpSp>
          <p:nvGrpSpPr>
            <p:cNvPr id="4159" name="Group 250"/>
            <p:cNvGrpSpPr/>
            <p:nvPr/>
          </p:nvGrpSpPr>
          <p:grpSpPr bwMode="auto">
            <a:xfrm>
              <a:off x="647" y="781"/>
              <a:ext cx="230" cy="303"/>
              <a:chOff x="1714" y="1787"/>
              <a:chExt cx="230" cy="303"/>
            </a:xfrm>
          </p:grpSpPr>
          <p:sp>
            <p:nvSpPr>
              <p:cNvPr id="4170" name="Freeform 251"/>
              <p:cNvSpPr/>
              <p:nvPr/>
            </p:nvSpPr>
            <p:spPr bwMode="auto">
              <a:xfrm>
                <a:off x="1726" y="1797"/>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171" name="Rectangle 252"/>
              <p:cNvSpPr>
                <a:spLocks noChangeArrowheads="1"/>
              </p:cNvSpPr>
              <p:nvPr/>
            </p:nvSpPr>
            <p:spPr bwMode="auto">
              <a:xfrm>
                <a:off x="1727" y="1812"/>
                <a:ext cx="185" cy="277"/>
              </a:xfrm>
              <a:prstGeom prst="rect">
                <a:avLst/>
              </a:prstGeom>
              <a:solidFill>
                <a:srgbClr val="CCFFCC"/>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172" name="Line 253"/>
              <p:cNvSpPr>
                <a:spLocks noChangeShapeType="1"/>
              </p:cNvSpPr>
              <p:nvPr/>
            </p:nvSpPr>
            <p:spPr bwMode="auto">
              <a:xfrm flipV="1">
                <a:off x="1911" y="1797"/>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173" name="Text Box 254"/>
              <p:cNvSpPr txBox="1">
                <a:spLocks noChangeArrowheads="1"/>
              </p:cNvSpPr>
              <p:nvPr/>
            </p:nvSpPr>
            <p:spPr bwMode="auto">
              <a:xfrm>
                <a:off x="1714" y="1787"/>
                <a:ext cx="23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UG</a:t>
                </a:r>
                <a:endParaRPr lang="en-US" altLang="zh-CN" sz="800" dirty="0">
                  <a:latin typeface="微软雅黑" panose="020B0503020204020204" pitchFamily="34" charset="-122"/>
                  <a:ea typeface="宋体" panose="02010600030101010101" pitchFamily="2" charset="-122"/>
                </a:endParaRPr>
              </a:p>
            </p:txBody>
          </p:sp>
        </p:grpSp>
        <p:grpSp>
          <p:nvGrpSpPr>
            <p:cNvPr id="4160" name="Group 255"/>
            <p:cNvGrpSpPr/>
            <p:nvPr/>
          </p:nvGrpSpPr>
          <p:grpSpPr bwMode="auto">
            <a:xfrm>
              <a:off x="811" y="863"/>
              <a:ext cx="230" cy="303"/>
              <a:chOff x="1714" y="1787"/>
              <a:chExt cx="230" cy="303"/>
            </a:xfrm>
          </p:grpSpPr>
          <p:sp>
            <p:nvSpPr>
              <p:cNvPr id="4166" name="Freeform 256"/>
              <p:cNvSpPr/>
              <p:nvPr/>
            </p:nvSpPr>
            <p:spPr bwMode="auto">
              <a:xfrm>
                <a:off x="1726" y="1797"/>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167" name="Rectangle 257"/>
              <p:cNvSpPr>
                <a:spLocks noChangeArrowheads="1"/>
              </p:cNvSpPr>
              <p:nvPr/>
            </p:nvSpPr>
            <p:spPr bwMode="auto">
              <a:xfrm>
                <a:off x="1727" y="1812"/>
                <a:ext cx="185" cy="277"/>
              </a:xfrm>
              <a:prstGeom prst="rect">
                <a:avLst/>
              </a:prstGeom>
              <a:solidFill>
                <a:srgbClr val="CCFFCC"/>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168" name="Line 258"/>
              <p:cNvSpPr>
                <a:spLocks noChangeShapeType="1"/>
              </p:cNvSpPr>
              <p:nvPr/>
            </p:nvSpPr>
            <p:spPr bwMode="auto">
              <a:xfrm flipV="1">
                <a:off x="1911" y="1797"/>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169" name="Text Box 259"/>
              <p:cNvSpPr txBox="1">
                <a:spLocks noChangeArrowheads="1"/>
              </p:cNvSpPr>
              <p:nvPr/>
            </p:nvSpPr>
            <p:spPr bwMode="auto">
              <a:xfrm>
                <a:off x="1714" y="1787"/>
                <a:ext cx="23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UG</a:t>
                </a:r>
                <a:endParaRPr lang="en-US" altLang="zh-CN" sz="800" dirty="0">
                  <a:latin typeface="微软雅黑" panose="020B0503020204020204" pitchFamily="34" charset="-122"/>
                  <a:ea typeface="宋体" panose="02010600030101010101" pitchFamily="2" charset="-122"/>
                </a:endParaRPr>
              </a:p>
            </p:txBody>
          </p:sp>
        </p:grpSp>
        <p:grpSp>
          <p:nvGrpSpPr>
            <p:cNvPr id="4161" name="Group 260"/>
            <p:cNvGrpSpPr/>
            <p:nvPr/>
          </p:nvGrpSpPr>
          <p:grpSpPr bwMode="auto">
            <a:xfrm>
              <a:off x="742" y="630"/>
              <a:ext cx="266" cy="302"/>
              <a:chOff x="1937" y="2132"/>
              <a:chExt cx="266" cy="302"/>
            </a:xfrm>
          </p:grpSpPr>
          <p:sp>
            <p:nvSpPr>
              <p:cNvPr id="4162" name="Freeform 261"/>
              <p:cNvSpPr/>
              <p:nvPr/>
            </p:nvSpPr>
            <p:spPr bwMode="auto">
              <a:xfrm>
                <a:off x="1971" y="2141"/>
                <a:ext cx="202" cy="293"/>
              </a:xfrm>
              <a:custGeom>
                <a:avLst/>
                <a:gdLst>
                  <a:gd name="T0" fmla="*/ 0 w 202"/>
                  <a:gd name="T1" fmla="*/ 293 h 293"/>
                  <a:gd name="T2" fmla="*/ 184 w 202"/>
                  <a:gd name="T3" fmla="*/ 293 h 293"/>
                  <a:gd name="T4" fmla="*/ 202 w 202"/>
                  <a:gd name="T5" fmla="*/ 278 h 293"/>
                  <a:gd name="T6" fmla="*/ 202 w 202"/>
                  <a:gd name="T7" fmla="*/ 0 h 293"/>
                  <a:gd name="T8" fmla="*/ 16 w 202"/>
                  <a:gd name="T9" fmla="*/ 0 h 293"/>
                  <a:gd name="T10" fmla="*/ 0 w 202"/>
                  <a:gd name="T11" fmla="*/ 17 h 293"/>
                  <a:gd name="T12" fmla="*/ 0 w 202"/>
                  <a:gd name="T13" fmla="*/ 293 h 293"/>
                  <a:gd name="T14" fmla="*/ 0 60000 65536"/>
                  <a:gd name="T15" fmla="*/ 0 60000 65536"/>
                  <a:gd name="T16" fmla="*/ 0 60000 65536"/>
                  <a:gd name="T17" fmla="*/ 0 60000 65536"/>
                  <a:gd name="T18" fmla="*/ 0 60000 65536"/>
                  <a:gd name="T19" fmla="*/ 0 60000 65536"/>
                  <a:gd name="T20" fmla="*/ 0 60000 65536"/>
                  <a:gd name="T21" fmla="*/ 0 w 202"/>
                  <a:gd name="T22" fmla="*/ 0 h 293"/>
                  <a:gd name="T23" fmla="*/ 202 w 202"/>
                  <a:gd name="T24" fmla="*/ 293 h 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293">
                    <a:moveTo>
                      <a:pt x="0" y="293"/>
                    </a:moveTo>
                    <a:lnTo>
                      <a:pt x="184" y="293"/>
                    </a:lnTo>
                    <a:lnTo>
                      <a:pt x="202" y="278"/>
                    </a:lnTo>
                    <a:lnTo>
                      <a:pt x="202" y="0"/>
                    </a:lnTo>
                    <a:lnTo>
                      <a:pt x="16" y="0"/>
                    </a:lnTo>
                    <a:lnTo>
                      <a:pt x="0" y="17"/>
                    </a:lnTo>
                    <a:lnTo>
                      <a:pt x="0" y="293"/>
                    </a:lnTo>
                    <a:close/>
                  </a:path>
                </a:pathLst>
              </a:custGeom>
              <a:solidFill>
                <a:schemeClr val="bg1"/>
              </a:solidFill>
              <a:ln w="9525">
                <a:solidFill>
                  <a:schemeClr val="tx1"/>
                </a:solidFill>
                <a:round/>
              </a:ln>
            </p:spPr>
            <p:txBody>
              <a:bodyPr/>
              <a:lstStyle/>
              <a:p>
                <a:endParaRPr lang="en-GB" dirty="0">
                  <a:latin typeface="微软雅黑" panose="020B0503020204020204" pitchFamily="34" charset="-122"/>
                </a:endParaRPr>
              </a:p>
            </p:txBody>
          </p:sp>
          <p:sp>
            <p:nvSpPr>
              <p:cNvPr id="4163" name="Rectangle 262"/>
              <p:cNvSpPr>
                <a:spLocks noChangeArrowheads="1"/>
              </p:cNvSpPr>
              <p:nvPr/>
            </p:nvSpPr>
            <p:spPr bwMode="auto">
              <a:xfrm>
                <a:off x="1972" y="2156"/>
                <a:ext cx="185" cy="277"/>
              </a:xfrm>
              <a:prstGeom prst="rect">
                <a:avLst/>
              </a:prstGeom>
              <a:solidFill>
                <a:srgbClr val="CCFFFF"/>
              </a:solidFill>
              <a:ln w="9525">
                <a:solidFill>
                  <a:schemeClr val="tx1"/>
                </a:solidFill>
                <a:miter lim="800000"/>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zh-CN" altLang="zh-CN" sz="1800" dirty="0">
                  <a:latin typeface="微软雅黑" panose="020B0503020204020204" pitchFamily="34" charset="-122"/>
                </a:endParaRPr>
              </a:p>
            </p:txBody>
          </p:sp>
          <p:sp>
            <p:nvSpPr>
              <p:cNvPr id="4164" name="Line 263"/>
              <p:cNvSpPr>
                <a:spLocks noChangeShapeType="1"/>
              </p:cNvSpPr>
              <p:nvPr/>
            </p:nvSpPr>
            <p:spPr bwMode="auto">
              <a:xfrm flipV="1">
                <a:off x="2156" y="2141"/>
                <a:ext cx="15" cy="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GB" dirty="0">
                  <a:latin typeface="微软雅黑" panose="020B0503020204020204" pitchFamily="34" charset="-122"/>
                </a:endParaRPr>
              </a:p>
            </p:txBody>
          </p:sp>
          <p:sp>
            <p:nvSpPr>
              <p:cNvPr id="4165" name="Text Box 264"/>
              <p:cNvSpPr txBox="1">
                <a:spLocks noChangeArrowheads="1"/>
              </p:cNvSpPr>
              <p:nvPr/>
            </p:nvSpPr>
            <p:spPr bwMode="auto">
              <a:xfrm>
                <a:off x="1937" y="2132"/>
                <a:ext cx="26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800" dirty="0">
                    <a:latin typeface="微软雅黑" panose="020B0503020204020204" pitchFamily="34" charset="-122"/>
                    <a:ea typeface="宋体" panose="02010600030101010101" pitchFamily="2" charset="-122"/>
                  </a:rPr>
                  <a:t>D-DOC</a:t>
                </a:r>
                <a:endParaRPr lang="en-US" altLang="zh-CN" sz="800" dirty="0">
                  <a:latin typeface="微软雅黑" panose="020B0503020204020204" pitchFamily="34" charset="-122"/>
                  <a:ea typeface="宋体" panose="02010600030101010101" pitchFamily="2" charset="-122"/>
                </a:endParaRPr>
              </a:p>
            </p:txBody>
          </p:sp>
        </p:grpSp>
      </p:grpSp>
      <p:pic>
        <p:nvPicPr>
          <p:cNvPr id="4102" name="Picture 269">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69148" y="1359817"/>
            <a:ext cx="2917825" cy="198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7910" y="3485479"/>
            <a:ext cx="2398712"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360" y="3677568"/>
            <a:ext cx="3471862" cy="261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p:cNvSpPr txBox="1">
            <a:spLocks noChangeArrowheads="1"/>
          </p:cNvSpPr>
          <p:nvPr/>
        </p:nvSpPr>
        <p:spPr bwMode="auto">
          <a:xfrm>
            <a:off x="6000948" y="6262017"/>
            <a:ext cx="21240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r>
              <a:rPr lang="en-US" altLang="zh-CN" sz="1800" dirty="0">
                <a:latin typeface="微软雅黑" panose="020B0503020204020204" pitchFamily="34" charset="-122"/>
                <a:ea typeface="宋体" panose="02010600030101010101" pitchFamily="2" charset="-122"/>
              </a:rPr>
              <a:t>Architected</a:t>
            </a:r>
            <a:endParaRPr lang="en-US" altLang="zh-CN" sz="1800" dirty="0">
              <a:latin typeface="微软雅黑" panose="020B0503020204020204" pitchFamily="34" charset="-122"/>
              <a:ea typeface="宋体" panose="02010600030101010101" pitchFamily="2" charset="-122"/>
            </a:endParaRPr>
          </a:p>
        </p:txBody>
      </p:sp>
      <p:sp>
        <p:nvSpPr>
          <p:cNvPr id="13" name="TextBox 12"/>
          <p:cNvSpPr txBox="1">
            <a:spLocks noChangeArrowheads="1"/>
          </p:cNvSpPr>
          <p:nvPr/>
        </p:nvSpPr>
        <p:spPr bwMode="auto">
          <a:xfrm>
            <a:off x="671711" y="6262017"/>
            <a:ext cx="34575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r>
              <a:rPr lang="en-US" altLang="zh-CN" sz="1800" dirty="0">
                <a:latin typeface="微软雅黑" panose="020B0503020204020204" pitchFamily="34" charset="-122"/>
                <a:ea typeface="宋体" panose="02010600030101010101" pitchFamily="2" charset="-122"/>
              </a:rPr>
              <a:t>Independent/Unstructured</a:t>
            </a:r>
            <a:endParaRPr lang="en-US" altLang="zh-CN" sz="1800" dirty="0">
              <a:latin typeface="微软雅黑" panose="020B0503020204020204" pitchFamily="34" charset="-122"/>
              <a:ea typeface="宋体" panose="02010600030101010101" pitchFamily="2" charset="-122"/>
            </a:endParaRPr>
          </a:p>
        </p:txBody>
      </p:sp>
      <p:sp>
        <p:nvSpPr>
          <p:cNvPr id="4107" name="Rectangle 270"/>
          <p:cNvSpPr>
            <a:spLocks noChangeArrowheads="1"/>
          </p:cNvSpPr>
          <p:nvPr/>
        </p:nvSpPr>
        <p:spPr bwMode="auto">
          <a:xfrm>
            <a:off x="388937" y="419324"/>
            <a:ext cx="9134475" cy="523220"/>
          </a:xfrm>
          <a:prstGeom prst="rect">
            <a:avLst/>
          </a:prstGeom>
          <a:noFill/>
          <a:ln w="9525">
            <a:noFill/>
          </a:ln>
        </p:spPr>
        <p:txBody>
          <a:bodyPr vert="horz" wrap="square" lIns="91440" tIns="45720" rIns="91440" bIns="45720" anchor="ctr" anchorCtr="0"/>
          <a:lstStyle/>
          <a:p>
            <a:r>
              <a:rPr lang="zh-CN" altLang="en-US" sz="2800" b="1" dirty="0">
                <a:solidFill>
                  <a:srgbClr val="0A4F8D"/>
                </a:solidFill>
                <a:latin typeface="Impact" panose="020B0806030902050204" charset="0"/>
                <a:ea typeface="微软雅黑" panose="020B0503020204020204" pitchFamily="34" charset="-122"/>
              </a:rPr>
              <a:t>自生长的架构 </a:t>
            </a:r>
            <a:r>
              <a:rPr lang="en-US" altLang="zh-CN" sz="2800" b="1" dirty="0">
                <a:solidFill>
                  <a:srgbClr val="0A4F8D"/>
                </a:solidFill>
                <a:latin typeface="Impact" panose="020B0806030902050204" charset="0"/>
                <a:ea typeface="微软雅黑" panose="020B0503020204020204" pitchFamily="34" charset="-122"/>
              </a:rPr>
              <a:t>V.S. </a:t>
            </a:r>
            <a:r>
              <a:rPr lang="zh-CN" altLang="en-US" sz="2800" b="1" dirty="0">
                <a:solidFill>
                  <a:srgbClr val="0A4F8D"/>
                </a:solidFill>
                <a:latin typeface="Impact" panose="020B0806030902050204" charset="0"/>
                <a:ea typeface="微软雅黑" panose="020B0503020204020204" pitchFamily="34" charset="-122"/>
              </a:rPr>
              <a:t>有设计的架构</a:t>
            </a:r>
            <a:endParaRPr lang="en-US" altLang="zh-CN" sz="2800" b="1" dirty="0">
              <a:solidFill>
                <a:srgbClr val="0A4F8D"/>
              </a:solidFill>
              <a:latin typeface="Impact" panose="020B0806030902050204" charset="0"/>
              <a:ea typeface="微软雅黑" panose="020B0503020204020204" pitchFamily="34" charset="-122"/>
            </a:endParaRPr>
          </a:p>
        </p:txBody>
      </p:sp>
      <p:sp>
        <p:nvSpPr>
          <p:cNvPr id="272" name="Rectangle 271"/>
          <p:cNvSpPr/>
          <p:nvPr/>
        </p:nvSpPr>
        <p:spPr>
          <a:xfrm>
            <a:off x="3649861" y="2794917"/>
            <a:ext cx="1774825" cy="760412"/>
          </a:xfrm>
          <a:prstGeom prst="rect">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sz="1400" dirty="0">
                <a:solidFill>
                  <a:schemeClr val="tx1"/>
                </a:solidFill>
                <a:latin typeface="微软雅黑" panose="020B0503020204020204" pitchFamily="34" charset="-122"/>
              </a:rPr>
              <a:t>它们都是架构</a:t>
            </a:r>
            <a:endParaRPr lang="en-US" sz="1400" dirty="0">
              <a:solidFill>
                <a:schemeClr val="tx1"/>
              </a:solidFill>
              <a:latin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0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0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zh-CN" altLang="en-US" dirty="0">
                <a:ea typeface="微软雅黑" panose="020B0503020204020204" pitchFamily="34" charset="-122"/>
              </a:rPr>
              <a:t>企业管理中的企业架构定义</a:t>
            </a:r>
            <a:endParaRPr lang="zh-CN" altLang="en-US" dirty="0">
              <a:ea typeface="微软雅黑" panose="020B0503020204020204" pitchFamily="34" charset="-122"/>
            </a:endParaRPr>
          </a:p>
        </p:txBody>
      </p:sp>
      <p:grpSp>
        <p:nvGrpSpPr>
          <p:cNvPr id="16" name="Group 3"/>
          <p:cNvGrpSpPr/>
          <p:nvPr/>
        </p:nvGrpSpPr>
        <p:grpSpPr bwMode="auto">
          <a:xfrm>
            <a:off x="593034" y="1219200"/>
            <a:ext cx="8244840" cy="788988"/>
            <a:chOff x="1749" y="1129"/>
            <a:chExt cx="2739" cy="497"/>
          </a:xfrm>
          <a:solidFill>
            <a:srgbClr val="E4E7E7"/>
          </a:solidFill>
        </p:grpSpPr>
        <p:sp>
          <p:nvSpPr>
            <p:cNvPr id="17" name="Freeform 4"/>
            <p:cNvSpPr/>
            <p:nvPr/>
          </p:nvSpPr>
          <p:spPr bwMode="auto">
            <a:xfrm>
              <a:off x="1749" y="1129"/>
              <a:ext cx="2739" cy="497"/>
            </a:xfrm>
            <a:custGeom>
              <a:avLst/>
              <a:gdLst/>
              <a:ahLst/>
              <a:cxnLst>
                <a:cxn ang="0">
                  <a:pos x="0" y="0"/>
                </a:cxn>
                <a:cxn ang="0">
                  <a:pos x="5004" y="1212"/>
                </a:cxn>
                <a:cxn ang="0">
                  <a:pos x="4962" y="1233"/>
                </a:cxn>
                <a:cxn ang="0">
                  <a:pos x="4872" y="1212"/>
                </a:cxn>
                <a:cxn ang="0">
                  <a:pos x="4747" y="1200"/>
                </a:cxn>
                <a:cxn ang="0">
                  <a:pos x="4644" y="1211"/>
                </a:cxn>
                <a:cxn ang="0">
                  <a:pos x="4536" y="1188"/>
                </a:cxn>
                <a:cxn ang="0">
                  <a:pos x="4480" y="1163"/>
                </a:cxn>
                <a:cxn ang="0">
                  <a:pos x="4408" y="1172"/>
                </a:cxn>
                <a:cxn ang="0">
                  <a:pos x="4297" y="1212"/>
                </a:cxn>
                <a:cxn ang="0">
                  <a:pos x="4219" y="1215"/>
                </a:cxn>
                <a:cxn ang="0">
                  <a:pos x="4171" y="1242"/>
                </a:cxn>
                <a:cxn ang="0">
                  <a:pos x="4078" y="1252"/>
                </a:cxn>
                <a:cxn ang="0">
                  <a:pos x="4073" y="1248"/>
                </a:cxn>
                <a:cxn ang="0">
                  <a:pos x="3987" y="1258"/>
                </a:cxn>
                <a:cxn ang="0">
                  <a:pos x="3646" y="1263"/>
                </a:cxn>
                <a:cxn ang="0">
                  <a:pos x="3562" y="1260"/>
                </a:cxn>
                <a:cxn ang="0">
                  <a:pos x="3521" y="1239"/>
                </a:cxn>
                <a:cxn ang="0">
                  <a:pos x="3451" y="1225"/>
                </a:cxn>
                <a:cxn ang="0">
                  <a:pos x="3377" y="1243"/>
                </a:cxn>
                <a:cxn ang="0">
                  <a:pos x="3348" y="1269"/>
                </a:cxn>
                <a:cxn ang="0">
                  <a:pos x="3285" y="1252"/>
                </a:cxn>
                <a:cxn ang="0">
                  <a:pos x="3202" y="1218"/>
                </a:cxn>
                <a:cxn ang="0">
                  <a:pos x="3089" y="1222"/>
                </a:cxn>
                <a:cxn ang="0">
                  <a:pos x="2934" y="1273"/>
                </a:cxn>
                <a:cxn ang="0">
                  <a:pos x="2753" y="1273"/>
                </a:cxn>
                <a:cxn ang="0">
                  <a:pos x="2551" y="1251"/>
                </a:cxn>
                <a:cxn ang="0">
                  <a:pos x="2449" y="1285"/>
                </a:cxn>
                <a:cxn ang="0">
                  <a:pos x="2385" y="1273"/>
                </a:cxn>
                <a:cxn ang="0">
                  <a:pos x="2304" y="1245"/>
                </a:cxn>
                <a:cxn ang="0">
                  <a:pos x="2234" y="1248"/>
                </a:cxn>
                <a:cxn ang="0">
                  <a:pos x="2116" y="1233"/>
                </a:cxn>
                <a:cxn ang="0">
                  <a:pos x="2053" y="1237"/>
                </a:cxn>
                <a:cxn ang="0">
                  <a:pos x="1970" y="1206"/>
                </a:cxn>
                <a:cxn ang="0">
                  <a:pos x="1912" y="1185"/>
                </a:cxn>
                <a:cxn ang="0">
                  <a:pos x="1850" y="1246"/>
                </a:cxn>
                <a:cxn ang="0">
                  <a:pos x="1777" y="1279"/>
                </a:cxn>
                <a:cxn ang="0">
                  <a:pos x="1471" y="1221"/>
                </a:cxn>
                <a:cxn ang="0">
                  <a:pos x="1383" y="1206"/>
                </a:cxn>
                <a:cxn ang="0">
                  <a:pos x="1317" y="1196"/>
                </a:cxn>
                <a:cxn ang="0">
                  <a:pos x="1241" y="1222"/>
                </a:cxn>
                <a:cxn ang="0">
                  <a:pos x="1141" y="1260"/>
                </a:cxn>
                <a:cxn ang="0">
                  <a:pos x="949" y="1267"/>
                </a:cxn>
                <a:cxn ang="0">
                  <a:pos x="851" y="1248"/>
                </a:cxn>
                <a:cxn ang="0">
                  <a:pos x="730" y="1179"/>
                </a:cxn>
                <a:cxn ang="0">
                  <a:pos x="692" y="1185"/>
                </a:cxn>
                <a:cxn ang="0">
                  <a:pos x="608" y="1230"/>
                </a:cxn>
                <a:cxn ang="0">
                  <a:pos x="505" y="1234"/>
                </a:cxn>
                <a:cxn ang="0">
                  <a:pos x="408" y="1214"/>
                </a:cxn>
                <a:cxn ang="0">
                  <a:pos x="334" y="1218"/>
                </a:cxn>
                <a:cxn ang="0">
                  <a:pos x="292" y="1234"/>
                </a:cxn>
                <a:cxn ang="0">
                  <a:pos x="99" y="1200"/>
                </a:cxn>
              </a:cxnLst>
              <a:rect l="0" t="0" r="r" b="b"/>
              <a:pathLst>
                <a:path w="5004" h="1288">
                  <a:moveTo>
                    <a:pt x="0" y="1175"/>
                  </a:moveTo>
                  <a:lnTo>
                    <a:pt x="0" y="0"/>
                  </a:lnTo>
                  <a:lnTo>
                    <a:pt x="5004" y="0"/>
                  </a:lnTo>
                  <a:lnTo>
                    <a:pt x="5004" y="1212"/>
                  </a:lnTo>
                  <a:lnTo>
                    <a:pt x="4986" y="1227"/>
                  </a:lnTo>
                  <a:lnTo>
                    <a:pt x="4962" y="1233"/>
                  </a:lnTo>
                  <a:lnTo>
                    <a:pt x="4924" y="1227"/>
                  </a:lnTo>
                  <a:lnTo>
                    <a:pt x="4872" y="1212"/>
                  </a:lnTo>
                  <a:lnTo>
                    <a:pt x="4810" y="1203"/>
                  </a:lnTo>
                  <a:lnTo>
                    <a:pt x="4747" y="1200"/>
                  </a:lnTo>
                  <a:lnTo>
                    <a:pt x="4694" y="1206"/>
                  </a:lnTo>
                  <a:lnTo>
                    <a:pt x="4644" y="1211"/>
                  </a:lnTo>
                  <a:lnTo>
                    <a:pt x="4588" y="1203"/>
                  </a:lnTo>
                  <a:lnTo>
                    <a:pt x="4536" y="1188"/>
                  </a:lnTo>
                  <a:lnTo>
                    <a:pt x="4497" y="1170"/>
                  </a:lnTo>
                  <a:lnTo>
                    <a:pt x="4480" y="1163"/>
                  </a:lnTo>
                  <a:lnTo>
                    <a:pt x="4458" y="1161"/>
                  </a:lnTo>
                  <a:lnTo>
                    <a:pt x="4408" y="1172"/>
                  </a:lnTo>
                  <a:lnTo>
                    <a:pt x="4326" y="1206"/>
                  </a:lnTo>
                  <a:lnTo>
                    <a:pt x="4297" y="1212"/>
                  </a:lnTo>
                  <a:lnTo>
                    <a:pt x="4257" y="1214"/>
                  </a:lnTo>
                  <a:lnTo>
                    <a:pt x="4219" y="1215"/>
                  </a:lnTo>
                  <a:lnTo>
                    <a:pt x="4192" y="1227"/>
                  </a:lnTo>
                  <a:lnTo>
                    <a:pt x="4171" y="1242"/>
                  </a:lnTo>
                  <a:lnTo>
                    <a:pt x="4145" y="1252"/>
                  </a:lnTo>
                  <a:lnTo>
                    <a:pt x="4078" y="1252"/>
                  </a:lnTo>
                  <a:lnTo>
                    <a:pt x="4065" y="1248"/>
                  </a:lnTo>
                  <a:lnTo>
                    <a:pt x="4073" y="1248"/>
                  </a:lnTo>
                  <a:lnTo>
                    <a:pt x="4061" y="1251"/>
                  </a:lnTo>
                  <a:lnTo>
                    <a:pt x="3987" y="1258"/>
                  </a:lnTo>
                  <a:lnTo>
                    <a:pt x="3757" y="1263"/>
                  </a:lnTo>
                  <a:lnTo>
                    <a:pt x="3646" y="1263"/>
                  </a:lnTo>
                  <a:lnTo>
                    <a:pt x="3599" y="1263"/>
                  </a:lnTo>
                  <a:lnTo>
                    <a:pt x="3562" y="1260"/>
                  </a:lnTo>
                  <a:lnTo>
                    <a:pt x="3534" y="1248"/>
                  </a:lnTo>
                  <a:lnTo>
                    <a:pt x="3521" y="1239"/>
                  </a:lnTo>
                  <a:lnTo>
                    <a:pt x="3501" y="1231"/>
                  </a:lnTo>
                  <a:lnTo>
                    <a:pt x="3451" y="1225"/>
                  </a:lnTo>
                  <a:lnTo>
                    <a:pt x="3399" y="1233"/>
                  </a:lnTo>
                  <a:lnTo>
                    <a:pt x="3377" y="1243"/>
                  </a:lnTo>
                  <a:lnTo>
                    <a:pt x="3361" y="1258"/>
                  </a:lnTo>
                  <a:lnTo>
                    <a:pt x="3348" y="1269"/>
                  </a:lnTo>
                  <a:lnTo>
                    <a:pt x="3329" y="1270"/>
                  </a:lnTo>
                  <a:lnTo>
                    <a:pt x="3285" y="1252"/>
                  </a:lnTo>
                  <a:lnTo>
                    <a:pt x="3231" y="1227"/>
                  </a:lnTo>
                  <a:lnTo>
                    <a:pt x="3202" y="1218"/>
                  </a:lnTo>
                  <a:lnTo>
                    <a:pt x="3172" y="1217"/>
                  </a:lnTo>
                  <a:lnTo>
                    <a:pt x="3089" y="1222"/>
                  </a:lnTo>
                  <a:lnTo>
                    <a:pt x="2988" y="1252"/>
                  </a:lnTo>
                  <a:lnTo>
                    <a:pt x="2934" y="1273"/>
                  </a:lnTo>
                  <a:lnTo>
                    <a:pt x="2900" y="1282"/>
                  </a:lnTo>
                  <a:lnTo>
                    <a:pt x="2753" y="1273"/>
                  </a:lnTo>
                  <a:lnTo>
                    <a:pt x="2588" y="1254"/>
                  </a:lnTo>
                  <a:lnTo>
                    <a:pt x="2551" y="1251"/>
                  </a:lnTo>
                  <a:lnTo>
                    <a:pt x="2519" y="1258"/>
                  </a:lnTo>
                  <a:lnTo>
                    <a:pt x="2449" y="1285"/>
                  </a:lnTo>
                  <a:lnTo>
                    <a:pt x="2416" y="1288"/>
                  </a:lnTo>
                  <a:lnTo>
                    <a:pt x="2385" y="1273"/>
                  </a:lnTo>
                  <a:lnTo>
                    <a:pt x="2348" y="1254"/>
                  </a:lnTo>
                  <a:lnTo>
                    <a:pt x="2304" y="1245"/>
                  </a:lnTo>
                  <a:lnTo>
                    <a:pt x="2264" y="1243"/>
                  </a:lnTo>
                  <a:lnTo>
                    <a:pt x="2234" y="1248"/>
                  </a:lnTo>
                  <a:lnTo>
                    <a:pt x="2171" y="1243"/>
                  </a:lnTo>
                  <a:lnTo>
                    <a:pt x="2116" y="1233"/>
                  </a:lnTo>
                  <a:lnTo>
                    <a:pt x="2094" y="1231"/>
                  </a:lnTo>
                  <a:lnTo>
                    <a:pt x="2053" y="1237"/>
                  </a:lnTo>
                  <a:lnTo>
                    <a:pt x="2013" y="1228"/>
                  </a:lnTo>
                  <a:lnTo>
                    <a:pt x="1970" y="1206"/>
                  </a:lnTo>
                  <a:lnTo>
                    <a:pt x="1929" y="1187"/>
                  </a:lnTo>
                  <a:lnTo>
                    <a:pt x="1912" y="1185"/>
                  </a:lnTo>
                  <a:lnTo>
                    <a:pt x="1899" y="1191"/>
                  </a:lnTo>
                  <a:lnTo>
                    <a:pt x="1850" y="1246"/>
                  </a:lnTo>
                  <a:lnTo>
                    <a:pt x="1818" y="1270"/>
                  </a:lnTo>
                  <a:lnTo>
                    <a:pt x="1777" y="1279"/>
                  </a:lnTo>
                  <a:lnTo>
                    <a:pt x="1512" y="1242"/>
                  </a:lnTo>
                  <a:lnTo>
                    <a:pt x="1471" y="1221"/>
                  </a:lnTo>
                  <a:lnTo>
                    <a:pt x="1436" y="1209"/>
                  </a:lnTo>
                  <a:lnTo>
                    <a:pt x="1383" y="1206"/>
                  </a:lnTo>
                  <a:lnTo>
                    <a:pt x="1340" y="1203"/>
                  </a:lnTo>
                  <a:lnTo>
                    <a:pt x="1317" y="1196"/>
                  </a:lnTo>
                  <a:lnTo>
                    <a:pt x="1291" y="1199"/>
                  </a:lnTo>
                  <a:lnTo>
                    <a:pt x="1241" y="1222"/>
                  </a:lnTo>
                  <a:lnTo>
                    <a:pt x="1182" y="1251"/>
                  </a:lnTo>
                  <a:lnTo>
                    <a:pt x="1141" y="1260"/>
                  </a:lnTo>
                  <a:lnTo>
                    <a:pt x="1052" y="1263"/>
                  </a:lnTo>
                  <a:lnTo>
                    <a:pt x="949" y="1267"/>
                  </a:lnTo>
                  <a:lnTo>
                    <a:pt x="902" y="1263"/>
                  </a:lnTo>
                  <a:lnTo>
                    <a:pt x="851" y="1248"/>
                  </a:lnTo>
                  <a:lnTo>
                    <a:pt x="765" y="1196"/>
                  </a:lnTo>
                  <a:lnTo>
                    <a:pt x="730" y="1179"/>
                  </a:lnTo>
                  <a:lnTo>
                    <a:pt x="712" y="1179"/>
                  </a:lnTo>
                  <a:lnTo>
                    <a:pt x="692" y="1185"/>
                  </a:lnTo>
                  <a:lnTo>
                    <a:pt x="636" y="1220"/>
                  </a:lnTo>
                  <a:lnTo>
                    <a:pt x="608" y="1230"/>
                  </a:lnTo>
                  <a:lnTo>
                    <a:pt x="561" y="1237"/>
                  </a:lnTo>
                  <a:lnTo>
                    <a:pt x="505" y="1234"/>
                  </a:lnTo>
                  <a:lnTo>
                    <a:pt x="454" y="1224"/>
                  </a:lnTo>
                  <a:lnTo>
                    <a:pt x="408" y="1214"/>
                  </a:lnTo>
                  <a:lnTo>
                    <a:pt x="364" y="1212"/>
                  </a:lnTo>
                  <a:lnTo>
                    <a:pt x="334" y="1218"/>
                  </a:lnTo>
                  <a:lnTo>
                    <a:pt x="314" y="1227"/>
                  </a:lnTo>
                  <a:lnTo>
                    <a:pt x="292" y="1234"/>
                  </a:lnTo>
                  <a:lnTo>
                    <a:pt x="251" y="1233"/>
                  </a:lnTo>
                  <a:lnTo>
                    <a:pt x="99" y="1200"/>
                  </a:lnTo>
                  <a:lnTo>
                    <a:pt x="0" y="1175"/>
                  </a:lnTo>
                  <a:close/>
                </a:path>
              </a:pathLst>
            </a:custGeom>
            <a:solidFill>
              <a:schemeClr val="accent5">
                <a:lumMod val="20000"/>
                <a:lumOff val="80000"/>
              </a:schemeClr>
            </a:solidFill>
            <a:ln w="0">
              <a:solidFill>
                <a:srgbClr val="E4E7E7"/>
              </a:solidFill>
              <a:round/>
            </a:ln>
            <a:effectLst/>
          </p:spPr>
          <p:txBody>
            <a:bodyPr lIns="45720" rIns="45720"/>
            <a:lstStyle/>
            <a:p>
              <a:pPr>
                <a:defRPr/>
              </a:pPr>
              <a:endParaRPr lang="en-US"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18" name="Rectangle 5"/>
            <p:cNvSpPr>
              <a:spLocks noChangeArrowheads="1"/>
            </p:cNvSpPr>
            <p:nvPr/>
          </p:nvSpPr>
          <p:spPr bwMode="auto">
            <a:xfrm>
              <a:off x="1749" y="1129"/>
              <a:ext cx="2739" cy="242"/>
            </a:xfrm>
            <a:prstGeom prst="rect">
              <a:avLst/>
            </a:prstGeom>
            <a:solidFill>
              <a:schemeClr val="accent5">
                <a:lumMod val="20000"/>
                <a:lumOff val="80000"/>
              </a:schemeClr>
            </a:solidFill>
            <a:ln w="0">
              <a:solidFill>
                <a:srgbClr val="E4E7E7"/>
              </a:solidFill>
              <a:miter lim="800000"/>
            </a:ln>
            <a:effectLst/>
          </p:spPr>
          <p:txBody>
            <a:bodyPr lIns="45720" rIns="45720"/>
            <a:lstStyle/>
            <a:p>
              <a:pPr>
                <a:buClr>
                  <a:schemeClr val="tx1"/>
                </a:buClr>
                <a:defRPr/>
              </a:pPr>
              <a:r>
                <a:rPr lang="en-US" sz="1600" dirty="0">
                  <a:latin typeface="微软雅黑" panose="020B0503020204020204" pitchFamily="34" charset="-122"/>
                  <a:ea typeface="微软雅黑" panose="020B0503020204020204" pitchFamily="34" charset="-122"/>
                  <a:cs typeface="Arial" panose="020B0604020202020204" pitchFamily="34" charset="0"/>
                </a:rPr>
                <a:t>“</a:t>
              </a:r>
              <a:r>
                <a:rPr lang="zh-CN" altLang="en-US" sz="1600"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企业架构是关于理解所有构成企业的不同业务功能元素，以及这些元素怎样相互关联的</a:t>
              </a:r>
              <a:r>
                <a:rPr lang="en-US" sz="1600" dirty="0">
                  <a:latin typeface="微软雅黑" panose="020B0503020204020204" pitchFamily="34" charset="-122"/>
                  <a:ea typeface="微软雅黑" panose="020B0503020204020204" pitchFamily="34" charset="-122"/>
                  <a:cs typeface="Arial" panose="020B0604020202020204" pitchFamily="34" charset="0"/>
                </a:rPr>
                <a:t>”</a:t>
              </a:r>
              <a:endParaRPr lang="en-US" sz="160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19" name="Text Box 6"/>
            <p:cNvSpPr txBox="1">
              <a:spLocks noChangeArrowheads="1"/>
            </p:cNvSpPr>
            <p:nvPr/>
          </p:nvSpPr>
          <p:spPr bwMode="auto">
            <a:xfrm>
              <a:off x="3641" y="1371"/>
              <a:ext cx="847" cy="164"/>
            </a:xfrm>
            <a:prstGeom prst="rect">
              <a:avLst/>
            </a:prstGeom>
            <a:grpFill/>
            <a:ln w="0">
              <a:solidFill>
                <a:srgbClr val="E4E7E7"/>
              </a:solidFill>
              <a:miter lim="800000"/>
            </a:ln>
            <a:effectLst/>
          </p:spPr>
          <p:txBody>
            <a:bodyPr wrap="none" lIns="45720" rIns="45720"/>
            <a:lstStyle/>
            <a:p>
              <a:pPr>
                <a:defRPr/>
              </a:pPr>
              <a:r>
                <a:rPr lang="en-US" sz="1100" i="1" dirty="0">
                  <a:latin typeface="微软雅黑" panose="020B0503020204020204" pitchFamily="34" charset="-122"/>
                  <a:ea typeface="微软雅黑" panose="020B0503020204020204" pitchFamily="34" charset="-122"/>
                  <a:cs typeface="Arial" panose="020B0604020202020204" pitchFamily="34" charset="0"/>
                </a:rPr>
                <a:t>The Open Group</a:t>
              </a:r>
              <a:endParaRPr lang="en-US" sz="1100" i="1" dirty="0">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20" name="Group 7"/>
          <p:cNvGrpSpPr/>
          <p:nvPr/>
        </p:nvGrpSpPr>
        <p:grpSpPr bwMode="auto">
          <a:xfrm>
            <a:off x="1483895" y="2067802"/>
            <a:ext cx="7895876" cy="711200"/>
            <a:chOff x="1749" y="2080"/>
            <a:chExt cx="2739" cy="448"/>
          </a:xfrm>
          <a:solidFill>
            <a:srgbClr val="E4E7E7"/>
          </a:solidFill>
        </p:grpSpPr>
        <p:sp>
          <p:nvSpPr>
            <p:cNvPr id="21" name="Freeform 8"/>
            <p:cNvSpPr/>
            <p:nvPr/>
          </p:nvSpPr>
          <p:spPr bwMode="auto">
            <a:xfrm>
              <a:off x="1749" y="2080"/>
              <a:ext cx="2739" cy="448"/>
            </a:xfrm>
            <a:custGeom>
              <a:avLst/>
              <a:gdLst/>
              <a:ahLst/>
              <a:cxnLst>
                <a:cxn ang="0">
                  <a:pos x="0" y="0"/>
                </a:cxn>
                <a:cxn ang="0">
                  <a:pos x="5004" y="1212"/>
                </a:cxn>
                <a:cxn ang="0">
                  <a:pos x="4962" y="1233"/>
                </a:cxn>
                <a:cxn ang="0">
                  <a:pos x="4872" y="1212"/>
                </a:cxn>
                <a:cxn ang="0">
                  <a:pos x="4747" y="1200"/>
                </a:cxn>
                <a:cxn ang="0">
                  <a:pos x="4644" y="1211"/>
                </a:cxn>
                <a:cxn ang="0">
                  <a:pos x="4536" y="1188"/>
                </a:cxn>
                <a:cxn ang="0">
                  <a:pos x="4480" y="1163"/>
                </a:cxn>
                <a:cxn ang="0">
                  <a:pos x="4408" y="1172"/>
                </a:cxn>
                <a:cxn ang="0">
                  <a:pos x="4297" y="1212"/>
                </a:cxn>
                <a:cxn ang="0">
                  <a:pos x="4219" y="1215"/>
                </a:cxn>
                <a:cxn ang="0">
                  <a:pos x="4171" y="1242"/>
                </a:cxn>
                <a:cxn ang="0">
                  <a:pos x="4078" y="1252"/>
                </a:cxn>
                <a:cxn ang="0">
                  <a:pos x="4073" y="1248"/>
                </a:cxn>
                <a:cxn ang="0">
                  <a:pos x="3987" y="1258"/>
                </a:cxn>
                <a:cxn ang="0">
                  <a:pos x="3646" y="1263"/>
                </a:cxn>
                <a:cxn ang="0">
                  <a:pos x="3562" y="1260"/>
                </a:cxn>
                <a:cxn ang="0">
                  <a:pos x="3521" y="1239"/>
                </a:cxn>
                <a:cxn ang="0">
                  <a:pos x="3451" y="1225"/>
                </a:cxn>
                <a:cxn ang="0">
                  <a:pos x="3377" y="1243"/>
                </a:cxn>
                <a:cxn ang="0">
                  <a:pos x="3348" y="1269"/>
                </a:cxn>
                <a:cxn ang="0">
                  <a:pos x="3285" y="1252"/>
                </a:cxn>
                <a:cxn ang="0">
                  <a:pos x="3202" y="1218"/>
                </a:cxn>
                <a:cxn ang="0">
                  <a:pos x="3089" y="1222"/>
                </a:cxn>
                <a:cxn ang="0">
                  <a:pos x="2934" y="1273"/>
                </a:cxn>
                <a:cxn ang="0">
                  <a:pos x="2753" y="1273"/>
                </a:cxn>
                <a:cxn ang="0">
                  <a:pos x="2551" y="1251"/>
                </a:cxn>
                <a:cxn ang="0">
                  <a:pos x="2449" y="1285"/>
                </a:cxn>
                <a:cxn ang="0">
                  <a:pos x="2385" y="1273"/>
                </a:cxn>
                <a:cxn ang="0">
                  <a:pos x="2304" y="1245"/>
                </a:cxn>
                <a:cxn ang="0">
                  <a:pos x="2234" y="1248"/>
                </a:cxn>
                <a:cxn ang="0">
                  <a:pos x="2116" y="1233"/>
                </a:cxn>
                <a:cxn ang="0">
                  <a:pos x="2053" y="1237"/>
                </a:cxn>
                <a:cxn ang="0">
                  <a:pos x="1970" y="1206"/>
                </a:cxn>
                <a:cxn ang="0">
                  <a:pos x="1912" y="1185"/>
                </a:cxn>
                <a:cxn ang="0">
                  <a:pos x="1850" y="1246"/>
                </a:cxn>
                <a:cxn ang="0">
                  <a:pos x="1777" y="1279"/>
                </a:cxn>
                <a:cxn ang="0">
                  <a:pos x="1471" y="1221"/>
                </a:cxn>
                <a:cxn ang="0">
                  <a:pos x="1383" y="1206"/>
                </a:cxn>
                <a:cxn ang="0">
                  <a:pos x="1317" y="1196"/>
                </a:cxn>
                <a:cxn ang="0">
                  <a:pos x="1241" y="1222"/>
                </a:cxn>
                <a:cxn ang="0">
                  <a:pos x="1141" y="1260"/>
                </a:cxn>
                <a:cxn ang="0">
                  <a:pos x="949" y="1267"/>
                </a:cxn>
                <a:cxn ang="0">
                  <a:pos x="851" y="1248"/>
                </a:cxn>
                <a:cxn ang="0">
                  <a:pos x="730" y="1179"/>
                </a:cxn>
                <a:cxn ang="0">
                  <a:pos x="692" y="1185"/>
                </a:cxn>
                <a:cxn ang="0">
                  <a:pos x="608" y="1230"/>
                </a:cxn>
                <a:cxn ang="0">
                  <a:pos x="505" y="1234"/>
                </a:cxn>
                <a:cxn ang="0">
                  <a:pos x="408" y="1214"/>
                </a:cxn>
                <a:cxn ang="0">
                  <a:pos x="334" y="1218"/>
                </a:cxn>
                <a:cxn ang="0">
                  <a:pos x="292" y="1234"/>
                </a:cxn>
                <a:cxn ang="0">
                  <a:pos x="99" y="1200"/>
                </a:cxn>
              </a:cxnLst>
              <a:rect l="0" t="0" r="r" b="b"/>
              <a:pathLst>
                <a:path w="5004" h="1288">
                  <a:moveTo>
                    <a:pt x="0" y="1175"/>
                  </a:moveTo>
                  <a:lnTo>
                    <a:pt x="0" y="0"/>
                  </a:lnTo>
                  <a:lnTo>
                    <a:pt x="5004" y="0"/>
                  </a:lnTo>
                  <a:lnTo>
                    <a:pt x="5004" y="1212"/>
                  </a:lnTo>
                  <a:lnTo>
                    <a:pt x="4986" y="1227"/>
                  </a:lnTo>
                  <a:lnTo>
                    <a:pt x="4962" y="1233"/>
                  </a:lnTo>
                  <a:lnTo>
                    <a:pt x="4924" y="1227"/>
                  </a:lnTo>
                  <a:lnTo>
                    <a:pt x="4872" y="1212"/>
                  </a:lnTo>
                  <a:lnTo>
                    <a:pt x="4810" y="1203"/>
                  </a:lnTo>
                  <a:lnTo>
                    <a:pt x="4747" y="1200"/>
                  </a:lnTo>
                  <a:lnTo>
                    <a:pt x="4694" y="1206"/>
                  </a:lnTo>
                  <a:lnTo>
                    <a:pt x="4644" y="1211"/>
                  </a:lnTo>
                  <a:lnTo>
                    <a:pt x="4588" y="1203"/>
                  </a:lnTo>
                  <a:lnTo>
                    <a:pt x="4536" y="1188"/>
                  </a:lnTo>
                  <a:lnTo>
                    <a:pt x="4497" y="1170"/>
                  </a:lnTo>
                  <a:lnTo>
                    <a:pt x="4480" y="1163"/>
                  </a:lnTo>
                  <a:lnTo>
                    <a:pt x="4458" y="1161"/>
                  </a:lnTo>
                  <a:lnTo>
                    <a:pt x="4408" y="1172"/>
                  </a:lnTo>
                  <a:lnTo>
                    <a:pt x="4326" y="1206"/>
                  </a:lnTo>
                  <a:lnTo>
                    <a:pt x="4297" y="1212"/>
                  </a:lnTo>
                  <a:lnTo>
                    <a:pt x="4257" y="1214"/>
                  </a:lnTo>
                  <a:lnTo>
                    <a:pt x="4219" y="1215"/>
                  </a:lnTo>
                  <a:lnTo>
                    <a:pt x="4192" y="1227"/>
                  </a:lnTo>
                  <a:lnTo>
                    <a:pt x="4171" y="1242"/>
                  </a:lnTo>
                  <a:lnTo>
                    <a:pt x="4145" y="1252"/>
                  </a:lnTo>
                  <a:lnTo>
                    <a:pt x="4078" y="1252"/>
                  </a:lnTo>
                  <a:lnTo>
                    <a:pt x="4065" y="1248"/>
                  </a:lnTo>
                  <a:lnTo>
                    <a:pt x="4073" y="1248"/>
                  </a:lnTo>
                  <a:lnTo>
                    <a:pt x="4061" y="1251"/>
                  </a:lnTo>
                  <a:lnTo>
                    <a:pt x="3987" y="1258"/>
                  </a:lnTo>
                  <a:lnTo>
                    <a:pt x="3757" y="1263"/>
                  </a:lnTo>
                  <a:lnTo>
                    <a:pt x="3646" y="1263"/>
                  </a:lnTo>
                  <a:lnTo>
                    <a:pt x="3599" y="1263"/>
                  </a:lnTo>
                  <a:lnTo>
                    <a:pt x="3562" y="1260"/>
                  </a:lnTo>
                  <a:lnTo>
                    <a:pt x="3534" y="1248"/>
                  </a:lnTo>
                  <a:lnTo>
                    <a:pt x="3521" y="1239"/>
                  </a:lnTo>
                  <a:lnTo>
                    <a:pt x="3501" y="1231"/>
                  </a:lnTo>
                  <a:lnTo>
                    <a:pt x="3451" y="1225"/>
                  </a:lnTo>
                  <a:lnTo>
                    <a:pt x="3399" y="1233"/>
                  </a:lnTo>
                  <a:lnTo>
                    <a:pt x="3377" y="1243"/>
                  </a:lnTo>
                  <a:lnTo>
                    <a:pt x="3361" y="1258"/>
                  </a:lnTo>
                  <a:lnTo>
                    <a:pt x="3348" y="1269"/>
                  </a:lnTo>
                  <a:lnTo>
                    <a:pt x="3329" y="1270"/>
                  </a:lnTo>
                  <a:lnTo>
                    <a:pt x="3285" y="1252"/>
                  </a:lnTo>
                  <a:lnTo>
                    <a:pt x="3231" y="1227"/>
                  </a:lnTo>
                  <a:lnTo>
                    <a:pt x="3202" y="1218"/>
                  </a:lnTo>
                  <a:lnTo>
                    <a:pt x="3172" y="1217"/>
                  </a:lnTo>
                  <a:lnTo>
                    <a:pt x="3089" y="1222"/>
                  </a:lnTo>
                  <a:lnTo>
                    <a:pt x="2988" y="1252"/>
                  </a:lnTo>
                  <a:lnTo>
                    <a:pt x="2934" y="1273"/>
                  </a:lnTo>
                  <a:lnTo>
                    <a:pt x="2900" y="1282"/>
                  </a:lnTo>
                  <a:lnTo>
                    <a:pt x="2753" y="1273"/>
                  </a:lnTo>
                  <a:lnTo>
                    <a:pt x="2588" y="1254"/>
                  </a:lnTo>
                  <a:lnTo>
                    <a:pt x="2551" y="1251"/>
                  </a:lnTo>
                  <a:lnTo>
                    <a:pt x="2519" y="1258"/>
                  </a:lnTo>
                  <a:lnTo>
                    <a:pt x="2449" y="1285"/>
                  </a:lnTo>
                  <a:lnTo>
                    <a:pt x="2416" y="1288"/>
                  </a:lnTo>
                  <a:lnTo>
                    <a:pt x="2385" y="1273"/>
                  </a:lnTo>
                  <a:lnTo>
                    <a:pt x="2348" y="1254"/>
                  </a:lnTo>
                  <a:lnTo>
                    <a:pt x="2304" y="1245"/>
                  </a:lnTo>
                  <a:lnTo>
                    <a:pt x="2264" y="1243"/>
                  </a:lnTo>
                  <a:lnTo>
                    <a:pt x="2234" y="1248"/>
                  </a:lnTo>
                  <a:lnTo>
                    <a:pt x="2171" y="1243"/>
                  </a:lnTo>
                  <a:lnTo>
                    <a:pt x="2116" y="1233"/>
                  </a:lnTo>
                  <a:lnTo>
                    <a:pt x="2094" y="1231"/>
                  </a:lnTo>
                  <a:lnTo>
                    <a:pt x="2053" y="1237"/>
                  </a:lnTo>
                  <a:lnTo>
                    <a:pt x="2013" y="1228"/>
                  </a:lnTo>
                  <a:lnTo>
                    <a:pt x="1970" y="1206"/>
                  </a:lnTo>
                  <a:lnTo>
                    <a:pt x="1929" y="1187"/>
                  </a:lnTo>
                  <a:lnTo>
                    <a:pt x="1912" y="1185"/>
                  </a:lnTo>
                  <a:lnTo>
                    <a:pt x="1899" y="1191"/>
                  </a:lnTo>
                  <a:lnTo>
                    <a:pt x="1850" y="1246"/>
                  </a:lnTo>
                  <a:lnTo>
                    <a:pt x="1818" y="1270"/>
                  </a:lnTo>
                  <a:lnTo>
                    <a:pt x="1777" y="1279"/>
                  </a:lnTo>
                  <a:lnTo>
                    <a:pt x="1512" y="1242"/>
                  </a:lnTo>
                  <a:lnTo>
                    <a:pt x="1471" y="1221"/>
                  </a:lnTo>
                  <a:lnTo>
                    <a:pt x="1436" y="1209"/>
                  </a:lnTo>
                  <a:lnTo>
                    <a:pt x="1383" y="1206"/>
                  </a:lnTo>
                  <a:lnTo>
                    <a:pt x="1340" y="1203"/>
                  </a:lnTo>
                  <a:lnTo>
                    <a:pt x="1317" y="1196"/>
                  </a:lnTo>
                  <a:lnTo>
                    <a:pt x="1291" y="1199"/>
                  </a:lnTo>
                  <a:lnTo>
                    <a:pt x="1241" y="1222"/>
                  </a:lnTo>
                  <a:lnTo>
                    <a:pt x="1182" y="1251"/>
                  </a:lnTo>
                  <a:lnTo>
                    <a:pt x="1141" y="1260"/>
                  </a:lnTo>
                  <a:lnTo>
                    <a:pt x="1052" y="1263"/>
                  </a:lnTo>
                  <a:lnTo>
                    <a:pt x="949" y="1267"/>
                  </a:lnTo>
                  <a:lnTo>
                    <a:pt x="902" y="1263"/>
                  </a:lnTo>
                  <a:lnTo>
                    <a:pt x="851" y="1248"/>
                  </a:lnTo>
                  <a:lnTo>
                    <a:pt x="765" y="1196"/>
                  </a:lnTo>
                  <a:lnTo>
                    <a:pt x="730" y="1179"/>
                  </a:lnTo>
                  <a:lnTo>
                    <a:pt x="712" y="1179"/>
                  </a:lnTo>
                  <a:lnTo>
                    <a:pt x="692" y="1185"/>
                  </a:lnTo>
                  <a:lnTo>
                    <a:pt x="636" y="1220"/>
                  </a:lnTo>
                  <a:lnTo>
                    <a:pt x="608" y="1230"/>
                  </a:lnTo>
                  <a:lnTo>
                    <a:pt x="561" y="1237"/>
                  </a:lnTo>
                  <a:lnTo>
                    <a:pt x="505" y="1234"/>
                  </a:lnTo>
                  <a:lnTo>
                    <a:pt x="454" y="1224"/>
                  </a:lnTo>
                  <a:lnTo>
                    <a:pt x="408" y="1214"/>
                  </a:lnTo>
                  <a:lnTo>
                    <a:pt x="364" y="1212"/>
                  </a:lnTo>
                  <a:lnTo>
                    <a:pt x="334" y="1218"/>
                  </a:lnTo>
                  <a:lnTo>
                    <a:pt x="314" y="1227"/>
                  </a:lnTo>
                  <a:lnTo>
                    <a:pt x="292" y="1234"/>
                  </a:lnTo>
                  <a:lnTo>
                    <a:pt x="251" y="1233"/>
                  </a:lnTo>
                  <a:lnTo>
                    <a:pt x="99" y="1200"/>
                  </a:lnTo>
                  <a:lnTo>
                    <a:pt x="0" y="1175"/>
                  </a:lnTo>
                  <a:close/>
                </a:path>
              </a:pathLst>
            </a:custGeom>
            <a:solidFill>
              <a:schemeClr val="accent5">
                <a:lumMod val="20000"/>
                <a:lumOff val="80000"/>
              </a:schemeClr>
            </a:solidFill>
            <a:ln w="0">
              <a:solidFill>
                <a:srgbClr val="E4E7E7"/>
              </a:solidFill>
              <a:round/>
            </a:ln>
            <a:effectLst/>
          </p:spPr>
          <p:txBody>
            <a:bodyPr lIns="45720" rIns="45720"/>
            <a:lstStyle/>
            <a:p>
              <a:pPr>
                <a:defRPr/>
              </a:pPr>
              <a:endParaRPr lang="en-US"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22" name="Rectangle 9"/>
            <p:cNvSpPr>
              <a:spLocks noChangeArrowheads="1"/>
            </p:cNvSpPr>
            <p:nvPr/>
          </p:nvSpPr>
          <p:spPr bwMode="auto">
            <a:xfrm>
              <a:off x="1749" y="2080"/>
              <a:ext cx="2739" cy="208"/>
            </a:xfrm>
            <a:prstGeom prst="rect">
              <a:avLst/>
            </a:prstGeom>
            <a:solidFill>
              <a:schemeClr val="accent5">
                <a:lumMod val="20000"/>
                <a:lumOff val="80000"/>
              </a:schemeClr>
            </a:solidFill>
            <a:ln w="0">
              <a:solidFill>
                <a:srgbClr val="E4E7E7"/>
              </a:solidFill>
              <a:miter lim="800000"/>
            </a:ln>
            <a:effectLst/>
          </p:spPr>
          <p:txBody>
            <a:bodyPr lIns="45720" rIns="45720"/>
            <a:lstStyle/>
            <a:p>
              <a:pPr>
                <a:buClr>
                  <a:schemeClr val="tx1"/>
                </a:buClr>
                <a:defRPr/>
              </a:pPr>
              <a:r>
                <a:rPr lang="en-US" sz="1600" dirty="0">
                  <a:latin typeface="微软雅黑" panose="020B0503020204020204" pitchFamily="34" charset="-122"/>
                  <a:ea typeface="微软雅黑" panose="020B0503020204020204" pitchFamily="34" charset="-122"/>
                  <a:cs typeface="Arial" panose="020B0604020202020204" pitchFamily="34" charset="0"/>
                </a:rPr>
                <a:t>“</a:t>
              </a:r>
              <a:r>
                <a:rPr lang="zh-CN" altLang="en-US" sz="1600" dirty="0">
                  <a:latin typeface="微软雅黑" panose="020B0503020204020204" pitchFamily="34" charset="-122"/>
                  <a:ea typeface="微软雅黑" panose="020B0503020204020204" pitchFamily="34" charset="-122"/>
                  <a:cs typeface="Arial" panose="020B0604020202020204" pitchFamily="34" charset="0"/>
                </a:rPr>
                <a:t>企业架构是论述业务、管理流程、信息技术当前和将来关系的文档或蓝图</a:t>
              </a:r>
              <a:r>
                <a:rPr lang="en-US" sz="1600" dirty="0">
                  <a:latin typeface="微软雅黑" panose="020B0503020204020204" pitchFamily="34" charset="-122"/>
                  <a:ea typeface="微软雅黑" panose="020B0503020204020204" pitchFamily="34" charset="-122"/>
                  <a:cs typeface="Arial" panose="020B0604020202020204" pitchFamily="34" charset="0"/>
                </a:rPr>
                <a:t>”</a:t>
              </a:r>
              <a:endParaRPr lang="en-US" sz="160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23" name="Text Box 10"/>
            <p:cNvSpPr txBox="1">
              <a:spLocks noChangeArrowheads="1"/>
            </p:cNvSpPr>
            <p:nvPr/>
          </p:nvSpPr>
          <p:spPr bwMode="auto">
            <a:xfrm>
              <a:off x="3118" y="2288"/>
              <a:ext cx="1370" cy="164"/>
            </a:xfrm>
            <a:prstGeom prst="rect">
              <a:avLst/>
            </a:prstGeom>
            <a:grpFill/>
            <a:ln w="0">
              <a:solidFill>
                <a:srgbClr val="E4E7E7"/>
              </a:solidFill>
              <a:miter lim="800000"/>
            </a:ln>
            <a:effectLst/>
          </p:spPr>
          <p:txBody>
            <a:bodyPr wrap="none" lIns="45720" rIns="45720"/>
            <a:lstStyle/>
            <a:p>
              <a:pPr>
                <a:defRPr/>
              </a:pPr>
              <a:r>
                <a:rPr lang="zh-CN" altLang="en-US" sz="1100" i="1" dirty="0">
                  <a:latin typeface="微软雅黑" panose="020B0503020204020204" pitchFamily="34" charset="-122"/>
                  <a:ea typeface="微软雅黑" panose="020B0503020204020204" pitchFamily="34" charset="-122"/>
                  <a:cs typeface="Arial" panose="020B0604020202020204" pitchFamily="34" charset="0"/>
                </a:rPr>
                <a:t>美国管理和预算办公室（</a:t>
              </a:r>
              <a:r>
                <a:rPr lang="en-US" altLang="zh-CN" sz="1100" i="1" dirty="0">
                  <a:latin typeface="微软雅黑" panose="020B0503020204020204" pitchFamily="34" charset="-122"/>
                  <a:ea typeface="微软雅黑" panose="020B0503020204020204" pitchFamily="34" charset="-122"/>
                  <a:cs typeface="Arial" panose="020B0604020202020204" pitchFamily="34" charset="0"/>
                </a:rPr>
                <a:t>MBO</a:t>
              </a:r>
              <a:r>
                <a:rPr lang="zh-CN" altLang="en-US" sz="1100" i="1" dirty="0">
                  <a:latin typeface="微软雅黑" panose="020B0503020204020204" pitchFamily="34" charset="-122"/>
                  <a:ea typeface="微软雅黑" panose="020B0503020204020204" pitchFamily="34" charset="-122"/>
                  <a:cs typeface="Arial" panose="020B0604020202020204" pitchFamily="34" charset="0"/>
                </a:rPr>
                <a:t>）</a:t>
              </a:r>
              <a:endParaRPr lang="zh-CN" altLang="en-US" sz="1100" i="1" dirty="0">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24" name="Group 11"/>
          <p:cNvGrpSpPr/>
          <p:nvPr/>
        </p:nvGrpSpPr>
        <p:grpSpPr bwMode="auto">
          <a:xfrm>
            <a:off x="594360" y="2840600"/>
            <a:ext cx="8790272" cy="969963"/>
            <a:chOff x="1749" y="3227"/>
            <a:chExt cx="2739" cy="611"/>
          </a:xfrm>
          <a:solidFill>
            <a:srgbClr val="E4E7E7"/>
          </a:solidFill>
        </p:grpSpPr>
        <p:sp>
          <p:nvSpPr>
            <p:cNvPr id="25" name="Freeform 12"/>
            <p:cNvSpPr/>
            <p:nvPr/>
          </p:nvSpPr>
          <p:spPr bwMode="auto">
            <a:xfrm>
              <a:off x="1749" y="3227"/>
              <a:ext cx="2739" cy="611"/>
            </a:xfrm>
            <a:custGeom>
              <a:avLst/>
              <a:gdLst/>
              <a:ahLst/>
              <a:cxnLst>
                <a:cxn ang="0">
                  <a:pos x="0" y="0"/>
                </a:cxn>
                <a:cxn ang="0">
                  <a:pos x="5004" y="1212"/>
                </a:cxn>
                <a:cxn ang="0">
                  <a:pos x="4962" y="1233"/>
                </a:cxn>
                <a:cxn ang="0">
                  <a:pos x="4872" y="1212"/>
                </a:cxn>
                <a:cxn ang="0">
                  <a:pos x="4747" y="1200"/>
                </a:cxn>
                <a:cxn ang="0">
                  <a:pos x="4644" y="1211"/>
                </a:cxn>
                <a:cxn ang="0">
                  <a:pos x="4536" y="1188"/>
                </a:cxn>
                <a:cxn ang="0">
                  <a:pos x="4480" y="1163"/>
                </a:cxn>
                <a:cxn ang="0">
                  <a:pos x="4408" y="1172"/>
                </a:cxn>
                <a:cxn ang="0">
                  <a:pos x="4297" y="1212"/>
                </a:cxn>
                <a:cxn ang="0">
                  <a:pos x="4219" y="1215"/>
                </a:cxn>
                <a:cxn ang="0">
                  <a:pos x="4171" y="1242"/>
                </a:cxn>
                <a:cxn ang="0">
                  <a:pos x="4078" y="1252"/>
                </a:cxn>
                <a:cxn ang="0">
                  <a:pos x="4073" y="1248"/>
                </a:cxn>
                <a:cxn ang="0">
                  <a:pos x="3987" y="1258"/>
                </a:cxn>
                <a:cxn ang="0">
                  <a:pos x="3646" y="1263"/>
                </a:cxn>
                <a:cxn ang="0">
                  <a:pos x="3562" y="1260"/>
                </a:cxn>
                <a:cxn ang="0">
                  <a:pos x="3521" y="1239"/>
                </a:cxn>
                <a:cxn ang="0">
                  <a:pos x="3451" y="1225"/>
                </a:cxn>
                <a:cxn ang="0">
                  <a:pos x="3377" y="1243"/>
                </a:cxn>
                <a:cxn ang="0">
                  <a:pos x="3348" y="1269"/>
                </a:cxn>
                <a:cxn ang="0">
                  <a:pos x="3285" y="1252"/>
                </a:cxn>
                <a:cxn ang="0">
                  <a:pos x="3202" y="1218"/>
                </a:cxn>
                <a:cxn ang="0">
                  <a:pos x="3089" y="1222"/>
                </a:cxn>
                <a:cxn ang="0">
                  <a:pos x="2934" y="1273"/>
                </a:cxn>
                <a:cxn ang="0">
                  <a:pos x="2753" y="1273"/>
                </a:cxn>
                <a:cxn ang="0">
                  <a:pos x="2551" y="1251"/>
                </a:cxn>
                <a:cxn ang="0">
                  <a:pos x="2449" y="1285"/>
                </a:cxn>
                <a:cxn ang="0">
                  <a:pos x="2385" y="1273"/>
                </a:cxn>
                <a:cxn ang="0">
                  <a:pos x="2304" y="1245"/>
                </a:cxn>
                <a:cxn ang="0">
                  <a:pos x="2234" y="1248"/>
                </a:cxn>
                <a:cxn ang="0">
                  <a:pos x="2116" y="1233"/>
                </a:cxn>
                <a:cxn ang="0">
                  <a:pos x="2053" y="1237"/>
                </a:cxn>
                <a:cxn ang="0">
                  <a:pos x="1970" y="1206"/>
                </a:cxn>
                <a:cxn ang="0">
                  <a:pos x="1912" y="1185"/>
                </a:cxn>
                <a:cxn ang="0">
                  <a:pos x="1850" y="1246"/>
                </a:cxn>
                <a:cxn ang="0">
                  <a:pos x="1777" y="1279"/>
                </a:cxn>
                <a:cxn ang="0">
                  <a:pos x="1471" y="1221"/>
                </a:cxn>
                <a:cxn ang="0">
                  <a:pos x="1383" y="1206"/>
                </a:cxn>
                <a:cxn ang="0">
                  <a:pos x="1317" y="1196"/>
                </a:cxn>
                <a:cxn ang="0">
                  <a:pos x="1241" y="1222"/>
                </a:cxn>
                <a:cxn ang="0">
                  <a:pos x="1141" y="1260"/>
                </a:cxn>
                <a:cxn ang="0">
                  <a:pos x="949" y="1267"/>
                </a:cxn>
                <a:cxn ang="0">
                  <a:pos x="851" y="1248"/>
                </a:cxn>
                <a:cxn ang="0">
                  <a:pos x="730" y="1179"/>
                </a:cxn>
                <a:cxn ang="0">
                  <a:pos x="692" y="1185"/>
                </a:cxn>
                <a:cxn ang="0">
                  <a:pos x="608" y="1230"/>
                </a:cxn>
                <a:cxn ang="0">
                  <a:pos x="505" y="1234"/>
                </a:cxn>
                <a:cxn ang="0">
                  <a:pos x="408" y="1214"/>
                </a:cxn>
                <a:cxn ang="0">
                  <a:pos x="334" y="1218"/>
                </a:cxn>
                <a:cxn ang="0">
                  <a:pos x="292" y="1234"/>
                </a:cxn>
                <a:cxn ang="0">
                  <a:pos x="99" y="1200"/>
                </a:cxn>
              </a:cxnLst>
              <a:rect l="0" t="0" r="r" b="b"/>
              <a:pathLst>
                <a:path w="5004" h="1288">
                  <a:moveTo>
                    <a:pt x="0" y="1175"/>
                  </a:moveTo>
                  <a:lnTo>
                    <a:pt x="0" y="0"/>
                  </a:lnTo>
                  <a:lnTo>
                    <a:pt x="5004" y="0"/>
                  </a:lnTo>
                  <a:lnTo>
                    <a:pt x="5004" y="1212"/>
                  </a:lnTo>
                  <a:lnTo>
                    <a:pt x="4986" y="1227"/>
                  </a:lnTo>
                  <a:lnTo>
                    <a:pt x="4962" y="1233"/>
                  </a:lnTo>
                  <a:lnTo>
                    <a:pt x="4924" y="1227"/>
                  </a:lnTo>
                  <a:lnTo>
                    <a:pt x="4872" y="1212"/>
                  </a:lnTo>
                  <a:lnTo>
                    <a:pt x="4810" y="1203"/>
                  </a:lnTo>
                  <a:lnTo>
                    <a:pt x="4747" y="1200"/>
                  </a:lnTo>
                  <a:lnTo>
                    <a:pt x="4694" y="1206"/>
                  </a:lnTo>
                  <a:lnTo>
                    <a:pt x="4644" y="1211"/>
                  </a:lnTo>
                  <a:lnTo>
                    <a:pt x="4588" y="1203"/>
                  </a:lnTo>
                  <a:lnTo>
                    <a:pt x="4536" y="1188"/>
                  </a:lnTo>
                  <a:lnTo>
                    <a:pt x="4497" y="1170"/>
                  </a:lnTo>
                  <a:lnTo>
                    <a:pt x="4480" y="1163"/>
                  </a:lnTo>
                  <a:lnTo>
                    <a:pt x="4458" y="1161"/>
                  </a:lnTo>
                  <a:lnTo>
                    <a:pt x="4408" y="1172"/>
                  </a:lnTo>
                  <a:lnTo>
                    <a:pt x="4326" y="1206"/>
                  </a:lnTo>
                  <a:lnTo>
                    <a:pt x="4297" y="1212"/>
                  </a:lnTo>
                  <a:lnTo>
                    <a:pt x="4257" y="1214"/>
                  </a:lnTo>
                  <a:lnTo>
                    <a:pt x="4219" y="1215"/>
                  </a:lnTo>
                  <a:lnTo>
                    <a:pt x="4192" y="1227"/>
                  </a:lnTo>
                  <a:lnTo>
                    <a:pt x="4171" y="1242"/>
                  </a:lnTo>
                  <a:lnTo>
                    <a:pt x="4145" y="1252"/>
                  </a:lnTo>
                  <a:lnTo>
                    <a:pt x="4078" y="1252"/>
                  </a:lnTo>
                  <a:lnTo>
                    <a:pt x="4065" y="1248"/>
                  </a:lnTo>
                  <a:lnTo>
                    <a:pt x="4073" y="1248"/>
                  </a:lnTo>
                  <a:lnTo>
                    <a:pt x="4061" y="1251"/>
                  </a:lnTo>
                  <a:lnTo>
                    <a:pt x="3987" y="1258"/>
                  </a:lnTo>
                  <a:lnTo>
                    <a:pt x="3757" y="1263"/>
                  </a:lnTo>
                  <a:lnTo>
                    <a:pt x="3646" y="1263"/>
                  </a:lnTo>
                  <a:lnTo>
                    <a:pt x="3599" y="1263"/>
                  </a:lnTo>
                  <a:lnTo>
                    <a:pt x="3562" y="1260"/>
                  </a:lnTo>
                  <a:lnTo>
                    <a:pt x="3534" y="1248"/>
                  </a:lnTo>
                  <a:lnTo>
                    <a:pt x="3521" y="1239"/>
                  </a:lnTo>
                  <a:lnTo>
                    <a:pt x="3501" y="1231"/>
                  </a:lnTo>
                  <a:lnTo>
                    <a:pt x="3451" y="1225"/>
                  </a:lnTo>
                  <a:lnTo>
                    <a:pt x="3399" y="1233"/>
                  </a:lnTo>
                  <a:lnTo>
                    <a:pt x="3377" y="1243"/>
                  </a:lnTo>
                  <a:lnTo>
                    <a:pt x="3361" y="1258"/>
                  </a:lnTo>
                  <a:lnTo>
                    <a:pt x="3348" y="1269"/>
                  </a:lnTo>
                  <a:lnTo>
                    <a:pt x="3329" y="1270"/>
                  </a:lnTo>
                  <a:lnTo>
                    <a:pt x="3285" y="1252"/>
                  </a:lnTo>
                  <a:lnTo>
                    <a:pt x="3231" y="1227"/>
                  </a:lnTo>
                  <a:lnTo>
                    <a:pt x="3202" y="1218"/>
                  </a:lnTo>
                  <a:lnTo>
                    <a:pt x="3172" y="1217"/>
                  </a:lnTo>
                  <a:lnTo>
                    <a:pt x="3089" y="1222"/>
                  </a:lnTo>
                  <a:lnTo>
                    <a:pt x="2988" y="1252"/>
                  </a:lnTo>
                  <a:lnTo>
                    <a:pt x="2934" y="1273"/>
                  </a:lnTo>
                  <a:lnTo>
                    <a:pt x="2900" y="1282"/>
                  </a:lnTo>
                  <a:lnTo>
                    <a:pt x="2753" y="1273"/>
                  </a:lnTo>
                  <a:lnTo>
                    <a:pt x="2588" y="1254"/>
                  </a:lnTo>
                  <a:lnTo>
                    <a:pt x="2551" y="1251"/>
                  </a:lnTo>
                  <a:lnTo>
                    <a:pt x="2519" y="1258"/>
                  </a:lnTo>
                  <a:lnTo>
                    <a:pt x="2449" y="1285"/>
                  </a:lnTo>
                  <a:lnTo>
                    <a:pt x="2416" y="1288"/>
                  </a:lnTo>
                  <a:lnTo>
                    <a:pt x="2385" y="1273"/>
                  </a:lnTo>
                  <a:lnTo>
                    <a:pt x="2348" y="1254"/>
                  </a:lnTo>
                  <a:lnTo>
                    <a:pt x="2304" y="1245"/>
                  </a:lnTo>
                  <a:lnTo>
                    <a:pt x="2264" y="1243"/>
                  </a:lnTo>
                  <a:lnTo>
                    <a:pt x="2234" y="1248"/>
                  </a:lnTo>
                  <a:lnTo>
                    <a:pt x="2171" y="1243"/>
                  </a:lnTo>
                  <a:lnTo>
                    <a:pt x="2116" y="1233"/>
                  </a:lnTo>
                  <a:lnTo>
                    <a:pt x="2094" y="1231"/>
                  </a:lnTo>
                  <a:lnTo>
                    <a:pt x="2053" y="1237"/>
                  </a:lnTo>
                  <a:lnTo>
                    <a:pt x="2013" y="1228"/>
                  </a:lnTo>
                  <a:lnTo>
                    <a:pt x="1970" y="1206"/>
                  </a:lnTo>
                  <a:lnTo>
                    <a:pt x="1929" y="1187"/>
                  </a:lnTo>
                  <a:lnTo>
                    <a:pt x="1912" y="1185"/>
                  </a:lnTo>
                  <a:lnTo>
                    <a:pt x="1899" y="1191"/>
                  </a:lnTo>
                  <a:lnTo>
                    <a:pt x="1850" y="1246"/>
                  </a:lnTo>
                  <a:lnTo>
                    <a:pt x="1818" y="1270"/>
                  </a:lnTo>
                  <a:lnTo>
                    <a:pt x="1777" y="1279"/>
                  </a:lnTo>
                  <a:lnTo>
                    <a:pt x="1512" y="1242"/>
                  </a:lnTo>
                  <a:lnTo>
                    <a:pt x="1471" y="1221"/>
                  </a:lnTo>
                  <a:lnTo>
                    <a:pt x="1436" y="1209"/>
                  </a:lnTo>
                  <a:lnTo>
                    <a:pt x="1383" y="1206"/>
                  </a:lnTo>
                  <a:lnTo>
                    <a:pt x="1340" y="1203"/>
                  </a:lnTo>
                  <a:lnTo>
                    <a:pt x="1317" y="1196"/>
                  </a:lnTo>
                  <a:lnTo>
                    <a:pt x="1291" y="1199"/>
                  </a:lnTo>
                  <a:lnTo>
                    <a:pt x="1241" y="1222"/>
                  </a:lnTo>
                  <a:lnTo>
                    <a:pt x="1182" y="1251"/>
                  </a:lnTo>
                  <a:lnTo>
                    <a:pt x="1141" y="1260"/>
                  </a:lnTo>
                  <a:lnTo>
                    <a:pt x="1052" y="1263"/>
                  </a:lnTo>
                  <a:lnTo>
                    <a:pt x="949" y="1267"/>
                  </a:lnTo>
                  <a:lnTo>
                    <a:pt x="902" y="1263"/>
                  </a:lnTo>
                  <a:lnTo>
                    <a:pt x="851" y="1248"/>
                  </a:lnTo>
                  <a:lnTo>
                    <a:pt x="765" y="1196"/>
                  </a:lnTo>
                  <a:lnTo>
                    <a:pt x="730" y="1179"/>
                  </a:lnTo>
                  <a:lnTo>
                    <a:pt x="712" y="1179"/>
                  </a:lnTo>
                  <a:lnTo>
                    <a:pt x="692" y="1185"/>
                  </a:lnTo>
                  <a:lnTo>
                    <a:pt x="636" y="1220"/>
                  </a:lnTo>
                  <a:lnTo>
                    <a:pt x="608" y="1230"/>
                  </a:lnTo>
                  <a:lnTo>
                    <a:pt x="561" y="1237"/>
                  </a:lnTo>
                  <a:lnTo>
                    <a:pt x="505" y="1234"/>
                  </a:lnTo>
                  <a:lnTo>
                    <a:pt x="454" y="1224"/>
                  </a:lnTo>
                  <a:lnTo>
                    <a:pt x="408" y="1214"/>
                  </a:lnTo>
                  <a:lnTo>
                    <a:pt x="364" y="1212"/>
                  </a:lnTo>
                  <a:lnTo>
                    <a:pt x="334" y="1218"/>
                  </a:lnTo>
                  <a:lnTo>
                    <a:pt x="314" y="1227"/>
                  </a:lnTo>
                  <a:lnTo>
                    <a:pt x="292" y="1234"/>
                  </a:lnTo>
                  <a:lnTo>
                    <a:pt x="251" y="1233"/>
                  </a:lnTo>
                  <a:lnTo>
                    <a:pt x="99" y="1200"/>
                  </a:lnTo>
                  <a:lnTo>
                    <a:pt x="0" y="1175"/>
                  </a:lnTo>
                  <a:close/>
                </a:path>
              </a:pathLst>
            </a:custGeom>
            <a:solidFill>
              <a:schemeClr val="accent5">
                <a:lumMod val="20000"/>
                <a:lumOff val="80000"/>
              </a:schemeClr>
            </a:solidFill>
            <a:ln w="0">
              <a:solidFill>
                <a:srgbClr val="E4E7E7"/>
              </a:solidFill>
              <a:round/>
            </a:ln>
            <a:effectLst/>
          </p:spPr>
          <p:txBody>
            <a:bodyPr lIns="45720" rIns="45720"/>
            <a:lstStyle/>
            <a:p>
              <a:pPr>
                <a:defRPr/>
              </a:pPr>
              <a:endParaRPr lang="en-US"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26" name="Rectangle 13"/>
            <p:cNvSpPr>
              <a:spLocks noChangeArrowheads="1"/>
            </p:cNvSpPr>
            <p:nvPr/>
          </p:nvSpPr>
          <p:spPr bwMode="auto">
            <a:xfrm>
              <a:off x="1749" y="3228"/>
              <a:ext cx="2739" cy="378"/>
            </a:xfrm>
            <a:prstGeom prst="rect">
              <a:avLst/>
            </a:prstGeom>
            <a:solidFill>
              <a:schemeClr val="accent5">
                <a:lumMod val="20000"/>
                <a:lumOff val="80000"/>
              </a:schemeClr>
            </a:solidFill>
            <a:ln w="0">
              <a:solidFill>
                <a:srgbClr val="E4E7E7"/>
              </a:solidFill>
              <a:miter lim="800000"/>
            </a:ln>
            <a:effectLst/>
          </p:spPr>
          <p:txBody>
            <a:bodyPr lIns="45720" rIns="45720"/>
            <a:lstStyle/>
            <a:p>
              <a:pPr>
                <a:buClr>
                  <a:schemeClr val="tx1"/>
                </a:buClr>
                <a:defRPr/>
              </a:pPr>
              <a:r>
                <a:rPr lang="en-US" sz="1600" dirty="0">
                  <a:latin typeface="微软雅黑" panose="020B0503020204020204" pitchFamily="34" charset="-122"/>
                  <a:ea typeface="微软雅黑" panose="020B0503020204020204" pitchFamily="34" charset="-122"/>
                  <a:cs typeface="Arial" panose="020B0604020202020204" pitchFamily="34" charset="0"/>
                </a:rPr>
                <a:t>“</a:t>
              </a:r>
              <a:r>
                <a:rPr lang="zh-CN" altLang="en-US" sz="1600" dirty="0">
                  <a:latin typeface="微软雅黑" panose="020B0503020204020204" pitchFamily="34" charset="-122"/>
                  <a:ea typeface="微软雅黑" panose="020B0503020204020204" pitchFamily="34" charset="-122"/>
                  <a:cs typeface="Arial" panose="020B0604020202020204" pitchFamily="34" charset="0"/>
                </a:rPr>
                <a:t>企业架构是通过创建、沟通和提高用以描述企业未来状态和发展的关键原则，来把商业远景和战略转化成</a:t>
              </a:r>
              <a:r>
                <a:rPr lang="zh-CN" altLang="en-US" sz="1600" i="1"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可操作</a:t>
              </a:r>
              <a:r>
                <a:rPr lang="zh-CN" altLang="en-US" sz="1600" dirty="0">
                  <a:latin typeface="微软雅黑" panose="020B0503020204020204" pitchFamily="34" charset="-122"/>
                  <a:ea typeface="微软雅黑" panose="020B0503020204020204" pitchFamily="34" charset="-122"/>
                  <a:cs typeface="Arial" panose="020B0604020202020204" pitchFamily="34" charset="0"/>
                </a:rPr>
                <a:t>的企业</a:t>
              </a:r>
              <a:r>
                <a:rPr lang="zh-CN" altLang="en-US" sz="1600" i="1"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变革过程</a:t>
              </a:r>
              <a:r>
                <a:rPr lang="en-US" sz="1600" dirty="0">
                  <a:latin typeface="微软雅黑" panose="020B0503020204020204" pitchFamily="34" charset="-122"/>
                  <a:ea typeface="微软雅黑" panose="020B0503020204020204" pitchFamily="34" charset="-122"/>
                  <a:cs typeface="Arial" panose="020B0604020202020204" pitchFamily="34" charset="0"/>
                </a:rPr>
                <a:t>”</a:t>
              </a:r>
              <a:endParaRPr lang="en-US" sz="160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27" name="Text Box 14"/>
            <p:cNvSpPr txBox="1">
              <a:spLocks noChangeArrowheads="1"/>
            </p:cNvSpPr>
            <p:nvPr/>
          </p:nvSpPr>
          <p:spPr bwMode="auto">
            <a:xfrm>
              <a:off x="3641" y="3606"/>
              <a:ext cx="847" cy="164"/>
            </a:xfrm>
            <a:prstGeom prst="rect">
              <a:avLst/>
            </a:prstGeom>
            <a:grpFill/>
            <a:ln w="0">
              <a:solidFill>
                <a:srgbClr val="E4E7E7"/>
              </a:solidFill>
              <a:miter lim="800000"/>
            </a:ln>
            <a:effectLst/>
          </p:spPr>
          <p:txBody>
            <a:bodyPr wrap="none" lIns="45720" rIns="45720"/>
            <a:lstStyle/>
            <a:p>
              <a:pPr>
                <a:defRPr/>
              </a:pPr>
              <a:r>
                <a:rPr lang="en-US" sz="1100" i="1" dirty="0">
                  <a:latin typeface="微软雅黑" panose="020B0503020204020204" pitchFamily="34" charset="-122"/>
                  <a:ea typeface="微软雅黑" panose="020B0503020204020204" pitchFamily="34" charset="-122"/>
                  <a:cs typeface="Arial" panose="020B0604020202020204" pitchFamily="34" charset="0"/>
                </a:rPr>
                <a:t>Gartner Group</a:t>
              </a:r>
              <a:endParaRPr lang="en-US" sz="1100" i="1" dirty="0">
                <a:latin typeface="微软雅黑" panose="020B0503020204020204" pitchFamily="34" charset="-122"/>
                <a:ea typeface="微软雅黑" panose="020B0503020204020204" pitchFamily="34" charset="-122"/>
                <a:cs typeface="Arial" panose="020B0604020202020204" pitchFamily="34" charset="0"/>
              </a:endParaRPr>
            </a:p>
          </p:txBody>
        </p:sp>
      </p:grpSp>
      <p:sp>
        <p:nvSpPr>
          <p:cNvPr id="3" name="Rectangle 2"/>
          <p:cNvSpPr/>
          <p:nvPr/>
        </p:nvSpPr>
        <p:spPr>
          <a:xfrm>
            <a:off x="6434097" y="5977346"/>
            <a:ext cx="2693779" cy="523220"/>
          </a:xfrm>
          <a:prstGeom prst="rect">
            <a:avLst/>
          </a:prstGeom>
        </p:spPr>
        <p:txBody>
          <a:bodyPr wrap="square">
            <a:spAutoFit/>
          </a:bodyPr>
          <a:lstStyle/>
          <a:p>
            <a:pPr algn="ctr" eaLnBrk="1" hangingPunct="1">
              <a:spcBef>
                <a:spcPct val="50000"/>
              </a:spcBef>
              <a:buSzTx/>
              <a:buFontTx/>
              <a:buNone/>
            </a:pPr>
            <a:r>
              <a:rPr lang="zh-CN" altLang="en-US" sz="1400" dirty="0">
                <a:latin typeface="微软雅黑" panose="020B0503020204020204" pitchFamily="34" charset="-122"/>
              </a:rPr>
              <a:t>企业架构是从业务和数字化角度准确诠释企业是如何运营的</a:t>
            </a:r>
            <a:endParaRPr lang="en-GB" altLang="en-US" sz="1400" dirty="0">
              <a:latin typeface="微软雅黑" panose="020B0503020204020204" pitchFamily="34" charset="-122"/>
            </a:endParaRPr>
          </a:p>
        </p:txBody>
      </p:sp>
      <p:grpSp>
        <p:nvGrpSpPr>
          <p:cNvPr id="12" name="Group 11"/>
          <p:cNvGrpSpPr/>
          <p:nvPr/>
        </p:nvGrpSpPr>
        <p:grpSpPr>
          <a:xfrm>
            <a:off x="6473929" y="3783773"/>
            <a:ext cx="2545556" cy="2178950"/>
            <a:chOff x="3122613" y="2618914"/>
            <a:chExt cx="3394075" cy="3171825"/>
          </a:xfrm>
        </p:grpSpPr>
        <p:sp>
          <p:nvSpPr>
            <p:cNvPr id="4" name="_s286731"/>
            <p:cNvSpPr>
              <a:spLocks noChangeArrowheads="1"/>
            </p:cNvSpPr>
            <p:nvPr/>
          </p:nvSpPr>
          <p:spPr bwMode="auto">
            <a:xfrm flipV="1">
              <a:off x="4481513" y="2618914"/>
              <a:ext cx="676275" cy="635000"/>
            </a:xfrm>
            <a:custGeom>
              <a:avLst/>
              <a:gdLst>
                <a:gd name="G0" fmla="+- 10800 0 0"/>
                <a:gd name="G1" fmla="+- 21600 0 10800"/>
                <a:gd name="G2" fmla="*/ 10800 1 2"/>
                <a:gd name="G3" fmla="+- 21600 0 G2"/>
                <a:gd name="G4" fmla="+/ 10800 21600 2"/>
                <a:gd name="G5" fmla="+/ G1 0 2"/>
                <a:gd name="G6" fmla="*/ 21600 21600 10800"/>
                <a:gd name="G7" fmla="*/ G6 1 2"/>
                <a:gd name="G8" fmla="+- 21600 0 G7"/>
                <a:gd name="G9" fmla="*/ 21600 1 2"/>
                <a:gd name="G10" fmla="+- 10800 0 G9"/>
                <a:gd name="G11" fmla="?: G10 G8 0"/>
                <a:gd name="G12" fmla="?: G10 G7 21600"/>
                <a:gd name="T0" fmla="*/ 16200 w 21600"/>
                <a:gd name="T1" fmla="*/ 10800 h 21600"/>
                <a:gd name="T2" fmla="*/ 10800 w 21600"/>
                <a:gd name="T3" fmla="*/ 21600 h 21600"/>
                <a:gd name="T4" fmla="*/ 5400 w 21600"/>
                <a:gd name="T5" fmla="*/ 10800 h 21600"/>
                <a:gd name="T6" fmla="*/ 10800 w 21600"/>
                <a:gd name="T7" fmla="*/ 0 h 21600"/>
                <a:gd name="T8" fmla="*/ 7200 w 21600"/>
                <a:gd name="T9" fmla="*/ 7200 h 21600"/>
                <a:gd name="T10" fmla="*/ 14400 w 21600"/>
                <a:gd name="T11" fmla="*/ 14400 h 21600"/>
              </a:gdLst>
              <a:ahLst/>
              <a:cxnLst>
                <a:cxn ang="0">
                  <a:pos x="T0" y="T1"/>
                </a:cxn>
                <a:cxn ang="0">
                  <a:pos x="T2" y="T3"/>
                </a:cxn>
                <a:cxn ang="0">
                  <a:pos x="T4" y="T5"/>
                </a:cxn>
                <a:cxn ang="0">
                  <a:pos x="T6" y="T7"/>
                </a:cxn>
              </a:cxnLst>
              <a:rect l="T8" t="T9" r="T10" b="T11"/>
              <a:pathLst>
                <a:path w="21600" h="21600">
                  <a:moveTo>
                    <a:pt x="0" y="0"/>
                  </a:moveTo>
                  <a:lnTo>
                    <a:pt x="10800" y="21600"/>
                  </a:lnTo>
                  <a:lnTo>
                    <a:pt x="10800" y="21600"/>
                  </a:lnTo>
                  <a:lnTo>
                    <a:pt x="21600" y="0"/>
                  </a:lnTo>
                  <a:close/>
                </a:path>
              </a:pathLst>
            </a:custGeom>
            <a:noFill/>
            <a:ln w="4670" algn="in">
              <a:noFill/>
              <a:miter lim="800000"/>
            </a:ln>
          </p:spPr>
          <p:txBody>
            <a:bodyPr rot="10800000" wrap="none" anchor="ctr"/>
            <a:lstStyle/>
            <a:p>
              <a:pPr eaLnBrk="1" hangingPunct="1"/>
              <a:r>
                <a:rPr lang="nb-NO" sz="1400">
                  <a:solidFill>
                    <a:srgbClr val="000000"/>
                  </a:solidFill>
                  <a:latin typeface="Verdana" panose="020B0604030504040204" pitchFamily="34" charset="0"/>
                </a:rPr>
                <a:t> </a:t>
              </a:r>
              <a:endParaRPr lang="nb-NO" sz="1400">
                <a:solidFill>
                  <a:srgbClr val="000000"/>
                </a:solidFill>
                <a:latin typeface="Verdana" panose="020B0604030504040204" pitchFamily="34" charset="0"/>
              </a:endParaRPr>
            </a:p>
          </p:txBody>
        </p:sp>
        <p:sp>
          <p:nvSpPr>
            <p:cNvPr id="5" name="_s286732"/>
            <p:cNvSpPr>
              <a:spLocks noChangeArrowheads="1"/>
            </p:cNvSpPr>
            <p:nvPr/>
          </p:nvSpPr>
          <p:spPr bwMode="auto">
            <a:xfrm flipV="1">
              <a:off x="4140200" y="3253914"/>
              <a:ext cx="1358900" cy="63341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FFC000"/>
            </a:solidFill>
            <a:ln w="4670" algn="in">
              <a:solidFill>
                <a:srgbClr val="000000"/>
              </a:solidFill>
              <a:miter lim="800000"/>
            </a:ln>
          </p:spPr>
          <p:txBody>
            <a:bodyPr rot="10800000"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Verdana" panose="020B0604030504040204" pitchFamily="34" charset="0"/>
                </a:rPr>
                <a:t>业务</a:t>
              </a:r>
              <a:endParaRPr kumimoji="0" lang="en-US" altLang="zh-CN" sz="1400" b="0" i="0" u="none" strike="noStrike" kern="0" cap="none" spc="0" normalizeH="0" baseline="0" noProof="0" dirty="0">
                <a:ln>
                  <a:noFill/>
                </a:ln>
                <a:solidFill>
                  <a:srgbClr val="000000"/>
                </a:solidFill>
                <a:effectLst/>
                <a:uLnTx/>
                <a:uFillTx/>
                <a:latin typeface="Verdana" panose="020B0604030504040204" pitchFamily="34" charset="0"/>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Verdana" panose="020B0604030504040204" pitchFamily="34" charset="0"/>
                </a:rPr>
                <a:t>架构</a:t>
              </a:r>
              <a:endParaRPr kumimoji="0" lang="nb-NO" sz="1400" b="0" i="0" u="none" strike="noStrike" kern="0" cap="none" spc="0" normalizeH="0" baseline="0" noProof="0" dirty="0">
                <a:ln>
                  <a:noFill/>
                </a:ln>
                <a:solidFill>
                  <a:srgbClr val="000000"/>
                </a:solidFill>
                <a:effectLst/>
                <a:uLnTx/>
                <a:uFillTx/>
                <a:latin typeface="Verdana" panose="020B0604030504040204" pitchFamily="34" charset="0"/>
              </a:endParaRPr>
            </a:p>
          </p:txBody>
        </p:sp>
        <p:sp>
          <p:nvSpPr>
            <p:cNvPr id="6" name="_s286733"/>
            <p:cNvSpPr>
              <a:spLocks noChangeArrowheads="1"/>
            </p:cNvSpPr>
            <p:nvPr/>
          </p:nvSpPr>
          <p:spPr bwMode="auto">
            <a:xfrm flipV="1">
              <a:off x="3802063" y="3887326"/>
              <a:ext cx="2035175" cy="635000"/>
            </a:xfrm>
            <a:custGeom>
              <a:avLst/>
              <a:gdLst>
                <a:gd name="G0" fmla="+- 3600 0 0"/>
                <a:gd name="G1" fmla="+- 21600 0 3600"/>
                <a:gd name="G2" fmla="*/ 3600 1 2"/>
                <a:gd name="G3" fmla="+- 21600 0 G2"/>
                <a:gd name="G4" fmla="+/ 3600 21600 2"/>
                <a:gd name="G5" fmla="+/ G1 0 2"/>
                <a:gd name="G6" fmla="*/ 21600 21600 3600"/>
                <a:gd name="G7" fmla="*/ G6 1 2"/>
                <a:gd name="G8" fmla="+- 21600 0 G7"/>
                <a:gd name="G9" fmla="*/ 21600 1 2"/>
                <a:gd name="G10" fmla="+- 3600 0 G9"/>
                <a:gd name="G11" fmla="?: G10 G8 0"/>
                <a:gd name="G12" fmla="?: G10 G7 21600"/>
                <a:gd name="T0" fmla="*/ 19800 w 21600"/>
                <a:gd name="T1" fmla="*/ 10800 h 21600"/>
                <a:gd name="T2" fmla="*/ 10800 w 21600"/>
                <a:gd name="T3" fmla="*/ 21600 h 21600"/>
                <a:gd name="T4" fmla="*/ 1800 w 21600"/>
                <a:gd name="T5" fmla="*/ 10800 h 21600"/>
                <a:gd name="T6" fmla="*/ 10800 w 21600"/>
                <a:gd name="T7" fmla="*/ 0 h 21600"/>
                <a:gd name="T8" fmla="*/ 3600 w 21600"/>
                <a:gd name="T9" fmla="*/ 3600 h 21600"/>
                <a:gd name="T10" fmla="*/ 18000 w 21600"/>
                <a:gd name="T11" fmla="*/ 18000 h 21600"/>
              </a:gdLst>
              <a:ahLst/>
              <a:cxnLst>
                <a:cxn ang="0">
                  <a:pos x="T0" y="T1"/>
                </a:cxn>
                <a:cxn ang="0">
                  <a:pos x="T2" y="T3"/>
                </a:cxn>
                <a:cxn ang="0">
                  <a:pos x="T4" y="T5"/>
                </a:cxn>
                <a:cxn ang="0">
                  <a:pos x="T6" y="T7"/>
                </a:cxn>
              </a:cxnLst>
              <a:rect l="T8" t="T9" r="T10" b="T11"/>
              <a:pathLst>
                <a:path w="21600" h="21600">
                  <a:moveTo>
                    <a:pt x="0" y="0"/>
                  </a:moveTo>
                  <a:lnTo>
                    <a:pt x="3600" y="21600"/>
                  </a:lnTo>
                  <a:lnTo>
                    <a:pt x="18000" y="21600"/>
                  </a:lnTo>
                  <a:lnTo>
                    <a:pt x="21600" y="0"/>
                  </a:lnTo>
                  <a:close/>
                </a:path>
              </a:pathLst>
            </a:custGeom>
            <a:solidFill>
              <a:schemeClr val="bg2">
                <a:lumMod val="20000"/>
                <a:lumOff val="80000"/>
              </a:schemeClr>
            </a:solidFill>
            <a:ln w="4670" algn="in">
              <a:solidFill>
                <a:srgbClr val="000000"/>
              </a:solidFill>
              <a:miter lim="800000"/>
            </a:ln>
            <a:effectLst/>
          </p:spPr>
          <p:txBody>
            <a:bodyPr rot="10800000"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Verdana" panose="020B0604030504040204" pitchFamily="34" charset="0"/>
                </a:rPr>
                <a:t>信息数据架构</a:t>
              </a:r>
              <a:endParaRPr kumimoji="0" lang="nb-NO" sz="1400" b="0" i="0" u="none" strike="noStrike" kern="0" cap="none" spc="0" normalizeH="0" baseline="0" noProof="0" dirty="0">
                <a:ln>
                  <a:noFill/>
                </a:ln>
                <a:solidFill>
                  <a:srgbClr val="000000"/>
                </a:solidFill>
                <a:effectLst/>
                <a:uLnTx/>
                <a:uFillTx/>
                <a:latin typeface="Verdana" panose="020B0604030504040204" pitchFamily="34" charset="0"/>
              </a:endParaRPr>
            </a:p>
          </p:txBody>
        </p:sp>
        <p:sp>
          <p:nvSpPr>
            <p:cNvPr id="7" name="_s286734"/>
            <p:cNvSpPr>
              <a:spLocks noChangeArrowheads="1"/>
            </p:cNvSpPr>
            <p:nvPr/>
          </p:nvSpPr>
          <p:spPr bwMode="auto">
            <a:xfrm flipV="1">
              <a:off x="3462338" y="4522326"/>
              <a:ext cx="2714625" cy="635000"/>
            </a:xfrm>
            <a:custGeom>
              <a:avLst/>
              <a:gdLst>
                <a:gd name="G0" fmla="+- 2700 0 0"/>
                <a:gd name="G1" fmla="+- 21600 0 2700"/>
                <a:gd name="G2" fmla="*/ 2700 1 2"/>
                <a:gd name="G3" fmla="+- 21600 0 G2"/>
                <a:gd name="G4" fmla="+/ 2700 21600 2"/>
                <a:gd name="G5" fmla="+/ G1 0 2"/>
                <a:gd name="G6" fmla="*/ 21600 21600 2700"/>
                <a:gd name="G7" fmla="*/ G6 1 2"/>
                <a:gd name="G8" fmla="+- 21600 0 G7"/>
                <a:gd name="G9" fmla="*/ 21600 1 2"/>
                <a:gd name="G10" fmla="+- 2700 0 G9"/>
                <a:gd name="G11" fmla="?: G10 G8 0"/>
                <a:gd name="G12" fmla="?: G10 G7 21600"/>
                <a:gd name="T0" fmla="*/ 20250 w 21600"/>
                <a:gd name="T1" fmla="*/ 10800 h 21600"/>
                <a:gd name="T2" fmla="*/ 10800 w 21600"/>
                <a:gd name="T3" fmla="*/ 21600 h 21600"/>
                <a:gd name="T4" fmla="*/ 1350 w 21600"/>
                <a:gd name="T5" fmla="*/ 10800 h 21600"/>
                <a:gd name="T6" fmla="*/ 10800 w 21600"/>
                <a:gd name="T7" fmla="*/ 0 h 21600"/>
                <a:gd name="T8" fmla="*/ 3150 w 21600"/>
                <a:gd name="T9" fmla="*/ 3150 h 21600"/>
                <a:gd name="T10" fmla="*/ 18450 w 21600"/>
                <a:gd name="T11" fmla="*/ 18450 h 21600"/>
              </a:gdLst>
              <a:ahLst/>
              <a:cxnLst>
                <a:cxn ang="0">
                  <a:pos x="T0" y="T1"/>
                </a:cxn>
                <a:cxn ang="0">
                  <a:pos x="T2" y="T3"/>
                </a:cxn>
                <a:cxn ang="0">
                  <a:pos x="T4" y="T5"/>
                </a:cxn>
                <a:cxn ang="0">
                  <a:pos x="T6" y="T7"/>
                </a:cxn>
              </a:cxnLst>
              <a:rect l="T8" t="T9" r="T10" b="T11"/>
              <a:pathLst>
                <a:path w="21600" h="21600">
                  <a:moveTo>
                    <a:pt x="0" y="0"/>
                  </a:moveTo>
                  <a:lnTo>
                    <a:pt x="2700" y="21600"/>
                  </a:lnTo>
                  <a:lnTo>
                    <a:pt x="18900" y="21600"/>
                  </a:lnTo>
                  <a:lnTo>
                    <a:pt x="21600" y="0"/>
                  </a:lnTo>
                  <a:close/>
                </a:path>
              </a:pathLst>
            </a:custGeom>
            <a:solidFill>
              <a:schemeClr val="bg2">
                <a:lumMod val="20000"/>
                <a:lumOff val="80000"/>
              </a:schemeClr>
            </a:solidFill>
            <a:ln w="4670" algn="in">
              <a:solidFill>
                <a:srgbClr val="000000"/>
              </a:solidFill>
              <a:miter lim="800000"/>
            </a:ln>
            <a:effectLst/>
          </p:spPr>
          <p:txBody>
            <a:bodyPr rot="10800000"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Verdana" panose="020B0604030504040204" pitchFamily="34" charset="0"/>
                </a:rPr>
                <a:t>应用架构</a:t>
              </a:r>
              <a:endParaRPr kumimoji="0" lang="nb-NO" sz="1400" b="0" i="0" u="none" strike="noStrike" kern="0" cap="none" spc="0" normalizeH="0" baseline="0" noProof="0" dirty="0">
                <a:ln>
                  <a:noFill/>
                </a:ln>
                <a:solidFill>
                  <a:srgbClr val="000000"/>
                </a:solidFill>
                <a:effectLst/>
                <a:uLnTx/>
                <a:uFillTx/>
                <a:latin typeface="Verdana" panose="020B0604030504040204" pitchFamily="34" charset="0"/>
              </a:endParaRPr>
            </a:p>
          </p:txBody>
        </p:sp>
        <p:sp>
          <p:nvSpPr>
            <p:cNvPr id="8" name="_s286735"/>
            <p:cNvSpPr>
              <a:spLocks noChangeArrowheads="1"/>
            </p:cNvSpPr>
            <p:nvPr/>
          </p:nvSpPr>
          <p:spPr bwMode="auto">
            <a:xfrm flipV="1">
              <a:off x="3122613" y="5157326"/>
              <a:ext cx="3394075" cy="633413"/>
            </a:xfrm>
            <a:custGeom>
              <a:avLst/>
              <a:gdLst>
                <a:gd name="G0" fmla="+- 2160 0 0"/>
                <a:gd name="G1" fmla="+- 21600 0 2160"/>
                <a:gd name="G2" fmla="*/ 2160 1 2"/>
                <a:gd name="G3" fmla="+- 21600 0 G2"/>
                <a:gd name="G4" fmla="+/ 2160 21600 2"/>
                <a:gd name="G5" fmla="+/ G1 0 2"/>
                <a:gd name="G6" fmla="*/ 21600 21600 2160"/>
                <a:gd name="G7" fmla="*/ G6 1 2"/>
                <a:gd name="G8" fmla="+- 21600 0 G7"/>
                <a:gd name="G9" fmla="*/ 21600 1 2"/>
                <a:gd name="G10" fmla="+- 2160 0 G9"/>
                <a:gd name="G11" fmla="?: G10 G8 0"/>
                <a:gd name="G12" fmla="?: G10 G7 21600"/>
                <a:gd name="T0" fmla="*/ 20520 w 21600"/>
                <a:gd name="T1" fmla="*/ 10800 h 21600"/>
                <a:gd name="T2" fmla="*/ 10800 w 21600"/>
                <a:gd name="T3" fmla="*/ 21600 h 21600"/>
                <a:gd name="T4" fmla="*/ 1080 w 21600"/>
                <a:gd name="T5" fmla="*/ 10800 h 21600"/>
                <a:gd name="T6" fmla="*/ 10800 w 21600"/>
                <a:gd name="T7" fmla="*/ 0 h 21600"/>
                <a:gd name="T8" fmla="*/ 2880 w 21600"/>
                <a:gd name="T9" fmla="*/ 2880 h 21600"/>
                <a:gd name="T10" fmla="*/ 18720 w 21600"/>
                <a:gd name="T11" fmla="*/ 18720 h 21600"/>
              </a:gdLst>
              <a:ahLst/>
              <a:cxnLst>
                <a:cxn ang="0">
                  <a:pos x="T0" y="T1"/>
                </a:cxn>
                <a:cxn ang="0">
                  <a:pos x="T2" y="T3"/>
                </a:cxn>
                <a:cxn ang="0">
                  <a:pos x="T4" y="T5"/>
                </a:cxn>
                <a:cxn ang="0">
                  <a:pos x="T6" y="T7"/>
                </a:cxn>
              </a:cxnLst>
              <a:rect l="T8" t="T9" r="T10" b="T11"/>
              <a:pathLst>
                <a:path w="21600" h="21600">
                  <a:moveTo>
                    <a:pt x="0" y="0"/>
                  </a:moveTo>
                  <a:lnTo>
                    <a:pt x="2160" y="21600"/>
                  </a:lnTo>
                  <a:lnTo>
                    <a:pt x="19440" y="21600"/>
                  </a:lnTo>
                  <a:lnTo>
                    <a:pt x="21600" y="0"/>
                  </a:lnTo>
                  <a:close/>
                </a:path>
              </a:pathLst>
            </a:custGeom>
            <a:solidFill>
              <a:schemeClr val="bg2">
                <a:lumMod val="20000"/>
                <a:lumOff val="80000"/>
              </a:schemeClr>
            </a:solidFill>
            <a:ln w="4670" algn="in">
              <a:solidFill>
                <a:srgbClr val="000000"/>
              </a:solidFill>
              <a:miter lim="800000"/>
            </a:ln>
            <a:effectLst/>
          </p:spPr>
          <p:txBody>
            <a:bodyPr rot="10800000"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400" kern="0" dirty="0">
                  <a:solidFill>
                    <a:srgbClr val="000000"/>
                  </a:solidFill>
                  <a:latin typeface="Verdana" panose="020B0604030504040204" pitchFamily="34" charset="0"/>
                </a:rPr>
                <a:t>基础设施</a:t>
              </a:r>
              <a:r>
                <a:rPr kumimoji="0" lang="zh-CN" altLang="en-US" sz="1400" b="0" i="0" u="none" strike="noStrike" kern="0" cap="none" spc="0" normalizeH="0" baseline="0" noProof="0" dirty="0">
                  <a:ln>
                    <a:noFill/>
                  </a:ln>
                  <a:solidFill>
                    <a:srgbClr val="000000"/>
                  </a:solidFill>
                  <a:effectLst/>
                  <a:uLnTx/>
                  <a:uFillTx/>
                  <a:latin typeface="Verdana" panose="020B0604030504040204" pitchFamily="34" charset="0"/>
                </a:rPr>
                <a:t>架构</a:t>
              </a:r>
              <a:endParaRPr kumimoji="0" lang="nb-NO" sz="1400" b="0" i="0" u="none" strike="noStrike" kern="0" cap="none" spc="0" normalizeH="0" baseline="0" noProof="0" dirty="0">
                <a:ln>
                  <a:noFill/>
                </a:ln>
                <a:solidFill>
                  <a:srgbClr val="000000"/>
                </a:solidFill>
                <a:effectLst/>
                <a:uLnTx/>
                <a:uFillTx/>
                <a:latin typeface="Verdana" panose="020B0604030504040204" pitchFamily="34" charset="0"/>
              </a:endParaRPr>
            </a:p>
          </p:txBody>
        </p:sp>
        <p:sp>
          <p:nvSpPr>
            <p:cNvPr id="10" name="AutoShape 22"/>
            <p:cNvSpPr>
              <a:spLocks noChangeArrowheads="1"/>
            </p:cNvSpPr>
            <p:nvPr/>
          </p:nvSpPr>
          <p:spPr bwMode="auto">
            <a:xfrm>
              <a:off x="4481513" y="2628439"/>
              <a:ext cx="676275" cy="635000"/>
            </a:xfrm>
            <a:prstGeom prst="triangle">
              <a:avLst>
                <a:gd name="adj" fmla="val 50000"/>
              </a:avLst>
            </a:prstGeom>
            <a:solidFill>
              <a:schemeClr val="accent1">
                <a:lumMod val="20000"/>
                <a:lumOff val="80000"/>
              </a:schemeClr>
            </a:solidFill>
            <a:ln w="6350">
              <a:solidFill>
                <a:srgbClr val="000000"/>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GB" sz="1400" b="0" i="0" u="none" strike="noStrike" kern="0" cap="none" spc="0" normalizeH="0" baseline="0" noProof="0" dirty="0">
                <a:ln>
                  <a:noFill/>
                </a:ln>
                <a:solidFill>
                  <a:srgbClr val="000000"/>
                </a:solidFill>
                <a:effectLst/>
                <a:uLnTx/>
                <a:uFillTx/>
                <a:latin typeface="Verdana" panose="020B0604030504040204" pitchFamily="34" charset="0"/>
              </a:endParaRPr>
            </a:p>
          </p:txBody>
        </p:sp>
        <p:sp>
          <p:nvSpPr>
            <p:cNvPr id="11" name="TextBox 10"/>
            <p:cNvSpPr txBox="1"/>
            <p:nvPr/>
          </p:nvSpPr>
          <p:spPr>
            <a:xfrm>
              <a:off x="3953021" y="2869811"/>
              <a:ext cx="2161276" cy="380817"/>
            </a:xfrm>
            <a:prstGeom prst="rect">
              <a:avLst/>
            </a:prstGeom>
            <a:noFill/>
          </p:spPr>
          <p:txBody>
            <a:bodyPr wrap="none" rtlCol="0">
              <a:spAutoFit/>
            </a:bodyPr>
            <a:lstStyle/>
            <a:p>
              <a:pPr eaLnBrk="1" hangingPunct="1"/>
              <a:r>
                <a:rPr lang="zh-CN" altLang="en-US" sz="1100" b="1" dirty="0">
                  <a:solidFill>
                    <a:srgbClr val="000000"/>
                  </a:solidFill>
                  <a:latin typeface="Verdana" panose="020B0604030504040204" pitchFamily="34" charset="0"/>
                </a:rPr>
                <a:t>“以客户为中心”的战略</a:t>
              </a:r>
              <a:endParaRPr lang="en-GB" sz="1100" b="1" dirty="0">
                <a:solidFill>
                  <a:srgbClr val="000000"/>
                </a:solidFill>
                <a:latin typeface="Verdana" panose="020B0604030504040204" pitchFamily="34" charset="0"/>
              </a:endParaRPr>
            </a:p>
          </p:txBody>
        </p:sp>
      </p:grpSp>
      <p:sp>
        <p:nvSpPr>
          <p:cNvPr id="14" name="TextBox 13"/>
          <p:cNvSpPr txBox="1"/>
          <p:nvPr/>
        </p:nvSpPr>
        <p:spPr>
          <a:xfrm>
            <a:off x="1205883" y="3956132"/>
            <a:ext cx="5394847" cy="2031325"/>
          </a:xfrm>
          <a:prstGeom prst="rect">
            <a:avLst/>
          </a:prstGeom>
          <a:noFill/>
        </p:spPr>
        <p:txBody>
          <a:bodyPr wrap="square">
            <a:spAutoFit/>
          </a:bodyPr>
          <a:lstStyle/>
          <a:p>
            <a:pPr marL="285750" indent="-285750" algn="l">
              <a:buFont typeface="Arial" panose="020B0604020202020204" pitchFamily="34" charset="0"/>
              <a:buChar char="•"/>
            </a:pPr>
            <a:r>
              <a:rPr lang="zh-CN" altLang="en-US" b="1" dirty="0">
                <a:effectLst/>
              </a:rPr>
              <a:t>业务架构核心抓手：</a:t>
            </a:r>
            <a:endParaRPr lang="en-US" altLang="zh-CN" b="1" dirty="0">
              <a:effectLst/>
            </a:endParaRPr>
          </a:p>
          <a:p>
            <a:pPr algn="l"/>
            <a:r>
              <a:rPr lang="zh-CN" altLang="en-US" dirty="0">
                <a:effectLst/>
              </a:rPr>
              <a:t>业务能力建模 </a:t>
            </a:r>
            <a:r>
              <a:rPr lang="en-US" altLang="zh-CN" dirty="0">
                <a:effectLst/>
              </a:rPr>
              <a:t>+ </a:t>
            </a:r>
            <a:r>
              <a:rPr lang="zh-CN" altLang="en-US" dirty="0">
                <a:effectLst/>
              </a:rPr>
              <a:t>组织权责匹配 </a:t>
            </a:r>
            <a:r>
              <a:rPr lang="en-US" altLang="zh-CN" dirty="0">
                <a:effectLst/>
              </a:rPr>
              <a:t>+ </a:t>
            </a:r>
            <a:r>
              <a:rPr lang="zh-CN" altLang="en-US" dirty="0">
                <a:effectLst/>
              </a:rPr>
              <a:t>业务流程梳理 </a:t>
            </a:r>
            <a:endParaRPr lang="en-US" altLang="zh-CN" dirty="0">
              <a:effectLst/>
            </a:endParaRPr>
          </a:p>
          <a:p>
            <a:pPr algn="l"/>
            <a:endParaRPr lang="en-US" altLang="zh-CN" dirty="0">
              <a:effectLst/>
            </a:endParaRPr>
          </a:p>
          <a:p>
            <a:pPr marL="285750" indent="-285750" algn="l">
              <a:buFont typeface="Arial" panose="020B0604020202020204" pitchFamily="34" charset="0"/>
              <a:buChar char="•"/>
            </a:pPr>
            <a:r>
              <a:rPr lang="zh-CN" altLang="en-US" b="1" dirty="0">
                <a:effectLst/>
              </a:rPr>
              <a:t>企业架构落地的核心逻辑： </a:t>
            </a:r>
            <a:endParaRPr lang="en-US" altLang="zh-CN" b="1" dirty="0">
              <a:effectLst/>
            </a:endParaRPr>
          </a:p>
          <a:p>
            <a:pPr marL="285750" indent="-285750" algn="l">
              <a:buFontTx/>
              <a:buChar char="-"/>
            </a:pPr>
            <a:r>
              <a:rPr lang="zh-CN" altLang="en-US" dirty="0">
                <a:effectLst/>
              </a:rPr>
              <a:t>先沉淀业务能力（企业能干什么） </a:t>
            </a:r>
            <a:endParaRPr lang="en-US" altLang="zh-CN" dirty="0">
              <a:effectLst/>
            </a:endParaRPr>
          </a:p>
          <a:p>
            <a:pPr marL="285750" indent="-285750">
              <a:buFontTx/>
              <a:buChar char="-"/>
            </a:pPr>
            <a:r>
              <a:rPr lang="zh-CN" altLang="en-US" dirty="0"/>
              <a:t>匹配组织与权责（谁来负责干） </a:t>
            </a:r>
            <a:endParaRPr lang="zh-CN" altLang="en-US" dirty="0"/>
          </a:p>
          <a:p>
            <a:pPr marL="285750" indent="-285750" algn="l">
              <a:buFontTx/>
              <a:buChar char="-"/>
            </a:pPr>
            <a:r>
              <a:rPr lang="zh-CN" altLang="en-US" dirty="0">
                <a:effectLst/>
              </a:rPr>
              <a:t>再优化业务流程（事怎么高效干）</a:t>
            </a:r>
            <a:endParaRPr lang="en-US" altLang="zh-CN" dirty="0">
              <a:effectL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p:txBody>
          <a:bodyPr/>
          <a:lstStyle/>
          <a:p>
            <a:pPr algn="l" eaLnBrk="1" hangingPunct="1"/>
            <a:r>
              <a:rPr lang="zh-CN" altLang="en-US" dirty="0">
                <a:latin typeface="微软雅黑" panose="020B0503020204020204" pitchFamily="34" charset="-122"/>
                <a:ea typeface="微软雅黑" panose="020B0503020204020204" pitchFamily="34" charset="-122"/>
              </a:rPr>
              <a:t>企业架构设计的经验</a:t>
            </a:r>
            <a:endParaRPr lang="zh-CN" altLang="en-US" dirty="0">
              <a:latin typeface="微软雅黑" panose="020B0503020204020204" pitchFamily="34" charset="-122"/>
              <a:ea typeface="微软雅黑" panose="020B0503020204020204" pitchFamily="34" charset="-122"/>
            </a:endParaRPr>
          </a:p>
        </p:txBody>
      </p:sp>
      <p:sp>
        <p:nvSpPr>
          <p:cNvPr id="62467" name="内容占位符 2"/>
          <p:cNvSpPr>
            <a:spLocks noGrp="1"/>
          </p:cNvSpPr>
          <p:nvPr>
            <p:ph idx="1"/>
          </p:nvPr>
        </p:nvSpPr>
        <p:spPr>
          <a:xfrm>
            <a:off x="495141" y="1237957"/>
            <a:ext cx="8912543" cy="5262856"/>
          </a:xfrm>
        </p:spPr>
        <p:txBody>
          <a:bodyPr/>
          <a:lstStyle/>
          <a:p>
            <a:pPr marL="0" indent="0" eaLnBrk="1" hangingPunct="1">
              <a:buClr>
                <a:srgbClr val="0070C0"/>
              </a:buClr>
              <a:buSzPct val="80000"/>
              <a:defRPr/>
            </a:pPr>
            <a:r>
              <a:rPr lang="zh-CN" altLang="en-US" sz="1800" b="0" dirty="0">
                <a:latin typeface="微软雅黑" panose="020B0503020204020204" pitchFamily="34" charset="-122"/>
                <a:ea typeface="微软雅黑" panose="020B0503020204020204" pitchFamily="34" charset="-122"/>
              </a:rPr>
              <a:t>企业架构不是纸上画图、不是概念堆砌，是把业务能力沉淀下来、把业务流程顺畅起来、把管理权责清晰起来，用体系化方法支撑企业长期稳健精进与规模化落地推广。</a:t>
            </a:r>
            <a:endParaRPr lang="en-US" altLang="zh-CN" sz="1800" b="0" dirty="0">
              <a:latin typeface="微软雅黑" panose="020B0503020204020204" pitchFamily="34" charset="-122"/>
              <a:ea typeface="微软雅黑" panose="020B0503020204020204" pitchFamily="34" charset="-122"/>
            </a:endParaRPr>
          </a:p>
          <a:p>
            <a:pPr eaLnBrk="1" hangingPunct="1">
              <a:buClr>
                <a:srgbClr val="0070C0"/>
              </a:buClr>
              <a:buSzPct val="80000"/>
              <a:buFont typeface="Wingdings" panose="05000000000000000000" pitchFamily="2" charset="2"/>
              <a:buChar char="n"/>
              <a:defRPr/>
            </a:pPr>
            <a:r>
              <a:rPr lang="zh-CN" altLang="en-US" sz="1800" dirty="0">
                <a:latin typeface="微软雅黑" panose="020B0503020204020204" pitchFamily="34" charset="-122"/>
                <a:ea typeface="微软雅黑" panose="020B0503020204020204" pitchFamily="34" charset="-122"/>
              </a:rPr>
              <a:t>企业架构的设计原则</a:t>
            </a:r>
            <a:endParaRPr lang="en-US" altLang="zh-CN" sz="1800" dirty="0">
              <a:latin typeface="微软雅黑" panose="020B0503020204020204" pitchFamily="34" charset="-122"/>
              <a:ea typeface="微软雅黑" panose="020B0503020204020204" pitchFamily="34" charset="-122"/>
            </a:endParaRPr>
          </a:p>
          <a:p>
            <a:pPr lvl="1" eaLnBrk="1" hangingPunct="1">
              <a:buFont typeface="Wingdings" panose="05000000000000000000" pitchFamily="2" charset="2"/>
              <a:buChar char="l"/>
              <a:defRPr/>
            </a:pPr>
            <a:r>
              <a:rPr lang="zh-CN" altLang="en-US" sz="1600" dirty="0">
                <a:latin typeface="微软雅黑" panose="020B0503020204020204" pitchFamily="34" charset="-122"/>
                <a:ea typeface="微软雅黑" panose="020B0503020204020204" pitchFamily="34" charset="-122"/>
              </a:rPr>
              <a:t>架构设计既要注重结果，也要注重过程，要“知行合一”</a:t>
            </a:r>
            <a:endParaRPr lang="en-US" altLang="zh-CN" sz="1600" dirty="0">
              <a:latin typeface="微软雅黑" panose="020B0503020204020204" pitchFamily="34" charset="-122"/>
              <a:ea typeface="微软雅黑" panose="020B0503020204020204" pitchFamily="34" charset="-122"/>
            </a:endParaRPr>
          </a:p>
          <a:p>
            <a:pPr lvl="1" eaLnBrk="1" hangingPunct="1">
              <a:buFont typeface="Wingdings" panose="05000000000000000000" pitchFamily="2" charset="2"/>
              <a:buChar char="l"/>
              <a:defRPr/>
            </a:pPr>
            <a:r>
              <a:rPr lang="zh-CN" altLang="en-US" sz="1600" dirty="0">
                <a:latin typeface="微软雅黑" panose="020B0503020204020204" pitchFamily="34" charset="-122"/>
                <a:ea typeface="微软雅黑" panose="020B0503020204020204" pitchFamily="34" charset="-122"/>
              </a:rPr>
              <a:t>要始终坚持架构设计是衔接业务战略、业务需求与</a:t>
            </a:r>
            <a:r>
              <a:rPr lang="en-US" altLang="zh-CN" sz="1600" dirty="0">
                <a:latin typeface="微软雅黑" panose="020B0503020204020204" pitchFamily="34" charset="-122"/>
                <a:ea typeface="微软雅黑" panose="020B0503020204020204" pitchFamily="34" charset="-122"/>
              </a:rPr>
              <a:t>IT</a:t>
            </a:r>
            <a:r>
              <a:rPr lang="zh-CN" altLang="en-US" sz="1600" dirty="0">
                <a:latin typeface="微软雅黑" panose="020B0503020204020204" pitchFamily="34" charset="-122"/>
                <a:ea typeface="微软雅黑" panose="020B0503020204020204" pitchFamily="34" charset="-122"/>
              </a:rPr>
              <a:t>技术实现之间的“桥梁”，使二者通过架构设计可以紧密结合，目标一致的服务于最终客户</a:t>
            </a:r>
            <a:endParaRPr lang="en-US" altLang="zh-CN" sz="1600" dirty="0">
              <a:latin typeface="微软雅黑" panose="020B0503020204020204" pitchFamily="34" charset="-122"/>
              <a:ea typeface="微软雅黑" panose="020B0503020204020204" pitchFamily="34" charset="-122"/>
            </a:endParaRPr>
          </a:p>
          <a:p>
            <a:pPr eaLnBrk="1" hangingPunct="1">
              <a:buClr>
                <a:srgbClr val="0070C0"/>
              </a:buClr>
              <a:buSzPct val="80000"/>
              <a:buFont typeface="Wingdings" panose="05000000000000000000" pitchFamily="2" charset="2"/>
              <a:buChar char="n"/>
              <a:defRPr/>
            </a:pPr>
            <a:r>
              <a:rPr lang="zh-CN" altLang="en-US" sz="1800" dirty="0"/>
              <a:t>不断调整与完善架构设计方法</a:t>
            </a:r>
            <a:endParaRPr lang="en-US" altLang="zh-CN" sz="1800" dirty="0"/>
          </a:p>
          <a:p>
            <a:pPr lvl="1" eaLnBrk="1" hangingPunct="1">
              <a:buFont typeface="Wingdings" panose="05000000000000000000" pitchFamily="2" charset="2"/>
              <a:buChar char="l"/>
              <a:defRPr/>
            </a:pPr>
            <a:r>
              <a:rPr lang="zh-CN" altLang="en-US" sz="1600" dirty="0">
                <a:latin typeface="微软雅黑" panose="020B0503020204020204" pitchFamily="34" charset="-122"/>
                <a:ea typeface="微软雅黑" panose="020B0503020204020204" pitchFamily="34" charset="-122"/>
              </a:rPr>
              <a:t>需要不断的实践，获得经验、技巧、最佳实践，做到“心法合一”；架构设计工作同样有自身的规律和方法，要熟悉架构设计的方法与过程控制</a:t>
            </a:r>
            <a:endParaRPr lang="en-US" altLang="zh-CN" sz="1600" dirty="0">
              <a:latin typeface="微软雅黑" panose="020B0503020204020204" pitchFamily="34" charset="-122"/>
              <a:ea typeface="微软雅黑" panose="020B0503020204020204" pitchFamily="34" charset="-122"/>
            </a:endParaRPr>
          </a:p>
          <a:p>
            <a:pPr lvl="1" eaLnBrk="1" hangingPunct="1">
              <a:buFont typeface="Wingdings" panose="05000000000000000000" pitchFamily="2" charset="2"/>
              <a:buChar char="l"/>
              <a:defRPr/>
            </a:pPr>
            <a:r>
              <a:rPr lang="zh-CN" altLang="en-US" sz="1600" dirty="0">
                <a:latin typeface="微软雅黑" panose="020B0503020204020204" pitchFamily="34" charset="-122"/>
                <a:ea typeface="微软雅黑" panose="020B0503020204020204" pitchFamily="34" charset="-122"/>
              </a:rPr>
              <a:t>没有一成不变的方法，要根据外部条件的变化，对方法进行裁剪，“合适”就是最好的</a:t>
            </a:r>
            <a:endParaRPr lang="en-US" altLang="zh-CN" sz="1800" dirty="0">
              <a:latin typeface="微软雅黑" panose="020B0503020204020204" pitchFamily="34" charset="-122"/>
              <a:ea typeface="微软雅黑" panose="020B0503020204020204" pitchFamily="34" charset="-122"/>
            </a:endParaRPr>
          </a:p>
          <a:p>
            <a:pPr eaLnBrk="1" hangingPunct="1">
              <a:buClr>
                <a:srgbClr val="0070C0"/>
              </a:buClr>
              <a:buSzPct val="80000"/>
              <a:buFont typeface="Wingdings" panose="05000000000000000000" pitchFamily="2" charset="2"/>
              <a:buChar char="n"/>
              <a:defRPr/>
            </a:pPr>
            <a:r>
              <a:rPr lang="zh-CN" altLang="en-US" sz="1800" dirty="0">
                <a:latin typeface="微软雅黑" panose="020B0503020204020204" pitchFamily="34" charset="-122"/>
                <a:ea typeface="微软雅黑" panose="020B0503020204020204" pitchFamily="34" charset="-122"/>
              </a:rPr>
              <a:t>掌握必要的技能</a:t>
            </a:r>
            <a:endParaRPr lang="en-US" altLang="zh-CN" sz="1800" dirty="0">
              <a:latin typeface="微软雅黑" panose="020B0503020204020204" pitchFamily="34" charset="-122"/>
              <a:ea typeface="微软雅黑" panose="020B0503020204020204" pitchFamily="34" charset="-122"/>
            </a:endParaRPr>
          </a:p>
          <a:p>
            <a:pPr lvl="1" eaLnBrk="1" hangingPunct="1">
              <a:buFont typeface="Wingdings" panose="05000000000000000000" pitchFamily="2" charset="2"/>
              <a:buChar char="l"/>
              <a:defRPr/>
            </a:pPr>
            <a:r>
              <a:rPr lang="zh-CN" altLang="en-US" sz="1600" dirty="0">
                <a:latin typeface="微软雅黑" panose="020B0503020204020204" pitchFamily="34" charset="-122"/>
                <a:ea typeface="微软雅黑" panose="020B0503020204020204" pitchFamily="34" charset="-122"/>
              </a:rPr>
              <a:t>行业知识、业务知识、架构思维和方法、流程设计、数字化知识、</a:t>
            </a:r>
            <a:r>
              <a:rPr lang="en-US" altLang="zh-CN" sz="1600" dirty="0"/>
              <a:t>AI</a:t>
            </a:r>
            <a:r>
              <a:rPr lang="zh-CN" altLang="en-US" sz="1600" dirty="0"/>
              <a:t>知识</a:t>
            </a:r>
            <a:r>
              <a:rPr lang="en-US" altLang="zh-CN" sz="1600" dirty="0"/>
              <a:t>……</a:t>
            </a:r>
            <a:endParaRPr lang="en-US" altLang="zh-CN" sz="1600" dirty="0">
              <a:latin typeface="微软雅黑" panose="020B0503020204020204" pitchFamily="34" charset="-122"/>
              <a:ea typeface="微软雅黑" panose="020B0503020204020204" pitchFamily="34" charset="-122"/>
            </a:endParaRPr>
          </a:p>
          <a:p>
            <a:pPr lvl="1" eaLnBrk="1" hangingPunct="1">
              <a:buFont typeface="Wingdings" panose="05000000000000000000" pitchFamily="2" charset="2"/>
              <a:buChar char="l"/>
              <a:defRPr/>
            </a:pPr>
            <a:endParaRPr lang="en-US" altLang="zh-CN" sz="2000" dirty="0">
              <a:latin typeface="微软雅黑" panose="020B0503020204020204" pitchFamily="34" charset="-122"/>
              <a:ea typeface="微软雅黑" panose="020B0503020204020204" pitchFamily="34" charset="-122"/>
            </a:endParaRPr>
          </a:p>
          <a:p>
            <a:pPr lvl="1" eaLnBrk="1" hangingPunct="1">
              <a:buFont typeface="Wingdings" panose="05000000000000000000" pitchFamily="2" charset="2"/>
              <a:buChar char="l"/>
              <a:defRPr/>
            </a:pPr>
            <a:endParaRPr lang="en-US" altLang="zh-CN" sz="2000" dirty="0">
              <a:latin typeface="微软雅黑" panose="020B0503020204020204" pitchFamily="34" charset="-122"/>
              <a:ea typeface="微软雅黑" panose="020B0503020204020204" pitchFamily="34" charset="-122"/>
            </a:endParaRPr>
          </a:p>
          <a:p>
            <a:pPr lvl="1" eaLnBrk="1" hangingPunct="1">
              <a:buFont typeface="Wingdings" panose="05000000000000000000" pitchFamily="2" charset="2"/>
              <a:buChar char="l"/>
              <a:defRPr/>
            </a:pPr>
            <a:endParaRPr lang="en-US" altLang="zh-CN" sz="2000" dirty="0">
              <a:latin typeface="微软雅黑" panose="020B0503020204020204" pitchFamily="34" charset="-122"/>
              <a:ea typeface="微软雅黑" panose="020B0503020204020204" pitchFamily="34" charset="-122"/>
            </a:endParaRPr>
          </a:p>
          <a:p>
            <a:pPr lvl="1" eaLnBrk="1" hangingPunct="1">
              <a:buFont typeface="Wingdings" panose="05000000000000000000" pitchFamily="2" charset="2"/>
              <a:buChar char="l"/>
              <a:defRPr/>
            </a:pPr>
            <a:endParaRPr lang="en-US" altLang="zh-CN" sz="2000" dirty="0">
              <a:latin typeface="微软雅黑" panose="020B0503020204020204" pitchFamily="34" charset="-122"/>
              <a:ea typeface="微软雅黑" panose="020B0503020204020204" pitchFamily="34" charset="-122"/>
            </a:endParaRPr>
          </a:p>
          <a:p>
            <a:pPr lvl="1" eaLnBrk="1" hangingPunct="1">
              <a:buFont typeface="Wingdings" panose="05000000000000000000" pitchFamily="2" charset="2"/>
              <a:buChar char="l"/>
              <a:defRPr/>
            </a:pP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A79E99"/>
      </a:lt2>
      <a:accent1>
        <a:srgbClr val="D0A660"/>
      </a:accent1>
      <a:accent2>
        <a:srgbClr val="A79E99"/>
      </a:accent2>
      <a:accent3>
        <a:srgbClr val="FFFFFF"/>
      </a:accent3>
      <a:accent4>
        <a:srgbClr val="000000"/>
      </a:accent4>
      <a:accent5>
        <a:srgbClr val="E4D0B6"/>
      </a:accent5>
      <a:accent6>
        <a:srgbClr val="978F8A"/>
      </a:accent6>
      <a:hlink>
        <a:srgbClr val="F7F2D0"/>
      </a:hlink>
      <a:folHlink>
        <a:srgbClr val="7D0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a:noFill/>
        </a:ln>
        <a:effectLst>
          <a:outerShdw dist="35921" dir="2700000" algn="ctr" rotWithShape="0">
            <a:schemeClr val="folHlink"/>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bg1"/>
        </a:solidFill>
        <a:ln>
          <a:noFill/>
        </a:ln>
        <a:effectLst>
          <a:outerShdw dist="35921" dir="2700000" algn="ctr" rotWithShape="0">
            <a:schemeClr val="folHlink"/>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《卓越绩效模式理解及实施》</Template>
  <TotalTime>0</TotalTime>
  <Words>2222</Words>
  <Application>WPS 演示</Application>
  <PresentationFormat>Custom</PresentationFormat>
  <Paragraphs>379</Paragraphs>
  <Slides>12</Slides>
  <Notes>51</Notes>
  <HiddenSlides>0</HiddenSlides>
  <MMClips>0</MMClips>
  <ScaleCrop>false</ScaleCrop>
  <HeadingPairs>
    <vt:vector size="6" baseType="variant">
      <vt:variant>
        <vt:lpstr>已用的字体</vt:lpstr>
      </vt:variant>
      <vt:variant>
        <vt:i4>24</vt:i4>
      </vt:variant>
      <vt:variant>
        <vt:lpstr>主题</vt:lpstr>
      </vt:variant>
      <vt:variant>
        <vt:i4>1</vt:i4>
      </vt:variant>
      <vt:variant>
        <vt:lpstr>幻灯片标题</vt:lpstr>
      </vt:variant>
      <vt:variant>
        <vt:i4>12</vt:i4>
      </vt:variant>
    </vt:vector>
  </HeadingPairs>
  <TitlesOfParts>
    <vt:vector size="37" baseType="lpstr">
      <vt:lpstr>Arial</vt:lpstr>
      <vt:lpstr>宋体</vt:lpstr>
      <vt:lpstr>Wingdings</vt:lpstr>
      <vt:lpstr>微软雅黑</vt:lpstr>
      <vt:lpstr>Impact</vt:lpstr>
      <vt:lpstr>Monotype Sorts</vt:lpstr>
      <vt:lpstr>Wingdings</vt:lpstr>
      <vt:lpstr>Times New Roman</vt:lpstr>
      <vt:lpstr>华文楷体</vt:lpstr>
      <vt:lpstr>华文中宋</vt:lpstr>
      <vt:lpstr>Verdana</vt:lpstr>
      <vt:lpstr>黑体</vt:lpstr>
      <vt:lpstr>Arial Unicode MS</vt:lpstr>
      <vt:lpstr>Arial</vt:lpstr>
      <vt:lpstr>楷体</vt:lpstr>
      <vt:lpstr>Optima</vt:lpstr>
      <vt:lpstr>Segoe Print</vt:lpstr>
      <vt:lpstr>PingFang SC</vt:lpstr>
      <vt:lpstr>Arial Narrow</vt:lpstr>
      <vt:lpstr>PMingLiU</vt:lpstr>
      <vt:lpstr>MS PGothic</vt:lpstr>
      <vt:lpstr>Monotype Sorts</vt:lpstr>
      <vt:lpstr>PingFang SC</vt:lpstr>
      <vt:lpstr>Toots Regular</vt:lpstr>
      <vt:lpstr>Default Design</vt:lpstr>
      <vt:lpstr>PowerPoint 演示文稿</vt:lpstr>
      <vt:lpstr>公司通过卓越绩效引入，全面建设世界一流企业</vt:lpstr>
      <vt:lpstr>卓越绩效 落地  需要战略、业务能力、组织、流程、数字化系统统一规划，分步实施</vt:lpstr>
      <vt:lpstr>企业架构是系统的描述、分析、改变企业的结构和组成，从而达到实现企业目标的  方法</vt:lpstr>
      <vt:lpstr>领域专家的是企业架构落地的重要力量</vt:lpstr>
      <vt:lpstr>数字化能力是当前企业转型的关键 - 数字化成熟度提升的层级</vt:lpstr>
      <vt:lpstr>“人人都是架构师”：有设计就需要架构 - 各个维度的对齐，才能实现卓越绩效战略</vt:lpstr>
      <vt:lpstr>PowerPoint 演示文稿</vt:lpstr>
      <vt:lpstr>“架构”是一种抽象方法 有不同的视角和维度</vt:lpstr>
      <vt:lpstr>PowerPoint 演示文稿</vt:lpstr>
      <vt:lpstr>企业管理中的企业架构定义</vt:lpstr>
      <vt:lpstr>企业架构设计的经验</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内容提纲</dc:title>
  <dc:creator>Yu, Hailan SCHINA-ITD/RH</dc:creator>
  <cp:lastModifiedBy>于海澜Henry</cp:lastModifiedBy>
  <cp:revision>185</cp:revision>
  <dcterms:created xsi:type="dcterms:W3CDTF">2021-05-14T01:15:00Z</dcterms:created>
  <dcterms:modified xsi:type="dcterms:W3CDTF">2026-05-02T08:34:38Z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B202326CDDE1425CA1D66D9C26E64A43_13</vt:lpwstr>
  </property>
  <property fmtid="{D5CDD505-2E9C-101B-9397-08002B2CF9AE}" pid="3" name="KSOProductBuildVer">
    <vt:lpwstr>2052-12.1.0.25865</vt:lpwstr>
  </property>
</Properties>
</file>