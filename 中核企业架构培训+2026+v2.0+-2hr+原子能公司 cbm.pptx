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078" r:id="rId3"/>
    <p:sldId id="292" r:id="rId5"/>
    <p:sldId id="381" r:id="rId6"/>
    <p:sldId id="302" r:id="rId7"/>
    <p:sldId id="350" r:id="rId8"/>
    <p:sldId id="2114" r:id="rId9"/>
    <p:sldId id="2115" r:id="rId10"/>
    <p:sldId id="2116" r:id="rId11"/>
    <p:sldId id="2117" r:id="rId12"/>
    <p:sldId id="430" r:id="rId13"/>
    <p:sldId id="351" r:id="rId14"/>
    <p:sldId id="352" r:id="rId15"/>
    <p:sldId id="355" r:id="rId16"/>
    <p:sldId id="2126" r:id="rId17"/>
    <p:sldId id="356" r:id="rId18"/>
    <p:sldId id="1023" r:id="rId19"/>
    <p:sldId id="416" r:id="rId20"/>
    <p:sldId id="2127" r:id="rId21"/>
  </p:sldIdLst>
  <p:sldSz cx="9902825" cy="6858000"/>
  <p:notesSz cx="6645275" cy="97770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4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B086"/>
    <a:srgbClr val="FEE5D7"/>
    <a:srgbClr val="808080"/>
    <a:srgbClr val="91B0FF"/>
    <a:srgbClr val="000000"/>
    <a:srgbClr val="060000"/>
    <a:srgbClr val="969696"/>
    <a:srgbClr val="C0C0C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7" autoAdjust="0"/>
    <p:restoredTop sz="91983" autoAdjust="0"/>
  </p:normalViewPr>
  <p:slideViewPr>
    <p:cSldViewPr snapToObjects="1" showGuides="1">
      <p:cViewPr varScale="1">
        <p:scale>
          <a:sx n="52" d="100"/>
          <a:sy n="52" d="100"/>
        </p:scale>
        <p:origin x="1504" y="264"/>
      </p:cViewPr>
      <p:guideLst>
        <p:guide orient="horz" pos="4319"/>
        <p:guide pos="47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t" anchorCtr="0" compatLnSpc="1"/>
          <a:lstStyle>
            <a:lvl1pPr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t" anchorCtr="0" compatLnSpc="1"/>
          <a:lstStyle>
            <a:lvl1pPr algn="r"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b" anchorCtr="0" compatLnSpc="1"/>
          <a:lstStyle>
            <a:lvl1pPr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b" anchorCtr="0" compatLnSpc="1"/>
          <a:lstStyle>
            <a:lvl1pPr algn="r" defTabSz="923925" eaLnBrk="1" hangingPunct="1">
              <a:buClrTx/>
              <a:buFontTx/>
              <a:buNone/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073027C-96D5-496C-972D-87C61FFD57E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59200" y="0"/>
            <a:ext cx="2892425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1675" y="727075"/>
            <a:ext cx="5248275" cy="3633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66775" y="4686300"/>
            <a:ext cx="4918075" cy="43608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0050"/>
            <a:ext cx="2890838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0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59200" y="9290050"/>
            <a:ext cx="2892425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7DABE37C-1969-4E81-B1BE-51BD9AA59BA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EF0648-8669-4901-AFD2-F113ADE9FE58}" type="slidenum">
              <a:rPr lang="zh-CN" altLang="en-US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E8CA61-7614-4024-A195-966B3873A232}" type="slidenum">
              <a:rPr lang="zh-CN" altLang="en-US"/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51B25C8-F851-4A10-959F-046D868EF62E}" type="slidenum">
              <a:rPr lang="zh-CN" altLang="en-US"/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B69E9B-A12A-4AF9-9017-0555A4CEA0BE}" type="slidenum">
              <a:rPr lang="zh-CN" altLang="en-US"/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800"/>
              <a:t>一个业务能力是建立企业的积木</a:t>
            </a:r>
            <a:r>
              <a:rPr lang="en-US" altLang="zh-CN" sz="800"/>
              <a:t>/</a:t>
            </a:r>
            <a:r>
              <a:rPr lang="zh-CN" altLang="en-US" sz="800"/>
              <a:t>零件，是一系列紧密关联活动的组合，有资源（人力、技术等）的支持，拥有明确的目标，能够独立的进行运作，可以内包</a:t>
            </a:r>
            <a:r>
              <a:rPr lang="en-US" altLang="zh-CN" sz="800"/>
              <a:t>/</a:t>
            </a:r>
            <a:r>
              <a:rPr lang="zh-CN" altLang="en-US" sz="800"/>
              <a:t>外包。</a:t>
            </a:r>
            <a:endParaRPr lang="zh-CN" altLang="en-US" sz="8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107481-A712-480C-B829-3806F812AE3D}" type="slidenum">
              <a:rPr lang="zh-CN" altLang="en-US"/>
            </a:fld>
            <a:endParaRPr lang="en-US" altLang="zh-CN"/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38" tIns="47269" rIns="94538" bIns="47269" anchor="b"/>
          <a:lstStyle>
            <a:lvl1pPr defTabSz="944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4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4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4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4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48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48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48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48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BA891B6-7E25-4A96-9173-DEC020C0D4FE}" type="slidenum">
              <a:rPr lang="zh-CN" altLang="en-US" sz="130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Rectangle 6"/>
          <p:cNvSpPr txBox="1">
            <a:spLocks noGrp="1" noChangeArrowheads="1"/>
          </p:cNvSpPr>
          <p:nvPr/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06" tIns="47404" rIns="94806" bIns="47404" anchor="b"/>
          <a:lstStyle>
            <a:lvl1pPr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90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IBM Confidential</a:t>
            </a:r>
            <a:endParaRPr lang="en-US" altLang="zh-CN" sz="90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0181" name="Rectangle 7"/>
          <p:cNvSpPr txBox="1">
            <a:spLocks noGrp="1" noChangeArrowheads="1"/>
          </p:cNvSpPr>
          <p:nvPr/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06" tIns="47404" rIns="94806" bIns="47404" anchor="b"/>
          <a:lstStyle>
            <a:lvl1pPr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805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80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92213F8-E8DD-42BF-9821-DFEE2E03C058}" type="slidenum">
              <a:rPr lang="zh-CN" altLang="en-US" sz="90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</a:fld>
            <a:endParaRPr lang="en-US" altLang="zh-CN" sz="90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01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50183" name="备注占位符 2"/>
          <p:cNvSpPr>
            <a:spLocks noGrp="1" noChangeArrowheads="1"/>
          </p:cNvSpPr>
          <p:nvPr>
            <p:ph type="body" idx="1"/>
          </p:nvPr>
        </p:nvSpPr>
        <p:spPr>
          <a:xfrm>
            <a:off x="665163" y="4645025"/>
            <a:ext cx="5314950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183" tIns="48092" rIns="96183" bIns="48092"/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  <p:sp>
        <p:nvSpPr>
          <p:cNvPr id="50184" name="灯片编号占位符 3"/>
          <p:cNvSpPr txBox="1">
            <a:spLocks noGrp="1"/>
          </p:cNvSpPr>
          <p:nvPr/>
        </p:nvSpPr>
        <p:spPr bwMode="auto">
          <a:xfrm>
            <a:off x="3763963" y="9288463"/>
            <a:ext cx="28797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83" tIns="48092" rIns="96183" bIns="48092" anchor="b"/>
          <a:lstStyle>
            <a:lvl1pPr defTabSz="9620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20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20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20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20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3CE528E-028B-4E1C-B426-1738A89B2829}" type="slidenum">
              <a:rPr lang="zh-CN" altLang="en-US" sz="90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E37C-1969-4E81-B1BE-51BD9AA59BA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41B1AB5-42B6-4F34-94BF-786E4246E27A}" type="slidenum">
              <a:rPr lang="zh-CN" altLang="en-US"/>
            </a:fld>
            <a:endParaRPr lang="en-US" altLang="zh-CN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464AC8-D638-44D3-9CCA-70D385A7DA08}" type="slidenum">
              <a:rPr lang="zh-CN" altLang="en-US"/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5025"/>
            <a:ext cx="5318125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856FA3-F2CD-489A-8AAF-6A0714707A8F}" type="slidenum">
              <a:rPr lang="zh-CN" altLang="en-US"/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5025"/>
            <a:ext cx="5318125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00D0DB-27A5-47DA-93CF-1E8E82108850}" type="slidenum">
              <a:rPr lang="zh-CN" altLang="en-US"/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5025"/>
            <a:ext cx="5318125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F5C5A6-69AB-4E24-A0B3-F962F5430818}" type="slidenum">
              <a:rPr lang="zh-CN" altLang="en-US"/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5025"/>
            <a:ext cx="5318125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1BF45B-86C1-40AB-950C-3FD544475B2D}" type="slidenum">
              <a:rPr lang="zh-CN" altLang="en-US"/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4313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5025"/>
            <a:ext cx="5318125" cy="4398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22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0A1B00-44DA-48AB-B4E1-FC1B31222F2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8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0C0AE1-0A5F-4DC2-8736-9224D4DEBCCF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742950" y="2133600"/>
            <a:ext cx="8416925" cy="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9"/>
          <p:cNvSpPr>
            <a:spLocks noChangeShapeType="1"/>
          </p:cNvSpPr>
          <p:nvPr userDrawn="1"/>
        </p:nvSpPr>
        <p:spPr bwMode="auto">
          <a:xfrm>
            <a:off x="742950" y="3886200"/>
            <a:ext cx="8416925" cy="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42950" y="2438400"/>
            <a:ext cx="8416925" cy="1143000"/>
          </a:xfrm>
        </p:spPr>
        <p:txBody>
          <a:bodyPr anchor="ctr"/>
          <a:lstStyle>
            <a:lvl1pPr algn="ctr">
              <a:defRPr sz="2800"/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742950" y="5143500"/>
            <a:ext cx="6931025" cy="838200"/>
          </a:xfrm>
        </p:spPr>
        <p:txBody>
          <a:bodyPr anchor="b"/>
          <a:lstStyle>
            <a:lvl1pPr>
              <a:spcBef>
                <a:spcPct val="10000"/>
              </a:spcBef>
              <a:spcAft>
                <a:spcPct val="0"/>
              </a:spcAft>
              <a:defRPr sz="1800"/>
            </a:lvl1pPr>
          </a:lstStyle>
          <a:p>
            <a:pPr lvl="0"/>
            <a:r>
              <a:rPr lang="en-US" altLang="en-US" noProof="0"/>
              <a:t>Click to edit Master subtitle</a:t>
            </a:r>
            <a:endParaRPr lang="en-US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69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692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476375"/>
            <a:ext cx="4624388" cy="4619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4438" y="1476375"/>
            <a:ext cx="4624387" cy="4619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22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5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5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7550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913" y="273050"/>
            <a:ext cx="55356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7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0425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042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042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325" y="80963"/>
            <a:ext cx="2349500" cy="601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80963"/>
            <a:ext cx="6899275" cy="601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476375"/>
            <a:ext cx="4624388" cy="461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4438" y="1476375"/>
            <a:ext cx="4624387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4438" y="3862388"/>
            <a:ext cx="4624387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47650" y="1476375"/>
            <a:ext cx="9401175" cy="4619625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7650" y="1476375"/>
            <a:ext cx="4624388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4438" y="1476375"/>
            <a:ext cx="4624387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47650" y="3862388"/>
            <a:ext cx="4624388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4438" y="3862388"/>
            <a:ext cx="4624387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391" y="981075"/>
            <a:ext cx="9371911" cy="1762126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3101" y="236499"/>
            <a:ext cx="8761799" cy="585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650" y="80963"/>
            <a:ext cx="7161213" cy="939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/>
          <a:p>
            <a:pPr marL="0" lvl="0" indent="0" defTabSz="914400" latinLnBrk="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7650" y="1476375"/>
            <a:ext cx="940117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6877050" y="6496050"/>
            <a:ext cx="2778125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/>
          <a:lstStyle>
            <a:lvl1pPr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ClrTx/>
              <a:buFontTx/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企业架构培训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2026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fld id="{F7EC66D7-C41E-4E1A-9E6E-A7C6C5F78646}" type="slidenum">
              <a:rPr lang="en-US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5" descr="图层 4 拷贝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12480" y="360680"/>
            <a:ext cx="1236345" cy="554990"/>
          </a:xfrm>
          <a:prstGeom prst="rect">
            <a:avLst/>
          </a:prstGeom>
        </p:spPr>
      </p:pic>
      <p:sp>
        <p:nvSpPr>
          <p:cNvPr id="3" name="矩形 8"/>
          <p:cNvSpPr/>
          <p:nvPr userDrawn="1"/>
        </p:nvSpPr>
        <p:spPr>
          <a:xfrm>
            <a:off x="0" y="1038225"/>
            <a:ext cx="9902825" cy="76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7000">
                <a:srgbClr val="80A4C5">
                  <a:alpha val="100000"/>
                </a:srgbClr>
              </a:gs>
              <a:gs pos="75000">
                <a:srgbClr val="0A4F8D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en-US" sz="2800" b="1" kern="1200" dirty="0">
          <a:solidFill>
            <a:srgbClr val="0A4F8D"/>
          </a:solidFill>
          <a:latin typeface="Impact" panose="020B0806030902050204" charset="0"/>
          <a:ea typeface="微软雅黑" panose="020B0503020204020204" pitchFamily="34" charset="-122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7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sz="2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50000"/>
        </a:spcBef>
        <a:spcAft>
          <a:spcPct val="10000"/>
        </a:spcAft>
        <a:buClr>
          <a:srgbClr val="0070C0"/>
        </a:buClr>
        <a:buSzPct val="75000"/>
        <a:buFont typeface="Wingdings" panose="05000000000000000000" pitchFamily="2" charset="2"/>
        <a:buChar char="l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50000"/>
        </a:spcBef>
        <a:spcAft>
          <a:spcPct val="10000"/>
        </a:spcAft>
        <a:buClr>
          <a:srgbClr val="0070C0"/>
        </a:buClr>
        <a:buSzPct val="75000"/>
        <a:buChar char="—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.bin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8" Type="http://schemas.openxmlformats.org/officeDocument/2006/relationships/notesSlide" Target="../notesSlides/notesSlide2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wmf"/><Relationship Id="rId11" Type="http://schemas.openxmlformats.org/officeDocument/2006/relationships/image" Target="../media/image10.emf"/><Relationship Id="rId10" Type="http://schemas.openxmlformats.org/officeDocument/2006/relationships/image" Target="../media/image9.wmf"/><Relationship Id="rId1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5.xml"/><Relationship Id="rId8" Type="http://schemas.openxmlformats.org/officeDocument/2006/relationships/slide" Target="slide13.xml"/><Relationship Id="rId7" Type="http://schemas.openxmlformats.org/officeDocument/2006/relationships/slide" Target="slide10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2.xml"/><Relationship Id="rId11" Type="http://schemas.openxmlformats.org/officeDocument/2006/relationships/slideLayout" Target="../slideLayouts/slideLayout6.xml"/><Relationship Id="rId10" Type="http://schemas.openxmlformats.org/officeDocument/2006/relationships/slide" Target="slide4.xml"/><Relationship Id="rId1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098699" y="2276872"/>
            <a:ext cx="7705426" cy="2808783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zh-CN" altLang="zh-CN" sz="1800" b="0" dirty="0">
              <a:solidFill>
                <a:schemeClr val="bg1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91641" y="2563787"/>
            <a:ext cx="5849541" cy="2234952"/>
          </a:xfrm>
        </p:spPr>
        <p:txBody>
          <a:bodyPr/>
          <a:lstStyle/>
          <a:p>
            <a:pPr marL="609600" indent="-609600" algn="ctr">
              <a:buFontTx/>
              <a:buNone/>
            </a:pPr>
            <a:r>
              <a:rPr lang="en-US" altLang="zh-CN" sz="4000" dirty="0">
                <a:solidFill>
                  <a:schemeClr val="bg1"/>
                </a:solidFill>
                <a:ea typeface="宋体" panose="02010600030101010101" pitchFamily="2" charset="-122"/>
              </a:rPr>
              <a:t>3. </a:t>
            </a:r>
            <a:r>
              <a:rPr lang="zh-CN" altLang="en-US" sz="4000" dirty="0">
                <a:solidFill>
                  <a:schemeClr val="bg1"/>
                </a:solidFill>
                <a:ea typeface="宋体" panose="02010600030101010101" pitchFamily="2" charset="-122"/>
              </a:rPr>
              <a:t>业务架构设计介绍</a:t>
            </a:r>
            <a:endParaRPr lang="en-US" altLang="zh-CN" sz="4000" dirty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marL="609600" indent="-609600" algn="ctr">
              <a:buFontTx/>
              <a:buNone/>
            </a:pP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403225"/>
            <a:ext cx="9077325" cy="5048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企业业务架构的组成部分</a:t>
            </a:r>
            <a:endParaRPr lang="zh-CN" altLang="en-US" dirty="0"/>
          </a:p>
        </p:txBody>
      </p:sp>
      <p:sp>
        <p:nvSpPr>
          <p:cNvPr id="34819" name="AutoShape 25"/>
          <p:cNvSpPr>
            <a:spLocks noChangeArrowheads="1"/>
          </p:cNvSpPr>
          <p:nvPr/>
        </p:nvSpPr>
        <p:spPr bwMode="auto">
          <a:xfrm>
            <a:off x="2913063" y="1716088"/>
            <a:ext cx="4157662" cy="4633912"/>
          </a:xfrm>
          <a:prstGeom prst="roundRect">
            <a:avLst>
              <a:gd name="adj" fmla="val 2185"/>
            </a:avLst>
          </a:prstGeom>
          <a:solidFill>
            <a:schemeClr val="accent2"/>
          </a:solidFill>
          <a:ln w="2857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20" name="Rectangle 26"/>
          <p:cNvSpPr>
            <a:spLocks noChangeArrowheads="1"/>
          </p:cNvSpPr>
          <p:nvPr/>
        </p:nvSpPr>
        <p:spPr bwMode="gray">
          <a:xfrm>
            <a:off x="3054350" y="2189163"/>
            <a:ext cx="3911600" cy="4098925"/>
          </a:xfrm>
          <a:prstGeom prst="rect">
            <a:avLst/>
          </a:prstGeom>
          <a:solidFill>
            <a:srgbClr val="EAEAEA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GB" altLang="zh-CN" sz="2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21" name="Rectangle 27"/>
          <p:cNvSpPr>
            <a:spLocks noChangeArrowheads="1"/>
          </p:cNvSpPr>
          <p:nvPr/>
        </p:nvSpPr>
        <p:spPr bwMode="gray">
          <a:xfrm>
            <a:off x="3052763" y="1990725"/>
            <a:ext cx="3911600" cy="192088"/>
          </a:xfrm>
          <a:prstGeom prst="rect">
            <a:avLst/>
          </a:prstGeom>
          <a:solidFill>
            <a:srgbClr val="999999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GB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战略</a:t>
            </a:r>
            <a:endParaRPr lang="zh-CN" altLang="en-GB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22" name="Rectangle 28"/>
          <p:cNvSpPr>
            <a:spLocks noChangeArrowheads="1"/>
          </p:cNvSpPr>
          <p:nvPr/>
        </p:nvSpPr>
        <p:spPr bwMode="gray">
          <a:xfrm>
            <a:off x="3060700" y="5429250"/>
            <a:ext cx="3905250" cy="179388"/>
          </a:xfrm>
          <a:prstGeom prst="rect">
            <a:avLst/>
          </a:prstGeom>
          <a:noFill/>
          <a:ln w="6350" algn="ctr">
            <a:solidFill>
              <a:srgbClr val="9999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GB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技术</a:t>
            </a:r>
            <a:endParaRPr lang="zh-CN" altLang="en-GB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4823" name="Group 29"/>
          <p:cNvGrpSpPr/>
          <p:nvPr/>
        </p:nvGrpSpPr>
        <p:grpSpPr bwMode="auto">
          <a:xfrm>
            <a:off x="5797550" y="3284538"/>
            <a:ext cx="1150938" cy="766762"/>
            <a:chOff x="1633" y="1947"/>
            <a:chExt cx="781" cy="559"/>
          </a:xfrm>
        </p:grpSpPr>
        <p:sp>
          <p:nvSpPr>
            <p:cNvPr id="35116" name="Rectangle 30"/>
            <p:cNvSpPr>
              <a:spLocks noChangeArrowheads="1"/>
            </p:cNvSpPr>
            <p:nvPr/>
          </p:nvSpPr>
          <p:spPr bwMode="gray">
            <a:xfrm>
              <a:off x="1633" y="1947"/>
              <a:ext cx="781" cy="86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GB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地点</a:t>
              </a:r>
              <a:endPara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5117" name="Rectangle 31"/>
            <p:cNvSpPr>
              <a:spLocks noChangeArrowheads="1"/>
            </p:cNvSpPr>
            <p:nvPr/>
          </p:nvSpPr>
          <p:spPr bwMode="gray">
            <a:xfrm>
              <a:off x="1633" y="2033"/>
              <a:ext cx="781" cy="473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C0C0C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35118" name="Picture 3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1701" y="2068"/>
              <a:ext cx="690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24" name="Group 33"/>
          <p:cNvGrpSpPr/>
          <p:nvPr/>
        </p:nvGrpSpPr>
        <p:grpSpPr bwMode="auto">
          <a:xfrm>
            <a:off x="4424363" y="3184525"/>
            <a:ext cx="1223962" cy="825500"/>
            <a:chOff x="1633" y="1164"/>
            <a:chExt cx="781" cy="640"/>
          </a:xfrm>
        </p:grpSpPr>
        <p:sp>
          <p:nvSpPr>
            <p:cNvPr id="34998" name="Rectangle 34"/>
            <p:cNvSpPr>
              <a:spLocks noChangeArrowheads="1"/>
            </p:cNvSpPr>
            <p:nvPr/>
          </p:nvSpPr>
          <p:spPr bwMode="gray">
            <a:xfrm>
              <a:off x="1633" y="1164"/>
              <a:ext cx="781" cy="91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业务能力</a:t>
              </a:r>
              <a:endPara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99" name="Rectangle 35"/>
            <p:cNvSpPr>
              <a:spLocks noChangeArrowheads="1"/>
            </p:cNvSpPr>
            <p:nvPr/>
          </p:nvSpPr>
          <p:spPr bwMode="gray">
            <a:xfrm>
              <a:off x="1633" y="1255"/>
              <a:ext cx="781" cy="54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5000" name="Group 36"/>
            <p:cNvGrpSpPr/>
            <p:nvPr/>
          </p:nvGrpSpPr>
          <p:grpSpPr bwMode="auto">
            <a:xfrm>
              <a:off x="1724" y="1301"/>
              <a:ext cx="598" cy="472"/>
              <a:chOff x="416" y="801"/>
              <a:chExt cx="5416" cy="3398"/>
            </a:xfrm>
          </p:grpSpPr>
          <p:pic>
            <p:nvPicPr>
              <p:cNvPr id="35001" name="Picture 3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1100" y="804"/>
                <a:ext cx="4732" cy="10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02" name="Rectangle 38"/>
              <p:cNvSpPr>
                <a:spLocks noChangeArrowheads="1"/>
              </p:cNvSpPr>
              <p:nvPr/>
            </p:nvSpPr>
            <p:spPr bwMode="gray">
              <a:xfrm>
                <a:off x="1184" y="858"/>
                <a:ext cx="4556" cy="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 anchor="ctr" anchorCtr="1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5003" name="Group 39"/>
              <p:cNvGrpSpPr/>
              <p:nvPr/>
            </p:nvGrpSpPr>
            <p:grpSpPr bwMode="auto">
              <a:xfrm>
                <a:off x="1100" y="1965"/>
                <a:ext cx="4732" cy="1068"/>
                <a:chOff x="1263" y="1695"/>
                <a:chExt cx="4732" cy="1068"/>
              </a:xfrm>
            </p:grpSpPr>
            <p:pic>
              <p:nvPicPr>
                <p:cNvPr id="35114" name="Picture 40"/>
                <p:cNvPicPr>
                  <a:picLocks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1263" y="1695"/>
                  <a:ext cx="4732" cy="10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115" name="Rectangle 41"/>
                <p:cNvSpPr>
                  <a:spLocks noChangeArrowheads="1"/>
                </p:cNvSpPr>
                <p:nvPr/>
              </p:nvSpPr>
              <p:spPr bwMode="gray">
                <a:xfrm>
                  <a:off x="1352" y="1754"/>
                  <a:ext cx="4546" cy="9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rPr>
                    <a:t> </a:t>
                  </a:r>
                  <a:endPara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004" name="Group 42"/>
              <p:cNvGrpSpPr/>
              <p:nvPr/>
            </p:nvGrpSpPr>
            <p:grpSpPr bwMode="auto">
              <a:xfrm>
                <a:off x="1100" y="3131"/>
                <a:ext cx="4732" cy="1068"/>
                <a:chOff x="1263" y="2861"/>
                <a:chExt cx="4732" cy="1068"/>
              </a:xfrm>
            </p:grpSpPr>
            <p:pic>
              <p:nvPicPr>
                <p:cNvPr id="35112" name="Picture 43"/>
                <p:cNvPicPr>
                  <a:picLocks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1263" y="2861"/>
                  <a:ext cx="4732" cy="10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113" name="Rectangle 44"/>
                <p:cNvSpPr>
                  <a:spLocks noChangeArrowheads="1"/>
                </p:cNvSpPr>
                <p:nvPr/>
              </p:nvSpPr>
              <p:spPr bwMode="gray">
                <a:xfrm>
                  <a:off x="1353" y="2921"/>
                  <a:ext cx="4544" cy="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005" name="Rectangle 45"/>
              <p:cNvSpPr>
                <a:spLocks noChangeArrowheads="1"/>
              </p:cNvSpPr>
              <p:nvPr/>
            </p:nvSpPr>
            <p:spPr bwMode="gray">
              <a:xfrm>
                <a:off x="1193" y="882"/>
                <a:ext cx="954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06" name="Rectangle 46"/>
              <p:cNvSpPr>
                <a:spLocks noChangeArrowheads="1"/>
              </p:cNvSpPr>
              <p:nvPr/>
            </p:nvSpPr>
            <p:spPr bwMode="gray">
              <a:xfrm>
                <a:off x="1193" y="1626"/>
                <a:ext cx="954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5007" name="Group 47"/>
              <p:cNvGrpSpPr/>
              <p:nvPr/>
            </p:nvGrpSpPr>
            <p:grpSpPr bwMode="auto">
              <a:xfrm>
                <a:off x="5243" y="882"/>
                <a:ext cx="504" cy="882"/>
                <a:chOff x="5406" y="612"/>
                <a:chExt cx="504" cy="882"/>
              </a:xfrm>
            </p:grpSpPr>
            <p:sp>
              <p:nvSpPr>
                <p:cNvPr id="35110" name="Rectangle 48"/>
                <p:cNvSpPr>
                  <a:spLocks noChangeArrowheads="1"/>
                </p:cNvSpPr>
                <p:nvPr/>
              </p:nvSpPr>
              <p:spPr bwMode="gray">
                <a:xfrm>
                  <a:off x="5406" y="612"/>
                  <a:ext cx="504" cy="882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chemeClr val="bg2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18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11" name="Rectangle 49"/>
                <p:cNvSpPr>
                  <a:spLocks noChangeArrowheads="1"/>
                </p:cNvSpPr>
                <p:nvPr/>
              </p:nvSpPr>
              <p:spPr bwMode="gray">
                <a:xfrm>
                  <a:off x="5406" y="1356"/>
                  <a:ext cx="504" cy="138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chemeClr val="bg2"/>
                  </a:solidFill>
                  <a:miter lim="800000"/>
                </a:ln>
              </p:spPr>
              <p:txBody>
                <a:bodyPr wrap="none" lIns="92075" tIns="46038" rIns="92075" bIns="46038" anchor="ctr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008" name="Rectangle 50"/>
              <p:cNvSpPr>
                <a:spLocks noChangeArrowheads="1"/>
              </p:cNvSpPr>
              <p:nvPr/>
            </p:nvSpPr>
            <p:spPr bwMode="gray">
              <a:xfrm>
                <a:off x="2207" y="882"/>
                <a:ext cx="1722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09" name="Rectangle 51"/>
              <p:cNvSpPr>
                <a:spLocks noChangeArrowheads="1"/>
              </p:cNvSpPr>
              <p:nvPr/>
            </p:nvSpPr>
            <p:spPr bwMode="gray">
              <a:xfrm>
                <a:off x="2207" y="1626"/>
                <a:ext cx="1722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0" name="Rectangle 52"/>
              <p:cNvSpPr>
                <a:spLocks noChangeArrowheads="1"/>
              </p:cNvSpPr>
              <p:nvPr/>
            </p:nvSpPr>
            <p:spPr bwMode="gray">
              <a:xfrm>
                <a:off x="2249" y="92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1" name="Rectangle 53"/>
              <p:cNvSpPr>
                <a:spLocks noChangeArrowheads="1"/>
              </p:cNvSpPr>
              <p:nvPr/>
            </p:nvSpPr>
            <p:spPr bwMode="gray">
              <a:xfrm>
                <a:off x="2811" y="924"/>
                <a:ext cx="514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2" name="Rectangle 54"/>
              <p:cNvSpPr>
                <a:spLocks noChangeArrowheads="1"/>
              </p:cNvSpPr>
              <p:nvPr/>
            </p:nvSpPr>
            <p:spPr bwMode="gray">
              <a:xfrm>
                <a:off x="3369" y="92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5013" name="Group 55"/>
              <p:cNvGrpSpPr/>
              <p:nvPr/>
            </p:nvGrpSpPr>
            <p:grpSpPr bwMode="auto">
              <a:xfrm>
                <a:off x="416" y="1221"/>
                <a:ext cx="592" cy="2976"/>
                <a:chOff x="387" y="951"/>
                <a:chExt cx="592" cy="2976"/>
              </a:xfrm>
            </p:grpSpPr>
            <p:pic>
              <p:nvPicPr>
                <p:cNvPr id="35108" name="Picture 56"/>
                <p:cNvPicPr>
                  <a:picLocks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387" y="951"/>
                  <a:ext cx="592" cy="29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109" name="Rectangle 57"/>
                <p:cNvSpPr>
                  <a:spLocks noChangeArrowheads="1"/>
                </p:cNvSpPr>
                <p:nvPr/>
              </p:nvSpPr>
              <p:spPr bwMode="gray">
                <a:xfrm>
                  <a:off x="462" y="1001"/>
                  <a:ext cx="434" cy="28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rPr>
                    <a:t> </a:t>
                  </a:r>
                  <a:endPara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014" name="Group 58"/>
              <p:cNvGrpSpPr/>
              <p:nvPr/>
            </p:nvGrpSpPr>
            <p:grpSpPr bwMode="auto">
              <a:xfrm>
                <a:off x="416" y="801"/>
                <a:ext cx="592" cy="408"/>
                <a:chOff x="387" y="531"/>
                <a:chExt cx="592" cy="408"/>
              </a:xfrm>
            </p:grpSpPr>
            <p:pic>
              <p:nvPicPr>
                <p:cNvPr id="35106" name="Picture 59"/>
                <p:cNvPicPr>
                  <a:picLocks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387" y="531"/>
                  <a:ext cx="592" cy="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107" name="Rectangle 60"/>
                <p:cNvSpPr>
                  <a:spLocks noChangeArrowheads="1"/>
                </p:cNvSpPr>
                <p:nvPr/>
              </p:nvSpPr>
              <p:spPr bwMode="gray">
                <a:xfrm>
                  <a:off x="467" y="583"/>
                  <a:ext cx="424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015" name="Group 61"/>
              <p:cNvGrpSpPr/>
              <p:nvPr/>
            </p:nvGrpSpPr>
            <p:grpSpPr bwMode="auto">
              <a:xfrm>
                <a:off x="491" y="1308"/>
                <a:ext cx="414" cy="2793"/>
                <a:chOff x="462" y="1038"/>
                <a:chExt cx="414" cy="2793"/>
              </a:xfrm>
            </p:grpSpPr>
            <p:sp>
              <p:nvSpPr>
                <p:cNvPr id="35098" name="Rectangle 62"/>
                <p:cNvSpPr>
                  <a:spLocks noChangeArrowheads="1"/>
                </p:cNvSpPr>
                <p:nvPr/>
              </p:nvSpPr>
              <p:spPr bwMode="gray">
                <a:xfrm>
                  <a:off x="462" y="1038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099" name="Rectangle 63"/>
                <p:cNvSpPr>
                  <a:spLocks noChangeArrowheads="1"/>
                </p:cNvSpPr>
                <p:nvPr/>
              </p:nvSpPr>
              <p:spPr bwMode="gray">
                <a:xfrm>
                  <a:off x="462" y="1393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0" name="Rectangle 64"/>
                <p:cNvSpPr>
                  <a:spLocks noChangeArrowheads="1"/>
                </p:cNvSpPr>
                <p:nvPr/>
              </p:nvSpPr>
              <p:spPr bwMode="gray">
                <a:xfrm>
                  <a:off x="462" y="1749"/>
                  <a:ext cx="414" cy="306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1" name="Rectangle 65"/>
                <p:cNvSpPr>
                  <a:spLocks noChangeArrowheads="1"/>
                </p:cNvSpPr>
                <p:nvPr/>
              </p:nvSpPr>
              <p:spPr bwMode="gray">
                <a:xfrm>
                  <a:off x="462" y="2103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2" name="Rectangle 66"/>
                <p:cNvSpPr>
                  <a:spLocks noChangeArrowheads="1"/>
                </p:cNvSpPr>
                <p:nvPr/>
              </p:nvSpPr>
              <p:spPr bwMode="gray">
                <a:xfrm>
                  <a:off x="462" y="2459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3" name="Rectangle 67"/>
                <p:cNvSpPr>
                  <a:spLocks noChangeArrowheads="1"/>
                </p:cNvSpPr>
                <p:nvPr/>
              </p:nvSpPr>
              <p:spPr bwMode="gray">
                <a:xfrm>
                  <a:off x="462" y="2814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4" name="Rectangle 68"/>
                <p:cNvSpPr>
                  <a:spLocks noChangeArrowheads="1"/>
                </p:cNvSpPr>
                <p:nvPr/>
              </p:nvSpPr>
              <p:spPr bwMode="gray">
                <a:xfrm>
                  <a:off x="462" y="3170"/>
                  <a:ext cx="414" cy="306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05" name="Rectangle 69"/>
                <p:cNvSpPr>
                  <a:spLocks noChangeArrowheads="1"/>
                </p:cNvSpPr>
                <p:nvPr/>
              </p:nvSpPr>
              <p:spPr bwMode="gray">
                <a:xfrm>
                  <a:off x="462" y="3524"/>
                  <a:ext cx="414" cy="307"/>
                </a:xfrm>
                <a:prstGeom prst="rect">
                  <a:avLst/>
                </a:prstGeom>
                <a:solidFill>
                  <a:schemeClr val="tx1"/>
                </a:solidFill>
                <a:ln w="6350">
                  <a:solidFill>
                    <a:srgbClr val="808080"/>
                  </a:solidFill>
                  <a:miter lim="800000"/>
                </a:ln>
              </p:spPr>
              <p:txBody>
                <a:bodyPr lIns="36512" tIns="36512" rIns="36512" bIns="36512" anchor="ctr" anchorCtr="1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 b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016" name="Rectangle 70"/>
              <p:cNvSpPr>
                <a:spLocks noChangeArrowheads="1"/>
              </p:cNvSpPr>
              <p:nvPr/>
            </p:nvSpPr>
            <p:spPr bwMode="gray">
              <a:xfrm>
                <a:off x="4001" y="882"/>
                <a:ext cx="1158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7" name="Rectangle 71"/>
              <p:cNvSpPr>
                <a:spLocks noChangeArrowheads="1"/>
              </p:cNvSpPr>
              <p:nvPr/>
            </p:nvSpPr>
            <p:spPr bwMode="gray">
              <a:xfrm>
                <a:off x="4047" y="924"/>
                <a:ext cx="514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8" name="Rectangle 72"/>
              <p:cNvSpPr>
                <a:spLocks noChangeArrowheads="1"/>
              </p:cNvSpPr>
              <p:nvPr/>
            </p:nvSpPr>
            <p:spPr bwMode="gray">
              <a:xfrm>
                <a:off x="4605" y="92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19" name="Rectangle 73"/>
              <p:cNvSpPr>
                <a:spLocks noChangeArrowheads="1"/>
              </p:cNvSpPr>
              <p:nvPr/>
            </p:nvSpPr>
            <p:spPr bwMode="gray">
              <a:xfrm>
                <a:off x="4001" y="1626"/>
                <a:ext cx="1158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0" name="Rectangle 74"/>
              <p:cNvSpPr>
                <a:spLocks noChangeArrowheads="1"/>
              </p:cNvSpPr>
              <p:nvPr/>
            </p:nvSpPr>
            <p:spPr bwMode="gray">
              <a:xfrm>
                <a:off x="5277" y="924"/>
                <a:ext cx="435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1" name="Rectangle 75"/>
              <p:cNvSpPr>
                <a:spLocks noChangeArrowheads="1"/>
              </p:cNvSpPr>
              <p:nvPr/>
            </p:nvSpPr>
            <p:spPr bwMode="gray">
              <a:xfrm>
                <a:off x="2279" y="108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2" name="Rectangle 76"/>
              <p:cNvSpPr>
                <a:spLocks noChangeArrowheads="1"/>
              </p:cNvSpPr>
              <p:nvPr/>
            </p:nvSpPr>
            <p:spPr bwMode="gray">
              <a:xfrm>
                <a:off x="2279" y="123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3" name="Rectangle 77"/>
              <p:cNvSpPr>
                <a:spLocks noChangeArrowheads="1"/>
              </p:cNvSpPr>
              <p:nvPr/>
            </p:nvSpPr>
            <p:spPr bwMode="gray">
              <a:xfrm>
                <a:off x="2831" y="108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4" name="Rectangle 78"/>
              <p:cNvSpPr>
                <a:spLocks noChangeArrowheads="1"/>
              </p:cNvSpPr>
              <p:nvPr/>
            </p:nvSpPr>
            <p:spPr bwMode="gray">
              <a:xfrm>
                <a:off x="3395" y="108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5" name="Rectangle 79"/>
              <p:cNvSpPr>
                <a:spLocks noChangeArrowheads="1"/>
              </p:cNvSpPr>
              <p:nvPr/>
            </p:nvSpPr>
            <p:spPr bwMode="gray">
              <a:xfrm>
                <a:off x="4073" y="108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6" name="Rectangle 80"/>
              <p:cNvSpPr>
                <a:spLocks noChangeArrowheads="1"/>
              </p:cNvSpPr>
              <p:nvPr/>
            </p:nvSpPr>
            <p:spPr bwMode="gray">
              <a:xfrm>
                <a:off x="4631" y="108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7" name="Rectangle 81"/>
              <p:cNvSpPr>
                <a:spLocks noChangeArrowheads="1"/>
              </p:cNvSpPr>
              <p:nvPr/>
            </p:nvSpPr>
            <p:spPr bwMode="gray">
              <a:xfrm>
                <a:off x="5309" y="1087"/>
                <a:ext cx="378" cy="30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8" name="Rectangle 82"/>
              <p:cNvSpPr>
                <a:spLocks noChangeArrowheads="1"/>
              </p:cNvSpPr>
              <p:nvPr/>
            </p:nvSpPr>
            <p:spPr bwMode="gray">
              <a:xfrm>
                <a:off x="4073" y="1231"/>
                <a:ext cx="462" cy="19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29" name="Rectangle 83"/>
              <p:cNvSpPr>
                <a:spLocks noChangeArrowheads="1"/>
              </p:cNvSpPr>
              <p:nvPr/>
            </p:nvSpPr>
            <p:spPr bwMode="gray">
              <a:xfrm>
                <a:off x="4631" y="1231"/>
                <a:ext cx="462" cy="19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0" name="Rectangle 84"/>
              <p:cNvSpPr>
                <a:spLocks noChangeArrowheads="1"/>
              </p:cNvSpPr>
              <p:nvPr/>
            </p:nvSpPr>
            <p:spPr bwMode="gray">
              <a:xfrm>
                <a:off x="1247" y="2052"/>
                <a:ext cx="1722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1" name="Rectangle 85"/>
              <p:cNvSpPr>
                <a:spLocks noChangeArrowheads="1"/>
              </p:cNvSpPr>
              <p:nvPr/>
            </p:nvSpPr>
            <p:spPr bwMode="gray">
              <a:xfrm>
                <a:off x="1247" y="2796"/>
                <a:ext cx="1722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2" name="Rectangle 86"/>
              <p:cNvSpPr>
                <a:spLocks noChangeArrowheads="1"/>
              </p:cNvSpPr>
              <p:nvPr/>
            </p:nvSpPr>
            <p:spPr bwMode="gray">
              <a:xfrm>
                <a:off x="1289" y="209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3" name="Rectangle 87"/>
              <p:cNvSpPr>
                <a:spLocks noChangeArrowheads="1"/>
              </p:cNvSpPr>
              <p:nvPr/>
            </p:nvSpPr>
            <p:spPr bwMode="gray">
              <a:xfrm>
                <a:off x="1851" y="2094"/>
                <a:ext cx="514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4" name="Rectangle 88"/>
              <p:cNvSpPr>
                <a:spLocks noChangeArrowheads="1"/>
              </p:cNvSpPr>
              <p:nvPr/>
            </p:nvSpPr>
            <p:spPr bwMode="gray">
              <a:xfrm>
                <a:off x="2409" y="209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5" name="Rectangle 89"/>
              <p:cNvSpPr>
                <a:spLocks noChangeArrowheads="1"/>
              </p:cNvSpPr>
              <p:nvPr/>
            </p:nvSpPr>
            <p:spPr bwMode="gray">
              <a:xfrm>
                <a:off x="1319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6" name="Rectangle 90"/>
              <p:cNvSpPr>
                <a:spLocks noChangeArrowheads="1"/>
              </p:cNvSpPr>
              <p:nvPr/>
            </p:nvSpPr>
            <p:spPr bwMode="gray">
              <a:xfrm>
                <a:off x="1319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7" name="Rectangle 91"/>
              <p:cNvSpPr>
                <a:spLocks noChangeArrowheads="1"/>
              </p:cNvSpPr>
              <p:nvPr/>
            </p:nvSpPr>
            <p:spPr bwMode="gray">
              <a:xfrm>
                <a:off x="3059" y="2052"/>
                <a:ext cx="1722" cy="70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8" name="Rectangle 92"/>
              <p:cNvSpPr>
                <a:spLocks noChangeArrowheads="1"/>
              </p:cNvSpPr>
              <p:nvPr/>
            </p:nvSpPr>
            <p:spPr bwMode="gray">
              <a:xfrm>
                <a:off x="3059" y="2622"/>
                <a:ext cx="1722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39" name="Rectangle 93"/>
              <p:cNvSpPr>
                <a:spLocks noChangeArrowheads="1"/>
              </p:cNvSpPr>
              <p:nvPr/>
            </p:nvSpPr>
            <p:spPr bwMode="gray">
              <a:xfrm>
                <a:off x="3101" y="2094"/>
                <a:ext cx="513" cy="48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0" name="Rectangle 94"/>
              <p:cNvSpPr>
                <a:spLocks noChangeArrowheads="1"/>
              </p:cNvSpPr>
              <p:nvPr/>
            </p:nvSpPr>
            <p:spPr bwMode="gray">
              <a:xfrm>
                <a:off x="3663" y="2094"/>
                <a:ext cx="514" cy="48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1" name="Rectangle 95"/>
              <p:cNvSpPr>
                <a:spLocks noChangeArrowheads="1"/>
              </p:cNvSpPr>
              <p:nvPr/>
            </p:nvSpPr>
            <p:spPr bwMode="gray">
              <a:xfrm>
                <a:off x="4221" y="2094"/>
                <a:ext cx="513" cy="48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2" name="Rectangle 96"/>
              <p:cNvSpPr>
                <a:spLocks noChangeArrowheads="1"/>
              </p:cNvSpPr>
              <p:nvPr/>
            </p:nvSpPr>
            <p:spPr bwMode="gray">
              <a:xfrm>
                <a:off x="3131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3" name="Rectangle 97"/>
              <p:cNvSpPr>
                <a:spLocks noChangeArrowheads="1"/>
              </p:cNvSpPr>
              <p:nvPr/>
            </p:nvSpPr>
            <p:spPr bwMode="gray">
              <a:xfrm>
                <a:off x="3131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4" name="Rectangle 98"/>
              <p:cNvSpPr>
                <a:spLocks noChangeArrowheads="1"/>
              </p:cNvSpPr>
              <p:nvPr/>
            </p:nvSpPr>
            <p:spPr bwMode="gray">
              <a:xfrm>
                <a:off x="3695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Help desk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5" name="Rectangle 99"/>
              <p:cNvSpPr>
                <a:spLocks noChangeArrowheads="1"/>
              </p:cNvSpPr>
              <p:nvPr/>
            </p:nvSpPr>
            <p:spPr bwMode="gray">
              <a:xfrm>
                <a:off x="4253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6" name="Rectangle 100"/>
              <p:cNvSpPr>
                <a:spLocks noChangeArrowheads="1"/>
              </p:cNvSpPr>
              <p:nvPr/>
            </p:nvSpPr>
            <p:spPr bwMode="gray">
              <a:xfrm>
                <a:off x="1319" y="254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7" name="Rectangle 101"/>
              <p:cNvSpPr>
                <a:spLocks noChangeArrowheads="1"/>
              </p:cNvSpPr>
              <p:nvPr/>
            </p:nvSpPr>
            <p:spPr bwMode="gray">
              <a:xfrm>
                <a:off x="1877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8" name="Rectangle 102"/>
              <p:cNvSpPr>
                <a:spLocks noChangeArrowheads="1"/>
              </p:cNvSpPr>
              <p:nvPr/>
            </p:nvSpPr>
            <p:spPr bwMode="gray">
              <a:xfrm>
                <a:off x="1877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49" name="Rectangle 103"/>
              <p:cNvSpPr>
                <a:spLocks noChangeArrowheads="1"/>
              </p:cNvSpPr>
              <p:nvPr/>
            </p:nvSpPr>
            <p:spPr bwMode="gray">
              <a:xfrm>
                <a:off x="1877" y="254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0" name="Rectangle 104"/>
              <p:cNvSpPr>
                <a:spLocks noChangeArrowheads="1"/>
              </p:cNvSpPr>
              <p:nvPr/>
            </p:nvSpPr>
            <p:spPr bwMode="gray">
              <a:xfrm>
                <a:off x="2441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1" name="Rectangle 105"/>
              <p:cNvSpPr>
                <a:spLocks noChangeArrowheads="1"/>
              </p:cNvSpPr>
              <p:nvPr/>
            </p:nvSpPr>
            <p:spPr bwMode="gray">
              <a:xfrm>
                <a:off x="2441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2" name="Rectangle 106"/>
              <p:cNvSpPr>
                <a:spLocks noChangeArrowheads="1"/>
              </p:cNvSpPr>
              <p:nvPr/>
            </p:nvSpPr>
            <p:spPr bwMode="gray">
              <a:xfrm>
                <a:off x="2441" y="254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3" name="Rectangle 107"/>
              <p:cNvSpPr>
                <a:spLocks noChangeArrowheads="1"/>
              </p:cNvSpPr>
              <p:nvPr/>
            </p:nvSpPr>
            <p:spPr bwMode="gray">
              <a:xfrm>
                <a:off x="3695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4" name="Rectangle 108"/>
              <p:cNvSpPr>
                <a:spLocks noChangeArrowheads="1"/>
              </p:cNvSpPr>
              <p:nvPr/>
            </p:nvSpPr>
            <p:spPr bwMode="gray">
              <a:xfrm>
                <a:off x="1247" y="3210"/>
                <a:ext cx="1170" cy="696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5" name="Rectangle 109"/>
              <p:cNvSpPr>
                <a:spLocks noChangeArrowheads="1"/>
              </p:cNvSpPr>
              <p:nvPr/>
            </p:nvSpPr>
            <p:spPr bwMode="gray">
              <a:xfrm>
                <a:off x="1247" y="3768"/>
                <a:ext cx="1170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6" name="Rectangle 110"/>
              <p:cNvSpPr>
                <a:spLocks noChangeArrowheads="1"/>
              </p:cNvSpPr>
              <p:nvPr/>
            </p:nvSpPr>
            <p:spPr bwMode="gray">
              <a:xfrm>
                <a:off x="1289" y="3252"/>
                <a:ext cx="513" cy="47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7" name="Rectangle 111"/>
              <p:cNvSpPr>
                <a:spLocks noChangeArrowheads="1"/>
              </p:cNvSpPr>
              <p:nvPr/>
            </p:nvSpPr>
            <p:spPr bwMode="gray">
              <a:xfrm>
                <a:off x="1851" y="3252"/>
                <a:ext cx="514" cy="47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8" name="Rectangle 112"/>
              <p:cNvSpPr>
                <a:spLocks noChangeArrowheads="1"/>
              </p:cNvSpPr>
              <p:nvPr/>
            </p:nvSpPr>
            <p:spPr bwMode="gray">
              <a:xfrm>
                <a:off x="1319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59" name="Rectangle 113"/>
              <p:cNvSpPr>
                <a:spLocks noChangeArrowheads="1"/>
              </p:cNvSpPr>
              <p:nvPr/>
            </p:nvSpPr>
            <p:spPr bwMode="gray">
              <a:xfrm>
                <a:off x="1319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0" name="Rectangle 114"/>
              <p:cNvSpPr>
                <a:spLocks noChangeArrowheads="1"/>
              </p:cNvSpPr>
              <p:nvPr/>
            </p:nvSpPr>
            <p:spPr bwMode="gray">
              <a:xfrm>
                <a:off x="1877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1" name="Rectangle 115"/>
              <p:cNvSpPr>
                <a:spLocks noChangeArrowheads="1"/>
              </p:cNvSpPr>
              <p:nvPr/>
            </p:nvSpPr>
            <p:spPr bwMode="gray">
              <a:xfrm>
                <a:off x="1877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2" name="Rectangle 116"/>
              <p:cNvSpPr>
                <a:spLocks noChangeArrowheads="1"/>
              </p:cNvSpPr>
              <p:nvPr/>
            </p:nvSpPr>
            <p:spPr bwMode="gray">
              <a:xfrm>
                <a:off x="2597" y="3210"/>
                <a:ext cx="1722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3" name="Rectangle 117"/>
              <p:cNvSpPr>
                <a:spLocks noChangeArrowheads="1"/>
              </p:cNvSpPr>
              <p:nvPr/>
            </p:nvSpPr>
            <p:spPr bwMode="gray">
              <a:xfrm>
                <a:off x="2597" y="3954"/>
                <a:ext cx="1722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4" name="Rectangle 118"/>
              <p:cNvSpPr>
                <a:spLocks noChangeArrowheads="1"/>
              </p:cNvSpPr>
              <p:nvPr/>
            </p:nvSpPr>
            <p:spPr bwMode="gray">
              <a:xfrm>
                <a:off x="2639" y="3252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5" name="Rectangle 119"/>
              <p:cNvSpPr>
                <a:spLocks noChangeArrowheads="1"/>
              </p:cNvSpPr>
              <p:nvPr/>
            </p:nvSpPr>
            <p:spPr bwMode="gray">
              <a:xfrm>
                <a:off x="3201" y="3252"/>
                <a:ext cx="514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6" name="Rectangle 120"/>
              <p:cNvSpPr>
                <a:spLocks noChangeArrowheads="1"/>
              </p:cNvSpPr>
              <p:nvPr/>
            </p:nvSpPr>
            <p:spPr bwMode="gray">
              <a:xfrm>
                <a:off x="3759" y="3252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7" name="Rectangle 121"/>
              <p:cNvSpPr>
                <a:spLocks noChangeArrowheads="1"/>
              </p:cNvSpPr>
              <p:nvPr/>
            </p:nvSpPr>
            <p:spPr bwMode="gray">
              <a:xfrm>
                <a:off x="2669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8" name="Rectangle 122"/>
              <p:cNvSpPr>
                <a:spLocks noChangeArrowheads="1"/>
              </p:cNvSpPr>
              <p:nvPr/>
            </p:nvSpPr>
            <p:spPr bwMode="gray">
              <a:xfrm>
                <a:off x="2669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69" name="Rectangle 123"/>
              <p:cNvSpPr>
                <a:spLocks noChangeArrowheads="1"/>
              </p:cNvSpPr>
              <p:nvPr/>
            </p:nvSpPr>
            <p:spPr bwMode="gray">
              <a:xfrm>
                <a:off x="2669" y="3703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0" name="Rectangle 124"/>
              <p:cNvSpPr>
                <a:spLocks noChangeArrowheads="1"/>
              </p:cNvSpPr>
              <p:nvPr/>
            </p:nvSpPr>
            <p:spPr bwMode="gray">
              <a:xfrm>
                <a:off x="3227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1" name="Rectangle 125"/>
              <p:cNvSpPr>
                <a:spLocks noChangeArrowheads="1"/>
              </p:cNvSpPr>
              <p:nvPr/>
            </p:nvSpPr>
            <p:spPr bwMode="gray">
              <a:xfrm>
                <a:off x="3227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2" name="Rectangle 126"/>
              <p:cNvSpPr>
                <a:spLocks noChangeArrowheads="1"/>
              </p:cNvSpPr>
              <p:nvPr/>
            </p:nvSpPr>
            <p:spPr bwMode="gray">
              <a:xfrm>
                <a:off x="3227" y="3703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3" name="Rectangle 127"/>
              <p:cNvSpPr>
                <a:spLocks noChangeArrowheads="1"/>
              </p:cNvSpPr>
              <p:nvPr/>
            </p:nvSpPr>
            <p:spPr bwMode="gray">
              <a:xfrm>
                <a:off x="3791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4" name="Rectangle 128"/>
              <p:cNvSpPr>
                <a:spLocks noChangeArrowheads="1"/>
              </p:cNvSpPr>
              <p:nvPr/>
            </p:nvSpPr>
            <p:spPr bwMode="gray">
              <a:xfrm>
                <a:off x="3791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5" name="Rectangle 129"/>
              <p:cNvSpPr>
                <a:spLocks noChangeArrowheads="1"/>
              </p:cNvSpPr>
              <p:nvPr/>
            </p:nvSpPr>
            <p:spPr bwMode="gray">
              <a:xfrm>
                <a:off x="3791" y="3703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6" name="Rectangle 130"/>
              <p:cNvSpPr>
                <a:spLocks noChangeArrowheads="1"/>
              </p:cNvSpPr>
              <p:nvPr/>
            </p:nvSpPr>
            <p:spPr bwMode="gray">
              <a:xfrm>
                <a:off x="4487" y="3210"/>
                <a:ext cx="1170" cy="696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7" name="Rectangle 131"/>
              <p:cNvSpPr>
                <a:spLocks noChangeArrowheads="1"/>
              </p:cNvSpPr>
              <p:nvPr/>
            </p:nvSpPr>
            <p:spPr bwMode="gray">
              <a:xfrm>
                <a:off x="4487" y="3768"/>
                <a:ext cx="1170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8" name="Rectangle 132"/>
              <p:cNvSpPr>
                <a:spLocks noChangeArrowheads="1"/>
              </p:cNvSpPr>
              <p:nvPr/>
            </p:nvSpPr>
            <p:spPr bwMode="gray">
              <a:xfrm>
                <a:off x="4529" y="3252"/>
                <a:ext cx="513" cy="47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79" name="Rectangle 133"/>
              <p:cNvSpPr>
                <a:spLocks noChangeArrowheads="1"/>
              </p:cNvSpPr>
              <p:nvPr/>
            </p:nvSpPr>
            <p:spPr bwMode="gray">
              <a:xfrm>
                <a:off x="5091" y="3252"/>
                <a:ext cx="514" cy="47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0" name="Rectangle 134"/>
              <p:cNvSpPr>
                <a:spLocks noChangeArrowheads="1"/>
              </p:cNvSpPr>
              <p:nvPr/>
            </p:nvSpPr>
            <p:spPr bwMode="gray">
              <a:xfrm>
                <a:off x="4559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1" name="Rectangle 135"/>
              <p:cNvSpPr>
                <a:spLocks noChangeArrowheads="1"/>
              </p:cNvSpPr>
              <p:nvPr/>
            </p:nvSpPr>
            <p:spPr bwMode="gray">
              <a:xfrm>
                <a:off x="4559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2" name="Rectangle 136"/>
              <p:cNvSpPr>
                <a:spLocks noChangeArrowheads="1"/>
              </p:cNvSpPr>
              <p:nvPr/>
            </p:nvSpPr>
            <p:spPr bwMode="gray">
              <a:xfrm>
                <a:off x="5117" y="341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3" name="Rectangle 137"/>
              <p:cNvSpPr>
                <a:spLocks noChangeArrowheads="1"/>
              </p:cNvSpPr>
              <p:nvPr/>
            </p:nvSpPr>
            <p:spPr bwMode="gray">
              <a:xfrm>
                <a:off x="5117" y="3559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4" name="Rectangle 138"/>
              <p:cNvSpPr>
                <a:spLocks noChangeArrowheads="1"/>
              </p:cNvSpPr>
              <p:nvPr/>
            </p:nvSpPr>
            <p:spPr bwMode="gray">
              <a:xfrm>
                <a:off x="5075" y="2052"/>
                <a:ext cx="588" cy="882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5" name="Rectangle 139"/>
              <p:cNvSpPr>
                <a:spLocks noChangeArrowheads="1"/>
              </p:cNvSpPr>
              <p:nvPr/>
            </p:nvSpPr>
            <p:spPr bwMode="gray">
              <a:xfrm>
                <a:off x="5115" y="2094"/>
                <a:ext cx="513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6" name="Rectangle 140"/>
              <p:cNvSpPr>
                <a:spLocks noChangeArrowheads="1"/>
              </p:cNvSpPr>
              <p:nvPr/>
            </p:nvSpPr>
            <p:spPr bwMode="gray">
              <a:xfrm>
                <a:off x="5147" y="2257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Sales &amp; service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7" name="Rectangle 141"/>
              <p:cNvSpPr>
                <a:spLocks noChangeArrowheads="1"/>
              </p:cNvSpPr>
              <p:nvPr/>
            </p:nvSpPr>
            <p:spPr bwMode="gray">
              <a:xfrm>
                <a:off x="5147" y="2401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8" name="Rectangle 142"/>
              <p:cNvSpPr>
                <a:spLocks noChangeArrowheads="1"/>
              </p:cNvSpPr>
              <p:nvPr/>
            </p:nvSpPr>
            <p:spPr bwMode="gray">
              <a:xfrm>
                <a:off x="5147" y="2545"/>
                <a:ext cx="462" cy="1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Outbound tel</a:t>
                </a:r>
                <a:endParaRPr lang="en-GB" altLang="zh-CN" sz="10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89" name="Rectangle 143"/>
              <p:cNvSpPr>
                <a:spLocks noChangeArrowheads="1"/>
              </p:cNvSpPr>
              <p:nvPr/>
            </p:nvSpPr>
            <p:spPr bwMode="gray">
              <a:xfrm>
                <a:off x="5075" y="2796"/>
                <a:ext cx="588" cy="138"/>
              </a:xfrm>
              <a:prstGeom prst="rect">
                <a:avLst/>
              </a:prstGeom>
              <a:solidFill>
                <a:schemeClr val="tx1"/>
              </a:solidFill>
              <a:ln w="6350">
                <a:solidFill>
                  <a:schemeClr val="bg2"/>
                </a:solidFill>
                <a:miter lim="800000"/>
              </a:ln>
            </p:spPr>
            <p:txBody>
              <a:bodyPr wrap="none" lIns="92075" tIns="46038" rIns="92075" bIns="46038" anchor="ctr"/>
              <a:lstStyle>
                <a:lvl1pPr defTabSz="762000"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GB" altLang="zh-CN" sz="1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90" name="Rectangle 144"/>
              <p:cNvSpPr>
                <a:spLocks noChangeArrowheads="1"/>
              </p:cNvSpPr>
              <p:nvPr/>
            </p:nvSpPr>
            <p:spPr bwMode="gray">
              <a:xfrm>
                <a:off x="1229" y="924"/>
                <a:ext cx="879" cy="66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1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5091" name="Group 145"/>
              <p:cNvGrpSpPr/>
              <p:nvPr/>
            </p:nvGrpSpPr>
            <p:grpSpPr bwMode="auto">
              <a:xfrm>
                <a:off x="1259" y="954"/>
                <a:ext cx="834" cy="602"/>
                <a:chOff x="1422" y="684"/>
                <a:chExt cx="834" cy="602"/>
              </a:xfrm>
            </p:grpSpPr>
            <p:grpSp>
              <p:nvGrpSpPr>
                <p:cNvPr id="35092" name="Group 146"/>
                <p:cNvGrpSpPr/>
                <p:nvPr/>
              </p:nvGrpSpPr>
              <p:grpSpPr bwMode="auto">
                <a:xfrm>
                  <a:off x="1422" y="807"/>
                  <a:ext cx="828" cy="479"/>
                  <a:chOff x="1422" y="807"/>
                  <a:chExt cx="828" cy="479"/>
                </a:xfrm>
              </p:grpSpPr>
              <p:sp>
                <p:nvSpPr>
                  <p:cNvPr id="35094" name="Rectangle 147"/>
                  <p:cNvSpPr>
                    <a:spLocks noChangeArrowheads="1"/>
                  </p:cNvSpPr>
                  <p:nvPr/>
                </p:nvSpPr>
                <p:spPr bwMode="gray">
                  <a:xfrm>
                    <a:off x="1422" y="807"/>
                    <a:ext cx="828" cy="11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 anchor="ctr"/>
                  <a:lstStyle>
                    <a:lvl1pPr defTabSz="762000">
                      <a:spcBef>
                        <a:spcPct val="7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50000"/>
                      <a:buFont typeface="Monotype Sorts" pitchFamily="2" charset="2"/>
                      <a:defRPr sz="22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l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Char char="—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95" name="Rectangle 148"/>
                  <p:cNvSpPr>
                    <a:spLocks noChangeArrowheads="1"/>
                  </p:cNvSpPr>
                  <p:nvPr/>
                </p:nvSpPr>
                <p:spPr bwMode="gray">
                  <a:xfrm>
                    <a:off x="1422" y="929"/>
                    <a:ext cx="828" cy="11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 anchor="ctr"/>
                  <a:lstStyle>
                    <a:lvl1pPr defTabSz="762000">
                      <a:spcBef>
                        <a:spcPct val="7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50000"/>
                      <a:buFont typeface="Monotype Sorts" pitchFamily="2" charset="2"/>
                      <a:defRPr sz="22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l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Char char="—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96" name="Rectangle 149"/>
                  <p:cNvSpPr>
                    <a:spLocks noChangeArrowheads="1"/>
                  </p:cNvSpPr>
                  <p:nvPr/>
                </p:nvSpPr>
                <p:spPr bwMode="gray">
                  <a:xfrm>
                    <a:off x="1422" y="1052"/>
                    <a:ext cx="828" cy="11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 anchor="ctr"/>
                  <a:lstStyle>
                    <a:lvl1pPr defTabSz="762000">
                      <a:spcBef>
                        <a:spcPct val="7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50000"/>
                      <a:buFont typeface="Monotype Sorts" pitchFamily="2" charset="2"/>
                      <a:defRPr sz="22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l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Char char="—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97" name="Rectangle 150"/>
                  <p:cNvSpPr>
                    <a:spLocks noChangeArrowheads="1"/>
                  </p:cNvSpPr>
                  <p:nvPr/>
                </p:nvSpPr>
                <p:spPr bwMode="gray">
                  <a:xfrm>
                    <a:off x="1422" y="1174"/>
                    <a:ext cx="828" cy="11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 anchor="ctr"/>
                  <a:lstStyle>
                    <a:lvl1pPr defTabSz="762000">
                      <a:spcBef>
                        <a:spcPct val="7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50000"/>
                      <a:buFont typeface="Monotype Sorts" pitchFamily="2" charset="2"/>
                      <a:defRPr sz="22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l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762000">
                      <a:spcBef>
                        <a:spcPct val="50000"/>
                      </a:spcBef>
                      <a:spcAft>
                        <a:spcPct val="10000"/>
                      </a:spcAft>
                      <a:buClr>
                        <a:schemeClr val="accent1"/>
                      </a:buClr>
                      <a:buSzPct val="75000"/>
                      <a:buChar char="—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GB" altLang="zh-CN" sz="100">
                      <a:latin typeface="黑体" panose="02010609060101010101" pitchFamily="49" charset="-122"/>
                      <a:ea typeface="黑体" panose="02010609060101010101" pitchFamily="49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093" name="Rectangle 151"/>
                <p:cNvSpPr>
                  <a:spLocks noChangeArrowheads="1"/>
                </p:cNvSpPr>
                <p:nvPr/>
              </p:nvSpPr>
              <p:spPr bwMode="gray">
                <a:xfrm>
                  <a:off x="1422" y="684"/>
                  <a:ext cx="834" cy="107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 anchor="ctr"/>
                <a:lstStyle>
                  <a:lvl1pPr defTabSz="762000"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GB" altLang="zh-CN" sz="10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4825" name="Group 152"/>
          <p:cNvGrpSpPr/>
          <p:nvPr/>
        </p:nvGrpSpPr>
        <p:grpSpPr bwMode="auto">
          <a:xfrm>
            <a:off x="3146425" y="3309938"/>
            <a:ext cx="1223963" cy="825500"/>
            <a:chOff x="2460" y="1164"/>
            <a:chExt cx="781" cy="640"/>
          </a:xfrm>
        </p:grpSpPr>
        <p:sp>
          <p:nvSpPr>
            <p:cNvPr id="34995" name="Rectangle 153"/>
            <p:cNvSpPr>
              <a:spLocks noChangeArrowheads="1"/>
            </p:cNvSpPr>
            <p:nvPr/>
          </p:nvSpPr>
          <p:spPr bwMode="gray">
            <a:xfrm>
              <a:off x="2460" y="1164"/>
              <a:ext cx="781" cy="91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GB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流程模型</a:t>
              </a:r>
              <a:endPara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96" name="Rectangle 154"/>
            <p:cNvSpPr>
              <a:spLocks noChangeArrowheads="1"/>
            </p:cNvSpPr>
            <p:nvPr/>
          </p:nvSpPr>
          <p:spPr bwMode="gray">
            <a:xfrm>
              <a:off x="2460" y="1255"/>
              <a:ext cx="781" cy="54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aphicFrame>
          <p:nvGraphicFramePr>
            <p:cNvPr id="34997" name="Object 3"/>
            <p:cNvGraphicFramePr>
              <a:graphicFrameLocks noChangeAspect="1"/>
            </p:cNvGraphicFramePr>
            <p:nvPr/>
          </p:nvGraphicFramePr>
          <p:xfrm>
            <a:off x="2471" y="1277"/>
            <a:ext cx="713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Slide" r:id="rId7" imgW="4953000" imgH="3429000" progId="PowerPoint.Slide.8">
                    <p:embed/>
                  </p:oleObj>
                </mc:Choice>
                <mc:Fallback>
                  <p:oleObj name="Slide" r:id="rId7" imgW="4953000" imgH="3429000" progId="PowerPoint.Slide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3125"/>
                        <a:stretch>
                          <a:fillRect/>
                        </a:stretch>
                      </p:blipFill>
                      <p:spPr bwMode="gray">
                        <a:xfrm>
                          <a:off x="2471" y="1277"/>
                          <a:ext cx="713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26" name="Group 156"/>
          <p:cNvGrpSpPr/>
          <p:nvPr/>
        </p:nvGrpSpPr>
        <p:grpSpPr bwMode="auto">
          <a:xfrm>
            <a:off x="5722938" y="4527550"/>
            <a:ext cx="1187450" cy="765175"/>
            <a:chOff x="2460" y="1849"/>
            <a:chExt cx="781" cy="595"/>
          </a:xfrm>
        </p:grpSpPr>
        <p:sp>
          <p:nvSpPr>
            <p:cNvPr id="34992" name="Rectangle 157"/>
            <p:cNvSpPr>
              <a:spLocks noChangeArrowheads="1"/>
            </p:cNvSpPr>
            <p:nvPr/>
          </p:nvSpPr>
          <p:spPr bwMode="gray">
            <a:xfrm>
              <a:off x="2460" y="1849"/>
              <a:ext cx="781" cy="92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GB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员工</a:t>
              </a:r>
              <a:r>
                <a:rPr lang="en-GB" altLang="zh-CN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/</a:t>
              </a:r>
              <a:r>
                <a:rPr lang="zh-CN" altLang="en-GB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组织</a:t>
              </a:r>
              <a:endParaRPr lang="en-GB" altLang="zh-CN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93" name="Rectangle 158"/>
            <p:cNvSpPr>
              <a:spLocks noChangeArrowheads="1"/>
            </p:cNvSpPr>
            <p:nvPr/>
          </p:nvSpPr>
          <p:spPr bwMode="gray">
            <a:xfrm>
              <a:off x="2460" y="1941"/>
              <a:ext cx="781" cy="503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aphicFrame>
          <p:nvGraphicFramePr>
            <p:cNvPr id="34994" name="Object 2"/>
            <p:cNvGraphicFramePr>
              <a:graphicFrameLocks noChangeAspect="1"/>
            </p:cNvGraphicFramePr>
            <p:nvPr/>
          </p:nvGraphicFramePr>
          <p:xfrm>
            <a:off x="2483" y="1991"/>
            <a:ext cx="690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Slide" r:id="rId9" imgW="4953000" imgH="3429000" progId="PowerPoint.Slide.8">
                    <p:embed/>
                  </p:oleObj>
                </mc:Choice>
                <mc:Fallback>
                  <p:oleObj name="Slide" r:id="rId9" imgW="4953000" imgH="3429000" progId="PowerPoint.Slide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15631"/>
                        <a:stretch>
                          <a:fillRect/>
                        </a:stretch>
                      </p:blipFill>
                      <p:spPr bwMode="gray">
                        <a:xfrm>
                          <a:off x="2483" y="1991"/>
                          <a:ext cx="690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27" name="Group 160"/>
          <p:cNvGrpSpPr/>
          <p:nvPr/>
        </p:nvGrpSpPr>
        <p:grpSpPr bwMode="auto">
          <a:xfrm>
            <a:off x="5722938" y="3395663"/>
            <a:ext cx="1225550" cy="765175"/>
            <a:chOff x="1640" y="2489"/>
            <a:chExt cx="782" cy="595"/>
          </a:xfrm>
        </p:grpSpPr>
        <p:sp>
          <p:nvSpPr>
            <p:cNvPr id="34989" name="Rectangle 161"/>
            <p:cNvSpPr>
              <a:spLocks noChangeArrowheads="1"/>
            </p:cNvSpPr>
            <p:nvPr/>
          </p:nvSpPr>
          <p:spPr bwMode="gray">
            <a:xfrm>
              <a:off x="1640" y="2489"/>
              <a:ext cx="782" cy="92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800" b="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资源分布</a:t>
              </a:r>
              <a:endParaRPr lang="zh-CN" altLang="en-GB" sz="8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90" name="Rectangle 162"/>
            <p:cNvSpPr>
              <a:spLocks noChangeArrowheads="1"/>
            </p:cNvSpPr>
            <p:nvPr/>
          </p:nvSpPr>
          <p:spPr bwMode="gray">
            <a:xfrm>
              <a:off x="1640" y="2581"/>
              <a:ext cx="782" cy="503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34991" name="Picture 16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" y="2619"/>
              <a:ext cx="667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28" name="Group 164"/>
          <p:cNvGrpSpPr/>
          <p:nvPr/>
        </p:nvGrpSpPr>
        <p:grpSpPr bwMode="auto">
          <a:xfrm>
            <a:off x="3125788" y="4476750"/>
            <a:ext cx="1223962" cy="815975"/>
            <a:chOff x="3278" y="1502"/>
            <a:chExt cx="781" cy="635"/>
          </a:xfrm>
        </p:grpSpPr>
        <p:sp>
          <p:nvSpPr>
            <p:cNvPr id="34986" name="Rectangle 165"/>
            <p:cNvSpPr>
              <a:spLocks noChangeArrowheads="1"/>
            </p:cNvSpPr>
            <p:nvPr/>
          </p:nvSpPr>
          <p:spPr bwMode="gray">
            <a:xfrm>
              <a:off x="3278" y="1502"/>
              <a:ext cx="781" cy="91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lIns="18000" rIns="180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GB" sz="800" b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绩效管理</a:t>
              </a:r>
              <a:endPara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87" name="Rectangle 166"/>
            <p:cNvSpPr>
              <a:spLocks noChangeArrowheads="1"/>
            </p:cNvSpPr>
            <p:nvPr/>
          </p:nvSpPr>
          <p:spPr bwMode="gray">
            <a:xfrm>
              <a:off x="3278" y="1588"/>
              <a:ext cx="781" cy="54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999999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34988" name="Picture 167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" y="1682"/>
              <a:ext cx="756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829" name="Text Box 168"/>
          <p:cNvSpPr txBox="1">
            <a:spLocks noChangeArrowheads="1"/>
          </p:cNvSpPr>
          <p:nvPr/>
        </p:nvSpPr>
        <p:spPr bwMode="auto">
          <a:xfrm>
            <a:off x="4548188" y="1676400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GB" sz="14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业务模式</a:t>
            </a:r>
            <a:endParaRPr lang="zh-CN" altLang="en-GB" sz="14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0" name="Rectangle 170"/>
          <p:cNvSpPr>
            <a:spLocks noChangeArrowheads="1"/>
          </p:cNvSpPr>
          <p:nvPr/>
        </p:nvSpPr>
        <p:spPr bwMode="gray">
          <a:xfrm>
            <a:off x="5610225" y="5643563"/>
            <a:ext cx="1230313" cy="93662"/>
          </a:xfrm>
          <a:prstGeom prst="rect">
            <a:avLst/>
          </a:prstGeom>
          <a:solidFill>
            <a:srgbClr val="D9D9D9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GB" altLang="zh-CN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IT</a:t>
            </a:r>
            <a:r>
              <a: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基础设施模型</a:t>
            </a:r>
            <a:endParaRPr lang="en-GB" altLang="zh-CN" sz="16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1" name="Rectangle 171"/>
          <p:cNvSpPr>
            <a:spLocks noChangeArrowheads="1"/>
          </p:cNvSpPr>
          <p:nvPr/>
        </p:nvSpPr>
        <p:spPr bwMode="gray">
          <a:xfrm>
            <a:off x="5610225" y="5737225"/>
            <a:ext cx="1230313" cy="46355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2" name="Rectangle 172"/>
          <p:cNvSpPr>
            <a:spLocks noChangeArrowheads="1"/>
          </p:cNvSpPr>
          <p:nvPr/>
        </p:nvSpPr>
        <p:spPr bwMode="gray">
          <a:xfrm>
            <a:off x="4378325" y="5737225"/>
            <a:ext cx="1231900" cy="465138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3" name="Rectangle 173"/>
          <p:cNvSpPr>
            <a:spLocks noChangeArrowheads="1"/>
          </p:cNvSpPr>
          <p:nvPr/>
        </p:nvSpPr>
        <p:spPr bwMode="gray">
          <a:xfrm>
            <a:off x="3148013" y="5737225"/>
            <a:ext cx="1230312" cy="465138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4" name="Rectangle 174"/>
          <p:cNvSpPr>
            <a:spLocks noChangeArrowheads="1"/>
          </p:cNvSpPr>
          <p:nvPr/>
        </p:nvSpPr>
        <p:spPr bwMode="gray">
          <a:xfrm>
            <a:off x="4378325" y="5645150"/>
            <a:ext cx="1231900" cy="92075"/>
          </a:xfrm>
          <a:prstGeom prst="rect">
            <a:avLst/>
          </a:prstGeom>
          <a:solidFill>
            <a:srgbClr val="D9D9D9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GB" altLang="zh-CN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IT</a:t>
            </a:r>
            <a:r>
              <a: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应用模型</a:t>
            </a:r>
            <a:endParaRPr lang="zh-CN" altLang="en-GB" sz="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35" name="Rectangle 175"/>
          <p:cNvSpPr>
            <a:spLocks noChangeArrowheads="1"/>
          </p:cNvSpPr>
          <p:nvPr/>
        </p:nvSpPr>
        <p:spPr bwMode="gray">
          <a:xfrm>
            <a:off x="3148013" y="5643563"/>
            <a:ext cx="1230312" cy="93662"/>
          </a:xfrm>
          <a:prstGeom prst="rect">
            <a:avLst/>
          </a:prstGeom>
          <a:solidFill>
            <a:srgbClr val="D9D9D9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GB" altLang="zh-CN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IT</a:t>
            </a:r>
            <a:r>
              <a:rPr lang="zh-CN" altLang="en-GB" sz="8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服务模型</a:t>
            </a:r>
            <a:endParaRPr lang="zh-CN" altLang="en-GB" sz="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4836" name="Picture 17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6" b="5556"/>
          <a:stretch>
            <a:fillRect/>
          </a:stretch>
        </p:blipFill>
        <p:spPr bwMode="gray">
          <a:xfrm>
            <a:off x="3222625" y="5748338"/>
            <a:ext cx="10890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7" name="Picture 17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5756275"/>
            <a:ext cx="10382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8" name="Picture 17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538" y="5737225"/>
            <a:ext cx="10080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9" name="Rectangle 185"/>
          <p:cNvSpPr>
            <a:spLocks noChangeArrowheads="1"/>
          </p:cNvSpPr>
          <p:nvPr/>
        </p:nvSpPr>
        <p:spPr bwMode="gray">
          <a:xfrm>
            <a:off x="3054350" y="2936875"/>
            <a:ext cx="3911600" cy="193675"/>
          </a:xfrm>
          <a:prstGeom prst="rect">
            <a:avLst/>
          </a:prstGeom>
          <a:solidFill>
            <a:srgbClr val="999999"/>
          </a:solidFill>
          <a:ln w="6350" algn="ctr">
            <a:solidFill>
              <a:srgbClr val="999999"/>
            </a:solidFill>
            <a:miter lim="800000"/>
          </a:ln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GB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业务架构</a:t>
            </a:r>
            <a:endParaRPr lang="zh-CN" altLang="en-GB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0" name="Rectangle 186"/>
          <p:cNvSpPr>
            <a:spLocks noChangeArrowheads="1"/>
          </p:cNvSpPr>
          <p:nvPr/>
        </p:nvSpPr>
        <p:spPr bwMode="auto">
          <a:xfrm>
            <a:off x="3060700" y="2936875"/>
            <a:ext cx="3881438" cy="335121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4841" name="Group 158"/>
          <p:cNvGrpSpPr>
            <a:grpSpLocks noChangeAspect="1"/>
          </p:cNvGrpSpPr>
          <p:nvPr/>
        </p:nvGrpSpPr>
        <p:grpSpPr bwMode="auto">
          <a:xfrm>
            <a:off x="4376738" y="4176713"/>
            <a:ext cx="1379537" cy="733425"/>
            <a:chOff x="2634" y="2652"/>
            <a:chExt cx="802" cy="462"/>
          </a:xfrm>
        </p:grpSpPr>
        <p:sp>
          <p:nvSpPr>
            <p:cNvPr id="34860" name="AutoShape 159"/>
            <p:cNvSpPr>
              <a:spLocks noChangeAspect="1" noChangeArrowheads="1" noTextEdit="1"/>
            </p:cNvSpPr>
            <p:nvPr/>
          </p:nvSpPr>
          <p:spPr bwMode="auto">
            <a:xfrm>
              <a:off x="2634" y="2652"/>
              <a:ext cx="761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4861" name="Group 160"/>
            <p:cNvGrpSpPr/>
            <p:nvPr/>
          </p:nvGrpSpPr>
          <p:grpSpPr bwMode="auto">
            <a:xfrm>
              <a:off x="2635" y="2653"/>
              <a:ext cx="743" cy="75"/>
              <a:chOff x="2635" y="2653"/>
              <a:chExt cx="743" cy="75"/>
            </a:xfrm>
          </p:grpSpPr>
          <p:sp>
            <p:nvSpPr>
              <p:cNvPr id="34984" name="Rectangle 161"/>
              <p:cNvSpPr>
                <a:spLocks noChangeArrowheads="1"/>
              </p:cNvSpPr>
              <p:nvPr/>
            </p:nvSpPr>
            <p:spPr bwMode="auto">
              <a:xfrm>
                <a:off x="2635" y="2653"/>
                <a:ext cx="743" cy="7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85" name="Rectangle 162"/>
              <p:cNvSpPr>
                <a:spLocks noChangeArrowheads="1"/>
              </p:cNvSpPr>
              <p:nvPr/>
            </p:nvSpPr>
            <p:spPr bwMode="auto">
              <a:xfrm>
                <a:off x="2635" y="2653"/>
                <a:ext cx="743" cy="75"/>
              </a:xfrm>
              <a:prstGeom prst="rect">
                <a:avLst/>
              </a:prstGeom>
              <a:noFill/>
              <a:ln w="1588" cap="rnd">
                <a:solidFill>
                  <a:srgbClr val="999999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62" name="Rectangle 163"/>
            <p:cNvSpPr>
              <a:spLocks noChangeArrowheads="1"/>
            </p:cNvSpPr>
            <p:nvPr/>
          </p:nvSpPr>
          <p:spPr bwMode="auto">
            <a:xfrm>
              <a:off x="2879" y="2658"/>
              <a:ext cx="295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Governance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63" name="Group 164"/>
            <p:cNvGrpSpPr/>
            <p:nvPr/>
          </p:nvGrpSpPr>
          <p:grpSpPr bwMode="auto">
            <a:xfrm>
              <a:off x="2635" y="2730"/>
              <a:ext cx="746" cy="381"/>
              <a:chOff x="2635" y="2730"/>
              <a:chExt cx="746" cy="381"/>
            </a:xfrm>
          </p:grpSpPr>
          <p:sp>
            <p:nvSpPr>
              <p:cNvPr id="34982" name="Rectangle 165"/>
              <p:cNvSpPr>
                <a:spLocks noChangeArrowheads="1"/>
              </p:cNvSpPr>
              <p:nvPr/>
            </p:nvSpPr>
            <p:spPr bwMode="auto">
              <a:xfrm>
                <a:off x="2635" y="2730"/>
                <a:ext cx="746" cy="3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83" name="Rectangle 166"/>
              <p:cNvSpPr>
                <a:spLocks noChangeArrowheads="1"/>
              </p:cNvSpPr>
              <p:nvPr/>
            </p:nvSpPr>
            <p:spPr bwMode="auto">
              <a:xfrm>
                <a:off x="2635" y="2730"/>
                <a:ext cx="746" cy="381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864" name="Group 167"/>
            <p:cNvGrpSpPr/>
            <p:nvPr/>
          </p:nvGrpSpPr>
          <p:grpSpPr bwMode="auto">
            <a:xfrm>
              <a:off x="2814" y="2863"/>
              <a:ext cx="197" cy="118"/>
              <a:chOff x="2814" y="2863"/>
              <a:chExt cx="197" cy="118"/>
            </a:xfrm>
          </p:grpSpPr>
          <p:sp>
            <p:nvSpPr>
              <p:cNvPr id="34980" name="Line 168"/>
              <p:cNvSpPr>
                <a:spLocks noChangeShapeType="1"/>
              </p:cNvSpPr>
              <p:nvPr/>
            </p:nvSpPr>
            <p:spPr bwMode="auto">
              <a:xfrm>
                <a:off x="2820" y="2863"/>
                <a:ext cx="191" cy="118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81" name="Line 169"/>
              <p:cNvSpPr>
                <a:spLocks noChangeShapeType="1"/>
              </p:cNvSpPr>
              <p:nvPr/>
            </p:nvSpPr>
            <p:spPr bwMode="auto">
              <a:xfrm flipV="1">
                <a:off x="2814" y="2863"/>
                <a:ext cx="191" cy="118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4865" name="Group 170"/>
            <p:cNvGrpSpPr/>
            <p:nvPr/>
          </p:nvGrpSpPr>
          <p:grpSpPr bwMode="auto">
            <a:xfrm>
              <a:off x="2834" y="2871"/>
              <a:ext cx="153" cy="101"/>
              <a:chOff x="2834" y="2871"/>
              <a:chExt cx="153" cy="101"/>
            </a:xfrm>
          </p:grpSpPr>
          <p:sp>
            <p:nvSpPr>
              <p:cNvPr id="34978" name="Oval 171"/>
              <p:cNvSpPr>
                <a:spLocks noChangeArrowheads="1"/>
              </p:cNvSpPr>
              <p:nvPr/>
            </p:nvSpPr>
            <p:spPr bwMode="auto">
              <a:xfrm>
                <a:off x="2834" y="2871"/>
                <a:ext cx="153" cy="10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79" name="Oval 172"/>
              <p:cNvSpPr>
                <a:spLocks noChangeArrowheads="1"/>
              </p:cNvSpPr>
              <p:nvPr/>
            </p:nvSpPr>
            <p:spPr bwMode="auto">
              <a:xfrm>
                <a:off x="2834" y="2871"/>
                <a:ext cx="153" cy="10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66" name="Rectangle 173"/>
            <p:cNvSpPr>
              <a:spLocks noChangeArrowheads="1"/>
            </p:cNvSpPr>
            <p:nvPr/>
          </p:nvSpPr>
          <p:spPr bwMode="auto">
            <a:xfrm>
              <a:off x="2881" y="2890"/>
              <a:ext cx="6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Business 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67" name="Rectangle 174"/>
            <p:cNvSpPr>
              <a:spLocks noChangeArrowheads="1"/>
            </p:cNvSpPr>
            <p:nvPr/>
          </p:nvSpPr>
          <p:spPr bwMode="auto">
            <a:xfrm>
              <a:off x="2856" y="2909"/>
              <a:ext cx="119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Design Authority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68" name="Rectangle 175"/>
            <p:cNvSpPr>
              <a:spLocks noChangeArrowheads="1"/>
            </p:cNvSpPr>
            <p:nvPr/>
          </p:nvSpPr>
          <p:spPr bwMode="auto">
            <a:xfrm>
              <a:off x="2864" y="2936"/>
              <a:ext cx="103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(TOM guardian)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69" name="Group 176"/>
            <p:cNvGrpSpPr/>
            <p:nvPr/>
          </p:nvGrpSpPr>
          <p:grpSpPr bwMode="auto">
            <a:xfrm>
              <a:off x="2798" y="2747"/>
              <a:ext cx="213" cy="51"/>
              <a:chOff x="2798" y="2747"/>
              <a:chExt cx="213" cy="51"/>
            </a:xfrm>
          </p:grpSpPr>
          <p:sp>
            <p:nvSpPr>
              <p:cNvPr id="34976" name="Freeform 177"/>
              <p:cNvSpPr/>
              <p:nvPr/>
            </p:nvSpPr>
            <p:spPr bwMode="auto">
              <a:xfrm>
                <a:off x="2798" y="2747"/>
                <a:ext cx="213" cy="51"/>
              </a:xfrm>
              <a:custGeom>
                <a:avLst/>
                <a:gdLst>
                  <a:gd name="T0" fmla="*/ 0 w 13233"/>
                  <a:gd name="T1" fmla="*/ 0 h 3066"/>
                  <a:gd name="T2" fmla="*/ 0 w 13233"/>
                  <a:gd name="T3" fmla="*/ 0 h 3066"/>
                  <a:gd name="T4" fmla="*/ 0 w 13233"/>
                  <a:gd name="T5" fmla="*/ 0 h 3066"/>
                  <a:gd name="T6" fmla="*/ 0 w 13233"/>
                  <a:gd name="T7" fmla="*/ 0 h 3066"/>
                  <a:gd name="T8" fmla="*/ 0 w 13233"/>
                  <a:gd name="T9" fmla="*/ 0 h 3066"/>
                  <a:gd name="T10" fmla="*/ 0 w 13233"/>
                  <a:gd name="T11" fmla="*/ 0 h 3066"/>
                  <a:gd name="T12" fmla="*/ 0 w 13233"/>
                  <a:gd name="T13" fmla="*/ 0 h 3066"/>
                  <a:gd name="T14" fmla="*/ 0 w 13233"/>
                  <a:gd name="T15" fmla="*/ 0 h 3066"/>
                  <a:gd name="T16" fmla="*/ 0 w 13233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33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22" y="3066"/>
                    </a:lnTo>
                    <a:cubicBezTo>
                      <a:pt x="13004" y="3066"/>
                      <a:pt x="13233" y="2838"/>
                      <a:pt x="13233" y="2555"/>
                    </a:cubicBezTo>
                    <a:lnTo>
                      <a:pt x="13233" y="511"/>
                    </a:lnTo>
                    <a:cubicBezTo>
                      <a:pt x="13233" y="229"/>
                      <a:pt x="13004" y="0"/>
                      <a:pt x="12722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FFFFCC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77" name="Freeform 178"/>
              <p:cNvSpPr/>
              <p:nvPr/>
            </p:nvSpPr>
            <p:spPr bwMode="auto">
              <a:xfrm>
                <a:off x="2798" y="2747"/>
                <a:ext cx="213" cy="51"/>
              </a:xfrm>
              <a:custGeom>
                <a:avLst/>
                <a:gdLst>
                  <a:gd name="T0" fmla="*/ 0 w 13233"/>
                  <a:gd name="T1" fmla="*/ 0 h 3066"/>
                  <a:gd name="T2" fmla="*/ 0 w 13233"/>
                  <a:gd name="T3" fmla="*/ 0 h 3066"/>
                  <a:gd name="T4" fmla="*/ 0 w 13233"/>
                  <a:gd name="T5" fmla="*/ 0 h 3066"/>
                  <a:gd name="T6" fmla="*/ 0 w 13233"/>
                  <a:gd name="T7" fmla="*/ 0 h 3066"/>
                  <a:gd name="T8" fmla="*/ 0 w 13233"/>
                  <a:gd name="T9" fmla="*/ 0 h 3066"/>
                  <a:gd name="T10" fmla="*/ 0 w 13233"/>
                  <a:gd name="T11" fmla="*/ 0 h 3066"/>
                  <a:gd name="T12" fmla="*/ 0 w 13233"/>
                  <a:gd name="T13" fmla="*/ 0 h 3066"/>
                  <a:gd name="T14" fmla="*/ 0 w 13233"/>
                  <a:gd name="T15" fmla="*/ 0 h 3066"/>
                  <a:gd name="T16" fmla="*/ 0 w 13233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33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22" y="3066"/>
                    </a:lnTo>
                    <a:cubicBezTo>
                      <a:pt x="13004" y="3066"/>
                      <a:pt x="13233" y="2838"/>
                      <a:pt x="13233" y="2555"/>
                    </a:cubicBezTo>
                    <a:lnTo>
                      <a:pt x="13233" y="511"/>
                    </a:lnTo>
                    <a:cubicBezTo>
                      <a:pt x="13233" y="229"/>
                      <a:pt x="13004" y="0"/>
                      <a:pt x="12722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72727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4870" name="Rectangle 179"/>
            <p:cNvSpPr>
              <a:spLocks noChangeArrowheads="1"/>
            </p:cNvSpPr>
            <p:nvPr/>
          </p:nvSpPr>
          <p:spPr bwMode="auto">
            <a:xfrm>
              <a:off x="2848" y="2751"/>
              <a:ext cx="126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Business Strategy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71" name="Rectangle 180"/>
            <p:cNvSpPr>
              <a:spLocks noChangeArrowheads="1"/>
            </p:cNvSpPr>
            <p:nvPr/>
          </p:nvSpPr>
          <p:spPr bwMode="auto">
            <a:xfrm>
              <a:off x="2829" y="2778"/>
              <a:ext cx="162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(Strategy Development)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72" name="Group 181"/>
            <p:cNvGrpSpPr/>
            <p:nvPr/>
          </p:nvGrpSpPr>
          <p:grpSpPr bwMode="auto">
            <a:xfrm>
              <a:off x="2688" y="2820"/>
              <a:ext cx="141" cy="51"/>
              <a:chOff x="2688" y="2820"/>
              <a:chExt cx="141" cy="51"/>
            </a:xfrm>
          </p:grpSpPr>
          <p:sp>
            <p:nvSpPr>
              <p:cNvPr id="34974" name="Oval 182"/>
              <p:cNvSpPr>
                <a:spLocks noChangeArrowheads="1"/>
              </p:cNvSpPr>
              <p:nvPr/>
            </p:nvSpPr>
            <p:spPr bwMode="auto">
              <a:xfrm>
                <a:off x="2688" y="2820"/>
                <a:ext cx="141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75" name="Oval 183"/>
              <p:cNvSpPr>
                <a:spLocks noChangeArrowheads="1"/>
              </p:cNvSpPr>
              <p:nvPr/>
            </p:nvSpPr>
            <p:spPr bwMode="auto">
              <a:xfrm>
                <a:off x="2688" y="2820"/>
                <a:ext cx="141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73" name="Rectangle 184"/>
            <p:cNvSpPr>
              <a:spLocks noChangeArrowheads="1"/>
            </p:cNvSpPr>
            <p:nvPr/>
          </p:nvSpPr>
          <p:spPr bwMode="auto">
            <a:xfrm>
              <a:off x="2713" y="2824"/>
              <a:ext cx="104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Process Design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74" name="Rectangle 185"/>
            <p:cNvSpPr>
              <a:spLocks noChangeArrowheads="1"/>
            </p:cNvSpPr>
            <p:nvPr/>
          </p:nvSpPr>
          <p:spPr bwMode="auto">
            <a:xfrm>
              <a:off x="2747" y="2851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(PDA)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75" name="Group 186"/>
            <p:cNvGrpSpPr/>
            <p:nvPr/>
          </p:nvGrpSpPr>
          <p:grpSpPr bwMode="auto">
            <a:xfrm>
              <a:off x="2687" y="2975"/>
              <a:ext cx="142" cy="50"/>
              <a:chOff x="2687" y="2975"/>
              <a:chExt cx="142" cy="50"/>
            </a:xfrm>
          </p:grpSpPr>
          <p:sp>
            <p:nvSpPr>
              <p:cNvPr id="34972" name="Oval 187"/>
              <p:cNvSpPr>
                <a:spLocks noChangeArrowheads="1"/>
              </p:cNvSpPr>
              <p:nvPr/>
            </p:nvSpPr>
            <p:spPr bwMode="auto">
              <a:xfrm>
                <a:off x="2687" y="2975"/>
                <a:ext cx="142" cy="50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73" name="Oval 188"/>
              <p:cNvSpPr>
                <a:spLocks noChangeArrowheads="1"/>
              </p:cNvSpPr>
              <p:nvPr/>
            </p:nvSpPr>
            <p:spPr bwMode="auto">
              <a:xfrm>
                <a:off x="2687" y="2975"/>
                <a:ext cx="142" cy="50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76" name="Rectangle 189"/>
            <p:cNvSpPr>
              <a:spLocks noChangeArrowheads="1"/>
            </p:cNvSpPr>
            <p:nvPr/>
          </p:nvSpPr>
          <p:spPr bwMode="auto">
            <a:xfrm>
              <a:off x="2701" y="2978"/>
              <a:ext cx="126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Technology &amp; Data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77" name="Rectangle 190"/>
            <p:cNvSpPr>
              <a:spLocks noChangeArrowheads="1"/>
            </p:cNvSpPr>
            <p:nvPr/>
          </p:nvSpPr>
          <p:spPr bwMode="auto">
            <a:xfrm>
              <a:off x="2743" y="3006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(TDA)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78" name="Group 191"/>
            <p:cNvGrpSpPr/>
            <p:nvPr/>
          </p:nvGrpSpPr>
          <p:grpSpPr bwMode="auto">
            <a:xfrm>
              <a:off x="2995" y="2820"/>
              <a:ext cx="141" cy="51"/>
              <a:chOff x="2995" y="2820"/>
              <a:chExt cx="141" cy="51"/>
            </a:xfrm>
          </p:grpSpPr>
          <p:sp>
            <p:nvSpPr>
              <p:cNvPr id="34970" name="Oval 192"/>
              <p:cNvSpPr>
                <a:spLocks noChangeArrowheads="1"/>
              </p:cNvSpPr>
              <p:nvPr/>
            </p:nvSpPr>
            <p:spPr bwMode="auto">
              <a:xfrm>
                <a:off x="2995" y="2820"/>
                <a:ext cx="141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71" name="Oval 193"/>
              <p:cNvSpPr>
                <a:spLocks noChangeArrowheads="1"/>
              </p:cNvSpPr>
              <p:nvPr/>
            </p:nvSpPr>
            <p:spPr bwMode="auto">
              <a:xfrm>
                <a:off x="2995" y="2820"/>
                <a:ext cx="141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79" name="Rectangle 194"/>
            <p:cNvSpPr>
              <a:spLocks noChangeArrowheads="1"/>
            </p:cNvSpPr>
            <p:nvPr/>
          </p:nvSpPr>
          <p:spPr bwMode="auto">
            <a:xfrm>
              <a:off x="3001" y="2824"/>
              <a:ext cx="141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Services &amp; Products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80" name="Rectangle 195"/>
            <p:cNvSpPr>
              <a:spLocks noChangeArrowheads="1"/>
            </p:cNvSpPr>
            <p:nvPr/>
          </p:nvSpPr>
          <p:spPr bwMode="auto">
            <a:xfrm>
              <a:off x="3053" y="2851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(SDA)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881" name="Group 196"/>
            <p:cNvGrpSpPr/>
            <p:nvPr/>
          </p:nvGrpSpPr>
          <p:grpSpPr bwMode="auto">
            <a:xfrm>
              <a:off x="3006" y="2969"/>
              <a:ext cx="142" cy="51"/>
              <a:chOff x="3006" y="2969"/>
              <a:chExt cx="142" cy="51"/>
            </a:xfrm>
          </p:grpSpPr>
          <p:sp>
            <p:nvSpPr>
              <p:cNvPr id="34968" name="Oval 197"/>
              <p:cNvSpPr>
                <a:spLocks noChangeArrowheads="1"/>
              </p:cNvSpPr>
              <p:nvPr/>
            </p:nvSpPr>
            <p:spPr bwMode="auto">
              <a:xfrm>
                <a:off x="3006" y="2969"/>
                <a:ext cx="142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69" name="Oval 198"/>
              <p:cNvSpPr>
                <a:spLocks noChangeArrowheads="1"/>
              </p:cNvSpPr>
              <p:nvPr/>
            </p:nvSpPr>
            <p:spPr bwMode="auto">
              <a:xfrm>
                <a:off x="3006" y="2969"/>
                <a:ext cx="142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82" name="Rectangle 199"/>
            <p:cNvSpPr>
              <a:spLocks noChangeArrowheads="1"/>
            </p:cNvSpPr>
            <p:nvPr/>
          </p:nvSpPr>
          <p:spPr bwMode="auto">
            <a:xfrm>
              <a:off x="3008" y="2972"/>
              <a:ext cx="155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Organization &amp; People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83" name="Rectangle 200"/>
            <p:cNvSpPr>
              <a:spLocks noChangeArrowheads="1"/>
            </p:cNvSpPr>
            <p:nvPr/>
          </p:nvSpPr>
          <p:spPr bwMode="auto">
            <a:xfrm>
              <a:off x="3062" y="3000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(ODA)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84" name="Line 201"/>
            <p:cNvSpPr>
              <a:spLocks noChangeShapeType="1"/>
            </p:cNvSpPr>
            <p:nvPr/>
          </p:nvSpPr>
          <p:spPr bwMode="auto">
            <a:xfrm>
              <a:off x="2971" y="2798"/>
              <a:ext cx="48" cy="26"/>
            </a:xfrm>
            <a:prstGeom prst="line">
              <a:avLst/>
            </a:prstGeom>
            <a:noFill/>
            <a:ln w="3175">
              <a:solidFill>
                <a:srgbClr val="72727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85" name="Freeform 202"/>
            <p:cNvSpPr>
              <a:spLocks noEditPoints="1"/>
            </p:cNvSpPr>
            <p:nvPr/>
          </p:nvSpPr>
          <p:spPr bwMode="auto">
            <a:xfrm>
              <a:off x="2898" y="2798"/>
              <a:ext cx="13" cy="73"/>
            </a:xfrm>
            <a:custGeom>
              <a:avLst/>
              <a:gdLst>
                <a:gd name="T0" fmla="*/ 7 w 13"/>
                <a:gd name="T1" fmla="*/ 0 h 73"/>
                <a:gd name="T2" fmla="*/ 7 w 13"/>
                <a:gd name="T3" fmla="*/ 62 h 73"/>
                <a:gd name="T4" fmla="*/ 5 w 13"/>
                <a:gd name="T5" fmla="*/ 62 h 73"/>
                <a:gd name="T6" fmla="*/ 5 w 13"/>
                <a:gd name="T7" fmla="*/ 0 h 73"/>
                <a:gd name="T8" fmla="*/ 7 w 13"/>
                <a:gd name="T9" fmla="*/ 0 h 73"/>
                <a:gd name="T10" fmla="*/ 13 w 13"/>
                <a:gd name="T11" fmla="*/ 60 h 73"/>
                <a:gd name="T12" fmla="*/ 6 w 13"/>
                <a:gd name="T13" fmla="*/ 73 h 73"/>
                <a:gd name="T14" fmla="*/ 0 w 13"/>
                <a:gd name="T15" fmla="*/ 60 h 73"/>
                <a:gd name="T16" fmla="*/ 13 w 13"/>
                <a:gd name="T17" fmla="*/ 60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73">
                  <a:moveTo>
                    <a:pt x="7" y="0"/>
                  </a:moveTo>
                  <a:lnTo>
                    <a:pt x="7" y="62"/>
                  </a:lnTo>
                  <a:lnTo>
                    <a:pt x="5" y="62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3" y="60"/>
                  </a:moveTo>
                  <a:lnTo>
                    <a:pt x="6" y="73"/>
                  </a:lnTo>
                  <a:lnTo>
                    <a:pt x="0" y="60"/>
                  </a:lnTo>
                  <a:lnTo>
                    <a:pt x="13" y="6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4886" name="Group 203"/>
            <p:cNvGrpSpPr/>
            <p:nvPr/>
          </p:nvGrpSpPr>
          <p:grpSpPr bwMode="auto">
            <a:xfrm>
              <a:off x="2800" y="3049"/>
              <a:ext cx="212" cy="50"/>
              <a:chOff x="2800" y="3049"/>
              <a:chExt cx="212" cy="50"/>
            </a:xfrm>
          </p:grpSpPr>
          <p:sp>
            <p:nvSpPr>
              <p:cNvPr id="34966" name="Freeform 204"/>
              <p:cNvSpPr/>
              <p:nvPr/>
            </p:nvSpPr>
            <p:spPr bwMode="auto">
              <a:xfrm>
                <a:off x="2800" y="3049"/>
                <a:ext cx="212" cy="50"/>
              </a:xfrm>
              <a:custGeom>
                <a:avLst/>
                <a:gdLst>
                  <a:gd name="T0" fmla="*/ 0 w 13250"/>
                  <a:gd name="T1" fmla="*/ 0 h 3066"/>
                  <a:gd name="T2" fmla="*/ 0 w 13250"/>
                  <a:gd name="T3" fmla="*/ 0 h 3066"/>
                  <a:gd name="T4" fmla="*/ 0 w 13250"/>
                  <a:gd name="T5" fmla="*/ 0 h 3066"/>
                  <a:gd name="T6" fmla="*/ 0 w 13250"/>
                  <a:gd name="T7" fmla="*/ 0 h 3066"/>
                  <a:gd name="T8" fmla="*/ 0 w 13250"/>
                  <a:gd name="T9" fmla="*/ 0 h 3066"/>
                  <a:gd name="T10" fmla="*/ 0 w 13250"/>
                  <a:gd name="T11" fmla="*/ 0 h 3066"/>
                  <a:gd name="T12" fmla="*/ 0 w 13250"/>
                  <a:gd name="T13" fmla="*/ 0 h 3066"/>
                  <a:gd name="T14" fmla="*/ 0 w 13250"/>
                  <a:gd name="T15" fmla="*/ 0 h 3066"/>
                  <a:gd name="T16" fmla="*/ 0 w 13250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50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39" y="3066"/>
                    </a:lnTo>
                    <a:cubicBezTo>
                      <a:pt x="13021" y="3066"/>
                      <a:pt x="13250" y="2838"/>
                      <a:pt x="13250" y="2555"/>
                    </a:cubicBezTo>
                    <a:lnTo>
                      <a:pt x="13250" y="511"/>
                    </a:lnTo>
                    <a:cubicBezTo>
                      <a:pt x="13250" y="229"/>
                      <a:pt x="13021" y="0"/>
                      <a:pt x="12739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FFFFCC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67" name="Freeform 205"/>
              <p:cNvSpPr/>
              <p:nvPr/>
            </p:nvSpPr>
            <p:spPr bwMode="auto">
              <a:xfrm>
                <a:off x="2800" y="3049"/>
                <a:ext cx="212" cy="50"/>
              </a:xfrm>
              <a:custGeom>
                <a:avLst/>
                <a:gdLst>
                  <a:gd name="T0" fmla="*/ 0 w 13250"/>
                  <a:gd name="T1" fmla="*/ 0 h 3066"/>
                  <a:gd name="T2" fmla="*/ 0 w 13250"/>
                  <a:gd name="T3" fmla="*/ 0 h 3066"/>
                  <a:gd name="T4" fmla="*/ 0 w 13250"/>
                  <a:gd name="T5" fmla="*/ 0 h 3066"/>
                  <a:gd name="T6" fmla="*/ 0 w 13250"/>
                  <a:gd name="T7" fmla="*/ 0 h 3066"/>
                  <a:gd name="T8" fmla="*/ 0 w 13250"/>
                  <a:gd name="T9" fmla="*/ 0 h 3066"/>
                  <a:gd name="T10" fmla="*/ 0 w 13250"/>
                  <a:gd name="T11" fmla="*/ 0 h 3066"/>
                  <a:gd name="T12" fmla="*/ 0 w 13250"/>
                  <a:gd name="T13" fmla="*/ 0 h 3066"/>
                  <a:gd name="T14" fmla="*/ 0 w 13250"/>
                  <a:gd name="T15" fmla="*/ 0 h 3066"/>
                  <a:gd name="T16" fmla="*/ 0 w 13250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50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39" y="3066"/>
                    </a:lnTo>
                    <a:cubicBezTo>
                      <a:pt x="13021" y="3066"/>
                      <a:pt x="13250" y="2838"/>
                      <a:pt x="13250" y="2555"/>
                    </a:cubicBezTo>
                    <a:lnTo>
                      <a:pt x="13250" y="511"/>
                    </a:lnTo>
                    <a:cubicBezTo>
                      <a:pt x="13250" y="229"/>
                      <a:pt x="13021" y="0"/>
                      <a:pt x="12739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72727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4887" name="Rectangle 206"/>
            <p:cNvSpPr>
              <a:spLocks noChangeArrowheads="1"/>
            </p:cNvSpPr>
            <p:nvPr/>
          </p:nvSpPr>
          <p:spPr bwMode="auto">
            <a:xfrm>
              <a:off x="2856" y="3052"/>
              <a:ext cx="111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Change Delivery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88" name="Rectangle 207"/>
            <p:cNvSpPr>
              <a:spLocks noChangeArrowheads="1"/>
            </p:cNvSpPr>
            <p:nvPr/>
          </p:nvSpPr>
          <p:spPr bwMode="auto">
            <a:xfrm>
              <a:off x="2845" y="3080"/>
              <a:ext cx="133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(Programme Office)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89" name="Freeform 208"/>
            <p:cNvSpPr>
              <a:spLocks noEditPoints="1"/>
            </p:cNvSpPr>
            <p:nvPr/>
          </p:nvSpPr>
          <p:spPr bwMode="auto">
            <a:xfrm>
              <a:off x="2901" y="2975"/>
              <a:ext cx="12" cy="68"/>
            </a:xfrm>
            <a:custGeom>
              <a:avLst/>
              <a:gdLst>
                <a:gd name="T0" fmla="*/ 7 w 12"/>
                <a:gd name="T1" fmla="*/ 0 h 68"/>
                <a:gd name="T2" fmla="*/ 7 w 12"/>
                <a:gd name="T3" fmla="*/ 57 h 68"/>
                <a:gd name="T4" fmla="*/ 5 w 12"/>
                <a:gd name="T5" fmla="*/ 57 h 68"/>
                <a:gd name="T6" fmla="*/ 5 w 12"/>
                <a:gd name="T7" fmla="*/ 0 h 68"/>
                <a:gd name="T8" fmla="*/ 7 w 12"/>
                <a:gd name="T9" fmla="*/ 0 h 68"/>
                <a:gd name="T10" fmla="*/ 12 w 12"/>
                <a:gd name="T11" fmla="*/ 54 h 68"/>
                <a:gd name="T12" fmla="*/ 6 w 12"/>
                <a:gd name="T13" fmla="*/ 68 h 68"/>
                <a:gd name="T14" fmla="*/ 0 w 12"/>
                <a:gd name="T15" fmla="*/ 54 h 68"/>
                <a:gd name="T16" fmla="*/ 12 w 12"/>
                <a:gd name="T17" fmla="*/ 54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68">
                  <a:moveTo>
                    <a:pt x="7" y="0"/>
                  </a:moveTo>
                  <a:lnTo>
                    <a:pt x="7" y="57"/>
                  </a:lnTo>
                  <a:lnTo>
                    <a:pt x="5" y="57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2" y="54"/>
                  </a:moveTo>
                  <a:lnTo>
                    <a:pt x="6" y="68"/>
                  </a:lnTo>
                  <a:lnTo>
                    <a:pt x="0" y="54"/>
                  </a:lnTo>
                  <a:lnTo>
                    <a:pt x="12" y="5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890" name="Freeform 209"/>
            <p:cNvSpPr>
              <a:spLocks noEditPoints="1"/>
            </p:cNvSpPr>
            <p:nvPr/>
          </p:nvSpPr>
          <p:spPr bwMode="auto">
            <a:xfrm>
              <a:off x="2699" y="2809"/>
              <a:ext cx="676" cy="2"/>
            </a:xfrm>
            <a:custGeom>
              <a:avLst/>
              <a:gdLst>
                <a:gd name="T0" fmla="*/ 0 w 676"/>
                <a:gd name="T1" fmla="*/ 2 h 2"/>
                <a:gd name="T2" fmla="*/ 24 w 676"/>
                <a:gd name="T3" fmla="*/ 2 h 2"/>
                <a:gd name="T4" fmla="*/ 39 w 676"/>
                <a:gd name="T5" fmla="*/ 0 h 2"/>
                <a:gd name="T6" fmla="*/ 45 w 676"/>
                <a:gd name="T7" fmla="*/ 0 h 2"/>
                <a:gd name="T8" fmla="*/ 45 w 676"/>
                <a:gd name="T9" fmla="*/ 0 h 2"/>
                <a:gd name="T10" fmla="*/ 60 w 676"/>
                <a:gd name="T11" fmla="*/ 2 h 2"/>
                <a:gd name="T12" fmla="*/ 83 w 676"/>
                <a:gd name="T13" fmla="*/ 2 h 2"/>
                <a:gd name="T14" fmla="*/ 98 w 676"/>
                <a:gd name="T15" fmla="*/ 0 h 2"/>
                <a:gd name="T16" fmla="*/ 105 w 676"/>
                <a:gd name="T17" fmla="*/ 0 h 2"/>
                <a:gd name="T18" fmla="*/ 105 w 676"/>
                <a:gd name="T19" fmla="*/ 0 h 2"/>
                <a:gd name="T20" fmla="*/ 120 w 676"/>
                <a:gd name="T21" fmla="*/ 2 h 2"/>
                <a:gd name="T22" fmla="*/ 143 w 676"/>
                <a:gd name="T23" fmla="*/ 2 h 2"/>
                <a:gd name="T24" fmla="*/ 158 w 676"/>
                <a:gd name="T25" fmla="*/ 0 h 2"/>
                <a:gd name="T26" fmla="*/ 165 w 676"/>
                <a:gd name="T27" fmla="*/ 0 h 2"/>
                <a:gd name="T28" fmla="*/ 165 w 676"/>
                <a:gd name="T29" fmla="*/ 0 h 2"/>
                <a:gd name="T30" fmla="*/ 180 w 676"/>
                <a:gd name="T31" fmla="*/ 2 h 2"/>
                <a:gd name="T32" fmla="*/ 203 w 676"/>
                <a:gd name="T33" fmla="*/ 2 h 2"/>
                <a:gd name="T34" fmla="*/ 218 w 676"/>
                <a:gd name="T35" fmla="*/ 0 h 2"/>
                <a:gd name="T36" fmla="*/ 225 w 676"/>
                <a:gd name="T37" fmla="*/ 0 h 2"/>
                <a:gd name="T38" fmla="*/ 225 w 676"/>
                <a:gd name="T39" fmla="*/ 0 h 2"/>
                <a:gd name="T40" fmla="*/ 240 w 676"/>
                <a:gd name="T41" fmla="*/ 2 h 2"/>
                <a:gd name="T42" fmla="*/ 263 w 676"/>
                <a:gd name="T43" fmla="*/ 2 h 2"/>
                <a:gd name="T44" fmla="*/ 278 w 676"/>
                <a:gd name="T45" fmla="*/ 0 h 2"/>
                <a:gd name="T46" fmla="*/ 285 w 676"/>
                <a:gd name="T47" fmla="*/ 0 h 2"/>
                <a:gd name="T48" fmla="*/ 285 w 676"/>
                <a:gd name="T49" fmla="*/ 0 h 2"/>
                <a:gd name="T50" fmla="*/ 300 w 676"/>
                <a:gd name="T51" fmla="*/ 2 h 2"/>
                <a:gd name="T52" fmla="*/ 323 w 676"/>
                <a:gd name="T53" fmla="*/ 2 h 2"/>
                <a:gd name="T54" fmla="*/ 338 w 676"/>
                <a:gd name="T55" fmla="*/ 0 h 2"/>
                <a:gd name="T56" fmla="*/ 344 w 676"/>
                <a:gd name="T57" fmla="*/ 0 h 2"/>
                <a:gd name="T58" fmla="*/ 344 w 676"/>
                <a:gd name="T59" fmla="*/ 0 h 2"/>
                <a:gd name="T60" fmla="*/ 359 w 676"/>
                <a:gd name="T61" fmla="*/ 2 h 2"/>
                <a:gd name="T62" fmla="*/ 383 w 676"/>
                <a:gd name="T63" fmla="*/ 2 h 2"/>
                <a:gd name="T64" fmla="*/ 398 w 676"/>
                <a:gd name="T65" fmla="*/ 0 h 2"/>
                <a:gd name="T66" fmla="*/ 404 w 676"/>
                <a:gd name="T67" fmla="*/ 0 h 2"/>
                <a:gd name="T68" fmla="*/ 404 w 676"/>
                <a:gd name="T69" fmla="*/ 0 h 2"/>
                <a:gd name="T70" fmla="*/ 419 w 676"/>
                <a:gd name="T71" fmla="*/ 2 h 2"/>
                <a:gd name="T72" fmla="*/ 443 w 676"/>
                <a:gd name="T73" fmla="*/ 2 h 2"/>
                <a:gd name="T74" fmla="*/ 458 w 676"/>
                <a:gd name="T75" fmla="*/ 0 h 2"/>
                <a:gd name="T76" fmla="*/ 464 w 676"/>
                <a:gd name="T77" fmla="*/ 0 h 2"/>
                <a:gd name="T78" fmla="*/ 464 w 676"/>
                <a:gd name="T79" fmla="*/ 0 h 2"/>
                <a:gd name="T80" fmla="*/ 479 w 676"/>
                <a:gd name="T81" fmla="*/ 2 h 2"/>
                <a:gd name="T82" fmla="*/ 503 w 676"/>
                <a:gd name="T83" fmla="*/ 2 h 2"/>
                <a:gd name="T84" fmla="*/ 518 w 676"/>
                <a:gd name="T85" fmla="*/ 0 h 2"/>
                <a:gd name="T86" fmla="*/ 524 w 676"/>
                <a:gd name="T87" fmla="*/ 0 h 2"/>
                <a:gd name="T88" fmla="*/ 524 w 676"/>
                <a:gd name="T89" fmla="*/ 0 h 2"/>
                <a:gd name="T90" fmla="*/ 539 w 676"/>
                <a:gd name="T91" fmla="*/ 2 h 2"/>
                <a:gd name="T92" fmla="*/ 563 w 676"/>
                <a:gd name="T93" fmla="*/ 2 h 2"/>
                <a:gd name="T94" fmla="*/ 578 w 676"/>
                <a:gd name="T95" fmla="*/ 0 h 2"/>
                <a:gd name="T96" fmla="*/ 584 w 676"/>
                <a:gd name="T97" fmla="*/ 0 h 2"/>
                <a:gd name="T98" fmla="*/ 584 w 676"/>
                <a:gd name="T99" fmla="*/ 0 h 2"/>
                <a:gd name="T100" fmla="*/ 599 w 676"/>
                <a:gd name="T101" fmla="*/ 2 h 2"/>
                <a:gd name="T102" fmla="*/ 622 w 676"/>
                <a:gd name="T103" fmla="*/ 2 h 2"/>
                <a:gd name="T104" fmla="*/ 637 w 676"/>
                <a:gd name="T105" fmla="*/ 0 h 2"/>
                <a:gd name="T106" fmla="*/ 644 w 676"/>
                <a:gd name="T107" fmla="*/ 0 h 2"/>
                <a:gd name="T108" fmla="*/ 644 w 676"/>
                <a:gd name="T109" fmla="*/ 0 h 2"/>
                <a:gd name="T110" fmla="*/ 659 w 676"/>
                <a:gd name="T111" fmla="*/ 2 h 2"/>
                <a:gd name="T112" fmla="*/ 676 w 676"/>
                <a:gd name="T113" fmla="*/ 2 h 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676" h="2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0" y="2"/>
                  </a:lnTo>
                  <a:lnTo>
                    <a:pt x="0" y="0"/>
                  </a:lnTo>
                  <a:close/>
                  <a:moveTo>
                    <a:pt x="15" y="0"/>
                  </a:moveTo>
                  <a:lnTo>
                    <a:pt x="24" y="0"/>
                  </a:lnTo>
                  <a:lnTo>
                    <a:pt x="24" y="2"/>
                  </a:lnTo>
                  <a:lnTo>
                    <a:pt x="15" y="2"/>
                  </a:lnTo>
                  <a:lnTo>
                    <a:pt x="15" y="0"/>
                  </a:lnTo>
                  <a:close/>
                  <a:moveTo>
                    <a:pt x="30" y="0"/>
                  </a:moveTo>
                  <a:lnTo>
                    <a:pt x="39" y="0"/>
                  </a:lnTo>
                  <a:lnTo>
                    <a:pt x="39" y="2"/>
                  </a:lnTo>
                  <a:lnTo>
                    <a:pt x="30" y="2"/>
                  </a:lnTo>
                  <a:lnTo>
                    <a:pt x="30" y="0"/>
                  </a:lnTo>
                  <a:close/>
                  <a:moveTo>
                    <a:pt x="45" y="0"/>
                  </a:moveTo>
                  <a:lnTo>
                    <a:pt x="54" y="0"/>
                  </a:lnTo>
                  <a:lnTo>
                    <a:pt x="54" y="2"/>
                  </a:lnTo>
                  <a:lnTo>
                    <a:pt x="45" y="2"/>
                  </a:lnTo>
                  <a:lnTo>
                    <a:pt x="45" y="0"/>
                  </a:lnTo>
                  <a:close/>
                  <a:moveTo>
                    <a:pt x="60" y="0"/>
                  </a:moveTo>
                  <a:lnTo>
                    <a:pt x="69" y="0"/>
                  </a:lnTo>
                  <a:lnTo>
                    <a:pt x="69" y="2"/>
                  </a:lnTo>
                  <a:lnTo>
                    <a:pt x="60" y="2"/>
                  </a:lnTo>
                  <a:lnTo>
                    <a:pt x="60" y="0"/>
                  </a:lnTo>
                  <a:close/>
                  <a:moveTo>
                    <a:pt x="75" y="0"/>
                  </a:moveTo>
                  <a:lnTo>
                    <a:pt x="83" y="0"/>
                  </a:lnTo>
                  <a:lnTo>
                    <a:pt x="83" y="2"/>
                  </a:lnTo>
                  <a:lnTo>
                    <a:pt x="75" y="2"/>
                  </a:lnTo>
                  <a:lnTo>
                    <a:pt x="75" y="0"/>
                  </a:lnTo>
                  <a:close/>
                  <a:moveTo>
                    <a:pt x="90" y="0"/>
                  </a:moveTo>
                  <a:lnTo>
                    <a:pt x="98" y="0"/>
                  </a:lnTo>
                  <a:lnTo>
                    <a:pt x="98" y="2"/>
                  </a:lnTo>
                  <a:lnTo>
                    <a:pt x="90" y="2"/>
                  </a:lnTo>
                  <a:lnTo>
                    <a:pt x="90" y="0"/>
                  </a:lnTo>
                  <a:close/>
                  <a:moveTo>
                    <a:pt x="105" y="0"/>
                  </a:moveTo>
                  <a:lnTo>
                    <a:pt x="113" y="0"/>
                  </a:lnTo>
                  <a:lnTo>
                    <a:pt x="113" y="2"/>
                  </a:lnTo>
                  <a:lnTo>
                    <a:pt x="105" y="2"/>
                  </a:lnTo>
                  <a:lnTo>
                    <a:pt x="105" y="0"/>
                  </a:lnTo>
                  <a:close/>
                  <a:moveTo>
                    <a:pt x="120" y="0"/>
                  </a:moveTo>
                  <a:lnTo>
                    <a:pt x="128" y="0"/>
                  </a:lnTo>
                  <a:lnTo>
                    <a:pt x="128" y="2"/>
                  </a:lnTo>
                  <a:lnTo>
                    <a:pt x="120" y="2"/>
                  </a:lnTo>
                  <a:lnTo>
                    <a:pt x="120" y="0"/>
                  </a:lnTo>
                  <a:close/>
                  <a:moveTo>
                    <a:pt x="135" y="0"/>
                  </a:moveTo>
                  <a:lnTo>
                    <a:pt x="143" y="0"/>
                  </a:lnTo>
                  <a:lnTo>
                    <a:pt x="143" y="2"/>
                  </a:lnTo>
                  <a:lnTo>
                    <a:pt x="135" y="2"/>
                  </a:lnTo>
                  <a:lnTo>
                    <a:pt x="135" y="0"/>
                  </a:lnTo>
                  <a:close/>
                  <a:moveTo>
                    <a:pt x="150" y="0"/>
                  </a:moveTo>
                  <a:lnTo>
                    <a:pt x="158" y="0"/>
                  </a:lnTo>
                  <a:lnTo>
                    <a:pt x="158" y="2"/>
                  </a:lnTo>
                  <a:lnTo>
                    <a:pt x="150" y="2"/>
                  </a:lnTo>
                  <a:lnTo>
                    <a:pt x="150" y="0"/>
                  </a:lnTo>
                  <a:close/>
                  <a:moveTo>
                    <a:pt x="165" y="0"/>
                  </a:moveTo>
                  <a:lnTo>
                    <a:pt x="173" y="0"/>
                  </a:lnTo>
                  <a:lnTo>
                    <a:pt x="173" y="2"/>
                  </a:lnTo>
                  <a:lnTo>
                    <a:pt x="165" y="2"/>
                  </a:lnTo>
                  <a:lnTo>
                    <a:pt x="165" y="0"/>
                  </a:lnTo>
                  <a:close/>
                  <a:moveTo>
                    <a:pt x="180" y="0"/>
                  </a:moveTo>
                  <a:lnTo>
                    <a:pt x="188" y="0"/>
                  </a:lnTo>
                  <a:lnTo>
                    <a:pt x="188" y="2"/>
                  </a:lnTo>
                  <a:lnTo>
                    <a:pt x="180" y="2"/>
                  </a:lnTo>
                  <a:lnTo>
                    <a:pt x="180" y="0"/>
                  </a:lnTo>
                  <a:close/>
                  <a:moveTo>
                    <a:pt x="195" y="0"/>
                  </a:moveTo>
                  <a:lnTo>
                    <a:pt x="203" y="0"/>
                  </a:lnTo>
                  <a:lnTo>
                    <a:pt x="203" y="2"/>
                  </a:lnTo>
                  <a:lnTo>
                    <a:pt x="195" y="2"/>
                  </a:lnTo>
                  <a:lnTo>
                    <a:pt x="195" y="0"/>
                  </a:lnTo>
                  <a:close/>
                  <a:moveTo>
                    <a:pt x="210" y="0"/>
                  </a:moveTo>
                  <a:lnTo>
                    <a:pt x="218" y="0"/>
                  </a:lnTo>
                  <a:lnTo>
                    <a:pt x="218" y="2"/>
                  </a:lnTo>
                  <a:lnTo>
                    <a:pt x="210" y="2"/>
                  </a:lnTo>
                  <a:lnTo>
                    <a:pt x="210" y="0"/>
                  </a:lnTo>
                  <a:close/>
                  <a:moveTo>
                    <a:pt x="225" y="0"/>
                  </a:moveTo>
                  <a:lnTo>
                    <a:pt x="233" y="0"/>
                  </a:lnTo>
                  <a:lnTo>
                    <a:pt x="233" y="2"/>
                  </a:lnTo>
                  <a:lnTo>
                    <a:pt x="225" y="2"/>
                  </a:lnTo>
                  <a:lnTo>
                    <a:pt x="225" y="0"/>
                  </a:lnTo>
                  <a:close/>
                  <a:moveTo>
                    <a:pt x="240" y="0"/>
                  </a:moveTo>
                  <a:lnTo>
                    <a:pt x="248" y="0"/>
                  </a:lnTo>
                  <a:lnTo>
                    <a:pt x="248" y="2"/>
                  </a:lnTo>
                  <a:lnTo>
                    <a:pt x="240" y="2"/>
                  </a:lnTo>
                  <a:lnTo>
                    <a:pt x="240" y="0"/>
                  </a:lnTo>
                  <a:close/>
                  <a:moveTo>
                    <a:pt x="255" y="0"/>
                  </a:moveTo>
                  <a:lnTo>
                    <a:pt x="263" y="0"/>
                  </a:lnTo>
                  <a:lnTo>
                    <a:pt x="263" y="2"/>
                  </a:lnTo>
                  <a:lnTo>
                    <a:pt x="255" y="2"/>
                  </a:lnTo>
                  <a:lnTo>
                    <a:pt x="255" y="0"/>
                  </a:lnTo>
                  <a:close/>
                  <a:moveTo>
                    <a:pt x="270" y="0"/>
                  </a:moveTo>
                  <a:lnTo>
                    <a:pt x="278" y="0"/>
                  </a:lnTo>
                  <a:lnTo>
                    <a:pt x="278" y="2"/>
                  </a:lnTo>
                  <a:lnTo>
                    <a:pt x="270" y="2"/>
                  </a:lnTo>
                  <a:lnTo>
                    <a:pt x="270" y="0"/>
                  </a:lnTo>
                  <a:close/>
                  <a:moveTo>
                    <a:pt x="285" y="0"/>
                  </a:moveTo>
                  <a:lnTo>
                    <a:pt x="293" y="0"/>
                  </a:lnTo>
                  <a:lnTo>
                    <a:pt x="293" y="2"/>
                  </a:lnTo>
                  <a:lnTo>
                    <a:pt x="285" y="2"/>
                  </a:lnTo>
                  <a:lnTo>
                    <a:pt x="285" y="0"/>
                  </a:lnTo>
                  <a:close/>
                  <a:moveTo>
                    <a:pt x="300" y="0"/>
                  </a:moveTo>
                  <a:lnTo>
                    <a:pt x="308" y="0"/>
                  </a:lnTo>
                  <a:lnTo>
                    <a:pt x="308" y="2"/>
                  </a:lnTo>
                  <a:lnTo>
                    <a:pt x="300" y="2"/>
                  </a:lnTo>
                  <a:lnTo>
                    <a:pt x="300" y="0"/>
                  </a:lnTo>
                  <a:close/>
                  <a:moveTo>
                    <a:pt x="314" y="0"/>
                  </a:moveTo>
                  <a:lnTo>
                    <a:pt x="323" y="0"/>
                  </a:lnTo>
                  <a:lnTo>
                    <a:pt x="323" y="2"/>
                  </a:lnTo>
                  <a:lnTo>
                    <a:pt x="314" y="2"/>
                  </a:lnTo>
                  <a:lnTo>
                    <a:pt x="314" y="0"/>
                  </a:lnTo>
                  <a:close/>
                  <a:moveTo>
                    <a:pt x="329" y="0"/>
                  </a:moveTo>
                  <a:lnTo>
                    <a:pt x="338" y="0"/>
                  </a:lnTo>
                  <a:lnTo>
                    <a:pt x="338" y="2"/>
                  </a:lnTo>
                  <a:lnTo>
                    <a:pt x="329" y="2"/>
                  </a:lnTo>
                  <a:lnTo>
                    <a:pt x="329" y="0"/>
                  </a:lnTo>
                  <a:close/>
                  <a:moveTo>
                    <a:pt x="344" y="0"/>
                  </a:moveTo>
                  <a:lnTo>
                    <a:pt x="353" y="0"/>
                  </a:lnTo>
                  <a:lnTo>
                    <a:pt x="353" y="2"/>
                  </a:lnTo>
                  <a:lnTo>
                    <a:pt x="344" y="2"/>
                  </a:lnTo>
                  <a:lnTo>
                    <a:pt x="344" y="0"/>
                  </a:lnTo>
                  <a:close/>
                  <a:moveTo>
                    <a:pt x="359" y="0"/>
                  </a:moveTo>
                  <a:lnTo>
                    <a:pt x="368" y="0"/>
                  </a:lnTo>
                  <a:lnTo>
                    <a:pt x="368" y="2"/>
                  </a:lnTo>
                  <a:lnTo>
                    <a:pt x="359" y="2"/>
                  </a:lnTo>
                  <a:lnTo>
                    <a:pt x="359" y="0"/>
                  </a:lnTo>
                  <a:close/>
                  <a:moveTo>
                    <a:pt x="374" y="0"/>
                  </a:moveTo>
                  <a:lnTo>
                    <a:pt x="383" y="0"/>
                  </a:lnTo>
                  <a:lnTo>
                    <a:pt x="383" y="2"/>
                  </a:lnTo>
                  <a:lnTo>
                    <a:pt x="374" y="2"/>
                  </a:lnTo>
                  <a:lnTo>
                    <a:pt x="374" y="0"/>
                  </a:lnTo>
                  <a:close/>
                  <a:moveTo>
                    <a:pt x="389" y="0"/>
                  </a:moveTo>
                  <a:lnTo>
                    <a:pt x="398" y="0"/>
                  </a:lnTo>
                  <a:lnTo>
                    <a:pt x="398" y="2"/>
                  </a:lnTo>
                  <a:lnTo>
                    <a:pt x="389" y="2"/>
                  </a:lnTo>
                  <a:lnTo>
                    <a:pt x="389" y="0"/>
                  </a:lnTo>
                  <a:close/>
                  <a:moveTo>
                    <a:pt x="404" y="0"/>
                  </a:moveTo>
                  <a:lnTo>
                    <a:pt x="413" y="0"/>
                  </a:lnTo>
                  <a:lnTo>
                    <a:pt x="413" y="2"/>
                  </a:lnTo>
                  <a:lnTo>
                    <a:pt x="404" y="2"/>
                  </a:lnTo>
                  <a:lnTo>
                    <a:pt x="404" y="0"/>
                  </a:lnTo>
                  <a:close/>
                  <a:moveTo>
                    <a:pt x="419" y="0"/>
                  </a:moveTo>
                  <a:lnTo>
                    <a:pt x="428" y="0"/>
                  </a:lnTo>
                  <a:lnTo>
                    <a:pt x="428" y="2"/>
                  </a:lnTo>
                  <a:lnTo>
                    <a:pt x="419" y="2"/>
                  </a:lnTo>
                  <a:lnTo>
                    <a:pt x="419" y="0"/>
                  </a:lnTo>
                  <a:close/>
                  <a:moveTo>
                    <a:pt x="434" y="0"/>
                  </a:moveTo>
                  <a:lnTo>
                    <a:pt x="443" y="0"/>
                  </a:lnTo>
                  <a:lnTo>
                    <a:pt x="443" y="2"/>
                  </a:lnTo>
                  <a:lnTo>
                    <a:pt x="434" y="2"/>
                  </a:lnTo>
                  <a:lnTo>
                    <a:pt x="434" y="0"/>
                  </a:lnTo>
                  <a:close/>
                  <a:moveTo>
                    <a:pt x="449" y="0"/>
                  </a:moveTo>
                  <a:lnTo>
                    <a:pt x="458" y="0"/>
                  </a:lnTo>
                  <a:lnTo>
                    <a:pt x="458" y="2"/>
                  </a:lnTo>
                  <a:lnTo>
                    <a:pt x="449" y="2"/>
                  </a:lnTo>
                  <a:lnTo>
                    <a:pt x="449" y="0"/>
                  </a:lnTo>
                  <a:close/>
                  <a:moveTo>
                    <a:pt x="464" y="0"/>
                  </a:moveTo>
                  <a:lnTo>
                    <a:pt x="473" y="0"/>
                  </a:lnTo>
                  <a:lnTo>
                    <a:pt x="473" y="2"/>
                  </a:lnTo>
                  <a:lnTo>
                    <a:pt x="464" y="2"/>
                  </a:lnTo>
                  <a:lnTo>
                    <a:pt x="464" y="0"/>
                  </a:lnTo>
                  <a:close/>
                  <a:moveTo>
                    <a:pt x="479" y="0"/>
                  </a:moveTo>
                  <a:lnTo>
                    <a:pt x="488" y="0"/>
                  </a:lnTo>
                  <a:lnTo>
                    <a:pt x="488" y="2"/>
                  </a:lnTo>
                  <a:lnTo>
                    <a:pt x="479" y="2"/>
                  </a:lnTo>
                  <a:lnTo>
                    <a:pt x="479" y="0"/>
                  </a:lnTo>
                  <a:close/>
                  <a:moveTo>
                    <a:pt x="494" y="0"/>
                  </a:moveTo>
                  <a:lnTo>
                    <a:pt x="503" y="0"/>
                  </a:lnTo>
                  <a:lnTo>
                    <a:pt x="503" y="2"/>
                  </a:lnTo>
                  <a:lnTo>
                    <a:pt x="494" y="2"/>
                  </a:lnTo>
                  <a:lnTo>
                    <a:pt x="494" y="0"/>
                  </a:lnTo>
                  <a:close/>
                  <a:moveTo>
                    <a:pt x="509" y="0"/>
                  </a:moveTo>
                  <a:lnTo>
                    <a:pt x="518" y="0"/>
                  </a:lnTo>
                  <a:lnTo>
                    <a:pt x="518" y="2"/>
                  </a:lnTo>
                  <a:lnTo>
                    <a:pt x="509" y="2"/>
                  </a:lnTo>
                  <a:lnTo>
                    <a:pt x="509" y="0"/>
                  </a:lnTo>
                  <a:close/>
                  <a:moveTo>
                    <a:pt x="524" y="0"/>
                  </a:moveTo>
                  <a:lnTo>
                    <a:pt x="533" y="0"/>
                  </a:lnTo>
                  <a:lnTo>
                    <a:pt x="533" y="2"/>
                  </a:lnTo>
                  <a:lnTo>
                    <a:pt x="524" y="2"/>
                  </a:lnTo>
                  <a:lnTo>
                    <a:pt x="524" y="0"/>
                  </a:lnTo>
                  <a:close/>
                  <a:moveTo>
                    <a:pt x="539" y="0"/>
                  </a:moveTo>
                  <a:lnTo>
                    <a:pt x="548" y="0"/>
                  </a:lnTo>
                  <a:lnTo>
                    <a:pt x="548" y="2"/>
                  </a:lnTo>
                  <a:lnTo>
                    <a:pt x="539" y="2"/>
                  </a:lnTo>
                  <a:lnTo>
                    <a:pt x="539" y="0"/>
                  </a:lnTo>
                  <a:close/>
                  <a:moveTo>
                    <a:pt x="554" y="0"/>
                  </a:moveTo>
                  <a:lnTo>
                    <a:pt x="563" y="0"/>
                  </a:lnTo>
                  <a:lnTo>
                    <a:pt x="563" y="2"/>
                  </a:lnTo>
                  <a:lnTo>
                    <a:pt x="554" y="2"/>
                  </a:lnTo>
                  <a:lnTo>
                    <a:pt x="554" y="0"/>
                  </a:lnTo>
                  <a:close/>
                  <a:moveTo>
                    <a:pt x="569" y="0"/>
                  </a:moveTo>
                  <a:lnTo>
                    <a:pt x="578" y="0"/>
                  </a:lnTo>
                  <a:lnTo>
                    <a:pt x="578" y="2"/>
                  </a:lnTo>
                  <a:lnTo>
                    <a:pt x="569" y="2"/>
                  </a:lnTo>
                  <a:lnTo>
                    <a:pt x="569" y="0"/>
                  </a:lnTo>
                  <a:close/>
                  <a:moveTo>
                    <a:pt x="584" y="0"/>
                  </a:moveTo>
                  <a:lnTo>
                    <a:pt x="593" y="0"/>
                  </a:lnTo>
                  <a:lnTo>
                    <a:pt x="593" y="2"/>
                  </a:lnTo>
                  <a:lnTo>
                    <a:pt x="584" y="2"/>
                  </a:lnTo>
                  <a:lnTo>
                    <a:pt x="584" y="0"/>
                  </a:lnTo>
                  <a:close/>
                  <a:moveTo>
                    <a:pt x="599" y="0"/>
                  </a:moveTo>
                  <a:lnTo>
                    <a:pt x="608" y="0"/>
                  </a:lnTo>
                  <a:lnTo>
                    <a:pt x="608" y="2"/>
                  </a:lnTo>
                  <a:lnTo>
                    <a:pt x="599" y="2"/>
                  </a:lnTo>
                  <a:lnTo>
                    <a:pt x="599" y="0"/>
                  </a:lnTo>
                  <a:close/>
                  <a:moveTo>
                    <a:pt x="614" y="0"/>
                  </a:moveTo>
                  <a:lnTo>
                    <a:pt x="622" y="0"/>
                  </a:lnTo>
                  <a:lnTo>
                    <a:pt x="622" y="2"/>
                  </a:lnTo>
                  <a:lnTo>
                    <a:pt x="614" y="2"/>
                  </a:lnTo>
                  <a:lnTo>
                    <a:pt x="614" y="0"/>
                  </a:lnTo>
                  <a:close/>
                  <a:moveTo>
                    <a:pt x="629" y="0"/>
                  </a:moveTo>
                  <a:lnTo>
                    <a:pt x="637" y="0"/>
                  </a:lnTo>
                  <a:lnTo>
                    <a:pt x="637" y="2"/>
                  </a:lnTo>
                  <a:lnTo>
                    <a:pt x="629" y="2"/>
                  </a:lnTo>
                  <a:lnTo>
                    <a:pt x="629" y="0"/>
                  </a:lnTo>
                  <a:close/>
                  <a:moveTo>
                    <a:pt x="644" y="0"/>
                  </a:moveTo>
                  <a:lnTo>
                    <a:pt x="652" y="0"/>
                  </a:lnTo>
                  <a:lnTo>
                    <a:pt x="652" y="2"/>
                  </a:lnTo>
                  <a:lnTo>
                    <a:pt x="644" y="2"/>
                  </a:lnTo>
                  <a:lnTo>
                    <a:pt x="644" y="0"/>
                  </a:lnTo>
                  <a:close/>
                  <a:moveTo>
                    <a:pt x="659" y="0"/>
                  </a:moveTo>
                  <a:lnTo>
                    <a:pt x="667" y="0"/>
                  </a:lnTo>
                  <a:lnTo>
                    <a:pt x="667" y="2"/>
                  </a:lnTo>
                  <a:lnTo>
                    <a:pt x="659" y="2"/>
                  </a:lnTo>
                  <a:lnTo>
                    <a:pt x="659" y="0"/>
                  </a:lnTo>
                  <a:close/>
                  <a:moveTo>
                    <a:pt x="674" y="0"/>
                  </a:moveTo>
                  <a:lnTo>
                    <a:pt x="676" y="0"/>
                  </a:lnTo>
                  <a:lnTo>
                    <a:pt x="676" y="2"/>
                  </a:lnTo>
                  <a:lnTo>
                    <a:pt x="674" y="2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727272"/>
            </a:solidFill>
            <a:ln w="0" cap="flat">
              <a:solidFill>
                <a:srgbClr val="727272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891" name="Freeform 210"/>
            <p:cNvSpPr>
              <a:spLocks noEditPoints="1"/>
            </p:cNvSpPr>
            <p:nvPr/>
          </p:nvSpPr>
          <p:spPr bwMode="auto">
            <a:xfrm>
              <a:off x="2699" y="3036"/>
              <a:ext cx="676" cy="2"/>
            </a:xfrm>
            <a:custGeom>
              <a:avLst/>
              <a:gdLst>
                <a:gd name="T0" fmla="*/ 0 w 676"/>
                <a:gd name="T1" fmla="*/ 2 h 2"/>
                <a:gd name="T2" fmla="*/ 24 w 676"/>
                <a:gd name="T3" fmla="*/ 2 h 2"/>
                <a:gd name="T4" fmla="*/ 39 w 676"/>
                <a:gd name="T5" fmla="*/ 0 h 2"/>
                <a:gd name="T6" fmla="*/ 45 w 676"/>
                <a:gd name="T7" fmla="*/ 0 h 2"/>
                <a:gd name="T8" fmla="*/ 45 w 676"/>
                <a:gd name="T9" fmla="*/ 0 h 2"/>
                <a:gd name="T10" fmla="*/ 60 w 676"/>
                <a:gd name="T11" fmla="*/ 2 h 2"/>
                <a:gd name="T12" fmla="*/ 83 w 676"/>
                <a:gd name="T13" fmla="*/ 2 h 2"/>
                <a:gd name="T14" fmla="*/ 98 w 676"/>
                <a:gd name="T15" fmla="*/ 0 h 2"/>
                <a:gd name="T16" fmla="*/ 105 w 676"/>
                <a:gd name="T17" fmla="*/ 0 h 2"/>
                <a:gd name="T18" fmla="*/ 105 w 676"/>
                <a:gd name="T19" fmla="*/ 0 h 2"/>
                <a:gd name="T20" fmla="*/ 120 w 676"/>
                <a:gd name="T21" fmla="*/ 2 h 2"/>
                <a:gd name="T22" fmla="*/ 143 w 676"/>
                <a:gd name="T23" fmla="*/ 2 h 2"/>
                <a:gd name="T24" fmla="*/ 158 w 676"/>
                <a:gd name="T25" fmla="*/ 0 h 2"/>
                <a:gd name="T26" fmla="*/ 165 w 676"/>
                <a:gd name="T27" fmla="*/ 0 h 2"/>
                <a:gd name="T28" fmla="*/ 165 w 676"/>
                <a:gd name="T29" fmla="*/ 0 h 2"/>
                <a:gd name="T30" fmla="*/ 180 w 676"/>
                <a:gd name="T31" fmla="*/ 2 h 2"/>
                <a:gd name="T32" fmla="*/ 203 w 676"/>
                <a:gd name="T33" fmla="*/ 2 h 2"/>
                <a:gd name="T34" fmla="*/ 218 w 676"/>
                <a:gd name="T35" fmla="*/ 0 h 2"/>
                <a:gd name="T36" fmla="*/ 225 w 676"/>
                <a:gd name="T37" fmla="*/ 0 h 2"/>
                <a:gd name="T38" fmla="*/ 225 w 676"/>
                <a:gd name="T39" fmla="*/ 0 h 2"/>
                <a:gd name="T40" fmla="*/ 240 w 676"/>
                <a:gd name="T41" fmla="*/ 2 h 2"/>
                <a:gd name="T42" fmla="*/ 263 w 676"/>
                <a:gd name="T43" fmla="*/ 2 h 2"/>
                <a:gd name="T44" fmla="*/ 278 w 676"/>
                <a:gd name="T45" fmla="*/ 0 h 2"/>
                <a:gd name="T46" fmla="*/ 285 w 676"/>
                <a:gd name="T47" fmla="*/ 0 h 2"/>
                <a:gd name="T48" fmla="*/ 285 w 676"/>
                <a:gd name="T49" fmla="*/ 0 h 2"/>
                <a:gd name="T50" fmla="*/ 300 w 676"/>
                <a:gd name="T51" fmla="*/ 2 h 2"/>
                <a:gd name="T52" fmla="*/ 323 w 676"/>
                <a:gd name="T53" fmla="*/ 2 h 2"/>
                <a:gd name="T54" fmla="*/ 338 w 676"/>
                <a:gd name="T55" fmla="*/ 0 h 2"/>
                <a:gd name="T56" fmla="*/ 344 w 676"/>
                <a:gd name="T57" fmla="*/ 0 h 2"/>
                <a:gd name="T58" fmla="*/ 344 w 676"/>
                <a:gd name="T59" fmla="*/ 0 h 2"/>
                <a:gd name="T60" fmla="*/ 359 w 676"/>
                <a:gd name="T61" fmla="*/ 2 h 2"/>
                <a:gd name="T62" fmla="*/ 383 w 676"/>
                <a:gd name="T63" fmla="*/ 2 h 2"/>
                <a:gd name="T64" fmla="*/ 398 w 676"/>
                <a:gd name="T65" fmla="*/ 0 h 2"/>
                <a:gd name="T66" fmla="*/ 404 w 676"/>
                <a:gd name="T67" fmla="*/ 0 h 2"/>
                <a:gd name="T68" fmla="*/ 404 w 676"/>
                <a:gd name="T69" fmla="*/ 0 h 2"/>
                <a:gd name="T70" fmla="*/ 419 w 676"/>
                <a:gd name="T71" fmla="*/ 2 h 2"/>
                <a:gd name="T72" fmla="*/ 443 w 676"/>
                <a:gd name="T73" fmla="*/ 2 h 2"/>
                <a:gd name="T74" fmla="*/ 458 w 676"/>
                <a:gd name="T75" fmla="*/ 0 h 2"/>
                <a:gd name="T76" fmla="*/ 464 w 676"/>
                <a:gd name="T77" fmla="*/ 0 h 2"/>
                <a:gd name="T78" fmla="*/ 464 w 676"/>
                <a:gd name="T79" fmla="*/ 0 h 2"/>
                <a:gd name="T80" fmla="*/ 479 w 676"/>
                <a:gd name="T81" fmla="*/ 2 h 2"/>
                <a:gd name="T82" fmla="*/ 503 w 676"/>
                <a:gd name="T83" fmla="*/ 2 h 2"/>
                <a:gd name="T84" fmla="*/ 518 w 676"/>
                <a:gd name="T85" fmla="*/ 0 h 2"/>
                <a:gd name="T86" fmla="*/ 524 w 676"/>
                <a:gd name="T87" fmla="*/ 0 h 2"/>
                <a:gd name="T88" fmla="*/ 524 w 676"/>
                <a:gd name="T89" fmla="*/ 0 h 2"/>
                <a:gd name="T90" fmla="*/ 539 w 676"/>
                <a:gd name="T91" fmla="*/ 2 h 2"/>
                <a:gd name="T92" fmla="*/ 563 w 676"/>
                <a:gd name="T93" fmla="*/ 2 h 2"/>
                <a:gd name="T94" fmla="*/ 578 w 676"/>
                <a:gd name="T95" fmla="*/ 0 h 2"/>
                <a:gd name="T96" fmla="*/ 584 w 676"/>
                <a:gd name="T97" fmla="*/ 0 h 2"/>
                <a:gd name="T98" fmla="*/ 584 w 676"/>
                <a:gd name="T99" fmla="*/ 0 h 2"/>
                <a:gd name="T100" fmla="*/ 599 w 676"/>
                <a:gd name="T101" fmla="*/ 2 h 2"/>
                <a:gd name="T102" fmla="*/ 622 w 676"/>
                <a:gd name="T103" fmla="*/ 2 h 2"/>
                <a:gd name="T104" fmla="*/ 637 w 676"/>
                <a:gd name="T105" fmla="*/ 0 h 2"/>
                <a:gd name="T106" fmla="*/ 644 w 676"/>
                <a:gd name="T107" fmla="*/ 0 h 2"/>
                <a:gd name="T108" fmla="*/ 644 w 676"/>
                <a:gd name="T109" fmla="*/ 0 h 2"/>
                <a:gd name="T110" fmla="*/ 659 w 676"/>
                <a:gd name="T111" fmla="*/ 2 h 2"/>
                <a:gd name="T112" fmla="*/ 676 w 676"/>
                <a:gd name="T113" fmla="*/ 2 h 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676" h="2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0" y="2"/>
                  </a:lnTo>
                  <a:lnTo>
                    <a:pt x="0" y="0"/>
                  </a:lnTo>
                  <a:close/>
                  <a:moveTo>
                    <a:pt x="15" y="0"/>
                  </a:moveTo>
                  <a:lnTo>
                    <a:pt x="24" y="0"/>
                  </a:lnTo>
                  <a:lnTo>
                    <a:pt x="24" y="2"/>
                  </a:lnTo>
                  <a:lnTo>
                    <a:pt x="15" y="2"/>
                  </a:lnTo>
                  <a:lnTo>
                    <a:pt x="15" y="0"/>
                  </a:lnTo>
                  <a:close/>
                  <a:moveTo>
                    <a:pt x="30" y="0"/>
                  </a:moveTo>
                  <a:lnTo>
                    <a:pt x="39" y="0"/>
                  </a:lnTo>
                  <a:lnTo>
                    <a:pt x="39" y="2"/>
                  </a:lnTo>
                  <a:lnTo>
                    <a:pt x="30" y="2"/>
                  </a:lnTo>
                  <a:lnTo>
                    <a:pt x="30" y="0"/>
                  </a:lnTo>
                  <a:close/>
                  <a:moveTo>
                    <a:pt x="45" y="0"/>
                  </a:moveTo>
                  <a:lnTo>
                    <a:pt x="54" y="0"/>
                  </a:lnTo>
                  <a:lnTo>
                    <a:pt x="54" y="2"/>
                  </a:lnTo>
                  <a:lnTo>
                    <a:pt x="45" y="2"/>
                  </a:lnTo>
                  <a:lnTo>
                    <a:pt x="45" y="0"/>
                  </a:lnTo>
                  <a:close/>
                  <a:moveTo>
                    <a:pt x="60" y="0"/>
                  </a:moveTo>
                  <a:lnTo>
                    <a:pt x="69" y="0"/>
                  </a:lnTo>
                  <a:lnTo>
                    <a:pt x="69" y="2"/>
                  </a:lnTo>
                  <a:lnTo>
                    <a:pt x="60" y="2"/>
                  </a:lnTo>
                  <a:lnTo>
                    <a:pt x="60" y="0"/>
                  </a:lnTo>
                  <a:close/>
                  <a:moveTo>
                    <a:pt x="75" y="0"/>
                  </a:moveTo>
                  <a:lnTo>
                    <a:pt x="83" y="0"/>
                  </a:lnTo>
                  <a:lnTo>
                    <a:pt x="83" y="2"/>
                  </a:lnTo>
                  <a:lnTo>
                    <a:pt x="75" y="2"/>
                  </a:lnTo>
                  <a:lnTo>
                    <a:pt x="75" y="0"/>
                  </a:lnTo>
                  <a:close/>
                  <a:moveTo>
                    <a:pt x="90" y="0"/>
                  </a:moveTo>
                  <a:lnTo>
                    <a:pt x="98" y="0"/>
                  </a:lnTo>
                  <a:lnTo>
                    <a:pt x="98" y="2"/>
                  </a:lnTo>
                  <a:lnTo>
                    <a:pt x="90" y="2"/>
                  </a:lnTo>
                  <a:lnTo>
                    <a:pt x="90" y="0"/>
                  </a:lnTo>
                  <a:close/>
                  <a:moveTo>
                    <a:pt x="105" y="0"/>
                  </a:moveTo>
                  <a:lnTo>
                    <a:pt x="113" y="0"/>
                  </a:lnTo>
                  <a:lnTo>
                    <a:pt x="113" y="2"/>
                  </a:lnTo>
                  <a:lnTo>
                    <a:pt x="105" y="2"/>
                  </a:lnTo>
                  <a:lnTo>
                    <a:pt x="105" y="0"/>
                  </a:lnTo>
                  <a:close/>
                  <a:moveTo>
                    <a:pt x="120" y="0"/>
                  </a:moveTo>
                  <a:lnTo>
                    <a:pt x="128" y="0"/>
                  </a:lnTo>
                  <a:lnTo>
                    <a:pt x="128" y="2"/>
                  </a:lnTo>
                  <a:lnTo>
                    <a:pt x="120" y="2"/>
                  </a:lnTo>
                  <a:lnTo>
                    <a:pt x="120" y="0"/>
                  </a:lnTo>
                  <a:close/>
                  <a:moveTo>
                    <a:pt x="135" y="0"/>
                  </a:moveTo>
                  <a:lnTo>
                    <a:pt x="143" y="0"/>
                  </a:lnTo>
                  <a:lnTo>
                    <a:pt x="143" y="2"/>
                  </a:lnTo>
                  <a:lnTo>
                    <a:pt x="135" y="2"/>
                  </a:lnTo>
                  <a:lnTo>
                    <a:pt x="135" y="0"/>
                  </a:lnTo>
                  <a:close/>
                  <a:moveTo>
                    <a:pt x="150" y="0"/>
                  </a:moveTo>
                  <a:lnTo>
                    <a:pt x="158" y="0"/>
                  </a:lnTo>
                  <a:lnTo>
                    <a:pt x="158" y="2"/>
                  </a:lnTo>
                  <a:lnTo>
                    <a:pt x="150" y="2"/>
                  </a:lnTo>
                  <a:lnTo>
                    <a:pt x="150" y="0"/>
                  </a:lnTo>
                  <a:close/>
                  <a:moveTo>
                    <a:pt x="165" y="0"/>
                  </a:moveTo>
                  <a:lnTo>
                    <a:pt x="173" y="0"/>
                  </a:lnTo>
                  <a:lnTo>
                    <a:pt x="173" y="2"/>
                  </a:lnTo>
                  <a:lnTo>
                    <a:pt x="165" y="2"/>
                  </a:lnTo>
                  <a:lnTo>
                    <a:pt x="165" y="0"/>
                  </a:lnTo>
                  <a:close/>
                  <a:moveTo>
                    <a:pt x="180" y="0"/>
                  </a:moveTo>
                  <a:lnTo>
                    <a:pt x="188" y="0"/>
                  </a:lnTo>
                  <a:lnTo>
                    <a:pt x="188" y="2"/>
                  </a:lnTo>
                  <a:lnTo>
                    <a:pt x="180" y="2"/>
                  </a:lnTo>
                  <a:lnTo>
                    <a:pt x="180" y="0"/>
                  </a:lnTo>
                  <a:close/>
                  <a:moveTo>
                    <a:pt x="195" y="0"/>
                  </a:moveTo>
                  <a:lnTo>
                    <a:pt x="203" y="0"/>
                  </a:lnTo>
                  <a:lnTo>
                    <a:pt x="203" y="2"/>
                  </a:lnTo>
                  <a:lnTo>
                    <a:pt x="195" y="2"/>
                  </a:lnTo>
                  <a:lnTo>
                    <a:pt x="195" y="0"/>
                  </a:lnTo>
                  <a:close/>
                  <a:moveTo>
                    <a:pt x="210" y="0"/>
                  </a:moveTo>
                  <a:lnTo>
                    <a:pt x="218" y="0"/>
                  </a:lnTo>
                  <a:lnTo>
                    <a:pt x="218" y="2"/>
                  </a:lnTo>
                  <a:lnTo>
                    <a:pt x="210" y="2"/>
                  </a:lnTo>
                  <a:lnTo>
                    <a:pt x="210" y="0"/>
                  </a:lnTo>
                  <a:close/>
                  <a:moveTo>
                    <a:pt x="225" y="0"/>
                  </a:moveTo>
                  <a:lnTo>
                    <a:pt x="233" y="0"/>
                  </a:lnTo>
                  <a:lnTo>
                    <a:pt x="233" y="2"/>
                  </a:lnTo>
                  <a:lnTo>
                    <a:pt x="225" y="2"/>
                  </a:lnTo>
                  <a:lnTo>
                    <a:pt x="225" y="0"/>
                  </a:lnTo>
                  <a:close/>
                  <a:moveTo>
                    <a:pt x="240" y="0"/>
                  </a:moveTo>
                  <a:lnTo>
                    <a:pt x="248" y="0"/>
                  </a:lnTo>
                  <a:lnTo>
                    <a:pt x="248" y="2"/>
                  </a:lnTo>
                  <a:lnTo>
                    <a:pt x="240" y="2"/>
                  </a:lnTo>
                  <a:lnTo>
                    <a:pt x="240" y="0"/>
                  </a:lnTo>
                  <a:close/>
                  <a:moveTo>
                    <a:pt x="255" y="0"/>
                  </a:moveTo>
                  <a:lnTo>
                    <a:pt x="263" y="0"/>
                  </a:lnTo>
                  <a:lnTo>
                    <a:pt x="263" y="2"/>
                  </a:lnTo>
                  <a:lnTo>
                    <a:pt x="255" y="2"/>
                  </a:lnTo>
                  <a:lnTo>
                    <a:pt x="255" y="0"/>
                  </a:lnTo>
                  <a:close/>
                  <a:moveTo>
                    <a:pt x="270" y="0"/>
                  </a:moveTo>
                  <a:lnTo>
                    <a:pt x="278" y="0"/>
                  </a:lnTo>
                  <a:lnTo>
                    <a:pt x="278" y="2"/>
                  </a:lnTo>
                  <a:lnTo>
                    <a:pt x="270" y="2"/>
                  </a:lnTo>
                  <a:lnTo>
                    <a:pt x="270" y="0"/>
                  </a:lnTo>
                  <a:close/>
                  <a:moveTo>
                    <a:pt x="285" y="0"/>
                  </a:moveTo>
                  <a:lnTo>
                    <a:pt x="293" y="0"/>
                  </a:lnTo>
                  <a:lnTo>
                    <a:pt x="293" y="2"/>
                  </a:lnTo>
                  <a:lnTo>
                    <a:pt x="285" y="2"/>
                  </a:lnTo>
                  <a:lnTo>
                    <a:pt x="285" y="0"/>
                  </a:lnTo>
                  <a:close/>
                  <a:moveTo>
                    <a:pt x="300" y="0"/>
                  </a:moveTo>
                  <a:lnTo>
                    <a:pt x="308" y="0"/>
                  </a:lnTo>
                  <a:lnTo>
                    <a:pt x="308" y="2"/>
                  </a:lnTo>
                  <a:lnTo>
                    <a:pt x="300" y="2"/>
                  </a:lnTo>
                  <a:lnTo>
                    <a:pt x="300" y="0"/>
                  </a:lnTo>
                  <a:close/>
                  <a:moveTo>
                    <a:pt x="314" y="0"/>
                  </a:moveTo>
                  <a:lnTo>
                    <a:pt x="323" y="0"/>
                  </a:lnTo>
                  <a:lnTo>
                    <a:pt x="323" y="2"/>
                  </a:lnTo>
                  <a:lnTo>
                    <a:pt x="314" y="2"/>
                  </a:lnTo>
                  <a:lnTo>
                    <a:pt x="314" y="0"/>
                  </a:lnTo>
                  <a:close/>
                  <a:moveTo>
                    <a:pt x="329" y="0"/>
                  </a:moveTo>
                  <a:lnTo>
                    <a:pt x="338" y="0"/>
                  </a:lnTo>
                  <a:lnTo>
                    <a:pt x="338" y="2"/>
                  </a:lnTo>
                  <a:lnTo>
                    <a:pt x="329" y="2"/>
                  </a:lnTo>
                  <a:lnTo>
                    <a:pt x="329" y="0"/>
                  </a:lnTo>
                  <a:close/>
                  <a:moveTo>
                    <a:pt x="344" y="0"/>
                  </a:moveTo>
                  <a:lnTo>
                    <a:pt x="353" y="0"/>
                  </a:lnTo>
                  <a:lnTo>
                    <a:pt x="353" y="2"/>
                  </a:lnTo>
                  <a:lnTo>
                    <a:pt x="344" y="2"/>
                  </a:lnTo>
                  <a:lnTo>
                    <a:pt x="344" y="0"/>
                  </a:lnTo>
                  <a:close/>
                  <a:moveTo>
                    <a:pt x="359" y="0"/>
                  </a:moveTo>
                  <a:lnTo>
                    <a:pt x="368" y="0"/>
                  </a:lnTo>
                  <a:lnTo>
                    <a:pt x="368" y="2"/>
                  </a:lnTo>
                  <a:lnTo>
                    <a:pt x="359" y="2"/>
                  </a:lnTo>
                  <a:lnTo>
                    <a:pt x="359" y="0"/>
                  </a:lnTo>
                  <a:close/>
                  <a:moveTo>
                    <a:pt x="374" y="0"/>
                  </a:moveTo>
                  <a:lnTo>
                    <a:pt x="383" y="0"/>
                  </a:lnTo>
                  <a:lnTo>
                    <a:pt x="383" y="2"/>
                  </a:lnTo>
                  <a:lnTo>
                    <a:pt x="374" y="2"/>
                  </a:lnTo>
                  <a:lnTo>
                    <a:pt x="374" y="0"/>
                  </a:lnTo>
                  <a:close/>
                  <a:moveTo>
                    <a:pt x="389" y="0"/>
                  </a:moveTo>
                  <a:lnTo>
                    <a:pt x="398" y="0"/>
                  </a:lnTo>
                  <a:lnTo>
                    <a:pt x="398" y="2"/>
                  </a:lnTo>
                  <a:lnTo>
                    <a:pt x="389" y="2"/>
                  </a:lnTo>
                  <a:lnTo>
                    <a:pt x="389" y="0"/>
                  </a:lnTo>
                  <a:close/>
                  <a:moveTo>
                    <a:pt x="404" y="0"/>
                  </a:moveTo>
                  <a:lnTo>
                    <a:pt x="413" y="0"/>
                  </a:lnTo>
                  <a:lnTo>
                    <a:pt x="413" y="2"/>
                  </a:lnTo>
                  <a:lnTo>
                    <a:pt x="404" y="2"/>
                  </a:lnTo>
                  <a:lnTo>
                    <a:pt x="404" y="0"/>
                  </a:lnTo>
                  <a:close/>
                  <a:moveTo>
                    <a:pt x="419" y="0"/>
                  </a:moveTo>
                  <a:lnTo>
                    <a:pt x="428" y="0"/>
                  </a:lnTo>
                  <a:lnTo>
                    <a:pt x="428" y="2"/>
                  </a:lnTo>
                  <a:lnTo>
                    <a:pt x="419" y="2"/>
                  </a:lnTo>
                  <a:lnTo>
                    <a:pt x="419" y="0"/>
                  </a:lnTo>
                  <a:close/>
                  <a:moveTo>
                    <a:pt x="434" y="0"/>
                  </a:moveTo>
                  <a:lnTo>
                    <a:pt x="443" y="0"/>
                  </a:lnTo>
                  <a:lnTo>
                    <a:pt x="443" y="2"/>
                  </a:lnTo>
                  <a:lnTo>
                    <a:pt x="434" y="2"/>
                  </a:lnTo>
                  <a:lnTo>
                    <a:pt x="434" y="0"/>
                  </a:lnTo>
                  <a:close/>
                  <a:moveTo>
                    <a:pt x="449" y="0"/>
                  </a:moveTo>
                  <a:lnTo>
                    <a:pt x="458" y="0"/>
                  </a:lnTo>
                  <a:lnTo>
                    <a:pt x="458" y="2"/>
                  </a:lnTo>
                  <a:lnTo>
                    <a:pt x="449" y="2"/>
                  </a:lnTo>
                  <a:lnTo>
                    <a:pt x="449" y="0"/>
                  </a:lnTo>
                  <a:close/>
                  <a:moveTo>
                    <a:pt x="464" y="0"/>
                  </a:moveTo>
                  <a:lnTo>
                    <a:pt x="473" y="0"/>
                  </a:lnTo>
                  <a:lnTo>
                    <a:pt x="473" y="2"/>
                  </a:lnTo>
                  <a:lnTo>
                    <a:pt x="464" y="2"/>
                  </a:lnTo>
                  <a:lnTo>
                    <a:pt x="464" y="0"/>
                  </a:lnTo>
                  <a:close/>
                  <a:moveTo>
                    <a:pt x="479" y="0"/>
                  </a:moveTo>
                  <a:lnTo>
                    <a:pt x="488" y="0"/>
                  </a:lnTo>
                  <a:lnTo>
                    <a:pt x="488" y="2"/>
                  </a:lnTo>
                  <a:lnTo>
                    <a:pt x="479" y="2"/>
                  </a:lnTo>
                  <a:lnTo>
                    <a:pt x="479" y="0"/>
                  </a:lnTo>
                  <a:close/>
                  <a:moveTo>
                    <a:pt x="494" y="0"/>
                  </a:moveTo>
                  <a:lnTo>
                    <a:pt x="503" y="0"/>
                  </a:lnTo>
                  <a:lnTo>
                    <a:pt x="503" y="2"/>
                  </a:lnTo>
                  <a:lnTo>
                    <a:pt x="494" y="2"/>
                  </a:lnTo>
                  <a:lnTo>
                    <a:pt x="494" y="0"/>
                  </a:lnTo>
                  <a:close/>
                  <a:moveTo>
                    <a:pt x="509" y="0"/>
                  </a:moveTo>
                  <a:lnTo>
                    <a:pt x="518" y="0"/>
                  </a:lnTo>
                  <a:lnTo>
                    <a:pt x="518" y="2"/>
                  </a:lnTo>
                  <a:lnTo>
                    <a:pt x="509" y="2"/>
                  </a:lnTo>
                  <a:lnTo>
                    <a:pt x="509" y="0"/>
                  </a:lnTo>
                  <a:close/>
                  <a:moveTo>
                    <a:pt x="524" y="0"/>
                  </a:moveTo>
                  <a:lnTo>
                    <a:pt x="533" y="0"/>
                  </a:lnTo>
                  <a:lnTo>
                    <a:pt x="533" y="2"/>
                  </a:lnTo>
                  <a:lnTo>
                    <a:pt x="524" y="2"/>
                  </a:lnTo>
                  <a:lnTo>
                    <a:pt x="524" y="0"/>
                  </a:lnTo>
                  <a:close/>
                  <a:moveTo>
                    <a:pt x="539" y="0"/>
                  </a:moveTo>
                  <a:lnTo>
                    <a:pt x="548" y="0"/>
                  </a:lnTo>
                  <a:lnTo>
                    <a:pt x="548" y="2"/>
                  </a:lnTo>
                  <a:lnTo>
                    <a:pt x="539" y="2"/>
                  </a:lnTo>
                  <a:lnTo>
                    <a:pt x="539" y="0"/>
                  </a:lnTo>
                  <a:close/>
                  <a:moveTo>
                    <a:pt x="554" y="0"/>
                  </a:moveTo>
                  <a:lnTo>
                    <a:pt x="563" y="0"/>
                  </a:lnTo>
                  <a:lnTo>
                    <a:pt x="563" y="2"/>
                  </a:lnTo>
                  <a:lnTo>
                    <a:pt x="554" y="2"/>
                  </a:lnTo>
                  <a:lnTo>
                    <a:pt x="554" y="0"/>
                  </a:lnTo>
                  <a:close/>
                  <a:moveTo>
                    <a:pt x="569" y="0"/>
                  </a:moveTo>
                  <a:lnTo>
                    <a:pt x="578" y="0"/>
                  </a:lnTo>
                  <a:lnTo>
                    <a:pt x="578" y="2"/>
                  </a:lnTo>
                  <a:lnTo>
                    <a:pt x="569" y="2"/>
                  </a:lnTo>
                  <a:lnTo>
                    <a:pt x="569" y="0"/>
                  </a:lnTo>
                  <a:close/>
                  <a:moveTo>
                    <a:pt x="584" y="0"/>
                  </a:moveTo>
                  <a:lnTo>
                    <a:pt x="593" y="0"/>
                  </a:lnTo>
                  <a:lnTo>
                    <a:pt x="593" y="2"/>
                  </a:lnTo>
                  <a:lnTo>
                    <a:pt x="584" y="2"/>
                  </a:lnTo>
                  <a:lnTo>
                    <a:pt x="584" y="0"/>
                  </a:lnTo>
                  <a:close/>
                  <a:moveTo>
                    <a:pt x="599" y="0"/>
                  </a:moveTo>
                  <a:lnTo>
                    <a:pt x="608" y="0"/>
                  </a:lnTo>
                  <a:lnTo>
                    <a:pt x="608" y="2"/>
                  </a:lnTo>
                  <a:lnTo>
                    <a:pt x="599" y="2"/>
                  </a:lnTo>
                  <a:lnTo>
                    <a:pt x="599" y="0"/>
                  </a:lnTo>
                  <a:close/>
                  <a:moveTo>
                    <a:pt x="614" y="0"/>
                  </a:moveTo>
                  <a:lnTo>
                    <a:pt x="622" y="0"/>
                  </a:lnTo>
                  <a:lnTo>
                    <a:pt x="622" y="2"/>
                  </a:lnTo>
                  <a:lnTo>
                    <a:pt x="614" y="2"/>
                  </a:lnTo>
                  <a:lnTo>
                    <a:pt x="614" y="0"/>
                  </a:lnTo>
                  <a:close/>
                  <a:moveTo>
                    <a:pt x="629" y="0"/>
                  </a:moveTo>
                  <a:lnTo>
                    <a:pt x="637" y="0"/>
                  </a:lnTo>
                  <a:lnTo>
                    <a:pt x="637" y="2"/>
                  </a:lnTo>
                  <a:lnTo>
                    <a:pt x="629" y="2"/>
                  </a:lnTo>
                  <a:lnTo>
                    <a:pt x="629" y="0"/>
                  </a:lnTo>
                  <a:close/>
                  <a:moveTo>
                    <a:pt x="644" y="0"/>
                  </a:moveTo>
                  <a:lnTo>
                    <a:pt x="652" y="0"/>
                  </a:lnTo>
                  <a:lnTo>
                    <a:pt x="652" y="2"/>
                  </a:lnTo>
                  <a:lnTo>
                    <a:pt x="644" y="2"/>
                  </a:lnTo>
                  <a:lnTo>
                    <a:pt x="644" y="0"/>
                  </a:lnTo>
                  <a:close/>
                  <a:moveTo>
                    <a:pt x="659" y="0"/>
                  </a:moveTo>
                  <a:lnTo>
                    <a:pt x="667" y="0"/>
                  </a:lnTo>
                  <a:lnTo>
                    <a:pt x="667" y="2"/>
                  </a:lnTo>
                  <a:lnTo>
                    <a:pt x="659" y="2"/>
                  </a:lnTo>
                  <a:lnTo>
                    <a:pt x="659" y="0"/>
                  </a:lnTo>
                  <a:close/>
                  <a:moveTo>
                    <a:pt x="674" y="0"/>
                  </a:moveTo>
                  <a:lnTo>
                    <a:pt x="676" y="0"/>
                  </a:lnTo>
                  <a:lnTo>
                    <a:pt x="676" y="2"/>
                  </a:lnTo>
                  <a:lnTo>
                    <a:pt x="674" y="2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727272"/>
            </a:solidFill>
            <a:ln w="0" cap="flat">
              <a:solidFill>
                <a:srgbClr val="727272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892" name="Rectangle 211"/>
            <p:cNvSpPr>
              <a:spLocks noChangeArrowheads="1"/>
            </p:cNvSpPr>
            <p:nvPr/>
          </p:nvSpPr>
          <p:spPr bwMode="auto">
            <a:xfrm>
              <a:off x="3116" y="2904"/>
              <a:ext cx="31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our business will need to become (TOM)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3" name="Rectangle 212"/>
            <p:cNvSpPr>
              <a:spLocks noChangeArrowheads="1"/>
            </p:cNvSpPr>
            <p:nvPr/>
          </p:nvSpPr>
          <p:spPr bwMode="auto">
            <a:xfrm>
              <a:off x="3139" y="2936"/>
              <a:ext cx="258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we need to change to become it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4" name="Rectangle 213"/>
            <p:cNvSpPr>
              <a:spLocks noChangeArrowheads="1"/>
            </p:cNvSpPr>
            <p:nvPr/>
          </p:nvSpPr>
          <p:spPr bwMode="auto">
            <a:xfrm>
              <a:off x="3116" y="2968"/>
              <a:ext cx="31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Ensuring design in change delivery fits TOM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5" name="Rectangle 214"/>
            <p:cNvSpPr>
              <a:spLocks noChangeArrowheads="1"/>
            </p:cNvSpPr>
            <p:nvPr/>
          </p:nvSpPr>
          <p:spPr bwMode="auto">
            <a:xfrm>
              <a:off x="3177" y="2770"/>
              <a:ext cx="17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business we are in 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6" name="Rectangle 215"/>
            <p:cNvSpPr>
              <a:spLocks noChangeArrowheads="1"/>
            </p:cNvSpPr>
            <p:nvPr/>
          </p:nvSpPr>
          <p:spPr bwMode="auto">
            <a:xfrm>
              <a:off x="3126" y="2794"/>
              <a:ext cx="310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The goals and the courses of action needed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7" name="Rectangle 216"/>
            <p:cNvSpPr>
              <a:spLocks noChangeArrowheads="1"/>
            </p:cNvSpPr>
            <p:nvPr/>
          </p:nvSpPr>
          <p:spPr bwMode="auto">
            <a:xfrm>
              <a:off x="3180" y="3081"/>
              <a:ext cx="185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Delivery of those changes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8" name="Rectangle 217"/>
            <p:cNvSpPr>
              <a:spLocks noChangeArrowheads="1"/>
            </p:cNvSpPr>
            <p:nvPr/>
          </p:nvSpPr>
          <p:spPr bwMode="auto">
            <a:xfrm rot="-5400000">
              <a:off x="2616" y="2908"/>
              <a:ext cx="10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Line of Sight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899" name="Freeform 218"/>
            <p:cNvSpPr>
              <a:spLocks noEditPoints="1"/>
            </p:cNvSpPr>
            <p:nvPr/>
          </p:nvSpPr>
          <p:spPr bwMode="auto">
            <a:xfrm>
              <a:off x="2640" y="2992"/>
              <a:ext cx="13" cy="107"/>
            </a:xfrm>
            <a:custGeom>
              <a:avLst/>
              <a:gdLst>
                <a:gd name="T0" fmla="*/ 7 w 13"/>
                <a:gd name="T1" fmla="*/ 0 h 107"/>
                <a:gd name="T2" fmla="*/ 7 w 13"/>
                <a:gd name="T3" fmla="*/ 96 h 107"/>
                <a:gd name="T4" fmla="*/ 5 w 13"/>
                <a:gd name="T5" fmla="*/ 96 h 107"/>
                <a:gd name="T6" fmla="*/ 5 w 13"/>
                <a:gd name="T7" fmla="*/ 0 h 107"/>
                <a:gd name="T8" fmla="*/ 7 w 13"/>
                <a:gd name="T9" fmla="*/ 0 h 107"/>
                <a:gd name="T10" fmla="*/ 13 w 13"/>
                <a:gd name="T11" fmla="*/ 94 h 107"/>
                <a:gd name="T12" fmla="*/ 6 w 13"/>
                <a:gd name="T13" fmla="*/ 107 h 107"/>
                <a:gd name="T14" fmla="*/ 0 w 13"/>
                <a:gd name="T15" fmla="*/ 94 h 107"/>
                <a:gd name="T16" fmla="*/ 13 w 13"/>
                <a:gd name="T17" fmla="*/ 94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7">
                  <a:moveTo>
                    <a:pt x="7" y="0"/>
                  </a:moveTo>
                  <a:lnTo>
                    <a:pt x="7" y="96"/>
                  </a:lnTo>
                  <a:lnTo>
                    <a:pt x="5" y="96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3" y="94"/>
                  </a:moveTo>
                  <a:lnTo>
                    <a:pt x="6" y="107"/>
                  </a:lnTo>
                  <a:lnTo>
                    <a:pt x="0" y="94"/>
                  </a:lnTo>
                  <a:lnTo>
                    <a:pt x="13" y="9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00" name="Freeform 219"/>
            <p:cNvSpPr>
              <a:spLocks noEditPoints="1"/>
            </p:cNvSpPr>
            <p:nvPr/>
          </p:nvSpPr>
          <p:spPr bwMode="auto">
            <a:xfrm>
              <a:off x="2640" y="2747"/>
              <a:ext cx="13" cy="108"/>
            </a:xfrm>
            <a:custGeom>
              <a:avLst/>
              <a:gdLst>
                <a:gd name="T0" fmla="*/ 7 w 13"/>
                <a:gd name="T1" fmla="*/ 11 h 108"/>
                <a:gd name="T2" fmla="*/ 7 w 13"/>
                <a:gd name="T3" fmla="*/ 108 h 108"/>
                <a:gd name="T4" fmla="*/ 5 w 13"/>
                <a:gd name="T5" fmla="*/ 108 h 108"/>
                <a:gd name="T6" fmla="*/ 5 w 13"/>
                <a:gd name="T7" fmla="*/ 11 h 108"/>
                <a:gd name="T8" fmla="*/ 7 w 13"/>
                <a:gd name="T9" fmla="*/ 11 h 108"/>
                <a:gd name="T10" fmla="*/ 0 w 13"/>
                <a:gd name="T11" fmla="*/ 14 h 108"/>
                <a:gd name="T12" fmla="*/ 6 w 13"/>
                <a:gd name="T13" fmla="*/ 0 h 108"/>
                <a:gd name="T14" fmla="*/ 13 w 13"/>
                <a:gd name="T15" fmla="*/ 14 h 108"/>
                <a:gd name="T16" fmla="*/ 0 w 13"/>
                <a:gd name="T17" fmla="*/ 14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8">
                  <a:moveTo>
                    <a:pt x="7" y="11"/>
                  </a:moveTo>
                  <a:lnTo>
                    <a:pt x="7" y="108"/>
                  </a:lnTo>
                  <a:lnTo>
                    <a:pt x="5" y="108"/>
                  </a:lnTo>
                  <a:lnTo>
                    <a:pt x="5" y="11"/>
                  </a:lnTo>
                  <a:lnTo>
                    <a:pt x="7" y="11"/>
                  </a:lnTo>
                  <a:close/>
                  <a:moveTo>
                    <a:pt x="0" y="14"/>
                  </a:moveTo>
                  <a:lnTo>
                    <a:pt x="6" y="0"/>
                  </a:lnTo>
                  <a:lnTo>
                    <a:pt x="1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01" name="Rectangle 220"/>
            <p:cNvSpPr>
              <a:spLocks noChangeArrowheads="1"/>
            </p:cNvSpPr>
            <p:nvPr/>
          </p:nvSpPr>
          <p:spPr bwMode="auto">
            <a:xfrm rot="-5400000">
              <a:off x="2583" y="2869"/>
              <a:ext cx="180" cy="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Virtual team: size and shape varies according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02" name="Rectangle 221"/>
            <p:cNvSpPr>
              <a:spLocks noChangeArrowheads="1"/>
            </p:cNvSpPr>
            <p:nvPr/>
          </p:nvSpPr>
          <p:spPr bwMode="auto">
            <a:xfrm rot="-5400000">
              <a:off x="2602" y="2868"/>
              <a:ext cx="168" cy="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to change agenda and operating environment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03" name="Group 222"/>
            <p:cNvGrpSpPr/>
            <p:nvPr/>
          </p:nvGrpSpPr>
          <p:grpSpPr bwMode="auto">
            <a:xfrm>
              <a:off x="2635" y="2653"/>
              <a:ext cx="743" cy="75"/>
              <a:chOff x="2635" y="2653"/>
              <a:chExt cx="743" cy="75"/>
            </a:xfrm>
          </p:grpSpPr>
          <p:sp>
            <p:nvSpPr>
              <p:cNvPr id="34964" name="Rectangle 223"/>
              <p:cNvSpPr>
                <a:spLocks noChangeArrowheads="1"/>
              </p:cNvSpPr>
              <p:nvPr/>
            </p:nvSpPr>
            <p:spPr bwMode="auto">
              <a:xfrm>
                <a:off x="2635" y="2653"/>
                <a:ext cx="743" cy="7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65" name="Rectangle 224"/>
              <p:cNvSpPr>
                <a:spLocks noChangeArrowheads="1"/>
              </p:cNvSpPr>
              <p:nvPr/>
            </p:nvSpPr>
            <p:spPr bwMode="auto">
              <a:xfrm>
                <a:off x="2635" y="2653"/>
                <a:ext cx="743" cy="75"/>
              </a:xfrm>
              <a:prstGeom prst="rect">
                <a:avLst/>
              </a:prstGeom>
              <a:noFill/>
              <a:ln w="1588" cap="rnd">
                <a:solidFill>
                  <a:srgbClr val="999999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04" name="Rectangle 225"/>
            <p:cNvSpPr>
              <a:spLocks noChangeArrowheads="1"/>
            </p:cNvSpPr>
            <p:nvPr/>
          </p:nvSpPr>
          <p:spPr bwMode="auto">
            <a:xfrm>
              <a:off x="2908" y="2658"/>
              <a:ext cx="23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管控治理</a:t>
              </a:r>
              <a:endPara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05" name="Group 226"/>
            <p:cNvGrpSpPr/>
            <p:nvPr/>
          </p:nvGrpSpPr>
          <p:grpSpPr bwMode="auto">
            <a:xfrm>
              <a:off x="2635" y="2730"/>
              <a:ext cx="746" cy="381"/>
              <a:chOff x="2635" y="2730"/>
              <a:chExt cx="746" cy="381"/>
            </a:xfrm>
          </p:grpSpPr>
          <p:sp>
            <p:nvSpPr>
              <p:cNvPr id="34962" name="Rectangle 227"/>
              <p:cNvSpPr>
                <a:spLocks noChangeArrowheads="1"/>
              </p:cNvSpPr>
              <p:nvPr/>
            </p:nvSpPr>
            <p:spPr bwMode="auto">
              <a:xfrm>
                <a:off x="2635" y="2730"/>
                <a:ext cx="746" cy="3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63" name="Rectangle 228"/>
              <p:cNvSpPr>
                <a:spLocks noChangeArrowheads="1"/>
              </p:cNvSpPr>
              <p:nvPr/>
            </p:nvSpPr>
            <p:spPr bwMode="auto">
              <a:xfrm>
                <a:off x="2635" y="2730"/>
                <a:ext cx="746" cy="381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06" name="Line 229"/>
            <p:cNvSpPr>
              <a:spLocks noChangeShapeType="1"/>
            </p:cNvSpPr>
            <p:nvPr/>
          </p:nvSpPr>
          <p:spPr bwMode="auto">
            <a:xfrm>
              <a:off x="2820" y="2863"/>
              <a:ext cx="191" cy="11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907" name="Line 230"/>
            <p:cNvSpPr>
              <a:spLocks noChangeShapeType="1"/>
            </p:cNvSpPr>
            <p:nvPr/>
          </p:nvSpPr>
          <p:spPr bwMode="auto">
            <a:xfrm flipV="1">
              <a:off x="2814" y="2863"/>
              <a:ext cx="191" cy="11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908" name="Line 231"/>
            <p:cNvSpPr>
              <a:spLocks noChangeShapeType="1"/>
            </p:cNvSpPr>
            <p:nvPr/>
          </p:nvSpPr>
          <p:spPr bwMode="auto">
            <a:xfrm>
              <a:off x="2820" y="2863"/>
              <a:ext cx="191" cy="11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909" name="Line 232"/>
            <p:cNvSpPr>
              <a:spLocks noChangeShapeType="1"/>
            </p:cNvSpPr>
            <p:nvPr/>
          </p:nvSpPr>
          <p:spPr bwMode="auto">
            <a:xfrm flipV="1">
              <a:off x="2814" y="2863"/>
              <a:ext cx="191" cy="11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4910" name="Group 233"/>
            <p:cNvGrpSpPr/>
            <p:nvPr/>
          </p:nvGrpSpPr>
          <p:grpSpPr bwMode="auto">
            <a:xfrm>
              <a:off x="2834" y="2871"/>
              <a:ext cx="153" cy="101"/>
              <a:chOff x="2834" y="2871"/>
              <a:chExt cx="153" cy="101"/>
            </a:xfrm>
          </p:grpSpPr>
          <p:sp>
            <p:nvSpPr>
              <p:cNvPr id="34960" name="Oval 234"/>
              <p:cNvSpPr>
                <a:spLocks noChangeArrowheads="1"/>
              </p:cNvSpPr>
              <p:nvPr/>
            </p:nvSpPr>
            <p:spPr bwMode="auto">
              <a:xfrm>
                <a:off x="2834" y="2871"/>
                <a:ext cx="153" cy="10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61" name="Oval 235"/>
              <p:cNvSpPr>
                <a:spLocks noChangeArrowheads="1"/>
              </p:cNvSpPr>
              <p:nvPr/>
            </p:nvSpPr>
            <p:spPr bwMode="auto">
              <a:xfrm>
                <a:off x="2834" y="2871"/>
                <a:ext cx="153" cy="10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11" name="Rectangle 236"/>
            <p:cNvSpPr>
              <a:spLocks noChangeArrowheads="1"/>
            </p:cNvSpPr>
            <p:nvPr/>
          </p:nvSpPr>
          <p:spPr bwMode="auto">
            <a:xfrm>
              <a:off x="2881" y="2890"/>
              <a:ext cx="6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Business 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12" name="Rectangle 237"/>
            <p:cNvSpPr>
              <a:spLocks noChangeArrowheads="1"/>
            </p:cNvSpPr>
            <p:nvPr/>
          </p:nvSpPr>
          <p:spPr bwMode="auto">
            <a:xfrm>
              <a:off x="2856" y="2909"/>
              <a:ext cx="119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Design Authority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13" name="Rectangle 238"/>
            <p:cNvSpPr>
              <a:spLocks noChangeArrowheads="1"/>
            </p:cNvSpPr>
            <p:nvPr/>
          </p:nvSpPr>
          <p:spPr bwMode="auto">
            <a:xfrm>
              <a:off x="2864" y="2936"/>
              <a:ext cx="103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(TOM guardian)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14" name="Group 239"/>
            <p:cNvGrpSpPr/>
            <p:nvPr/>
          </p:nvGrpSpPr>
          <p:grpSpPr bwMode="auto">
            <a:xfrm>
              <a:off x="2798" y="2747"/>
              <a:ext cx="213" cy="51"/>
              <a:chOff x="2798" y="2747"/>
              <a:chExt cx="213" cy="51"/>
            </a:xfrm>
          </p:grpSpPr>
          <p:sp>
            <p:nvSpPr>
              <p:cNvPr id="34958" name="Freeform 240"/>
              <p:cNvSpPr/>
              <p:nvPr/>
            </p:nvSpPr>
            <p:spPr bwMode="auto">
              <a:xfrm>
                <a:off x="2798" y="2747"/>
                <a:ext cx="213" cy="51"/>
              </a:xfrm>
              <a:custGeom>
                <a:avLst/>
                <a:gdLst>
                  <a:gd name="T0" fmla="*/ 0 w 13233"/>
                  <a:gd name="T1" fmla="*/ 0 h 3066"/>
                  <a:gd name="T2" fmla="*/ 0 w 13233"/>
                  <a:gd name="T3" fmla="*/ 0 h 3066"/>
                  <a:gd name="T4" fmla="*/ 0 w 13233"/>
                  <a:gd name="T5" fmla="*/ 0 h 3066"/>
                  <a:gd name="T6" fmla="*/ 0 w 13233"/>
                  <a:gd name="T7" fmla="*/ 0 h 3066"/>
                  <a:gd name="T8" fmla="*/ 0 w 13233"/>
                  <a:gd name="T9" fmla="*/ 0 h 3066"/>
                  <a:gd name="T10" fmla="*/ 0 w 13233"/>
                  <a:gd name="T11" fmla="*/ 0 h 3066"/>
                  <a:gd name="T12" fmla="*/ 0 w 13233"/>
                  <a:gd name="T13" fmla="*/ 0 h 3066"/>
                  <a:gd name="T14" fmla="*/ 0 w 13233"/>
                  <a:gd name="T15" fmla="*/ 0 h 3066"/>
                  <a:gd name="T16" fmla="*/ 0 w 13233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33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22" y="3066"/>
                    </a:lnTo>
                    <a:cubicBezTo>
                      <a:pt x="13004" y="3066"/>
                      <a:pt x="13233" y="2838"/>
                      <a:pt x="13233" y="2555"/>
                    </a:cubicBezTo>
                    <a:lnTo>
                      <a:pt x="13233" y="511"/>
                    </a:lnTo>
                    <a:cubicBezTo>
                      <a:pt x="13233" y="229"/>
                      <a:pt x="13004" y="0"/>
                      <a:pt x="12722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FFFFCC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9" name="Freeform 241"/>
              <p:cNvSpPr/>
              <p:nvPr/>
            </p:nvSpPr>
            <p:spPr bwMode="auto">
              <a:xfrm>
                <a:off x="2798" y="2747"/>
                <a:ext cx="213" cy="51"/>
              </a:xfrm>
              <a:custGeom>
                <a:avLst/>
                <a:gdLst>
                  <a:gd name="T0" fmla="*/ 0 w 13233"/>
                  <a:gd name="T1" fmla="*/ 0 h 3066"/>
                  <a:gd name="T2" fmla="*/ 0 w 13233"/>
                  <a:gd name="T3" fmla="*/ 0 h 3066"/>
                  <a:gd name="T4" fmla="*/ 0 w 13233"/>
                  <a:gd name="T5" fmla="*/ 0 h 3066"/>
                  <a:gd name="T6" fmla="*/ 0 w 13233"/>
                  <a:gd name="T7" fmla="*/ 0 h 3066"/>
                  <a:gd name="T8" fmla="*/ 0 w 13233"/>
                  <a:gd name="T9" fmla="*/ 0 h 3066"/>
                  <a:gd name="T10" fmla="*/ 0 w 13233"/>
                  <a:gd name="T11" fmla="*/ 0 h 3066"/>
                  <a:gd name="T12" fmla="*/ 0 w 13233"/>
                  <a:gd name="T13" fmla="*/ 0 h 3066"/>
                  <a:gd name="T14" fmla="*/ 0 w 13233"/>
                  <a:gd name="T15" fmla="*/ 0 h 3066"/>
                  <a:gd name="T16" fmla="*/ 0 w 13233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33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22" y="3066"/>
                    </a:lnTo>
                    <a:cubicBezTo>
                      <a:pt x="13004" y="3066"/>
                      <a:pt x="13233" y="2838"/>
                      <a:pt x="13233" y="2555"/>
                    </a:cubicBezTo>
                    <a:lnTo>
                      <a:pt x="13233" y="511"/>
                    </a:lnTo>
                    <a:cubicBezTo>
                      <a:pt x="13233" y="229"/>
                      <a:pt x="13004" y="0"/>
                      <a:pt x="12722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72727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4915" name="Rectangle 242"/>
            <p:cNvSpPr>
              <a:spLocks noChangeArrowheads="1"/>
            </p:cNvSpPr>
            <p:nvPr/>
          </p:nvSpPr>
          <p:spPr bwMode="auto">
            <a:xfrm>
              <a:off x="2848" y="2751"/>
              <a:ext cx="126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Business Strategy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16" name="Rectangle 243"/>
            <p:cNvSpPr>
              <a:spLocks noChangeArrowheads="1"/>
            </p:cNvSpPr>
            <p:nvPr/>
          </p:nvSpPr>
          <p:spPr bwMode="auto">
            <a:xfrm>
              <a:off x="2829" y="2778"/>
              <a:ext cx="162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(Strategy Development)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17" name="Group 244"/>
            <p:cNvGrpSpPr/>
            <p:nvPr/>
          </p:nvGrpSpPr>
          <p:grpSpPr bwMode="auto">
            <a:xfrm>
              <a:off x="2688" y="2820"/>
              <a:ext cx="141" cy="51"/>
              <a:chOff x="2688" y="2820"/>
              <a:chExt cx="141" cy="51"/>
            </a:xfrm>
          </p:grpSpPr>
          <p:sp>
            <p:nvSpPr>
              <p:cNvPr id="34956" name="Oval 245"/>
              <p:cNvSpPr>
                <a:spLocks noChangeArrowheads="1"/>
              </p:cNvSpPr>
              <p:nvPr/>
            </p:nvSpPr>
            <p:spPr bwMode="auto">
              <a:xfrm>
                <a:off x="2688" y="2820"/>
                <a:ext cx="141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57" name="Oval 246"/>
              <p:cNvSpPr>
                <a:spLocks noChangeArrowheads="1"/>
              </p:cNvSpPr>
              <p:nvPr/>
            </p:nvSpPr>
            <p:spPr bwMode="auto">
              <a:xfrm>
                <a:off x="2688" y="2820"/>
                <a:ext cx="141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18" name="Rectangle 247"/>
            <p:cNvSpPr>
              <a:spLocks noChangeArrowheads="1"/>
            </p:cNvSpPr>
            <p:nvPr/>
          </p:nvSpPr>
          <p:spPr bwMode="auto">
            <a:xfrm>
              <a:off x="2713" y="2824"/>
              <a:ext cx="104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Process Design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19" name="Rectangle 248"/>
            <p:cNvSpPr>
              <a:spLocks noChangeArrowheads="1"/>
            </p:cNvSpPr>
            <p:nvPr/>
          </p:nvSpPr>
          <p:spPr bwMode="auto">
            <a:xfrm>
              <a:off x="2747" y="2851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(PDA)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20" name="Group 249"/>
            <p:cNvGrpSpPr/>
            <p:nvPr/>
          </p:nvGrpSpPr>
          <p:grpSpPr bwMode="auto">
            <a:xfrm>
              <a:off x="2687" y="2975"/>
              <a:ext cx="142" cy="50"/>
              <a:chOff x="2687" y="2975"/>
              <a:chExt cx="142" cy="50"/>
            </a:xfrm>
          </p:grpSpPr>
          <p:sp>
            <p:nvSpPr>
              <p:cNvPr id="34954" name="Oval 250"/>
              <p:cNvSpPr>
                <a:spLocks noChangeArrowheads="1"/>
              </p:cNvSpPr>
              <p:nvPr/>
            </p:nvSpPr>
            <p:spPr bwMode="auto">
              <a:xfrm>
                <a:off x="2687" y="2975"/>
                <a:ext cx="142" cy="50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55" name="Oval 251"/>
              <p:cNvSpPr>
                <a:spLocks noChangeArrowheads="1"/>
              </p:cNvSpPr>
              <p:nvPr/>
            </p:nvSpPr>
            <p:spPr bwMode="auto">
              <a:xfrm>
                <a:off x="2687" y="2975"/>
                <a:ext cx="142" cy="50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21" name="Rectangle 252"/>
            <p:cNvSpPr>
              <a:spLocks noChangeArrowheads="1"/>
            </p:cNvSpPr>
            <p:nvPr/>
          </p:nvSpPr>
          <p:spPr bwMode="auto">
            <a:xfrm>
              <a:off x="2701" y="2978"/>
              <a:ext cx="126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Technology &amp; Data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22" name="Rectangle 253"/>
            <p:cNvSpPr>
              <a:spLocks noChangeArrowheads="1"/>
            </p:cNvSpPr>
            <p:nvPr/>
          </p:nvSpPr>
          <p:spPr bwMode="auto">
            <a:xfrm>
              <a:off x="2743" y="3006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(TDA)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23" name="Group 254"/>
            <p:cNvGrpSpPr/>
            <p:nvPr/>
          </p:nvGrpSpPr>
          <p:grpSpPr bwMode="auto">
            <a:xfrm>
              <a:off x="2995" y="2820"/>
              <a:ext cx="141" cy="51"/>
              <a:chOff x="2995" y="2820"/>
              <a:chExt cx="141" cy="51"/>
            </a:xfrm>
          </p:grpSpPr>
          <p:sp>
            <p:nvSpPr>
              <p:cNvPr id="34952" name="Oval 255"/>
              <p:cNvSpPr>
                <a:spLocks noChangeArrowheads="1"/>
              </p:cNvSpPr>
              <p:nvPr/>
            </p:nvSpPr>
            <p:spPr bwMode="auto">
              <a:xfrm>
                <a:off x="2995" y="2820"/>
                <a:ext cx="141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53" name="Oval 256"/>
              <p:cNvSpPr>
                <a:spLocks noChangeArrowheads="1"/>
              </p:cNvSpPr>
              <p:nvPr/>
            </p:nvSpPr>
            <p:spPr bwMode="auto">
              <a:xfrm>
                <a:off x="2995" y="2820"/>
                <a:ext cx="141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24" name="Rectangle 257"/>
            <p:cNvSpPr>
              <a:spLocks noChangeArrowheads="1"/>
            </p:cNvSpPr>
            <p:nvPr/>
          </p:nvSpPr>
          <p:spPr bwMode="auto">
            <a:xfrm>
              <a:off x="3001" y="2824"/>
              <a:ext cx="141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Services &amp; Products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25" name="Rectangle 258"/>
            <p:cNvSpPr>
              <a:spLocks noChangeArrowheads="1"/>
            </p:cNvSpPr>
            <p:nvPr/>
          </p:nvSpPr>
          <p:spPr bwMode="auto">
            <a:xfrm>
              <a:off x="3053" y="2851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(SDA)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34926" name="Group 259"/>
            <p:cNvGrpSpPr/>
            <p:nvPr/>
          </p:nvGrpSpPr>
          <p:grpSpPr bwMode="auto">
            <a:xfrm>
              <a:off x="3006" y="2969"/>
              <a:ext cx="142" cy="51"/>
              <a:chOff x="3006" y="2969"/>
              <a:chExt cx="142" cy="51"/>
            </a:xfrm>
          </p:grpSpPr>
          <p:sp>
            <p:nvSpPr>
              <p:cNvPr id="34950" name="Oval 260"/>
              <p:cNvSpPr>
                <a:spLocks noChangeArrowheads="1"/>
              </p:cNvSpPr>
              <p:nvPr/>
            </p:nvSpPr>
            <p:spPr bwMode="auto">
              <a:xfrm>
                <a:off x="3006" y="2969"/>
                <a:ext cx="142" cy="51"/>
              </a:xfrm>
              <a:prstGeom prst="ellipse">
                <a:avLst/>
              </a:prstGeom>
              <a:solidFill>
                <a:srgbClr val="7889FB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951" name="Oval 261"/>
              <p:cNvSpPr>
                <a:spLocks noChangeArrowheads="1"/>
              </p:cNvSpPr>
              <p:nvPr/>
            </p:nvSpPr>
            <p:spPr bwMode="auto">
              <a:xfrm>
                <a:off x="3006" y="2969"/>
                <a:ext cx="142" cy="51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27" name="Rectangle 262"/>
            <p:cNvSpPr>
              <a:spLocks noChangeArrowheads="1"/>
            </p:cNvSpPr>
            <p:nvPr/>
          </p:nvSpPr>
          <p:spPr bwMode="auto">
            <a:xfrm>
              <a:off x="3008" y="2972"/>
              <a:ext cx="155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Organization &amp; People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28" name="Rectangle 263"/>
            <p:cNvSpPr>
              <a:spLocks noChangeArrowheads="1"/>
            </p:cNvSpPr>
            <p:nvPr/>
          </p:nvSpPr>
          <p:spPr bwMode="auto">
            <a:xfrm>
              <a:off x="3062" y="3000"/>
              <a:ext cx="3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(ODA)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29" name="Line 264"/>
            <p:cNvSpPr>
              <a:spLocks noChangeShapeType="1"/>
            </p:cNvSpPr>
            <p:nvPr/>
          </p:nvSpPr>
          <p:spPr bwMode="auto">
            <a:xfrm>
              <a:off x="2971" y="2798"/>
              <a:ext cx="48" cy="26"/>
            </a:xfrm>
            <a:prstGeom prst="line">
              <a:avLst/>
            </a:prstGeom>
            <a:noFill/>
            <a:ln w="3175">
              <a:solidFill>
                <a:srgbClr val="72727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930" name="Freeform 265"/>
            <p:cNvSpPr>
              <a:spLocks noEditPoints="1"/>
            </p:cNvSpPr>
            <p:nvPr/>
          </p:nvSpPr>
          <p:spPr bwMode="auto">
            <a:xfrm>
              <a:off x="2898" y="2798"/>
              <a:ext cx="13" cy="73"/>
            </a:xfrm>
            <a:custGeom>
              <a:avLst/>
              <a:gdLst>
                <a:gd name="T0" fmla="*/ 7 w 13"/>
                <a:gd name="T1" fmla="*/ 0 h 73"/>
                <a:gd name="T2" fmla="*/ 7 w 13"/>
                <a:gd name="T3" fmla="*/ 62 h 73"/>
                <a:gd name="T4" fmla="*/ 5 w 13"/>
                <a:gd name="T5" fmla="*/ 62 h 73"/>
                <a:gd name="T6" fmla="*/ 5 w 13"/>
                <a:gd name="T7" fmla="*/ 0 h 73"/>
                <a:gd name="T8" fmla="*/ 7 w 13"/>
                <a:gd name="T9" fmla="*/ 0 h 73"/>
                <a:gd name="T10" fmla="*/ 13 w 13"/>
                <a:gd name="T11" fmla="*/ 60 h 73"/>
                <a:gd name="T12" fmla="*/ 6 w 13"/>
                <a:gd name="T13" fmla="*/ 73 h 73"/>
                <a:gd name="T14" fmla="*/ 0 w 13"/>
                <a:gd name="T15" fmla="*/ 60 h 73"/>
                <a:gd name="T16" fmla="*/ 13 w 13"/>
                <a:gd name="T17" fmla="*/ 60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73">
                  <a:moveTo>
                    <a:pt x="7" y="0"/>
                  </a:moveTo>
                  <a:lnTo>
                    <a:pt x="7" y="62"/>
                  </a:lnTo>
                  <a:lnTo>
                    <a:pt x="5" y="62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3" y="60"/>
                  </a:moveTo>
                  <a:lnTo>
                    <a:pt x="6" y="73"/>
                  </a:lnTo>
                  <a:lnTo>
                    <a:pt x="0" y="60"/>
                  </a:lnTo>
                  <a:lnTo>
                    <a:pt x="13" y="6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4931" name="Group 266"/>
            <p:cNvGrpSpPr/>
            <p:nvPr/>
          </p:nvGrpSpPr>
          <p:grpSpPr bwMode="auto">
            <a:xfrm>
              <a:off x="2800" y="3049"/>
              <a:ext cx="212" cy="50"/>
              <a:chOff x="2800" y="3049"/>
              <a:chExt cx="212" cy="50"/>
            </a:xfrm>
          </p:grpSpPr>
          <p:sp>
            <p:nvSpPr>
              <p:cNvPr id="34948" name="Freeform 267"/>
              <p:cNvSpPr/>
              <p:nvPr/>
            </p:nvSpPr>
            <p:spPr bwMode="auto">
              <a:xfrm>
                <a:off x="2800" y="3049"/>
                <a:ext cx="212" cy="50"/>
              </a:xfrm>
              <a:custGeom>
                <a:avLst/>
                <a:gdLst>
                  <a:gd name="T0" fmla="*/ 0 w 13250"/>
                  <a:gd name="T1" fmla="*/ 0 h 3066"/>
                  <a:gd name="T2" fmla="*/ 0 w 13250"/>
                  <a:gd name="T3" fmla="*/ 0 h 3066"/>
                  <a:gd name="T4" fmla="*/ 0 w 13250"/>
                  <a:gd name="T5" fmla="*/ 0 h 3066"/>
                  <a:gd name="T6" fmla="*/ 0 w 13250"/>
                  <a:gd name="T7" fmla="*/ 0 h 3066"/>
                  <a:gd name="T8" fmla="*/ 0 w 13250"/>
                  <a:gd name="T9" fmla="*/ 0 h 3066"/>
                  <a:gd name="T10" fmla="*/ 0 w 13250"/>
                  <a:gd name="T11" fmla="*/ 0 h 3066"/>
                  <a:gd name="T12" fmla="*/ 0 w 13250"/>
                  <a:gd name="T13" fmla="*/ 0 h 3066"/>
                  <a:gd name="T14" fmla="*/ 0 w 13250"/>
                  <a:gd name="T15" fmla="*/ 0 h 3066"/>
                  <a:gd name="T16" fmla="*/ 0 w 13250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50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39" y="3066"/>
                    </a:lnTo>
                    <a:cubicBezTo>
                      <a:pt x="13021" y="3066"/>
                      <a:pt x="13250" y="2838"/>
                      <a:pt x="13250" y="2555"/>
                    </a:cubicBezTo>
                    <a:lnTo>
                      <a:pt x="13250" y="511"/>
                    </a:lnTo>
                    <a:cubicBezTo>
                      <a:pt x="13250" y="229"/>
                      <a:pt x="13021" y="0"/>
                      <a:pt x="12739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FFFFCC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9" name="Freeform 268"/>
              <p:cNvSpPr/>
              <p:nvPr/>
            </p:nvSpPr>
            <p:spPr bwMode="auto">
              <a:xfrm>
                <a:off x="2800" y="3049"/>
                <a:ext cx="212" cy="50"/>
              </a:xfrm>
              <a:custGeom>
                <a:avLst/>
                <a:gdLst>
                  <a:gd name="T0" fmla="*/ 0 w 13250"/>
                  <a:gd name="T1" fmla="*/ 0 h 3066"/>
                  <a:gd name="T2" fmla="*/ 0 w 13250"/>
                  <a:gd name="T3" fmla="*/ 0 h 3066"/>
                  <a:gd name="T4" fmla="*/ 0 w 13250"/>
                  <a:gd name="T5" fmla="*/ 0 h 3066"/>
                  <a:gd name="T6" fmla="*/ 0 w 13250"/>
                  <a:gd name="T7" fmla="*/ 0 h 3066"/>
                  <a:gd name="T8" fmla="*/ 0 w 13250"/>
                  <a:gd name="T9" fmla="*/ 0 h 3066"/>
                  <a:gd name="T10" fmla="*/ 0 w 13250"/>
                  <a:gd name="T11" fmla="*/ 0 h 3066"/>
                  <a:gd name="T12" fmla="*/ 0 w 13250"/>
                  <a:gd name="T13" fmla="*/ 0 h 3066"/>
                  <a:gd name="T14" fmla="*/ 0 w 13250"/>
                  <a:gd name="T15" fmla="*/ 0 h 3066"/>
                  <a:gd name="T16" fmla="*/ 0 w 13250"/>
                  <a:gd name="T17" fmla="*/ 0 h 30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250" h="3066">
                    <a:moveTo>
                      <a:pt x="511" y="0"/>
                    </a:moveTo>
                    <a:cubicBezTo>
                      <a:pt x="229" y="0"/>
                      <a:pt x="0" y="229"/>
                      <a:pt x="0" y="511"/>
                    </a:cubicBezTo>
                    <a:lnTo>
                      <a:pt x="0" y="2555"/>
                    </a:lnTo>
                    <a:cubicBezTo>
                      <a:pt x="0" y="2838"/>
                      <a:pt x="229" y="3066"/>
                      <a:pt x="511" y="3066"/>
                    </a:cubicBezTo>
                    <a:lnTo>
                      <a:pt x="12739" y="3066"/>
                    </a:lnTo>
                    <a:cubicBezTo>
                      <a:pt x="13021" y="3066"/>
                      <a:pt x="13250" y="2838"/>
                      <a:pt x="13250" y="2555"/>
                    </a:cubicBezTo>
                    <a:lnTo>
                      <a:pt x="13250" y="511"/>
                    </a:lnTo>
                    <a:cubicBezTo>
                      <a:pt x="13250" y="229"/>
                      <a:pt x="13021" y="0"/>
                      <a:pt x="12739" y="0"/>
                    </a:cubicBezTo>
                    <a:lnTo>
                      <a:pt x="511" y="0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72727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4932" name="Rectangle 269"/>
            <p:cNvSpPr>
              <a:spLocks noChangeArrowheads="1"/>
            </p:cNvSpPr>
            <p:nvPr/>
          </p:nvSpPr>
          <p:spPr bwMode="auto">
            <a:xfrm>
              <a:off x="2856" y="3052"/>
              <a:ext cx="111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Change Delivery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33" name="Rectangle 270"/>
            <p:cNvSpPr>
              <a:spLocks noChangeArrowheads="1"/>
            </p:cNvSpPr>
            <p:nvPr/>
          </p:nvSpPr>
          <p:spPr bwMode="auto">
            <a:xfrm>
              <a:off x="2845" y="3080"/>
              <a:ext cx="133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(Programme Office)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34" name="Freeform 271"/>
            <p:cNvSpPr>
              <a:spLocks noEditPoints="1"/>
            </p:cNvSpPr>
            <p:nvPr/>
          </p:nvSpPr>
          <p:spPr bwMode="auto">
            <a:xfrm>
              <a:off x="2901" y="2975"/>
              <a:ext cx="12" cy="68"/>
            </a:xfrm>
            <a:custGeom>
              <a:avLst/>
              <a:gdLst>
                <a:gd name="T0" fmla="*/ 7 w 12"/>
                <a:gd name="T1" fmla="*/ 0 h 68"/>
                <a:gd name="T2" fmla="*/ 7 w 12"/>
                <a:gd name="T3" fmla="*/ 57 h 68"/>
                <a:gd name="T4" fmla="*/ 5 w 12"/>
                <a:gd name="T5" fmla="*/ 57 h 68"/>
                <a:gd name="T6" fmla="*/ 5 w 12"/>
                <a:gd name="T7" fmla="*/ 0 h 68"/>
                <a:gd name="T8" fmla="*/ 7 w 12"/>
                <a:gd name="T9" fmla="*/ 0 h 68"/>
                <a:gd name="T10" fmla="*/ 12 w 12"/>
                <a:gd name="T11" fmla="*/ 54 h 68"/>
                <a:gd name="T12" fmla="*/ 6 w 12"/>
                <a:gd name="T13" fmla="*/ 68 h 68"/>
                <a:gd name="T14" fmla="*/ 0 w 12"/>
                <a:gd name="T15" fmla="*/ 54 h 68"/>
                <a:gd name="T16" fmla="*/ 12 w 12"/>
                <a:gd name="T17" fmla="*/ 54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68">
                  <a:moveTo>
                    <a:pt x="7" y="0"/>
                  </a:moveTo>
                  <a:lnTo>
                    <a:pt x="7" y="57"/>
                  </a:lnTo>
                  <a:lnTo>
                    <a:pt x="5" y="57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2" y="54"/>
                  </a:moveTo>
                  <a:lnTo>
                    <a:pt x="6" y="68"/>
                  </a:lnTo>
                  <a:lnTo>
                    <a:pt x="0" y="54"/>
                  </a:lnTo>
                  <a:lnTo>
                    <a:pt x="12" y="5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35" name="Freeform 272"/>
            <p:cNvSpPr>
              <a:spLocks noEditPoints="1"/>
            </p:cNvSpPr>
            <p:nvPr/>
          </p:nvSpPr>
          <p:spPr bwMode="auto">
            <a:xfrm>
              <a:off x="2699" y="2809"/>
              <a:ext cx="676" cy="2"/>
            </a:xfrm>
            <a:custGeom>
              <a:avLst/>
              <a:gdLst>
                <a:gd name="T0" fmla="*/ 0 w 676"/>
                <a:gd name="T1" fmla="*/ 2 h 2"/>
                <a:gd name="T2" fmla="*/ 24 w 676"/>
                <a:gd name="T3" fmla="*/ 2 h 2"/>
                <a:gd name="T4" fmla="*/ 39 w 676"/>
                <a:gd name="T5" fmla="*/ 0 h 2"/>
                <a:gd name="T6" fmla="*/ 45 w 676"/>
                <a:gd name="T7" fmla="*/ 0 h 2"/>
                <a:gd name="T8" fmla="*/ 45 w 676"/>
                <a:gd name="T9" fmla="*/ 0 h 2"/>
                <a:gd name="T10" fmla="*/ 60 w 676"/>
                <a:gd name="T11" fmla="*/ 2 h 2"/>
                <a:gd name="T12" fmla="*/ 83 w 676"/>
                <a:gd name="T13" fmla="*/ 2 h 2"/>
                <a:gd name="T14" fmla="*/ 98 w 676"/>
                <a:gd name="T15" fmla="*/ 0 h 2"/>
                <a:gd name="T16" fmla="*/ 105 w 676"/>
                <a:gd name="T17" fmla="*/ 0 h 2"/>
                <a:gd name="T18" fmla="*/ 105 w 676"/>
                <a:gd name="T19" fmla="*/ 0 h 2"/>
                <a:gd name="T20" fmla="*/ 120 w 676"/>
                <a:gd name="T21" fmla="*/ 2 h 2"/>
                <a:gd name="T22" fmla="*/ 143 w 676"/>
                <a:gd name="T23" fmla="*/ 2 h 2"/>
                <a:gd name="T24" fmla="*/ 158 w 676"/>
                <a:gd name="T25" fmla="*/ 0 h 2"/>
                <a:gd name="T26" fmla="*/ 165 w 676"/>
                <a:gd name="T27" fmla="*/ 0 h 2"/>
                <a:gd name="T28" fmla="*/ 165 w 676"/>
                <a:gd name="T29" fmla="*/ 0 h 2"/>
                <a:gd name="T30" fmla="*/ 180 w 676"/>
                <a:gd name="T31" fmla="*/ 2 h 2"/>
                <a:gd name="T32" fmla="*/ 203 w 676"/>
                <a:gd name="T33" fmla="*/ 2 h 2"/>
                <a:gd name="T34" fmla="*/ 218 w 676"/>
                <a:gd name="T35" fmla="*/ 0 h 2"/>
                <a:gd name="T36" fmla="*/ 225 w 676"/>
                <a:gd name="T37" fmla="*/ 0 h 2"/>
                <a:gd name="T38" fmla="*/ 225 w 676"/>
                <a:gd name="T39" fmla="*/ 0 h 2"/>
                <a:gd name="T40" fmla="*/ 240 w 676"/>
                <a:gd name="T41" fmla="*/ 2 h 2"/>
                <a:gd name="T42" fmla="*/ 263 w 676"/>
                <a:gd name="T43" fmla="*/ 2 h 2"/>
                <a:gd name="T44" fmla="*/ 278 w 676"/>
                <a:gd name="T45" fmla="*/ 0 h 2"/>
                <a:gd name="T46" fmla="*/ 285 w 676"/>
                <a:gd name="T47" fmla="*/ 0 h 2"/>
                <a:gd name="T48" fmla="*/ 285 w 676"/>
                <a:gd name="T49" fmla="*/ 0 h 2"/>
                <a:gd name="T50" fmla="*/ 300 w 676"/>
                <a:gd name="T51" fmla="*/ 2 h 2"/>
                <a:gd name="T52" fmla="*/ 323 w 676"/>
                <a:gd name="T53" fmla="*/ 2 h 2"/>
                <a:gd name="T54" fmla="*/ 338 w 676"/>
                <a:gd name="T55" fmla="*/ 0 h 2"/>
                <a:gd name="T56" fmla="*/ 344 w 676"/>
                <a:gd name="T57" fmla="*/ 0 h 2"/>
                <a:gd name="T58" fmla="*/ 344 w 676"/>
                <a:gd name="T59" fmla="*/ 0 h 2"/>
                <a:gd name="T60" fmla="*/ 359 w 676"/>
                <a:gd name="T61" fmla="*/ 2 h 2"/>
                <a:gd name="T62" fmla="*/ 383 w 676"/>
                <a:gd name="T63" fmla="*/ 2 h 2"/>
                <a:gd name="T64" fmla="*/ 398 w 676"/>
                <a:gd name="T65" fmla="*/ 0 h 2"/>
                <a:gd name="T66" fmla="*/ 404 w 676"/>
                <a:gd name="T67" fmla="*/ 0 h 2"/>
                <a:gd name="T68" fmla="*/ 404 w 676"/>
                <a:gd name="T69" fmla="*/ 0 h 2"/>
                <a:gd name="T70" fmla="*/ 419 w 676"/>
                <a:gd name="T71" fmla="*/ 2 h 2"/>
                <a:gd name="T72" fmla="*/ 443 w 676"/>
                <a:gd name="T73" fmla="*/ 2 h 2"/>
                <a:gd name="T74" fmla="*/ 458 w 676"/>
                <a:gd name="T75" fmla="*/ 0 h 2"/>
                <a:gd name="T76" fmla="*/ 464 w 676"/>
                <a:gd name="T77" fmla="*/ 0 h 2"/>
                <a:gd name="T78" fmla="*/ 464 w 676"/>
                <a:gd name="T79" fmla="*/ 0 h 2"/>
                <a:gd name="T80" fmla="*/ 479 w 676"/>
                <a:gd name="T81" fmla="*/ 2 h 2"/>
                <a:gd name="T82" fmla="*/ 503 w 676"/>
                <a:gd name="T83" fmla="*/ 2 h 2"/>
                <a:gd name="T84" fmla="*/ 518 w 676"/>
                <a:gd name="T85" fmla="*/ 0 h 2"/>
                <a:gd name="T86" fmla="*/ 524 w 676"/>
                <a:gd name="T87" fmla="*/ 0 h 2"/>
                <a:gd name="T88" fmla="*/ 524 w 676"/>
                <a:gd name="T89" fmla="*/ 0 h 2"/>
                <a:gd name="T90" fmla="*/ 539 w 676"/>
                <a:gd name="T91" fmla="*/ 2 h 2"/>
                <a:gd name="T92" fmla="*/ 563 w 676"/>
                <a:gd name="T93" fmla="*/ 2 h 2"/>
                <a:gd name="T94" fmla="*/ 578 w 676"/>
                <a:gd name="T95" fmla="*/ 0 h 2"/>
                <a:gd name="T96" fmla="*/ 584 w 676"/>
                <a:gd name="T97" fmla="*/ 0 h 2"/>
                <a:gd name="T98" fmla="*/ 584 w 676"/>
                <a:gd name="T99" fmla="*/ 0 h 2"/>
                <a:gd name="T100" fmla="*/ 599 w 676"/>
                <a:gd name="T101" fmla="*/ 2 h 2"/>
                <a:gd name="T102" fmla="*/ 622 w 676"/>
                <a:gd name="T103" fmla="*/ 2 h 2"/>
                <a:gd name="T104" fmla="*/ 637 w 676"/>
                <a:gd name="T105" fmla="*/ 0 h 2"/>
                <a:gd name="T106" fmla="*/ 644 w 676"/>
                <a:gd name="T107" fmla="*/ 0 h 2"/>
                <a:gd name="T108" fmla="*/ 644 w 676"/>
                <a:gd name="T109" fmla="*/ 0 h 2"/>
                <a:gd name="T110" fmla="*/ 659 w 676"/>
                <a:gd name="T111" fmla="*/ 2 h 2"/>
                <a:gd name="T112" fmla="*/ 676 w 676"/>
                <a:gd name="T113" fmla="*/ 2 h 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676" h="2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0" y="2"/>
                  </a:lnTo>
                  <a:lnTo>
                    <a:pt x="0" y="0"/>
                  </a:lnTo>
                  <a:close/>
                  <a:moveTo>
                    <a:pt x="15" y="0"/>
                  </a:moveTo>
                  <a:lnTo>
                    <a:pt x="24" y="0"/>
                  </a:lnTo>
                  <a:lnTo>
                    <a:pt x="24" y="2"/>
                  </a:lnTo>
                  <a:lnTo>
                    <a:pt x="15" y="2"/>
                  </a:lnTo>
                  <a:lnTo>
                    <a:pt x="15" y="0"/>
                  </a:lnTo>
                  <a:close/>
                  <a:moveTo>
                    <a:pt x="30" y="0"/>
                  </a:moveTo>
                  <a:lnTo>
                    <a:pt x="39" y="0"/>
                  </a:lnTo>
                  <a:lnTo>
                    <a:pt x="39" y="2"/>
                  </a:lnTo>
                  <a:lnTo>
                    <a:pt x="30" y="2"/>
                  </a:lnTo>
                  <a:lnTo>
                    <a:pt x="30" y="0"/>
                  </a:lnTo>
                  <a:close/>
                  <a:moveTo>
                    <a:pt x="45" y="0"/>
                  </a:moveTo>
                  <a:lnTo>
                    <a:pt x="54" y="0"/>
                  </a:lnTo>
                  <a:lnTo>
                    <a:pt x="54" y="2"/>
                  </a:lnTo>
                  <a:lnTo>
                    <a:pt x="45" y="2"/>
                  </a:lnTo>
                  <a:lnTo>
                    <a:pt x="45" y="0"/>
                  </a:lnTo>
                  <a:close/>
                  <a:moveTo>
                    <a:pt x="60" y="0"/>
                  </a:moveTo>
                  <a:lnTo>
                    <a:pt x="69" y="0"/>
                  </a:lnTo>
                  <a:lnTo>
                    <a:pt x="69" y="2"/>
                  </a:lnTo>
                  <a:lnTo>
                    <a:pt x="60" y="2"/>
                  </a:lnTo>
                  <a:lnTo>
                    <a:pt x="60" y="0"/>
                  </a:lnTo>
                  <a:close/>
                  <a:moveTo>
                    <a:pt x="75" y="0"/>
                  </a:moveTo>
                  <a:lnTo>
                    <a:pt x="83" y="0"/>
                  </a:lnTo>
                  <a:lnTo>
                    <a:pt x="83" y="2"/>
                  </a:lnTo>
                  <a:lnTo>
                    <a:pt x="75" y="2"/>
                  </a:lnTo>
                  <a:lnTo>
                    <a:pt x="75" y="0"/>
                  </a:lnTo>
                  <a:close/>
                  <a:moveTo>
                    <a:pt x="90" y="0"/>
                  </a:moveTo>
                  <a:lnTo>
                    <a:pt x="98" y="0"/>
                  </a:lnTo>
                  <a:lnTo>
                    <a:pt x="98" y="2"/>
                  </a:lnTo>
                  <a:lnTo>
                    <a:pt x="90" y="2"/>
                  </a:lnTo>
                  <a:lnTo>
                    <a:pt x="90" y="0"/>
                  </a:lnTo>
                  <a:close/>
                  <a:moveTo>
                    <a:pt x="105" y="0"/>
                  </a:moveTo>
                  <a:lnTo>
                    <a:pt x="113" y="0"/>
                  </a:lnTo>
                  <a:lnTo>
                    <a:pt x="113" y="2"/>
                  </a:lnTo>
                  <a:lnTo>
                    <a:pt x="105" y="2"/>
                  </a:lnTo>
                  <a:lnTo>
                    <a:pt x="105" y="0"/>
                  </a:lnTo>
                  <a:close/>
                  <a:moveTo>
                    <a:pt x="120" y="0"/>
                  </a:moveTo>
                  <a:lnTo>
                    <a:pt x="128" y="0"/>
                  </a:lnTo>
                  <a:lnTo>
                    <a:pt x="128" y="2"/>
                  </a:lnTo>
                  <a:lnTo>
                    <a:pt x="120" y="2"/>
                  </a:lnTo>
                  <a:lnTo>
                    <a:pt x="120" y="0"/>
                  </a:lnTo>
                  <a:close/>
                  <a:moveTo>
                    <a:pt x="135" y="0"/>
                  </a:moveTo>
                  <a:lnTo>
                    <a:pt x="143" y="0"/>
                  </a:lnTo>
                  <a:lnTo>
                    <a:pt x="143" y="2"/>
                  </a:lnTo>
                  <a:lnTo>
                    <a:pt x="135" y="2"/>
                  </a:lnTo>
                  <a:lnTo>
                    <a:pt x="135" y="0"/>
                  </a:lnTo>
                  <a:close/>
                  <a:moveTo>
                    <a:pt x="150" y="0"/>
                  </a:moveTo>
                  <a:lnTo>
                    <a:pt x="158" y="0"/>
                  </a:lnTo>
                  <a:lnTo>
                    <a:pt x="158" y="2"/>
                  </a:lnTo>
                  <a:lnTo>
                    <a:pt x="150" y="2"/>
                  </a:lnTo>
                  <a:lnTo>
                    <a:pt x="150" y="0"/>
                  </a:lnTo>
                  <a:close/>
                  <a:moveTo>
                    <a:pt x="165" y="0"/>
                  </a:moveTo>
                  <a:lnTo>
                    <a:pt x="173" y="0"/>
                  </a:lnTo>
                  <a:lnTo>
                    <a:pt x="173" y="2"/>
                  </a:lnTo>
                  <a:lnTo>
                    <a:pt x="165" y="2"/>
                  </a:lnTo>
                  <a:lnTo>
                    <a:pt x="165" y="0"/>
                  </a:lnTo>
                  <a:close/>
                  <a:moveTo>
                    <a:pt x="180" y="0"/>
                  </a:moveTo>
                  <a:lnTo>
                    <a:pt x="188" y="0"/>
                  </a:lnTo>
                  <a:lnTo>
                    <a:pt x="188" y="2"/>
                  </a:lnTo>
                  <a:lnTo>
                    <a:pt x="180" y="2"/>
                  </a:lnTo>
                  <a:lnTo>
                    <a:pt x="180" y="0"/>
                  </a:lnTo>
                  <a:close/>
                  <a:moveTo>
                    <a:pt x="195" y="0"/>
                  </a:moveTo>
                  <a:lnTo>
                    <a:pt x="203" y="0"/>
                  </a:lnTo>
                  <a:lnTo>
                    <a:pt x="203" y="2"/>
                  </a:lnTo>
                  <a:lnTo>
                    <a:pt x="195" y="2"/>
                  </a:lnTo>
                  <a:lnTo>
                    <a:pt x="195" y="0"/>
                  </a:lnTo>
                  <a:close/>
                  <a:moveTo>
                    <a:pt x="210" y="0"/>
                  </a:moveTo>
                  <a:lnTo>
                    <a:pt x="218" y="0"/>
                  </a:lnTo>
                  <a:lnTo>
                    <a:pt x="218" y="2"/>
                  </a:lnTo>
                  <a:lnTo>
                    <a:pt x="210" y="2"/>
                  </a:lnTo>
                  <a:lnTo>
                    <a:pt x="210" y="0"/>
                  </a:lnTo>
                  <a:close/>
                  <a:moveTo>
                    <a:pt x="225" y="0"/>
                  </a:moveTo>
                  <a:lnTo>
                    <a:pt x="233" y="0"/>
                  </a:lnTo>
                  <a:lnTo>
                    <a:pt x="233" y="2"/>
                  </a:lnTo>
                  <a:lnTo>
                    <a:pt x="225" y="2"/>
                  </a:lnTo>
                  <a:lnTo>
                    <a:pt x="225" y="0"/>
                  </a:lnTo>
                  <a:close/>
                  <a:moveTo>
                    <a:pt x="240" y="0"/>
                  </a:moveTo>
                  <a:lnTo>
                    <a:pt x="248" y="0"/>
                  </a:lnTo>
                  <a:lnTo>
                    <a:pt x="248" y="2"/>
                  </a:lnTo>
                  <a:lnTo>
                    <a:pt x="240" y="2"/>
                  </a:lnTo>
                  <a:lnTo>
                    <a:pt x="240" y="0"/>
                  </a:lnTo>
                  <a:close/>
                  <a:moveTo>
                    <a:pt x="255" y="0"/>
                  </a:moveTo>
                  <a:lnTo>
                    <a:pt x="263" y="0"/>
                  </a:lnTo>
                  <a:lnTo>
                    <a:pt x="263" y="2"/>
                  </a:lnTo>
                  <a:lnTo>
                    <a:pt x="255" y="2"/>
                  </a:lnTo>
                  <a:lnTo>
                    <a:pt x="255" y="0"/>
                  </a:lnTo>
                  <a:close/>
                  <a:moveTo>
                    <a:pt x="270" y="0"/>
                  </a:moveTo>
                  <a:lnTo>
                    <a:pt x="278" y="0"/>
                  </a:lnTo>
                  <a:lnTo>
                    <a:pt x="278" y="2"/>
                  </a:lnTo>
                  <a:lnTo>
                    <a:pt x="270" y="2"/>
                  </a:lnTo>
                  <a:lnTo>
                    <a:pt x="270" y="0"/>
                  </a:lnTo>
                  <a:close/>
                  <a:moveTo>
                    <a:pt x="285" y="0"/>
                  </a:moveTo>
                  <a:lnTo>
                    <a:pt x="293" y="0"/>
                  </a:lnTo>
                  <a:lnTo>
                    <a:pt x="293" y="2"/>
                  </a:lnTo>
                  <a:lnTo>
                    <a:pt x="285" y="2"/>
                  </a:lnTo>
                  <a:lnTo>
                    <a:pt x="285" y="0"/>
                  </a:lnTo>
                  <a:close/>
                  <a:moveTo>
                    <a:pt x="300" y="0"/>
                  </a:moveTo>
                  <a:lnTo>
                    <a:pt x="308" y="0"/>
                  </a:lnTo>
                  <a:lnTo>
                    <a:pt x="308" y="2"/>
                  </a:lnTo>
                  <a:lnTo>
                    <a:pt x="300" y="2"/>
                  </a:lnTo>
                  <a:lnTo>
                    <a:pt x="300" y="0"/>
                  </a:lnTo>
                  <a:close/>
                  <a:moveTo>
                    <a:pt x="314" y="0"/>
                  </a:moveTo>
                  <a:lnTo>
                    <a:pt x="323" y="0"/>
                  </a:lnTo>
                  <a:lnTo>
                    <a:pt x="323" y="2"/>
                  </a:lnTo>
                  <a:lnTo>
                    <a:pt x="314" y="2"/>
                  </a:lnTo>
                  <a:lnTo>
                    <a:pt x="314" y="0"/>
                  </a:lnTo>
                  <a:close/>
                  <a:moveTo>
                    <a:pt x="329" y="0"/>
                  </a:moveTo>
                  <a:lnTo>
                    <a:pt x="338" y="0"/>
                  </a:lnTo>
                  <a:lnTo>
                    <a:pt x="338" y="2"/>
                  </a:lnTo>
                  <a:lnTo>
                    <a:pt x="329" y="2"/>
                  </a:lnTo>
                  <a:lnTo>
                    <a:pt x="329" y="0"/>
                  </a:lnTo>
                  <a:close/>
                  <a:moveTo>
                    <a:pt x="344" y="0"/>
                  </a:moveTo>
                  <a:lnTo>
                    <a:pt x="353" y="0"/>
                  </a:lnTo>
                  <a:lnTo>
                    <a:pt x="353" y="2"/>
                  </a:lnTo>
                  <a:lnTo>
                    <a:pt x="344" y="2"/>
                  </a:lnTo>
                  <a:lnTo>
                    <a:pt x="344" y="0"/>
                  </a:lnTo>
                  <a:close/>
                  <a:moveTo>
                    <a:pt x="359" y="0"/>
                  </a:moveTo>
                  <a:lnTo>
                    <a:pt x="368" y="0"/>
                  </a:lnTo>
                  <a:lnTo>
                    <a:pt x="368" y="2"/>
                  </a:lnTo>
                  <a:lnTo>
                    <a:pt x="359" y="2"/>
                  </a:lnTo>
                  <a:lnTo>
                    <a:pt x="359" y="0"/>
                  </a:lnTo>
                  <a:close/>
                  <a:moveTo>
                    <a:pt x="374" y="0"/>
                  </a:moveTo>
                  <a:lnTo>
                    <a:pt x="383" y="0"/>
                  </a:lnTo>
                  <a:lnTo>
                    <a:pt x="383" y="2"/>
                  </a:lnTo>
                  <a:lnTo>
                    <a:pt x="374" y="2"/>
                  </a:lnTo>
                  <a:lnTo>
                    <a:pt x="374" y="0"/>
                  </a:lnTo>
                  <a:close/>
                  <a:moveTo>
                    <a:pt x="389" y="0"/>
                  </a:moveTo>
                  <a:lnTo>
                    <a:pt x="398" y="0"/>
                  </a:lnTo>
                  <a:lnTo>
                    <a:pt x="398" y="2"/>
                  </a:lnTo>
                  <a:lnTo>
                    <a:pt x="389" y="2"/>
                  </a:lnTo>
                  <a:lnTo>
                    <a:pt x="389" y="0"/>
                  </a:lnTo>
                  <a:close/>
                  <a:moveTo>
                    <a:pt x="404" y="0"/>
                  </a:moveTo>
                  <a:lnTo>
                    <a:pt x="413" y="0"/>
                  </a:lnTo>
                  <a:lnTo>
                    <a:pt x="413" y="2"/>
                  </a:lnTo>
                  <a:lnTo>
                    <a:pt x="404" y="2"/>
                  </a:lnTo>
                  <a:lnTo>
                    <a:pt x="404" y="0"/>
                  </a:lnTo>
                  <a:close/>
                  <a:moveTo>
                    <a:pt x="419" y="0"/>
                  </a:moveTo>
                  <a:lnTo>
                    <a:pt x="428" y="0"/>
                  </a:lnTo>
                  <a:lnTo>
                    <a:pt x="428" y="2"/>
                  </a:lnTo>
                  <a:lnTo>
                    <a:pt x="419" y="2"/>
                  </a:lnTo>
                  <a:lnTo>
                    <a:pt x="419" y="0"/>
                  </a:lnTo>
                  <a:close/>
                  <a:moveTo>
                    <a:pt x="434" y="0"/>
                  </a:moveTo>
                  <a:lnTo>
                    <a:pt x="443" y="0"/>
                  </a:lnTo>
                  <a:lnTo>
                    <a:pt x="443" y="2"/>
                  </a:lnTo>
                  <a:lnTo>
                    <a:pt x="434" y="2"/>
                  </a:lnTo>
                  <a:lnTo>
                    <a:pt x="434" y="0"/>
                  </a:lnTo>
                  <a:close/>
                  <a:moveTo>
                    <a:pt x="449" y="0"/>
                  </a:moveTo>
                  <a:lnTo>
                    <a:pt x="458" y="0"/>
                  </a:lnTo>
                  <a:lnTo>
                    <a:pt x="458" y="2"/>
                  </a:lnTo>
                  <a:lnTo>
                    <a:pt x="449" y="2"/>
                  </a:lnTo>
                  <a:lnTo>
                    <a:pt x="449" y="0"/>
                  </a:lnTo>
                  <a:close/>
                  <a:moveTo>
                    <a:pt x="464" y="0"/>
                  </a:moveTo>
                  <a:lnTo>
                    <a:pt x="473" y="0"/>
                  </a:lnTo>
                  <a:lnTo>
                    <a:pt x="473" y="2"/>
                  </a:lnTo>
                  <a:lnTo>
                    <a:pt x="464" y="2"/>
                  </a:lnTo>
                  <a:lnTo>
                    <a:pt x="464" y="0"/>
                  </a:lnTo>
                  <a:close/>
                  <a:moveTo>
                    <a:pt x="479" y="0"/>
                  </a:moveTo>
                  <a:lnTo>
                    <a:pt x="488" y="0"/>
                  </a:lnTo>
                  <a:lnTo>
                    <a:pt x="488" y="2"/>
                  </a:lnTo>
                  <a:lnTo>
                    <a:pt x="479" y="2"/>
                  </a:lnTo>
                  <a:lnTo>
                    <a:pt x="479" y="0"/>
                  </a:lnTo>
                  <a:close/>
                  <a:moveTo>
                    <a:pt x="494" y="0"/>
                  </a:moveTo>
                  <a:lnTo>
                    <a:pt x="503" y="0"/>
                  </a:lnTo>
                  <a:lnTo>
                    <a:pt x="503" y="2"/>
                  </a:lnTo>
                  <a:lnTo>
                    <a:pt x="494" y="2"/>
                  </a:lnTo>
                  <a:lnTo>
                    <a:pt x="494" y="0"/>
                  </a:lnTo>
                  <a:close/>
                  <a:moveTo>
                    <a:pt x="509" y="0"/>
                  </a:moveTo>
                  <a:lnTo>
                    <a:pt x="518" y="0"/>
                  </a:lnTo>
                  <a:lnTo>
                    <a:pt x="518" y="2"/>
                  </a:lnTo>
                  <a:lnTo>
                    <a:pt x="509" y="2"/>
                  </a:lnTo>
                  <a:lnTo>
                    <a:pt x="509" y="0"/>
                  </a:lnTo>
                  <a:close/>
                  <a:moveTo>
                    <a:pt x="524" y="0"/>
                  </a:moveTo>
                  <a:lnTo>
                    <a:pt x="533" y="0"/>
                  </a:lnTo>
                  <a:lnTo>
                    <a:pt x="533" y="2"/>
                  </a:lnTo>
                  <a:lnTo>
                    <a:pt x="524" y="2"/>
                  </a:lnTo>
                  <a:lnTo>
                    <a:pt x="524" y="0"/>
                  </a:lnTo>
                  <a:close/>
                  <a:moveTo>
                    <a:pt x="539" y="0"/>
                  </a:moveTo>
                  <a:lnTo>
                    <a:pt x="548" y="0"/>
                  </a:lnTo>
                  <a:lnTo>
                    <a:pt x="548" y="2"/>
                  </a:lnTo>
                  <a:lnTo>
                    <a:pt x="539" y="2"/>
                  </a:lnTo>
                  <a:lnTo>
                    <a:pt x="539" y="0"/>
                  </a:lnTo>
                  <a:close/>
                  <a:moveTo>
                    <a:pt x="554" y="0"/>
                  </a:moveTo>
                  <a:lnTo>
                    <a:pt x="563" y="0"/>
                  </a:lnTo>
                  <a:lnTo>
                    <a:pt x="563" y="2"/>
                  </a:lnTo>
                  <a:lnTo>
                    <a:pt x="554" y="2"/>
                  </a:lnTo>
                  <a:lnTo>
                    <a:pt x="554" y="0"/>
                  </a:lnTo>
                  <a:close/>
                  <a:moveTo>
                    <a:pt x="569" y="0"/>
                  </a:moveTo>
                  <a:lnTo>
                    <a:pt x="578" y="0"/>
                  </a:lnTo>
                  <a:lnTo>
                    <a:pt x="578" y="2"/>
                  </a:lnTo>
                  <a:lnTo>
                    <a:pt x="569" y="2"/>
                  </a:lnTo>
                  <a:lnTo>
                    <a:pt x="569" y="0"/>
                  </a:lnTo>
                  <a:close/>
                  <a:moveTo>
                    <a:pt x="584" y="0"/>
                  </a:moveTo>
                  <a:lnTo>
                    <a:pt x="593" y="0"/>
                  </a:lnTo>
                  <a:lnTo>
                    <a:pt x="593" y="2"/>
                  </a:lnTo>
                  <a:lnTo>
                    <a:pt x="584" y="2"/>
                  </a:lnTo>
                  <a:lnTo>
                    <a:pt x="584" y="0"/>
                  </a:lnTo>
                  <a:close/>
                  <a:moveTo>
                    <a:pt x="599" y="0"/>
                  </a:moveTo>
                  <a:lnTo>
                    <a:pt x="608" y="0"/>
                  </a:lnTo>
                  <a:lnTo>
                    <a:pt x="608" y="2"/>
                  </a:lnTo>
                  <a:lnTo>
                    <a:pt x="599" y="2"/>
                  </a:lnTo>
                  <a:lnTo>
                    <a:pt x="599" y="0"/>
                  </a:lnTo>
                  <a:close/>
                  <a:moveTo>
                    <a:pt x="614" y="0"/>
                  </a:moveTo>
                  <a:lnTo>
                    <a:pt x="622" y="0"/>
                  </a:lnTo>
                  <a:lnTo>
                    <a:pt x="622" y="2"/>
                  </a:lnTo>
                  <a:lnTo>
                    <a:pt x="614" y="2"/>
                  </a:lnTo>
                  <a:lnTo>
                    <a:pt x="614" y="0"/>
                  </a:lnTo>
                  <a:close/>
                  <a:moveTo>
                    <a:pt x="629" y="0"/>
                  </a:moveTo>
                  <a:lnTo>
                    <a:pt x="637" y="0"/>
                  </a:lnTo>
                  <a:lnTo>
                    <a:pt x="637" y="2"/>
                  </a:lnTo>
                  <a:lnTo>
                    <a:pt x="629" y="2"/>
                  </a:lnTo>
                  <a:lnTo>
                    <a:pt x="629" y="0"/>
                  </a:lnTo>
                  <a:close/>
                  <a:moveTo>
                    <a:pt x="644" y="0"/>
                  </a:moveTo>
                  <a:lnTo>
                    <a:pt x="652" y="0"/>
                  </a:lnTo>
                  <a:lnTo>
                    <a:pt x="652" y="2"/>
                  </a:lnTo>
                  <a:lnTo>
                    <a:pt x="644" y="2"/>
                  </a:lnTo>
                  <a:lnTo>
                    <a:pt x="644" y="0"/>
                  </a:lnTo>
                  <a:close/>
                  <a:moveTo>
                    <a:pt x="659" y="0"/>
                  </a:moveTo>
                  <a:lnTo>
                    <a:pt x="667" y="0"/>
                  </a:lnTo>
                  <a:lnTo>
                    <a:pt x="667" y="2"/>
                  </a:lnTo>
                  <a:lnTo>
                    <a:pt x="659" y="2"/>
                  </a:lnTo>
                  <a:lnTo>
                    <a:pt x="659" y="0"/>
                  </a:lnTo>
                  <a:close/>
                  <a:moveTo>
                    <a:pt x="674" y="0"/>
                  </a:moveTo>
                  <a:lnTo>
                    <a:pt x="676" y="0"/>
                  </a:lnTo>
                  <a:lnTo>
                    <a:pt x="676" y="2"/>
                  </a:lnTo>
                  <a:lnTo>
                    <a:pt x="674" y="2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727272"/>
            </a:solidFill>
            <a:ln w="0" cap="flat">
              <a:solidFill>
                <a:srgbClr val="727272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36" name="Freeform 273"/>
            <p:cNvSpPr>
              <a:spLocks noEditPoints="1"/>
            </p:cNvSpPr>
            <p:nvPr/>
          </p:nvSpPr>
          <p:spPr bwMode="auto">
            <a:xfrm>
              <a:off x="2699" y="3036"/>
              <a:ext cx="676" cy="2"/>
            </a:xfrm>
            <a:custGeom>
              <a:avLst/>
              <a:gdLst>
                <a:gd name="T0" fmla="*/ 0 w 676"/>
                <a:gd name="T1" fmla="*/ 2 h 2"/>
                <a:gd name="T2" fmla="*/ 24 w 676"/>
                <a:gd name="T3" fmla="*/ 2 h 2"/>
                <a:gd name="T4" fmla="*/ 39 w 676"/>
                <a:gd name="T5" fmla="*/ 0 h 2"/>
                <a:gd name="T6" fmla="*/ 45 w 676"/>
                <a:gd name="T7" fmla="*/ 0 h 2"/>
                <a:gd name="T8" fmla="*/ 45 w 676"/>
                <a:gd name="T9" fmla="*/ 0 h 2"/>
                <a:gd name="T10" fmla="*/ 60 w 676"/>
                <a:gd name="T11" fmla="*/ 2 h 2"/>
                <a:gd name="T12" fmla="*/ 83 w 676"/>
                <a:gd name="T13" fmla="*/ 2 h 2"/>
                <a:gd name="T14" fmla="*/ 98 w 676"/>
                <a:gd name="T15" fmla="*/ 0 h 2"/>
                <a:gd name="T16" fmla="*/ 105 w 676"/>
                <a:gd name="T17" fmla="*/ 0 h 2"/>
                <a:gd name="T18" fmla="*/ 105 w 676"/>
                <a:gd name="T19" fmla="*/ 0 h 2"/>
                <a:gd name="T20" fmla="*/ 120 w 676"/>
                <a:gd name="T21" fmla="*/ 2 h 2"/>
                <a:gd name="T22" fmla="*/ 143 w 676"/>
                <a:gd name="T23" fmla="*/ 2 h 2"/>
                <a:gd name="T24" fmla="*/ 158 w 676"/>
                <a:gd name="T25" fmla="*/ 0 h 2"/>
                <a:gd name="T26" fmla="*/ 165 w 676"/>
                <a:gd name="T27" fmla="*/ 0 h 2"/>
                <a:gd name="T28" fmla="*/ 165 w 676"/>
                <a:gd name="T29" fmla="*/ 0 h 2"/>
                <a:gd name="T30" fmla="*/ 180 w 676"/>
                <a:gd name="T31" fmla="*/ 2 h 2"/>
                <a:gd name="T32" fmla="*/ 203 w 676"/>
                <a:gd name="T33" fmla="*/ 2 h 2"/>
                <a:gd name="T34" fmla="*/ 218 w 676"/>
                <a:gd name="T35" fmla="*/ 0 h 2"/>
                <a:gd name="T36" fmla="*/ 225 w 676"/>
                <a:gd name="T37" fmla="*/ 0 h 2"/>
                <a:gd name="T38" fmla="*/ 225 w 676"/>
                <a:gd name="T39" fmla="*/ 0 h 2"/>
                <a:gd name="T40" fmla="*/ 240 w 676"/>
                <a:gd name="T41" fmla="*/ 2 h 2"/>
                <a:gd name="T42" fmla="*/ 263 w 676"/>
                <a:gd name="T43" fmla="*/ 2 h 2"/>
                <a:gd name="T44" fmla="*/ 278 w 676"/>
                <a:gd name="T45" fmla="*/ 0 h 2"/>
                <a:gd name="T46" fmla="*/ 285 w 676"/>
                <a:gd name="T47" fmla="*/ 0 h 2"/>
                <a:gd name="T48" fmla="*/ 285 w 676"/>
                <a:gd name="T49" fmla="*/ 0 h 2"/>
                <a:gd name="T50" fmla="*/ 300 w 676"/>
                <a:gd name="T51" fmla="*/ 2 h 2"/>
                <a:gd name="T52" fmla="*/ 323 w 676"/>
                <a:gd name="T53" fmla="*/ 2 h 2"/>
                <a:gd name="T54" fmla="*/ 338 w 676"/>
                <a:gd name="T55" fmla="*/ 0 h 2"/>
                <a:gd name="T56" fmla="*/ 344 w 676"/>
                <a:gd name="T57" fmla="*/ 0 h 2"/>
                <a:gd name="T58" fmla="*/ 344 w 676"/>
                <a:gd name="T59" fmla="*/ 0 h 2"/>
                <a:gd name="T60" fmla="*/ 359 w 676"/>
                <a:gd name="T61" fmla="*/ 2 h 2"/>
                <a:gd name="T62" fmla="*/ 383 w 676"/>
                <a:gd name="T63" fmla="*/ 2 h 2"/>
                <a:gd name="T64" fmla="*/ 398 w 676"/>
                <a:gd name="T65" fmla="*/ 0 h 2"/>
                <a:gd name="T66" fmla="*/ 404 w 676"/>
                <a:gd name="T67" fmla="*/ 0 h 2"/>
                <a:gd name="T68" fmla="*/ 404 w 676"/>
                <a:gd name="T69" fmla="*/ 0 h 2"/>
                <a:gd name="T70" fmla="*/ 419 w 676"/>
                <a:gd name="T71" fmla="*/ 2 h 2"/>
                <a:gd name="T72" fmla="*/ 443 w 676"/>
                <a:gd name="T73" fmla="*/ 2 h 2"/>
                <a:gd name="T74" fmla="*/ 458 w 676"/>
                <a:gd name="T75" fmla="*/ 0 h 2"/>
                <a:gd name="T76" fmla="*/ 464 w 676"/>
                <a:gd name="T77" fmla="*/ 0 h 2"/>
                <a:gd name="T78" fmla="*/ 464 w 676"/>
                <a:gd name="T79" fmla="*/ 0 h 2"/>
                <a:gd name="T80" fmla="*/ 479 w 676"/>
                <a:gd name="T81" fmla="*/ 2 h 2"/>
                <a:gd name="T82" fmla="*/ 503 w 676"/>
                <a:gd name="T83" fmla="*/ 2 h 2"/>
                <a:gd name="T84" fmla="*/ 518 w 676"/>
                <a:gd name="T85" fmla="*/ 0 h 2"/>
                <a:gd name="T86" fmla="*/ 524 w 676"/>
                <a:gd name="T87" fmla="*/ 0 h 2"/>
                <a:gd name="T88" fmla="*/ 524 w 676"/>
                <a:gd name="T89" fmla="*/ 0 h 2"/>
                <a:gd name="T90" fmla="*/ 539 w 676"/>
                <a:gd name="T91" fmla="*/ 2 h 2"/>
                <a:gd name="T92" fmla="*/ 563 w 676"/>
                <a:gd name="T93" fmla="*/ 2 h 2"/>
                <a:gd name="T94" fmla="*/ 578 w 676"/>
                <a:gd name="T95" fmla="*/ 0 h 2"/>
                <a:gd name="T96" fmla="*/ 584 w 676"/>
                <a:gd name="T97" fmla="*/ 0 h 2"/>
                <a:gd name="T98" fmla="*/ 584 w 676"/>
                <a:gd name="T99" fmla="*/ 0 h 2"/>
                <a:gd name="T100" fmla="*/ 599 w 676"/>
                <a:gd name="T101" fmla="*/ 2 h 2"/>
                <a:gd name="T102" fmla="*/ 622 w 676"/>
                <a:gd name="T103" fmla="*/ 2 h 2"/>
                <a:gd name="T104" fmla="*/ 637 w 676"/>
                <a:gd name="T105" fmla="*/ 0 h 2"/>
                <a:gd name="T106" fmla="*/ 644 w 676"/>
                <a:gd name="T107" fmla="*/ 0 h 2"/>
                <a:gd name="T108" fmla="*/ 644 w 676"/>
                <a:gd name="T109" fmla="*/ 0 h 2"/>
                <a:gd name="T110" fmla="*/ 659 w 676"/>
                <a:gd name="T111" fmla="*/ 2 h 2"/>
                <a:gd name="T112" fmla="*/ 676 w 676"/>
                <a:gd name="T113" fmla="*/ 2 h 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676" h="2">
                  <a:moveTo>
                    <a:pt x="0" y="0"/>
                  </a:moveTo>
                  <a:lnTo>
                    <a:pt x="9" y="0"/>
                  </a:lnTo>
                  <a:lnTo>
                    <a:pt x="9" y="2"/>
                  </a:lnTo>
                  <a:lnTo>
                    <a:pt x="0" y="2"/>
                  </a:lnTo>
                  <a:lnTo>
                    <a:pt x="0" y="0"/>
                  </a:lnTo>
                  <a:close/>
                  <a:moveTo>
                    <a:pt x="15" y="0"/>
                  </a:moveTo>
                  <a:lnTo>
                    <a:pt x="24" y="0"/>
                  </a:lnTo>
                  <a:lnTo>
                    <a:pt x="24" y="2"/>
                  </a:lnTo>
                  <a:lnTo>
                    <a:pt x="15" y="2"/>
                  </a:lnTo>
                  <a:lnTo>
                    <a:pt x="15" y="0"/>
                  </a:lnTo>
                  <a:close/>
                  <a:moveTo>
                    <a:pt x="30" y="0"/>
                  </a:moveTo>
                  <a:lnTo>
                    <a:pt x="39" y="0"/>
                  </a:lnTo>
                  <a:lnTo>
                    <a:pt x="39" y="2"/>
                  </a:lnTo>
                  <a:lnTo>
                    <a:pt x="30" y="2"/>
                  </a:lnTo>
                  <a:lnTo>
                    <a:pt x="30" y="0"/>
                  </a:lnTo>
                  <a:close/>
                  <a:moveTo>
                    <a:pt x="45" y="0"/>
                  </a:moveTo>
                  <a:lnTo>
                    <a:pt x="54" y="0"/>
                  </a:lnTo>
                  <a:lnTo>
                    <a:pt x="54" y="2"/>
                  </a:lnTo>
                  <a:lnTo>
                    <a:pt x="45" y="2"/>
                  </a:lnTo>
                  <a:lnTo>
                    <a:pt x="45" y="0"/>
                  </a:lnTo>
                  <a:close/>
                  <a:moveTo>
                    <a:pt x="60" y="0"/>
                  </a:moveTo>
                  <a:lnTo>
                    <a:pt x="69" y="0"/>
                  </a:lnTo>
                  <a:lnTo>
                    <a:pt x="69" y="2"/>
                  </a:lnTo>
                  <a:lnTo>
                    <a:pt x="60" y="2"/>
                  </a:lnTo>
                  <a:lnTo>
                    <a:pt x="60" y="0"/>
                  </a:lnTo>
                  <a:close/>
                  <a:moveTo>
                    <a:pt x="75" y="0"/>
                  </a:moveTo>
                  <a:lnTo>
                    <a:pt x="83" y="0"/>
                  </a:lnTo>
                  <a:lnTo>
                    <a:pt x="83" y="2"/>
                  </a:lnTo>
                  <a:lnTo>
                    <a:pt x="75" y="2"/>
                  </a:lnTo>
                  <a:lnTo>
                    <a:pt x="75" y="0"/>
                  </a:lnTo>
                  <a:close/>
                  <a:moveTo>
                    <a:pt x="90" y="0"/>
                  </a:moveTo>
                  <a:lnTo>
                    <a:pt x="98" y="0"/>
                  </a:lnTo>
                  <a:lnTo>
                    <a:pt x="98" y="2"/>
                  </a:lnTo>
                  <a:lnTo>
                    <a:pt x="90" y="2"/>
                  </a:lnTo>
                  <a:lnTo>
                    <a:pt x="90" y="0"/>
                  </a:lnTo>
                  <a:close/>
                  <a:moveTo>
                    <a:pt x="105" y="0"/>
                  </a:moveTo>
                  <a:lnTo>
                    <a:pt x="113" y="0"/>
                  </a:lnTo>
                  <a:lnTo>
                    <a:pt x="113" y="2"/>
                  </a:lnTo>
                  <a:lnTo>
                    <a:pt x="105" y="2"/>
                  </a:lnTo>
                  <a:lnTo>
                    <a:pt x="105" y="0"/>
                  </a:lnTo>
                  <a:close/>
                  <a:moveTo>
                    <a:pt x="120" y="0"/>
                  </a:moveTo>
                  <a:lnTo>
                    <a:pt x="128" y="0"/>
                  </a:lnTo>
                  <a:lnTo>
                    <a:pt x="128" y="2"/>
                  </a:lnTo>
                  <a:lnTo>
                    <a:pt x="120" y="2"/>
                  </a:lnTo>
                  <a:lnTo>
                    <a:pt x="120" y="0"/>
                  </a:lnTo>
                  <a:close/>
                  <a:moveTo>
                    <a:pt x="135" y="0"/>
                  </a:moveTo>
                  <a:lnTo>
                    <a:pt x="143" y="0"/>
                  </a:lnTo>
                  <a:lnTo>
                    <a:pt x="143" y="2"/>
                  </a:lnTo>
                  <a:lnTo>
                    <a:pt x="135" y="2"/>
                  </a:lnTo>
                  <a:lnTo>
                    <a:pt x="135" y="0"/>
                  </a:lnTo>
                  <a:close/>
                  <a:moveTo>
                    <a:pt x="150" y="0"/>
                  </a:moveTo>
                  <a:lnTo>
                    <a:pt x="158" y="0"/>
                  </a:lnTo>
                  <a:lnTo>
                    <a:pt x="158" y="2"/>
                  </a:lnTo>
                  <a:lnTo>
                    <a:pt x="150" y="2"/>
                  </a:lnTo>
                  <a:lnTo>
                    <a:pt x="150" y="0"/>
                  </a:lnTo>
                  <a:close/>
                  <a:moveTo>
                    <a:pt x="165" y="0"/>
                  </a:moveTo>
                  <a:lnTo>
                    <a:pt x="173" y="0"/>
                  </a:lnTo>
                  <a:lnTo>
                    <a:pt x="173" y="2"/>
                  </a:lnTo>
                  <a:lnTo>
                    <a:pt x="165" y="2"/>
                  </a:lnTo>
                  <a:lnTo>
                    <a:pt x="165" y="0"/>
                  </a:lnTo>
                  <a:close/>
                  <a:moveTo>
                    <a:pt x="180" y="0"/>
                  </a:moveTo>
                  <a:lnTo>
                    <a:pt x="188" y="0"/>
                  </a:lnTo>
                  <a:lnTo>
                    <a:pt x="188" y="2"/>
                  </a:lnTo>
                  <a:lnTo>
                    <a:pt x="180" y="2"/>
                  </a:lnTo>
                  <a:lnTo>
                    <a:pt x="180" y="0"/>
                  </a:lnTo>
                  <a:close/>
                  <a:moveTo>
                    <a:pt x="195" y="0"/>
                  </a:moveTo>
                  <a:lnTo>
                    <a:pt x="203" y="0"/>
                  </a:lnTo>
                  <a:lnTo>
                    <a:pt x="203" y="2"/>
                  </a:lnTo>
                  <a:lnTo>
                    <a:pt x="195" y="2"/>
                  </a:lnTo>
                  <a:lnTo>
                    <a:pt x="195" y="0"/>
                  </a:lnTo>
                  <a:close/>
                  <a:moveTo>
                    <a:pt x="210" y="0"/>
                  </a:moveTo>
                  <a:lnTo>
                    <a:pt x="218" y="0"/>
                  </a:lnTo>
                  <a:lnTo>
                    <a:pt x="218" y="2"/>
                  </a:lnTo>
                  <a:lnTo>
                    <a:pt x="210" y="2"/>
                  </a:lnTo>
                  <a:lnTo>
                    <a:pt x="210" y="0"/>
                  </a:lnTo>
                  <a:close/>
                  <a:moveTo>
                    <a:pt x="225" y="0"/>
                  </a:moveTo>
                  <a:lnTo>
                    <a:pt x="233" y="0"/>
                  </a:lnTo>
                  <a:lnTo>
                    <a:pt x="233" y="2"/>
                  </a:lnTo>
                  <a:lnTo>
                    <a:pt x="225" y="2"/>
                  </a:lnTo>
                  <a:lnTo>
                    <a:pt x="225" y="0"/>
                  </a:lnTo>
                  <a:close/>
                  <a:moveTo>
                    <a:pt x="240" y="0"/>
                  </a:moveTo>
                  <a:lnTo>
                    <a:pt x="248" y="0"/>
                  </a:lnTo>
                  <a:lnTo>
                    <a:pt x="248" y="2"/>
                  </a:lnTo>
                  <a:lnTo>
                    <a:pt x="240" y="2"/>
                  </a:lnTo>
                  <a:lnTo>
                    <a:pt x="240" y="0"/>
                  </a:lnTo>
                  <a:close/>
                  <a:moveTo>
                    <a:pt x="255" y="0"/>
                  </a:moveTo>
                  <a:lnTo>
                    <a:pt x="263" y="0"/>
                  </a:lnTo>
                  <a:lnTo>
                    <a:pt x="263" y="2"/>
                  </a:lnTo>
                  <a:lnTo>
                    <a:pt x="255" y="2"/>
                  </a:lnTo>
                  <a:lnTo>
                    <a:pt x="255" y="0"/>
                  </a:lnTo>
                  <a:close/>
                  <a:moveTo>
                    <a:pt x="270" y="0"/>
                  </a:moveTo>
                  <a:lnTo>
                    <a:pt x="278" y="0"/>
                  </a:lnTo>
                  <a:lnTo>
                    <a:pt x="278" y="2"/>
                  </a:lnTo>
                  <a:lnTo>
                    <a:pt x="270" y="2"/>
                  </a:lnTo>
                  <a:lnTo>
                    <a:pt x="270" y="0"/>
                  </a:lnTo>
                  <a:close/>
                  <a:moveTo>
                    <a:pt x="285" y="0"/>
                  </a:moveTo>
                  <a:lnTo>
                    <a:pt x="293" y="0"/>
                  </a:lnTo>
                  <a:lnTo>
                    <a:pt x="293" y="2"/>
                  </a:lnTo>
                  <a:lnTo>
                    <a:pt x="285" y="2"/>
                  </a:lnTo>
                  <a:lnTo>
                    <a:pt x="285" y="0"/>
                  </a:lnTo>
                  <a:close/>
                  <a:moveTo>
                    <a:pt x="300" y="0"/>
                  </a:moveTo>
                  <a:lnTo>
                    <a:pt x="308" y="0"/>
                  </a:lnTo>
                  <a:lnTo>
                    <a:pt x="308" y="2"/>
                  </a:lnTo>
                  <a:lnTo>
                    <a:pt x="300" y="2"/>
                  </a:lnTo>
                  <a:lnTo>
                    <a:pt x="300" y="0"/>
                  </a:lnTo>
                  <a:close/>
                  <a:moveTo>
                    <a:pt x="314" y="0"/>
                  </a:moveTo>
                  <a:lnTo>
                    <a:pt x="323" y="0"/>
                  </a:lnTo>
                  <a:lnTo>
                    <a:pt x="323" y="2"/>
                  </a:lnTo>
                  <a:lnTo>
                    <a:pt x="314" y="2"/>
                  </a:lnTo>
                  <a:lnTo>
                    <a:pt x="314" y="0"/>
                  </a:lnTo>
                  <a:close/>
                  <a:moveTo>
                    <a:pt x="329" y="0"/>
                  </a:moveTo>
                  <a:lnTo>
                    <a:pt x="338" y="0"/>
                  </a:lnTo>
                  <a:lnTo>
                    <a:pt x="338" y="2"/>
                  </a:lnTo>
                  <a:lnTo>
                    <a:pt x="329" y="2"/>
                  </a:lnTo>
                  <a:lnTo>
                    <a:pt x="329" y="0"/>
                  </a:lnTo>
                  <a:close/>
                  <a:moveTo>
                    <a:pt x="344" y="0"/>
                  </a:moveTo>
                  <a:lnTo>
                    <a:pt x="353" y="0"/>
                  </a:lnTo>
                  <a:lnTo>
                    <a:pt x="353" y="2"/>
                  </a:lnTo>
                  <a:lnTo>
                    <a:pt x="344" y="2"/>
                  </a:lnTo>
                  <a:lnTo>
                    <a:pt x="344" y="0"/>
                  </a:lnTo>
                  <a:close/>
                  <a:moveTo>
                    <a:pt x="359" y="0"/>
                  </a:moveTo>
                  <a:lnTo>
                    <a:pt x="368" y="0"/>
                  </a:lnTo>
                  <a:lnTo>
                    <a:pt x="368" y="2"/>
                  </a:lnTo>
                  <a:lnTo>
                    <a:pt x="359" y="2"/>
                  </a:lnTo>
                  <a:lnTo>
                    <a:pt x="359" y="0"/>
                  </a:lnTo>
                  <a:close/>
                  <a:moveTo>
                    <a:pt x="374" y="0"/>
                  </a:moveTo>
                  <a:lnTo>
                    <a:pt x="383" y="0"/>
                  </a:lnTo>
                  <a:lnTo>
                    <a:pt x="383" y="2"/>
                  </a:lnTo>
                  <a:lnTo>
                    <a:pt x="374" y="2"/>
                  </a:lnTo>
                  <a:lnTo>
                    <a:pt x="374" y="0"/>
                  </a:lnTo>
                  <a:close/>
                  <a:moveTo>
                    <a:pt x="389" y="0"/>
                  </a:moveTo>
                  <a:lnTo>
                    <a:pt x="398" y="0"/>
                  </a:lnTo>
                  <a:lnTo>
                    <a:pt x="398" y="2"/>
                  </a:lnTo>
                  <a:lnTo>
                    <a:pt x="389" y="2"/>
                  </a:lnTo>
                  <a:lnTo>
                    <a:pt x="389" y="0"/>
                  </a:lnTo>
                  <a:close/>
                  <a:moveTo>
                    <a:pt x="404" y="0"/>
                  </a:moveTo>
                  <a:lnTo>
                    <a:pt x="413" y="0"/>
                  </a:lnTo>
                  <a:lnTo>
                    <a:pt x="413" y="2"/>
                  </a:lnTo>
                  <a:lnTo>
                    <a:pt x="404" y="2"/>
                  </a:lnTo>
                  <a:lnTo>
                    <a:pt x="404" y="0"/>
                  </a:lnTo>
                  <a:close/>
                  <a:moveTo>
                    <a:pt x="419" y="0"/>
                  </a:moveTo>
                  <a:lnTo>
                    <a:pt x="428" y="0"/>
                  </a:lnTo>
                  <a:lnTo>
                    <a:pt x="428" y="2"/>
                  </a:lnTo>
                  <a:lnTo>
                    <a:pt x="419" y="2"/>
                  </a:lnTo>
                  <a:lnTo>
                    <a:pt x="419" y="0"/>
                  </a:lnTo>
                  <a:close/>
                  <a:moveTo>
                    <a:pt x="434" y="0"/>
                  </a:moveTo>
                  <a:lnTo>
                    <a:pt x="443" y="0"/>
                  </a:lnTo>
                  <a:lnTo>
                    <a:pt x="443" y="2"/>
                  </a:lnTo>
                  <a:lnTo>
                    <a:pt x="434" y="2"/>
                  </a:lnTo>
                  <a:lnTo>
                    <a:pt x="434" y="0"/>
                  </a:lnTo>
                  <a:close/>
                  <a:moveTo>
                    <a:pt x="449" y="0"/>
                  </a:moveTo>
                  <a:lnTo>
                    <a:pt x="458" y="0"/>
                  </a:lnTo>
                  <a:lnTo>
                    <a:pt x="458" y="2"/>
                  </a:lnTo>
                  <a:lnTo>
                    <a:pt x="449" y="2"/>
                  </a:lnTo>
                  <a:lnTo>
                    <a:pt x="449" y="0"/>
                  </a:lnTo>
                  <a:close/>
                  <a:moveTo>
                    <a:pt x="464" y="0"/>
                  </a:moveTo>
                  <a:lnTo>
                    <a:pt x="473" y="0"/>
                  </a:lnTo>
                  <a:lnTo>
                    <a:pt x="473" y="2"/>
                  </a:lnTo>
                  <a:lnTo>
                    <a:pt x="464" y="2"/>
                  </a:lnTo>
                  <a:lnTo>
                    <a:pt x="464" y="0"/>
                  </a:lnTo>
                  <a:close/>
                  <a:moveTo>
                    <a:pt x="479" y="0"/>
                  </a:moveTo>
                  <a:lnTo>
                    <a:pt x="488" y="0"/>
                  </a:lnTo>
                  <a:lnTo>
                    <a:pt x="488" y="2"/>
                  </a:lnTo>
                  <a:lnTo>
                    <a:pt x="479" y="2"/>
                  </a:lnTo>
                  <a:lnTo>
                    <a:pt x="479" y="0"/>
                  </a:lnTo>
                  <a:close/>
                  <a:moveTo>
                    <a:pt x="494" y="0"/>
                  </a:moveTo>
                  <a:lnTo>
                    <a:pt x="503" y="0"/>
                  </a:lnTo>
                  <a:lnTo>
                    <a:pt x="503" y="2"/>
                  </a:lnTo>
                  <a:lnTo>
                    <a:pt x="494" y="2"/>
                  </a:lnTo>
                  <a:lnTo>
                    <a:pt x="494" y="0"/>
                  </a:lnTo>
                  <a:close/>
                  <a:moveTo>
                    <a:pt x="509" y="0"/>
                  </a:moveTo>
                  <a:lnTo>
                    <a:pt x="518" y="0"/>
                  </a:lnTo>
                  <a:lnTo>
                    <a:pt x="518" y="2"/>
                  </a:lnTo>
                  <a:lnTo>
                    <a:pt x="509" y="2"/>
                  </a:lnTo>
                  <a:lnTo>
                    <a:pt x="509" y="0"/>
                  </a:lnTo>
                  <a:close/>
                  <a:moveTo>
                    <a:pt x="524" y="0"/>
                  </a:moveTo>
                  <a:lnTo>
                    <a:pt x="533" y="0"/>
                  </a:lnTo>
                  <a:lnTo>
                    <a:pt x="533" y="2"/>
                  </a:lnTo>
                  <a:lnTo>
                    <a:pt x="524" y="2"/>
                  </a:lnTo>
                  <a:lnTo>
                    <a:pt x="524" y="0"/>
                  </a:lnTo>
                  <a:close/>
                  <a:moveTo>
                    <a:pt x="539" y="0"/>
                  </a:moveTo>
                  <a:lnTo>
                    <a:pt x="548" y="0"/>
                  </a:lnTo>
                  <a:lnTo>
                    <a:pt x="548" y="2"/>
                  </a:lnTo>
                  <a:lnTo>
                    <a:pt x="539" y="2"/>
                  </a:lnTo>
                  <a:lnTo>
                    <a:pt x="539" y="0"/>
                  </a:lnTo>
                  <a:close/>
                  <a:moveTo>
                    <a:pt x="554" y="0"/>
                  </a:moveTo>
                  <a:lnTo>
                    <a:pt x="563" y="0"/>
                  </a:lnTo>
                  <a:lnTo>
                    <a:pt x="563" y="2"/>
                  </a:lnTo>
                  <a:lnTo>
                    <a:pt x="554" y="2"/>
                  </a:lnTo>
                  <a:lnTo>
                    <a:pt x="554" y="0"/>
                  </a:lnTo>
                  <a:close/>
                  <a:moveTo>
                    <a:pt x="569" y="0"/>
                  </a:moveTo>
                  <a:lnTo>
                    <a:pt x="578" y="0"/>
                  </a:lnTo>
                  <a:lnTo>
                    <a:pt x="578" y="2"/>
                  </a:lnTo>
                  <a:lnTo>
                    <a:pt x="569" y="2"/>
                  </a:lnTo>
                  <a:lnTo>
                    <a:pt x="569" y="0"/>
                  </a:lnTo>
                  <a:close/>
                  <a:moveTo>
                    <a:pt x="584" y="0"/>
                  </a:moveTo>
                  <a:lnTo>
                    <a:pt x="593" y="0"/>
                  </a:lnTo>
                  <a:lnTo>
                    <a:pt x="593" y="2"/>
                  </a:lnTo>
                  <a:lnTo>
                    <a:pt x="584" y="2"/>
                  </a:lnTo>
                  <a:lnTo>
                    <a:pt x="584" y="0"/>
                  </a:lnTo>
                  <a:close/>
                  <a:moveTo>
                    <a:pt x="599" y="0"/>
                  </a:moveTo>
                  <a:lnTo>
                    <a:pt x="608" y="0"/>
                  </a:lnTo>
                  <a:lnTo>
                    <a:pt x="608" y="2"/>
                  </a:lnTo>
                  <a:lnTo>
                    <a:pt x="599" y="2"/>
                  </a:lnTo>
                  <a:lnTo>
                    <a:pt x="599" y="0"/>
                  </a:lnTo>
                  <a:close/>
                  <a:moveTo>
                    <a:pt x="614" y="0"/>
                  </a:moveTo>
                  <a:lnTo>
                    <a:pt x="622" y="0"/>
                  </a:lnTo>
                  <a:lnTo>
                    <a:pt x="622" y="2"/>
                  </a:lnTo>
                  <a:lnTo>
                    <a:pt x="614" y="2"/>
                  </a:lnTo>
                  <a:lnTo>
                    <a:pt x="614" y="0"/>
                  </a:lnTo>
                  <a:close/>
                  <a:moveTo>
                    <a:pt x="629" y="0"/>
                  </a:moveTo>
                  <a:lnTo>
                    <a:pt x="637" y="0"/>
                  </a:lnTo>
                  <a:lnTo>
                    <a:pt x="637" y="2"/>
                  </a:lnTo>
                  <a:lnTo>
                    <a:pt x="629" y="2"/>
                  </a:lnTo>
                  <a:lnTo>
                    <a:pt x="629" y="0"/>
                  </a:lnTo>
                  <a:close/>
                  <a:moveTo>
                    <a:pt x="644" y="0"/>
                  </a:moveTo>
                  <a:lnTo>
                    <a:pt x="652" y="0"/>
                  </a:lnTo>
                  <a:lnTo>
                    <a:pt x="652" y="2"/>
                  </a:lnTo>
                  <a:lnTo>
                    <a:pt x="644" y="2"/>
                  </a:lnTo>
                  <a:lnTo>
                    <a:pt x="644" y="0"/>
                  </a:lnTo>
                  <a:close/>
                  <a:moveTo>
                    <a:pt x="659" y="0"/>
                  </a:moveTo>
                  <a:lnTo>
                    <a:pt x="667" y="0"/>
                  </a:lnTo>
                  <a:lnTo>
                    <a:pt x="667" y="2"/>
                  </a:lnTo>
                  <a:lnTo>
                    <a:pt x="659" y="2"/>
                  </a:lnTo>
                  <a:lnTo>
                    <a:pt x="659" y="0"/>
                  </a:lnTo>
                  <a:close/>
                  <a:moveTo>
                    <a:pt x="674" y="0"/>
                  </a:moveTo>
                  <a:lnTo>
                    <a:pt x="676" y="0"/>
                  </a:lnTo>
                  <a:lnTo>
                    <a:pt x="676" y="2"/>
                  </a:lnTo>
                  <a:lnTo>
                    <a:pt x="674" y="2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727272"/>
            </a:solidFill>
            <a:ln w="0" cap="flat">
              <a:solidFill>
                <a:srgbClr val="727272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37" name="Rectangle 274"/>
            <p:cNvSpPr>
              <a:spLocks noChangeArrowheads="1"/>
            </p:cNvSpPr>
            <p:nvPr/>
          </p:nvSpPr>
          <p:spPr bwMode="auto">
            <a:xfrm>
              <a:off x="3116" y="2904"/>
              <a:ext cx="31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our business will need to become (TOM)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38" name="Rectangle 275"/>
            <p:cNvSpPr>
              <a:spLocks noChangeArrowheads="1"/>
            </p:cNvSpPr>
            <p:nvPr/>
          </p:nvSpPr>
          <p:spPr bwMode="auto">
            <a:xfrm>
              <a:off x="3139" y="2936"/>
              <a:ext cx="258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we need to change to become it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39" name="Rectangle 276"/>
            <p:cNvSpPr>
              <a:spLocks noChangeArrowheads="1"/>
            </p:cNvSpPr>
            <p:nvPr/>
          </p:nvSpPr>
          <p:spPr bwMode="auto">
            <a:xfrm>
              <a:off x="3116" y="2968"/>
              <a:ext cx="31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Ensuring design in change delivery fits TOM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0" name="Rectangle 277"/>
            <p:cNvSpPr>
              <a:spLocks noChangeArrowheads="1"/>
            </p:cNvSpPr>
            <p:nvPr/>
          </p:nvSpPr>
          <p:spPr bwMode="auto">
            <a:xfrm>
              <a:off x="3177" y="2770"/>
              <a:ext cx="177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What business we are in 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1" name="Rectangle 278"/>
            <p:cNvSpPr>
              <a:spLocks noChangeArrowheads="1"/>
            </p:cNvSpPr>
            <p:nvPr/>
          </p:nvSpPr>
          <p:spPr bwMode="auto">
            <a:xfrm>
              <a:off x="3126" y="2794"/>
              <a:ext cx="310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The goals and the courses of action needed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2" name="Rectangle 279"/>
            <p:cNvSpPr>
              <a:spLocks noChangeArrowheads="1"/>
            </p:cNvSpPr>
            <p:nvPr/>
          </p:nvSpPr>
          <p:spPr bwMode="auto">
            <a:xfrm>
              <a:off x="3180" y="3081"/>
              <a:ext cx="185" cy="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Delivery of those changes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3" name="Rectangle 280"/>
            <p:cNvSpPr>
              <a:spLocks noChangeArrowheads="1"/>
            </p:cNvSpPr>
            <p:nvPr/>
          </p:nvSpPr>
          <p:spPr bwMode="auto">
            <a:xfrm rot="-5400000">
              <a:off x="2616" y="2908"/>
              <a:ext cx="10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Line of Sight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4" name="Freeform 281"/>
            <p:cNvSpPr>
              <a:spLocks noEditPoints="1"/>
            </p:cNvSpPr>
            <p:nvPr/>
          </p:nvSpPr>
          <p:spPr bwMode="auto">
            <a:xfrm>
              <a:off x="2640" y="2992"/>
              <a:ext cx="13" cy="107"/>
            </a:xfrm>
            <a:custGeom>
              <a:avLst/>
              <a:gdLst>
                <a:gd name="T0" fmla="*/ 7 w 13"/>
                <a:gd name="T1" fmla="*/ 0 h 107"/>
                <a:gd name="T2" fmla="*/ 7 w 13"/>
                <a:gd name="T3" fmla="*/ 96 h 107"/>
                <a:gd name="T4" fmla="*/ 5 w 13"/>
                <a:gd name="T5" fmla="*/ 96 h 107"/>
                <a:gd name="T6" fmla="*/ 5 w 13"/>
                <a:gd name="T7" fmla="*/ 0 h 107"/>
                <a:gd name="T8" fmla="*/ 7 w 13"/>
                <a:gd name="T9" fmla="*/ 0 h 107"/>
                <a:gd name="T10" fmla="*/ 13 w 13"/>
                <a:gd name="T11" fmla="*/ 94 h 107"/>
                <a:gd name="T12" fmla="*/ 6 w 13"/>
                <a:gd name="T13" fmla="*/ 107 h 107"/>
                <a:gd name="T14" fmla="*/ 0 w 13"/>
                <a:gd name="T15" fmla="*/ 94 h 107"/>
                <a:gd name="T16" fmla="*/ 13 w 13"/>
                <a:gd name="T17" fmla="*/ 94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7">
                  <a:moveTo>
                    <a:pt x="7" y="0"/>
                  </a:moveTo>
                  <a:lnTo>
                    <a:pt x="7" y="96"/>
                  </a:lnTo>
                  <a:lnTo>
                    <a:pt x="5" y="96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3" y="94"/>
                  </a:moveTo>
                  <a:lnTo>
                    <a:pt x="6" y="107"/>
                  </a:lnTo>
                  <a:lnTo>
                    <a:pt x="0" y="94"/>
                  </a:lnTo>
                  <a:lnTo>
                    <a:pt x="13" y="9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45" name="Freeform 282"/>
            <p:cNvSpPr>
              <a:spLocks noEditPoints="1"/>
            </p:cNvSpPr>
            <p:nvPr/>
          </p:nvSpPr>
          <p:spPr bwMode="auto">
            <a:xfrm>
              <a:off x="2640" y="2747"/>
              <a:ext cx="13" cy="108"/>
            </a:xfrm>
            <a:custGeom>
              <a:avLst/>
              <a:gdLst>
                <a:gd name="T0" fmla="*/ 7 w 13"/>
                <a:gd name="T1" fmla="*/ 11 h 108"/>
                <a:gd name="T2" fmla="*/ 7 w 13"/>
                <a:gd name="T3" fmla="*/ 108 h 108"/>
                <a:gd name="T4" fmla="*/ 5 w 13"/>
                <a:gd name="T5" fmla="*/ 108 h 108"/>
                <a:gd name="T6" fmla="*/ 5 w 13"/>
                <a:gd name="T7" fmla="*/ 11 h 108"/>
                <a:gd name="T8" fmla="*/ 7 w 13"/>
                <a:gd name="T9" fmla="*/ 11 h 108"/>
                <a:gd name="T10" fmla="*/ 0 w 13"/>
                <a:gd name="T11" fmla="*/ 14 h 108"/>
                <a:gd name="T12" fmla="*/ 6 w 13"/>
                <a:gd name="T13" fmla="*/ 0 h 108"/>
                <a:gd name="T14" fmla="*/ 13 w 13"/>
                <a:gd name="T15" fmla="*/ 14 h 108"/>
                <a:gd name="T16" fmla="*/ 0 w 13"/>
                <a:gd name="T17" fmla="*/ 14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8">
                  <a:moveTo>
                    <a:pt x="7" y="11"/>
                  </a:moveTo>
                  <a:lnTo>
                    <a:pt x="7" y="108"/>
                  </a:lnTo>
                  <a:lnTo>
                    <a:pt x="5" y="108"/>
                  </a:lnTo>
                  <a:lnTo>
                    <a:pt x="5" y="11"/>
                  </a:lnTo>
                  <a:lnTo>
                    <a:pt x="7" y="11"/>
                  </a:lnTo>
                  <a:close/>
                  <a:moveTo>
                    <a:pt x="0" y="14"/>
                  </a:moveTo>
                  <a:lnTo>
                    <a:pt x="6" y="0"/>
                  </a:lnTo>
                  <a:lnTo>
                    <a:pt x="1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beve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946" name="Rectangle 283"/>
            <p:cNvSpPr>
              <a:spLocks noChangeArrowheads="1"/>
            </p:cNvSpPr>
            <p:nvPr/>
          </p:nvSpPr>
          <p:spPr bwMode="auto">
            <a:xfrm rot="-5400000">
              <a:off x="2583" y="2869"/>
              <a:ext cx="180" cy="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Virtual team: size and shape varies according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4947" name="Rectangle 284"/>
            <p:cNvSpPr>
              <a:spLocks noChangeArrowheads="1"/>
            </p:cNvSpPr>
            <p:nvPr/>
          </p:nvSpPr>
          <p:spPr bwMode="auto">
            <a:xfrm rot="-5400000">
              <a:off x="2602" y="2868"/>
              <a:ext cx="168" cy="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to change agenda and operating environment</a:t>
              </a:r>
              <a:endPara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34842" name="Text Box 285"/>
          <p:cNvSpPr txBox="1">
            <a:spLocks noChangeArrowheads="1"/>
          </p:cNvSpPr>
          <p:nvPr/>
        </p:nvSpPr>
        <p:spPr bwMode="auto">
          <a:xfrm>
            <a:off x="3094038" y="2217738"/>
            <a:ext cx="1293812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公司战略定位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愿景及在哪里竞争</a:t>
            </a:r>
            <a:endParaRPr lang="zh-CN" altLang="en-US" sz="12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3" name="Text Box 286"/>
          <p:cNvSpPr txBox="1">
            <a:spLocks noChangeArrowheads="1"/>
          </p:cNvSpPr>
          <p:nvPr/>
        </p:nvSpPr>
        <p:spPr bwMode="auto">
          <a:xfrm>
            <a:off x="4359275" y="2217738"/>
            <a:ext cx="1417638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业务发展战略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竞争策略、收入模式等</a:t>
            </a:r>
            <a:endParaRPr lang="zh-CN" altLang="en-US" sz="12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4" name="Text Box 287"/>
          <p:cNvSpPr txBox="1">
            <a:spLocks noChangeArrowheads="1"/>
          </p:cNvSpPr>
          <p:nvPr/>
        </p:nvSpPr>
        <p:spPr bwMode="auto">
          <a:xfrm>
            <a:off x="5708650" y="2217738"/>
            <a:ext cx="1292225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战略计划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财务规划、战略行动计划</a:t>
            </a:r>
            <a:endParaRPr lang="zh-CN" altLang="en-US" sz="12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5" name="Text Box 4"/>
          <p:cNvSpPr txBox="1">
            <a:spLocks noChangeArrowheads="1"/>
          </p:cNvSpPr>
          <p:nvPr/>
        </p:nvSpPr>
        <p:spPr bwMode="auto">
          <a:xfrm>
            <a:off x="7461250" y="2239963"/>
            <a:ext cx="20272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3.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能力分布模型</a:t>
            </a:r>
            <a:r>
              <a:rPr lang="zh-CN" altLang="en-GB" sz="1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： </a:t>
            </a:r>
            <a:r>
              <a:rPr lang="zh-CN" altLang="en-GB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定义分支机构</a:t>
            </a:r>
            <a:r>
              <a:rPr lang="en-GB" altLang="zh-CN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业务中台</a:t>
            </a:r>
            <a:r>
              <a:rPr lang="zh-CN" altLang="en-GB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等的业务职能的</a:t>
            </a:r>
            <a:r>
              <a:rPr lang="zh-CN" altLang="en-US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能力分布</a:t>
            </a:r>
            <a:endParaRPr lang="en-GB" altLang="zh-CN" sz="1300" b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6" name="Line 5"/>
          <p:cNvSpPr>
            <a:spLocks noChangeShapeType="1"/>
          </p:cNvSpPr>
          <p:nvPr/>
        </p:nvSpPr>
        <p:spPr bwMode="auto">
          <a:xfrm flipH="1">
            <a:off x="6648450" y="2540000"/>
            <a:ext cx="600075" cy="78105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47" name="Text Box 6"/>
          <p:cNvSpPr txBox="1">
            <a:spLocks noChangeArrowheads="1"/>
          </p:cNvSpPr>
          <p:nvPr/>
        </p:nvSpPr>
        <p:spPr bwMode="auto">
          <a:xfrm>
            <a:off x="328613" y="3846513"/>
            <a:ext cx="239236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2.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流程模型：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高阶的流程，显示不同部门</a:t>
            </a:r>
            <a:r>
              <a:rPr lang="en-GB" altLang="zh-CN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地点的交互</a:t>
            </a:r>
            <a:endParaRPr lang="en-GB" altLang="zh-CN" sz="13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48" name="Line 7"/>
          <p:cNvSpPr>
            <a:spLocks noChangeShapeType="1"/>
          </p:cNvSpPr>
          <p:nvPr/>
        </p:nvSpPr>
        <p:spPr bwMode="auto">
          <a:xfrm flipV="1">
            <a:off x="2573338" y="3794125"/>
            <a:ext cx="584200" cy="325438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49" name="Text Box 8"/>
          <p:cNvSpPr txBox="1">
            <a:spLocks noChangeArrowheads="1"/>
          </p:cNvSpPr>
          <p:nvPr/>
        </p:nvSpPr>
        <p:spPr bwMode="auto">
          <a:xfrm>
            <a:off x="328613" y="5780088"/>
            <a:ext cx="244316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7.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架构管理</a:t>
            </a: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治理：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对业务架构的实施和维护办法</a:t>
            </a:r>
            <a:endParaRPr lang="zh-CN" altLang="en-GB" sz="13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50" name="Text Box 9"/>
          <p:cNvSpPr txBox="1">
            <a:spLocks noChangeArrowheads="1"/>
          </p:cNvSpPr>
          <p:nvPr/>
        </p:nvSpPr>
        <p:spPr bwMode="auto">
          <a:xfrm>
            <a:off x="328613" y="4673600"/>
            <a:ext cx="2181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6.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绩效考核：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定义了关键的考核指标，确保运营模式有效的运行</a:t>
            </a:r>
            <a:endParaRPr lang="en-GB" altLang="zh-CN" sz="13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51" name="Line 10"/>
          <p:cNvSpPr>
            <a:spLocks noChangeShapeType="1"/>
          </p:cNvSpPr>
          <p:nvPr/>
        </p:nvSpPr>
        <p:spPr bwMode="auto">
          <a:xfrm flipV="1">
            <a:off x="2511425" y="4519613"/>
            <a:ext cx="893763" cy="382587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52" name="Text Box 11"/>
          <p:cNvSpPr txBox="1">
            <a:spLocks noChangeArrowheads="1"/>
          </p:cNvSpPr>
          <p:nvPr/>
        </p:nvSpPr>
        <p:spPr bwMode="auto">
          <a:xfrm>
            <a:off x="7415213" y="4129088"/>
            <a:ext cx="21240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5.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组织架构模型：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定义组织架构、能力、行为，以及人员规模等</a:t>
            </a:r>
            <a:endParaRPr lang="en-GB" altLang="zh-CN" sz="13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53" name="Line 12"/>
          <p:cNvSpPr>
            <a:spLocks noChangeShapeType="1"/>
          </p:cNvSpPr>
          <p:nvPr/>
        </p:nvSpPr>
        <p:spPr bwMode="auto">
          <a:xfrm flipH="1">
            <a:off x="6592888" y="4252913"/>
            <a:ext cx="636587" cy="26670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54" name="Text Box 13"/>
          <p:cNvSpPr txBox="1">
            <a:spLocks noChangeArrowheads="1"/>
          </p:cNvSpPr>
          <p:nvPr/>
        </p:nvSpPr>
        <p:spPr bwMode="auto">
          <a:xfrm>
            <a:off x="7404100" y="3267075"/>
            <a:ext cx="2233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4.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资源生态模型：</a:t>
            </a:r>
            <a:r>
              <a:rPr lang="zh-CN" altLang="en-GB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定义</a:t>
            </a:r>
            <a:r>
              <a:rPr lang="zh-CN" altLang="en-US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业务能力</a:t>
            </a:r>
            <a:r>
              <a:rPr lang="zh-CN" altLang="en-GB" sz="1300" b="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归属，的集中（内包）和外包的模式</a:t>
            </a:r>
            <a:endParaRPr lang="zh-CN" altLang="en-GB" sz="1300" b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55" name="Line 14"/>
          <p:cNvSpPr>
            <a:spLocks noChangeShapeType="1"/>
          </p:cNvSpPr>
          <p:nvPr/>
        </p:nvSpPr>
        <p:spPr bwMode="auto">
          <a:xfrm flipH="1">
            <a:off x="6592888" y="3368675"/>
            <a:ext cx="720725" cy="32385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56" name="Text Box 18"/>
          <p:cNvSpPr txBox="1">
            <a:spLocks noChangeArrowheads="1"/>
          </p:cNvSpPr>
          <p:nvPr/>
        </p:nvSpPr>
        <p:spPr bwMode="auto">
          <a:xfrm>
            <a:off x="328613" y="2706688"/>
            <a:ext cx="21161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9705" indent="-1797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GB" altLang="zh-CN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1.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能力</a:t>
            </a:r>
            <a:r>
              <a:rPr lang="zh-CN" altLang="en-GB" sz="16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模型</a:t>
            </a:r>
            <a:r>
              <a:rPr lang="zh-CN" altLang="en-GB" sz="13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把企业的活动化解到</a:t>
            </a:r>
            <a:r>
              <a:rPr lang="zh-CN" altLang="en-US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业务能力</a:t>
            </a:r>
            <a:r>
              <a:rPr lang="zh-CN" altLang="en-GB" sz="1300" b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层级，并定义热点组件。</a:t>
            </a:r>
            <a:endParaRPr lang="en-GB" altLang="zh-CN" sz="1300" b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857" name="Line 19"/>
          <p:cNvSpPr>
            <a:spLocks noChangeShapeType="1"/>
          </p:cNvSpPr>
          <p:nvPr/>
        </p:nvSpPr>
        <p:spPr bwMode="auto">
          <a:xfrm>
            <a:off x="2397125" y="2903538"/>
            <a:ext cx="2100263" cy="314325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58" name="Line 20"/>
          <p:cNvSpPr>
            <a:spLocks noChangeShapeType="1"/>
          </p:cNvSpPr>
          <p:nvPr/>
        </p:nvSpPr>
        <p:spPr bwMode="auto">
          <a:xfrm flipV="1">
            <a:off x="2379663" y="4664075"/>
            <a:ext cx="2859087" cy="1125538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4859" name="Rectangle 307"/>
          <p:cNvSpPr>
            <a:spLocks noChangeArrowheads="1"/>
          </p:cNvSpPr>
          <p:nvPr/>
        </p:nvSpPr>
        <p:spPr bwMode="auto">
          <a:xfrm>
            <a:off x="3086100" y="3086100"/>
            <a:ext cx="3848100" cy="22479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414338" y="1917080"/>
            <a:ext cx="6048375" cy="431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247650" y="325438"/>
            <a:ext cx="5969000" cy="69532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内容提纲</a:t>
            </a:r>
            <a:endParaRPr lang="zh-CN" altLang="en-US" dirty="0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0550" y="1476375"/>
            <a:ext cx="9058275" cy="4619625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企业业务架构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业务能力（</a:t>
            </a:r>
            <a:r>
              <a:rPr lang="en-US" altLang="zh-CN" sz="1600" dirty="0">
                <a:ea typeface="宋体" panose="02010600030101010101" pitchFamily="2" charset="-122"/>
              </a:rPr>
              <a:t>CBM</a:t>
            </a:r>
            <a:r>
              <a:rPr lang="zh-CN" altLang="en-US" sz="1600" dirty="0">
                <a:ea typeface="宋体" panose="02010600030101010101" pitchFamily="2" charset="-122"/>
              </a:rPr>
              <a:t>）设计和热点图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业务流程设计和优化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业务能力图设计和总结（课后练习）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内外包</a:t>
            </a:r>
            <a:r>
              <a:rPr lang="en-US" altLang="zh-CN" sz="1600" dirty="0"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ea typeface="宋体" panose="02010600030101010101" pitchFamily="2" charset="-122"/>
              </a:rPr>
              <a:t>共享模型设计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集团管控模式，组织架构和绩效设计</a:t>
            </a:r>
            <a:r>
              <a:rPr lang="zh-CN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endParaRPr lang="zh-CN" altLang="en-US" sz="2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990600" lvl="1" indent="-533400">
              <a:buClr>
                <a:srgbClr val="D0A66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609600" indent="-609600">
              <a:buFontTx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6475" y="1460954"/>
            <a:ext cx="3883587" cy="2260146"/>
            <a:chOff x="620713" y="1598613"/>
            <a:chExt cx="8910637" cy="4706937"/>
          </a:xfrm>
        </p:grpSpPr>
        <p:sp>
          <p:nvSpPr>
            <p:cNvPr id="3" name="Rectangle 132"/>
            <p:cNvSpPr>
              <a:spLocks noChangeArrowheads="1"/>
            </p:cNvSpPr>
            <p:nvPr/>
          </p:nvSpPr>
          <p:spPr bwMode="auto">
            <a:xfrm>
              <a:off x="8215313" y="48323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" name="Rectangle 38"/>
            <p:cNvSpPr>
              <a:spLocks noChangeArrowheads="1"/>
            </p:cNvSpPr>
            <p:nvPr/>
          </p:nvSpPr>
          <p:spPr bwMode="auto">
            <a:xfrm>
              <a:off x="1676400" y="18859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" name="Rectangle 39"/>
            <p:cNvSpPr>
              <a:spLocks noChangeArrowheads="1"/>
            </p:cNvSpPr>
            <p:nvPr/>
          </p:nvSpPr>
          <p:spPr bwMode="auto">
            <a:xfrm>
              <a:off x="1714500" y="19113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渠道关系管理策略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" name="Rectangle 40"/>
            <p:cNvSpPr>
              <a:spLocks noChangeArrowheads="1"/>
            </p:cNvSpPr>
            <p:nvPr/>
          </p:nvSpPr>
          <p:spPr bwMode="auto">
            <a:xfrm>
              <a:off x="1714500" y="23939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渠道细分战略和规划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Rectangle 41"/>
            <p:cNvSpPr>
              <a:spLocks noChangeArrowheads="1"/>
            </p:cNvSpPr>
            <p:nvPr/>
          </p:nvSpPr>
          <p:spPr bwMode="auto">
            <a:xfrm>
              <a:off x="1714500" y="28765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营销活动规划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" name="Rectangle 42"/>
            <p:cNvSpPr>
              <a:spLocks noChangeArrowheads="1"/>
            </p:cNvSpPr>
            <p:nvPr/>
          </p:nvSpPr>
          <p:spPr bwMode="auto">
            <a:xfrm>
              <a:off x="1676400" y="33591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Rectangle 43"/>
            <p:cNvSpPr>
              <a:spLocks noChangeArrowheads="1"/>
            </p:cNvSpPr>
            <p:nvPr/>
          </p:nvSpPr>
          <p:spPr bwMode="auto">
            <a:xfrm>
              <a:off x="1706563" y="3392488"/>
              <a:ext cx="1239837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计划和考核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Rectangle 44"/>
            <p:cNvSpPr>
              <a:spLocks noChangeArrowheads="1"/>
            </p:cNvSpPr>
            <p:nvPr/>
          </p:nvSpPr>
          <p:spPr bwMode="auto">
            <a:xfrm>
              <a:off x="1714500" y="3876675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营销活动管理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" name="Rectangle 45"/>
            <p:cNvSpPr>
              <a:spLocks noChangeArrowheads="1"/>
            </p:cNvSpPr>
            <p:nvPr/>
          </p:nvSpPr>
          <p:spPr bwMode="auto">
            <a:xfrm>
              <a:off x="1714500" y="43497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协商费率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" name="Rectangle 46"/>
            <p:cNvSpPr>
              <a:spLocks noChangeArrowheads="1"/>
            </p:cNvSpPr>
            <p:nvPr/>
          </p:nvSpPr>
          <p:spPr bwMode="auto">
            <a:xfrm>
              <a:off x="1676400" y="48323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Rectangle 47"/>
            <p:cNvSpPr>
              <a:spLocks noChangeArrowheads="1"/>
            </p:cNvSpPr>
            <p:nvPr/>
          </p:nvSpPr>
          <p:spPr bwMode="auto">
            <a:xfrm>
              <a:off x="1714500" y="4857750"/>
              <a:ext cx="1239838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48"/>
            <p:cNvSpPr>
              <a:spLocks noChangeArrowheads="1"/>
            </p:cNvSpPr>
            <p:nvPr/>
          </p:nvSpPr>
          <p:spPr bwMode="auto">
            <a:xfrm>
              <a:off x="1714500" y="5064125"/>
              <a:ext cx="1239838" cy="1825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渠道信息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" name="Rectangle 49"/>
            <p:cNvSpPr>
              <a:spLocks noChangeArrowheads="1"/>
            </p:cNvSpPr>
            <p:nvPr/>
          </p:nvSpPr>
          <p:spPr bwMode="auto">
            <a:xfrm>
              <a:off x="1714500" y="5272088"/>
              <a:ext cx="1239838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营销活动执行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Rectangle 50"/>
            <p:cNvSpPr>
              <a:spLocks noChangeArrowheads="1"/>
            </p:cNvSpPr>
            <p:nvPr/>
          </p:nvSpPr>
          <p:spPr bwMode="auto">
            <a:xfrm>
              <a:off x="1714500" y="5478463"/>
              <a:ext cx="1239838" cy="3762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业务推动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和支持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Rectangle 52"/>
            <p:cNvSpPr>
              <a:spLocks noChangeArrowheads="1"/>
            </p:cNvSpPr>
            <p:nvPr/>
          </p:nvSpPr>
          <p:spPr bwMode="auto">
            <a:xfrm>
              <a:off x="1714500" y="5872163"/>
              <a:ext cx="1239838" cy="2079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代理佣金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53"/>
            <p:cNvSpPr>
              <a:spLocks noChangeArrowheads="1"/>
            </p:cNvSpPr>
            <p:nvPr/>
          </p:nvSpPr>
          <p:spPr bwMode="auto">
            <a:xfrm>
              <a:off x="1714500" y="6099175"/>
              <a:ext cx="1239838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渠道培训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" name="Rectangle 55"/>
            <p:cNvSpPr>
              <a:spLocks noChangeArrowheads="1"/>
            </p:cNvSpPr>
            <p:nvPr/>
          </p:nvSpPr>
          <p:spPr bwMode="auto">
            <a:xfrm>
              <a:off x="6889750" y="18859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0" name="Rectangle 57"/>
            <p:cNvSpPr>
              <a:spLocks noChangeArrowheads="1"/>
            </p:cNvSpPr>
            <p:nvPr/>
          </p:nvSpPr>
          <p:spPr bwMode="auto">
            <a:xfrm>
              <a:off x="6889750" y="33591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58"/>
            <p:cNvSpPr>
              <a:spLocks noChangeArrowheads="1"/>
            </p:cNvSpPr>
            <p:nvPr/>
          </p:nvSpPr>
          <p:spPr bwMode="auto">
            <a:xfrm>
              <a:off x="6927850" y="33845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超权限业务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2" name="Rectangle 59"/>
            <p:cNvSpPr>
              <a:spLocks noChangeArrowheads="1"/>
            </p:cNvSpPr>
            <p:nvPr/>
          </p:nvSpPr>
          <p:spPr bwMode="auto">
            <a:xfrm>
              <a:off x="6927850" y="38671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保单服务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水平管理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" name="Rectangle 60"/>
            <p:cNvSpPr>
              <a:spLocks noChangeArrowheads="1"/>
            </p:cNvSpPr>
            <p:nvPr/>
          </p:nvSpPr>
          <p:spPr bwMode="auto">
            <a:xfrm>
              <a:off x="6927850" y="43497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增值服务管理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Rectangle 61"/>
            <p:cNvSpPr>
              <a:spLocks noChangeArrowheads="1"/>
            </p:cNvSpPr>
            <p:nvPr/>
          </p:nvSpPr>
          <p:spPr bwMode="auto">
            <a:xfrm>
              <a:off x="6889750" y="48323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Rectangle 62"/>
            <p:cNvSpPr>
              <a:spLocks noChangeArrowheads="1"/>
            </p:cNvSpPr>
            <p:nvPr/>
          </p:nvSpPr>
          <p:spPr bwMode="auto">
            <a:xfrm>
              <a:off x="6927850" y="4857750"/>
              <a:ext cx="1239838" cy="2524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批改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6" name="Rectangle 63"/>
            <p:cNvSpPr>
              <a:spLocks noChangeArrowheads="1"/>
            </p:cNvSpPr>
            <p:nvPr/>
          </p:nvSpPr>
          <p:spPr bwMode="auto">
            <a:xfrm>
              <a:off x="6927850" y="5375275"/>
              <a:ext cx="1239838" cy="2286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增值服务提供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Rectangle 64"/>
            <p:cNvSpPr>
              <a:spLocks noChangeArrowheads="1"/>
            </p:cNvSpPr>
            <p:nvPr/>
          </p:nvSpPr>
          <p:spPr bwMode="auto">
            <a:xfrm>
              <a:off x="6927850" y="5627688"/>
              <a:ext cx="1239838" cy="2111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产品终止处理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" name="Rectangle 65"/>
            <p:cNvSpPr>
              <a:spLocks noChangeArrowheads="1"/>
            </p:cNvSpPr>
            <p:nvPr/>
          </p:nvSpPr>
          <p:spPr bwMode="auto">
            <a:xfrm>
              <a:off x="6927850" y="5854700"/>
              <a:ext cx="1239838" cy="1968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内容管理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9" name="Rectangle 66"/>
            <p:cNvSpPr>
              <a:spLocks noChangeArrowheads="1"/>
            </p:cNvSpPr>
            <p:nvPr/>
          </p:nvSpPr>
          <p:spPr bwMode="auto">
            <a:xfrm>
              <a:off x="6927850" y="6080125"/>
              <a:ext cx="1239838" cy="200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文档、影像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" name="Rectangle 121"/>
            <p:cNvSpPr>
              <a:spLocks noChangeArrowheads="1"/>
            </p:cNvSpPr>
            <p:nvPr/>
          </p:nvSpPr>
          <p:spPr bwMode="auto">
            <a:xfrm>
              <a:off x="8215313" y="18859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" name="Rectangle 122"/>
            <p:cNvSpPr>
              <a:spLocks noChangeArrowheads="1"/>
            </p:cNvSpPr>
            <p:nvPr/>
          </p:nvSpPr>
          <p:spPr bwMode="auto">
            <a:xfrm>
              <a:off x="8253413" y="19113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2" name="Rectangle 123"/>
            <p:cNvSpPr>
              <a:spLocks noChangeArrowheads="1"/>
            </p:cNvSpPr>
            <p:nvPr/>
          </p:nvSpPr>
          <p:spPr bwMode="auto">
            <a:xfrm>
              <a:off x="8253413" y="23939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3" name="Rectangle 124"/>
            <p:cNvSpPr>
              <a:spLocks noChangeArrowheads="1"/>
            </p:cNvSpPr>
            <p:nvPr/>
          </p:nvSpPr>
          <p:spPr bwMode="auto">
            <a:xfrm>
              <a:off x="8253413" y="28765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业务规定和程序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4" name="Rectangle 125"/>
            <p:cNvSpPr>
              <a:spLocks noChangeArrowheads="1"/>
            </p:cNvSpPr>
            <p:nvPr/>
          </p:nvSpPr>
          <p:spPr bwMode="auto">
            <a:xfrm>
              <a:off x="8215313" y="33591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" name="Rectangle 126"/>
            <p:cNvSpPr>
              <a:spLocks noChangeArrowheads="1"/>
            </p:cNvSpPr>
            <p:nvPr/>
          </p:nvSpPr>
          <p:spPr bwMode="auto">
            <a:xfrm>
              <a:off x="8253413" y="3384550"/>
              <a:ext cx="1238250" cy="3286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采购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厂商管理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" name="Rectangle 129"/>
            <p:cNvSpPr>
              <a:spLocks noChangeArrowheads="1"/>
            </p:cNvSpPr>
            <p:nvPr/>
          </p:nvSpPr>
          <p:spPr bwMode="auto">
            <a:xfrm>
              <a:off x="8253413" y="5178425"/>
              <a:ext cx="1238250" cy="171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7" name="Rectangle 131"/>
            <p:cNvSpPr>
              <a:spLocks noChangeArrowheads="1"/>
            </p:cNvSpPr>
            <p:nvPr/>
          </p:nvSpPr>
          <p:spPr bwMode="auto">
            <a:xfrm>
              <a:off x="8253413" y="3736975"/>
              <a:ext cx="1238250" cy="4270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审计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8" name="Rectangle 133"/>
            <p:cNvSpPr>
              <a:spLocks noChangeArrowheads="1"/>
            </p:cNvSpPr>
            <p:nvPr/>
          </p:nvSpPr>
          <p:spPr bwMode="auto">
            <a:xfrm>
              <a:off x="8253413" y="4860925"/>
              <a:ext cx="1238250" cy="2936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9" name="Rectangle 136"/>
            <p:cNvSpPr>
              <a:spLocks noChangeArrowheads="1"/>
            </p:cNvSpPr>
            <p:nvPr/>
          </p:nvSpPr>
          <p:spPr bwMode="auto">
            <a:xfrm>
              <a:off x="8253413" y="5375275"/>
              <a:ext cx="1238250" cy="2365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应用系统开发和维护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0" name="Rectangle 137"/>
            <p:cNvSpPr>
              <a:spLocks noChangeArrowheads="1"/>
            </p:cNvSpPr>
            <p:nvPr/>
          </p:nvSpPr>
          <p:spPr bwMode="auto">
            <a:xfrm>
              <a:off x="8253413" y="5911850"/>
              <a:ext cx="1238250" cy="2079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Rectangle 138"/>
            <p:cNvSpPr>
              <a:spLocks noChangeArrowheads="1"/>
            </p:cNvSpPr>
            <p:nvPr/>
          </p:nvSpPr>
          <p:spPr bwMode="auto">
            <a:xfrm>
              <a:off x="8253413" y="5630863"/>
              <a:ext cx="1238250" cy="2619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2" name="Rectangle 139"/>
            <p:cNvSpPr>
              <a:spLocks noChangeArrowheads="1"/>
            </p:cNvSpPr>
            <p:nvPr/>
          </p:nvSpPr>
          <p:spPr bwMode="auto">
            <a:xfrm>
              <a:off x="8253413" y="4189413"/>
              <a:ext cx="1238250" cy="330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公共关系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3" name="Rectangle 140"/>
            <p:cNvSpPr>
              <a:spLocks noChangeArrowheads="1"/>
            </p:cNvSpPr>
            <p:nvPr/>
          </p:nvSpPr>
          <p:spPr bwMode="auto">
            <a:xfrm>
              <a:off x="8253413" y="4546600"/>
              <a:ext cx="1238250" cy="2698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4" name="Rectangle 141"/>
            <p:cNvSpPr>
              <a:spLocks noChangeArrowheads="1"/>
            </p:cNvSpPr>
            <p:nvPr/>
          </p:nvSpPr>
          <p:spPr bwMode="auto">
            <a:xfrm>
              <a:off x="8253413" y="6145213"/>
              <a:ext cx="1238250" cy="1349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5" name="Rectangle 68"/>
            <p:cNvSpPr>
              <a:spLocks noChangeArrowheads="1"/>
            </p:cNvSpPr>
            <p:nvPr/>
          </p:nvSpPr>
          <p:spPr bwMode="auto">
            <a:xfrm>
              <a:off x="5576888" y="1885950"/>
              <a:ext cx="1320800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6" name="Rectangle 69"/>
            <p:cNvSpPr>
              <a:spLocks noChangeArrowheads="1"/>
            </p:cNvSpPr>
            <p:nvPr/>
          </p:nvSpPr>
          <p:spPr bwMode="auto">
            <a:xfrm>
              <a:off x="5637213" y="1911350"/>
              <a:ext cx="1220787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客户关系管理战略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7" name="Rectangle 70"/>
            <p:cNvSpPr>
              <a:spLocks noChangeArrowheads="1"/>
            </p:cNvSpPr>
            <p:nvPr/>
          </p:nvSpPr>
          <p:spPr bwMode="auto">
            <a:xfrm>
              <a:off x="5637213" y="2635250"/>
              <a:ext cx="1220787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客户细分战略和规划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8" name="Rectangle 71"/>
            <p:cNvSpPr>
              <a:spLocks noChangeArrowheads="1"/>
            </p:cNvSpPr>
            <p:nvPr/>
          </p:nvSpPr>
          <p:spPr bwMode="auto">
            <a:xfrm>
              <a:off x="5576888" y="3359150"/>
              <a:ext cx="1320800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Rectangle 72"/>
            <p:cNvSpPr>
              <a:spLocks noChangeArrowheads="1"/>
            </p:cNvSpPr>
            <p:nvPr/>
          </p:nvSpPr>
          <p:spPr bwMode="auto">
            <a:xfrm>
              <a:off x="5637213" y="3384550"/>
              <a:ext cx="1220787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客户满意度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Rectangle 73"/>
            <p:cNvSpPr>
              <a:spLocks noChangeArrowheads="1"/>
            </p:cNvSpPr>
            <p:nvPr/>
          </p:nvSpPr>
          <p:spPr bwMode="auto">
            <a:xfrm>
              <a:off x="5653088" y="3746500"/>
              <a:ext cx="120491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1" name="Rectangle 74"/>
            <p:cNvSpPr>
              <a:spLocks noChangeArrowheads="1"/>
            </p:cNvSpPr>
            <p:nvPr/>
          </p:nvSpPr>
          <p:spPr bwMode="auto">
            <a:xfrm>
              <a:off x="5653088" y="4108450"/>
              <a:ext cx="120491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客户接触管理</a:t>
              </a:r>
              <a:r>
                <a:rPr lang="fr-FR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沟通管理</a:t>
              </a:r>
              <a:r>
                <a:rPr lang="fr-FR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2" name="Rectangle 75"/>
            <p:cNvSpPr>
              <a:spLocks noChangeArrowheads="1"/>
            </p:cNvSpPr>
            <p:nvPr/>
          </p:nvSpPr>
          <p:spPr bwMode="auto">
            <a:xfrm>
              <a:off x="5653088" y="4470400"/>
              <a:ext cx="120491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客户服务水平管理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76"/>
            <p:cNvSpPr>
              <a:spLocks noChangeArrowheads="1"/>
            </p:cNvSpPr>
            <p:nvPr/>
          </p:nvSpPr>
          <p:spPr bwMode="auto">
            <a:xfrm>
              <a:off x="5576888" y="4832350"/>
              <a:ext cx="1320800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4" name="Rectangle 77"/>
            <p:cNvSpPr>
              <a:spLocks noChangeArrowheads="1"/>
            </p:cNvSpPr>
            <p:nvPr/>
          </p:nvSpPr>
          <p:spPr bwMode="auto">
            <a:xfrm>
              <a:off x="5637213" y="4857750"/>
              <a:ext cx="1220787" cy="3476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 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 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伙伴信息收集、维护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5" name="Rectangle 80"/>
            <p:cNvSpPr>
              <a:spLocks noChangeArrowheads="1"/>
            </p:cNvSpPr>
            <p:nvPr/>
          </p:nvSpPr>
          <p:spPr bwMode="auto">
            <a:xfrm>
              <a:off x="5637213" y="5245100"/>
              <a:ext cx="1220787" cy="517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客户接触 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柜台、电话、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fax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、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web)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6" name="Rectangle 81"/>
            <p:cNvSpPr>
              <a:spLocks noChangeArrowheads="1"/>
            </p:cNvSpPr>
            <p:nvPr/>
          </p:nvSpPr>
          <p:spPr bwMode="auto">
            <a:xfrm>
              <a:off x="5637213" y="5797550"/>
              <a:ext cx="1220787" cy="4826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邮件管理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纸质、电子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7" name="Rectangle 22"/>
            <p:cNvSpPr>
              <a:spLocks noChangeArrowheads="1"/>
            </p:cNvSpPr>
            <p:nvPr/>
          </p:nvSpPr>
          <p:spPr bwMode="auto">
            <a:xfrm>
              <a:off x="2982913" y="18859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8" name="Rectangle 23"/>
            <p:cNvSpPr>
              <a:spLocks noChangeArrowheads="1"/>
            </p:cNvSpPr>
            <p:nvPr/>
          </p:nvSpPr>
          <p:spPr bwMode="auto">
            <a:xfrm>
              <a:off x="3009900" y="19113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风险、合规、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法律战略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3009900" y="23939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再保战略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3009900" y="28765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巨灾风险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应对规划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2982913" y="33591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2" name="Rectangle 31"/>
            <p:cNvSpPr>
              <a:spLocks noChangeArrowheads="1"/>
            </p:cNvSpPr>
            <p:nvPr/>
          </p:nvSpPr>
          <p:spPr bwMode="auto">
            <a:xfrm>
              <a:off x="2982913" y="48323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3" name="Rectangle 32"/>
            <p:cNvSpPr>
              <a:spLocks noChangeArrowheads="1"/>
            </p:cNvSpPr>
            <p:nvPr/>
          </p:nvSpPr>
          <p:spPr bwMode="auto">
            <a:xfrm>
              <a:off x="3028950" y="4856163"/>
              <a:ext cx="1219200" cy="3683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客户风险评级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64" name="Rectangle 34"/>
            <p:cNvSpPr>
              <a:spLocks noChangeArrowheads="1"/>
            </p:cNvSpPr>
            <p:nvPr/>
          </p:nvSpPr>
          <p:spPr bwMode="auto">
            <a:xfrm>
              <a:off x="3028950" y="5245100"/>
              <a:ext cx="1219200" cy="5651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风险预警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65" name="Rectangle 35"/>
            <p:cNvSpPr>
              <a:spLocks noChangeArrowheads="1"/>
            </p:cNvSpPr>
            <p:nvPr/>
          </p:nvSpPr>
          <p:spPr bwMode="auto">
            <a:xfrm>
              <a:off x="3028950" y="5838825"/>
              <a:ext cx="1219200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合约和临分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再保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0" name="Rectangle 22"/>
            <p:cNvSpPr>
              <a:spLocks noChangeArrowheads="1"/>
            </p:cNvSpPr>
            <p:nvPr/>
          </p:nvSpPr>
          <p:spPr bwMode="auto">
            <a:xfrm>
              <a:off x="4294188" y="18859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1" name="Rectangle 23"/>
            <p:cNvSpPr>
              <a:spLocks noChangeArrowheads="1"/>
            </p:cNvSpPr>
            <p:nvPr/>
          </p:nvSpPr>
          <p:spPr bwMode="auto">
            <a:xfrm>
              <a:off x="4332288" y="1911350"/>
              <a:ext cx="1239837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承保策略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2" name="Rectangle 24"/>
            <p:cNvSpPr>
              <a:spLocks noChangeArrowheads="1"/>
            </p:cNvSpPr>
            <p:nvPr/>
          </p:nvSpPr>
          <p:spPr bwMode="auto">
            <a:xfrm>
              <a:off x="4332288" y="2393950"/>
              <a:ext cx="1239837" cy="933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承保规划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3" name="Rectangle 26"/>
            <p:cNvSpPr>
              <a:spLocks noChangeArrowheads="1"/>
            </p:cNvSpPr>
            <p:nvPr/>
          </p:nvSpPr>
          <p:spPr bwMode="auto">
            <a:xfrm>
              <a:off x="4294188" y="33591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4" name="Rectangle 31"/>
            <p:cNvSpPr>
              <a:spLocks noChangeArrowheads="1"/>
            </p:cNvSpPr>
            <p:nvPr/>
          </p:nvSpPr>
          <p:spPr bwMode="auto">
            <a:xfrm>
              <a:off x="4294188" y="48323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5" name="Rectangle 34"/>
            <p:cNvSpPr>
              <a:spLocks noChangeArrowheads="1"/>
            </p:cNvSpPr>
            <p:nvPr/>
          </p:nvSpPr>
          <p:spPr bwMode="auto">
            <a:xfrm>
              <a:off x="4332288" y="5976938"/>
              <a:ext cx="1239837" cy="3032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归档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6" name="Rectangle 36"/>
            <p:cNvSpPr>
              <a:spLocks noChangeArrowheads="1"/>
            </p:cNvSpPr>
            <p:nvPr/>
          </p:nvSpPr>
          <p:spPr bwMode="auto">
            <a:xfrm>
              <a:off x="4332288" y="5146675"/>
              <a:ext cx="1239837" cy="2349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核保决定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7" name="Rectangle 36"/>
            <p:cNvSpPr>
              <a:spLocks noChangeArrowheads="1"/>
            </p:cNvSpPr>
            <p:nvPr/>
          </p:nvSpPr>
          <p:spPr bwMode="auto">
            <a:xfrm>
              <a:off x="4327525" y="4854575"/>
              <a:ext cx="1249363" cy="2667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报价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8" name="Rectangle 34"/>
            <p:cNvSpPr>
              <a:spLocks noChangeArrowheads="1"/>
            </p:cNvSpPr>
            <p:nvPr/>
          </p:nvSpPr>
          <p:spPr bwMode="auto">
            <a:xfrm>
              <a:off x="4327525" y="5699125"/>
              <a:ext cx="1249363" cy="2492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打单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99" name="Rectangle 43"/>
            <p:cNvSpPr>
              <a:spLocks noChangeArrowheads="1"/>
            </p:cNvSpPr>
            <p:nvPr/>
          </p:nvSpPr>
          <p:spPr bwMode="auto">
            <a:xfrm>
              <a:off x="3009900" y="3384550"/>
              <a:ext cx="1239838" cy="4699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精算控制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0" name="Rectangle 44"/>
            <p:cNvSpPr>
              <a:spLocks noChangeArrowheads="1"/>
            </p:cNvSpPr>
            <p:nvPr/>
          </p:nvSpPr>
          <p:spPr bwMode="auto">
            <a:xfrm>
              <a:off x="3009900" y="38798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风险和暴露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1" name="Rectangle 45"/>
            <p:cNvSpPr>
              <a:spLocks noChangeArrowheads="1"/>
            </p:cNvSpPr>
            <p:nvPr/>
          </p:nvSpPr>
          <p:spPr bwMode="auto">
            <a:xfrm>
              <a:off x="3009900" y="4365625"/>
              <a:ext cx="1239838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再保管理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2" name="Rectangle 34"/>
            <p:cNvSpPr>
              <a:spLocks noChangeArrowheads="1"/>
            </p:cNvSpPr>
            <p:nvPr/>
          </p:nvSpPr>
          <p:spPr bwMode="auto">
            <a:xfrm>
              <a:off x="4327525" y="5414963"/>
              <a:ext cx="1249363" cy="2492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入单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3" name="Rectangle 63"/>
            <p:cNvSpPr>
              <a:spLocks noChangeArrowheads="1"/>
            </p:cNvSpPr>
            <p:nvPr/>
          </p:nvSpPr>
          <p:spPr bwMode="auto">
            <a:xfrm>
              <a:off x="6927850" y="5140325"/>
              <a:ext cx="1239838" cy="209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续保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4" name="Rectangle 132"/>
            <p:cNvSpPr>
              <a:spLocks noChangeArrowheads="1"/>
            </p:cNvSpPr>
            <p:nvPr/>
          </p:nvSpPr>
          <p:spPr bwMode="auto">
            <a:xfrm>
              <a:off x="8215313" y="48323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5" name="Rectangle 38"/>
            <p:cNvSpPr>
              <a:spLocks noChangeArrowheads="1"/>
            </p:cNvSpPr>
            <p:nvPr/>
          </p:nvSpPr>
          <p:spPr bwMode="auto">
            <a:xfrm>
              <a:off x="1676400" y="18859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6" name="Rectangle 39"/>
            <p:cNvSpPr>
              <a:spLocks noChangeArrowheads="1"/>
            </p:cNvSpPr>
            <p:nvPr/>
          </p:nvSpPr>
          <p:spPr bwMode="auto">
            <a:xfrm>
              <a:off x="1714500" y="19113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销售和市场策略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7" name="Rectangle 40"/>
            <p:cNvSpPr>
              <a:spLocks noChangeArrowheads="1"/>
            </p:cNvSpPr>
            <p:nvPr/>
          </p:nvSpPr>
          <p:spPr bwMode="auto">
            <a:xfrm>
              <a:off x="1714500" y="23939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客户管理规划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8" name="Rectangle 42"/>
            <p:cNvSpPr>
              <a:spLocks noChangeArrowheads="1"/>
            </p:cNvSpPr>
            <p:nvPr/>
          </p:nvSpPr>
          <p:spPr bwMode="auto">
            <a:xfrm>
              <a:off x="1676400" y="33591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09" name="Rectangle 43"/>
            <p:cNvSpPr>
              <a:spLocks noChangeArrowheads="1"/>
            </p:cNvSpPr>
            <p:nvPr/>
          </p:nvSpPr>
          <p:spPr bwMode="auto">
            <a:xfrm>
              <a:off x="1706563" y="3392488"/>
              <a:ext cx="1239837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渠道伙伴管理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0" name="Rectangle 44"/>
            <p:cNvSpPr>
              <a:spLocks noChangeArrowheads="1"/>
            </p:cNvSpPr>
            <p:nvPr/>
          </p:nvSpPr>
          <p:spPr bwMode="auto">
            <a:xfrm>
              <a:off x="1714500" y="3876675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1" name="Rectangle 46"/>
            <p:cNvSpPr>
              <a:spLocks noChangeArrowheads="1"/>
            </p:cNvSpPr>
            <p:nvPr/>
          </p:nvSpPr>
          <p:spPr bwMode="auto">
            <a:xfrm>
              <a:off x="1676400" y="48323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2" name="Rectangle 47"/>
            <p:cNvSpPr>
              <a:spLocks noChangeArrowheads="1"/>
            </p:cNvSpPr>
            <p:nvPr/>
          </p:nvSpPr>
          <p:spPr bwMode="auto">
            <a:xfrm>
              <a:off x="1714500" y="4857750"/>
              <a:ext cx="1239838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3" name="Rectangle 48"/>
            <p:cNvSpPr>
              <a:spLocks noChangeArrowheads="1"/>
            </p:cNvSpPr>
            <p:nvPr/>
          </p:nvSpPr>
          <p:spPr bwMode="auto">
            <a:xfrm>
              <a:off x="1714500" y="5064125"/>
              <a:ext cx="1239838" cy="1825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市场调查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4" name="Rectangle 49"/>
            <p:cNvSpPr>
              <a:spLocks noChangeArrowheads="1"/>
            </p:cNvSpPr>
            <p:nvPr/>
          </p:nvSpPr>
          <p:spPr bwMode="auto">
            <a:xfrm>
              <a:off x="1714500" y="5272088"/>
              <a:ext cx="1239838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销售活动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5" name="Rectangle 50"/>
            <p:cNvSpPr>
              <a:spLocks noChangeArrowheads="1"/>
            </p:cNvSpPr>
            <p:nvPr/>
          </p:nvSpPr>
          <p:spPr bwMode="auto">
            <a:xfrm>
              <a:off x="1714500" y="5478463"/>
              <a:ext cx="1239838" cy="3762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市场推广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6" name="Rectangle 52"/>
            <p:cNvSpPr>
              <a:spLocks noChangeArrowheads="1"/>
            </p:cNvSpPr>
            <p:nvPr/>
          </p:nvSpPr>
          <p:spPr bwMode="auto">
            <a:xfrm>
              <a:off x="1714500" y="5872163"/>
              <a:ext cx="1239838" cy="2079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客户服务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7" name="Rectangle 57"/>
            <p:cNvSpPr>
              <a:spLocks noChangeArrowheads="1"/>
            </p:cNvSpPr>
            <p:nvPr/>
          </p:nvSpPr>
          <p:spPr bwMode="auto">
            <a:xfrm>
              <a:off x="6889750" y="33591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8" name="Rectangle 58"/>
            <p:cNvSpPr>
              <a:spLocks noChangeArrowheads="1"/>
            </p:cNvSpPr>
            <p:nvPr/>
          </p:nvSpPr>
          <p:spPr bwMode="auto">
            <a:xfrm>
              <a:off x="6927850" y="3384550"/>
              <a:ext cx="1239838" cy="4524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b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资产管理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19" name="Rectangle 59"/>
            <p:cNvSpPr>
              <a:spLocks noChangeArrowheads="1"/>
            </p:cNvSpPr>
            <p:nvPr/>
          </p:nvSpPr>
          <p:spPr bwMode="auto">
            <a:xfrm>
              <a:off x="6927850" y="38671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性能管理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0" name="Rectangle 60"/>
            <p:cNvSpPr>
              <a:spLocks noChangeArrowheads="1"/>
            </p:cNvSpPr>
            <p:nvPr/>
          </p:nvSpPr>
          <p:spPr bwMode="auto">
            <a:xfrm>
              <a:off x="6927850" y="43497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600" b="0" dirty="0"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endParaRPr lang="zh-CN" altLang="en-US" sz="600" b="0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1" name="Rectangle 61"/>
            <p:cNvSpPr>
              <a:spLocks noChangeArrowheads="1"/>
            </p:cNvSpPr>
            <p:nvPr/>
          </p:nvSpPr>
          <p:spPr bwMode="auto">
            <a:xfrm>
              <a:off x="6889750" y="4832350"/>
              <a:ext cx="131603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2" name="Rectangle 62"/>
            <p:cNvSpPr>
              <a:spLocks noChangeArrowheads="1"/>
            </p:cNvSpPr>
            <p:nvPr/>
          </p:nvSpPr>
          <p:spPr bwMode="auto">
            <a:xfrm>
              <a:off x="6927850" y="4857750"/>
              <a:ext cx="1239838" cy="4714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3" name="Rectangle 63"/>
            <p:cNvSpPr>
              <a:spLocks noChangeArrowheads="1"/>
            </p:cNvSpPr>
            <p:nvPr/>
          </p:nvSpPr>
          <p:spPr bwMode="auto">
            <a:xfrm>
              <a:off x="6927850" y="5367338"/>
              <a:ext cx="1239838" cy="4603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4" name="Rectangle 65"/>
            <p:cNvSpPr>
              <a:spLocks noChangeArrowheads="1"/>
            </p:cNvSpPr>
            <p:nvPr/>
          </p:nvSpPr>
          <p:spPr bwMode="auto">
            <a:xfrm>
              <a:off x="6927850" y="5867400"/>
              <a:ext cx="1239838" cy="4127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5" name="Rectangle 121"/>
            <p:cNvSpPr>
              <a:spLocks noChangeArrowheads="1"/>
            </p:cNvSpPr>
            <p:nvPr/>
          </p:nvSpPr>
          <p:spPr bwMode="auto">
            <a:xfrm>
              <a:off x="8215313" y="18859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6" name="Rectangle 122"/>
            <p:cNvSpPr>
              <a:spLocks noChangeArrowheads="1"/>
            </p:cNvSpPr>
            <p:nvPr/>
          </p:nvSpPr>
          <p:spPr bwMode="auto">
            <a:xfrm>
              <a:off x="8253413" y="19113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7" name="Rectangle 123"/>
            <p:cNvSpPr>
              <a:spLocks noChangeArrowheads="1"/>
            </p:cNvSpPr>
            <p:nvPr/>
          </p:nvSpPr>
          <p:spPr bwMode="auto">
            <a:xfrm>
              <a:off x="8253413" y="23939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8" name="Rectangle 124"/>
            <p:cNvSpPr>
              <a:spLocks noChangeArrowheads="1"/>
            </p:cNvSpPr>
            <p:nvPr/>
          </p:nvSpPr>
          <p:spPr bwMode="auto">
            <a:xfrm>
              <a:off x="8253413" y="2876550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业务规定和制度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29" name="Rectangle 125"/>
            <p:cNvSpPr>
              <a:spLocks noChangeArrowheads="1"/>
            </p:cNvSpPr>
            <p:nvPr/>
          </p:nvSpPr>
          <p:spPr bwMode="auto">
            <a:xfrm>
              <a:off x="8215313" y="3359150"/>
              <a:ext cx="1316037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0" name="Rectangle 126"/>
            <p:cNvSpPr>
              <a:spLocks noChangeArrowheads="1"/>
            </p:cNvSpPr>
            <p:nvPr/>
          </p:nvSpPr>
          <p:spPr bwMode="auto">
            <a:xfrm>
              <a:off x="8253413" y="3384550"/>
              <a:ext cx="1238250" cy="2365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采购厂商管理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1" name="Rectangle 129"/>
            <p:cNvSpPr>
              <a:spLocks noChangeArrowheads="1"/>
            </p:cNvSpPr>
            <p:nvPr/>
          </p:nvSpPr>
          <p:spPr bwMode="auto">
            <a:xfrm>
              <a:off x="8253413" y="5178425"/>
              <a:ext cx="1238250" cy="171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2" name="Rectangle 131"/>
            <p:cNvSpPr>
              <a:spLocks noChangeArrowheads="1"/>
            </p:cNvSpPr>
            <p:nvPr/>
          </p:nvSpPr>
          <p:spPr bwMode="auto">
            <a:xfrm>
              <a:off x="8253413" y="3895725"/>
              <a:ext cx="1238250" cy="2682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审计管理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3" name="Rectangle 133"/>
            <p:cNvSpPr>
              <a:spLocks noChangeArrowheads="1"/>
            </p:cNvSpPr>
            <p:nvPr/>
          </p:nvSpPr>
          <p:spPr bwMode="auto">
            <a:xfrm>
              <a:off x="8253413" y="4860925"/>
              <a:ext cx="1238250" cy="2936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4" name="Rectangle 137"/>
            <p:cNvSpPr>
              <a:spLocks noChangeArrowheads="1"/>
            </p:cNvSpPr>
            <p:nvPr/>
          </p:nvSpPr>
          <p:spPr bwMode="auto">
            <a:xfrm>
              <a:off x="8253413" y="5378450"/>
              <a:ext cx="1238250" cy="4556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5" name="Rectangle 139"/>
            <p:cNvSpPr>
              <a:spLocks noChangeArrowheads="1"/>
            </p:cNvSpPr>
            <p:nvPr/>
          </p:nvSpPr>
          <p:spPr bwMode="auto">
            <a:xfrm>
              <a:off x="8253413" y="4268788"/>
              <a:ext cx="1238250" cy="1698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公共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投资关系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6" name="Rectangle 140"/>
            <p:cNvSpPr>
              <a:spLocks noChangeArrowheads="1"/>
            </p:cNvSpPr>
            <p:nvPr/>
          </p:nvSpPr>
          <p:spPr bwMode="auto">
            <a:xfrm>
              <a:off x="8253413" y="4548188"/>
              <a:ext cx="1238250" cy="2016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7" name="Rectangle 141"/>
            <p:cNvSpPr>
              <a:spLocks noChangeArrowheads="1"/>
            </p:cNvSpPr>
            <p:nvPr/>
          </p:nvSpPr>
          <p:spPr bwMode="auto">
            <a:xfrm>
              <a:off x="8253413" y="5878513"/>
              <a:ext cx="1238250" cy="4016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8" name="Rectangle 68"/>
            <p:cNvSpPr>
              <a:spLocks noChangeArrowheads="1"/>
            </p:cNvSpPr>
            <p:nvPr/>
          </p:nvSpPr>
          <p:spPr bwMode="auto">
            <a:xfrm>
              <a:off x="5576888" y="1885950"/>
              <a:ext cx="1320800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39" name="Rectangle 69"/>
            <p:cNvSpPr>
              <a:spLocks noChangeArrowheads="1"/>
            </p:cNvSpPr>
            <p:nvPr/>
          </p:nvSpPr>
          <p:spPr bwMode="auto">
            <a:xfrm>
              <a:off x="5637213" y="1911350"/>
              <a:ext cx="1220787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系统维护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0" name="Rectangle 76"/>
            <p:cNvSpPr>
              <a:spLocks noChangeArrowheads="1"/>
            </p:cNvSpPr>
            <p:nvPr/>
          </p:nvSpPr>
          <p:spPr bwMode="auto">
            <a:xfrm>
              <a:off x="5576888" y="4832350"/>
              <a:ext cx="1320800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1" name="Rectangle 77"/>
            <p:cNvSpPr>
              <a:spLocks noChangeArrowheads="1"/>
            </p:cNvSpPr>
            <p:nvPr/>
          </p:nvSpPr>
          <p:spPr bwMode="auto">
            <a:xfrm>
              <a:off x="5637213" y="4857750"/>
              <a:ext cx="1220787" cy="3476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用户反馈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2" name="Rectangle 80"/>
            <p:cNvSpPr>
              <a:spLocks noChangeArrowheads="1"/>
            </p:cNvSpPr>
            <p:nvPr/>
          </p:nvSpPr>
          <p:spPr bwMode="auto">
            <a:xfrm>
              <a:off x="5637213" y="5245100"/>
              <a:ext cx="1220787" cy="517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3" name="Rectangle 81"/>
            <p:cNvSpPr>
              <a:spLocks noChangeArrowheads="1"/>
            </p:cNvSpPr>
            <p:nvPr/>
          </p:nvSpPr>
          <p:spPr bwMode="auto">
            <a:xfrm>
              <a:off x="5637213" y="5797550"/>
              <a:ext cx="1220787" cy="4826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系统支持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4" name="Rectangle 22"/>
            <p:cNvSpPr>
              <a:spLocks noChangeArrowheads="1"/>
            </p:cNvSpPr>
            <p:nvPr/>
          </p:nvSpPr>
          <p:spPr bwMode="auto">
            <a:xfrm>
              <a:off x="2982913" y="18859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5" name="Rectangle 23"/>
            <p:cNvSpPr>
              <a:spLocks noChangeArrowheads="1"/>
            </p:cNvSpPr>
            <p:nvPr/>
          </p:nvSpPr>
          <p:spPr bwMode="auto">
            <a:xfrm>
              <a:off x="3009900" y="19113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6" name="Rectangle 26"/>
            <p:cNvSpPr>
              <a:spLocks noChangeArrowheads="1"/>
            </p:cNvSpPr>
            <p:nvPr/>
          </p:nvSpPr>
          <p:spPr bwMode="auto">
            <a:xfrm>
              <a:off x="2982913" y="33591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7" name="Rectangle 31"/>
            <p:cNvSpPr>
              <a:spLocks noChangeArrowheads="1"/>
            </p:cNvSpPr>
            <p:nvPr/>
          </p:nvSpPr>
          <p:spPr bwMode="auto">
            <a:xfrm>
              <a:off x="2982913" y="48323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8" name="Rectangle 32"/>
            <p:cNvSpPr>
              <a:spLocks noChangeArrowheads="1"/>
            </p:cNvSpPr>
            <p:nvPr/>
          </p:nvSpPr>
          <p:spPr bwMode="auto">
            <a:xfrm>
              <a:off x="3028950" y="4856163"/>
              <a:ext cx="1219200" cy="3683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订单处理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49" name="Rectangle 34"/>
            <p:cNvSpPr>
              <a:spLocks noChangeArrowheads="1"/>
            </p:cNvSpPr>
            <p:nvPr/>
          </p:nvSpPr>
          <p:spPr bwMode="auto">
            <a:xfrm>
              <a:off x="3028950" y="5245100"/>
              <a:ext cx="1219200" cy="5651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安装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0" name="Rectangle 35"/>
            <p:cNvSpPr>
              <a:spLocks noChangeArrowheads="1"/>
            </p:cNvSpPr>
            <p:nvPr/>
          </p:nvSpPr>
          <p:spPr bwMode="auto">
            <a:xfrm>
              <a:off x="3028950" y="5838825"/>
              <a:ext cx="1219200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问题处理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1" name="Rectangle 22"/>
            <p:cNvSpPr>
              <a:spLocks noChangeArrowheads="1"/>
            </p:cNvSpPr>
            <p:nvPr/>
          </p:nvSpPr>
          <p:spPr bwMode="auto">
            <a:xfrm>
              <a:off x="4294188" y="18859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2" name="Rectangle 23"/>
            <p:cNvSpPr>
              <a:spLocks noChangeArrowheads="1"/>
            </p:cNvSpPr>
            <p:nvPr/>
          </p:nvSpPr>
          <p:spPr bwMode="auto">
            <a:xfrm>
              <a:off x="4332288" y="2035175"/>
              <a:ext cx="1239837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产品策略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3" name="Rectangle 24"/>
            <p:cNvSpPr>
              <a:spLocks noChangeArrowheads="1"/>
            </p:cNvSpPr>
            <p:nvPr/>
          </p:nvSpPr>
          <p:spPr bwMode="auto">
            <a:xfrm>
              <a:off x="6932613" y="2613025"/>
              <a:ext cx="1238250" cy="552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应用组合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4" name="Rectangle 31"/>
            <p:cNvSpPr>
              <a:spLocks noChangeArrowheads="1"/>
            </p:cNvSpPr>
            <p:nvPr/>
          </p:nvSpPr>
          <p:spPr bwMode="auto">
            <a:xfrm>
              <a:off x="4294188" y="4832350"/>
              <a:ext cx="1317625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5" name="Rectangle 36"/>
            <p:cNvSpPr>
              <a:spLocks noChangeArrowheads="1"/>
            </p:cNvSpPr>
            <p:nvPr/>
          </p:nvSpPr>
          <p:spPr bwMode="auto">
            <a:xfrm>
              <a:off x="4322763" y="5776913"/>
              <a:ext cx="1238250" cy="3873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变更</a:t>
              </a: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版本实施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6" name="Rectangle 36"/>
            <p:cNvSpPr>
              <a:spLocks noChangeArrowheads="1"/>
            </p:cNvSpPr>
            <p:nvPr/>
          </p:nvSpPr>
          <p:spPr bwMode="auto">
            <a:xfrm>
              <a:off x="4327525" y="5178425"/>
              <a:ext cx="1233488" cy="2667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7" name="Rectangle 43"/>
            <p:cNvSpPr>
              <a:spLocks noChangeArrowheads="1"/>
            </p:cNvSpPr>
            <p:nvPr/>
          </p:nvSpPr>
          <p:spPr bwMode="auto">
            <a:xfrm>
              <a:off x="3009900" y="3384550"/>
              <a:ext cx="1239838" cy="4699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服务请求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8" name="Rectangle 44"/>
            <p:cNvSpPr>
              <a:spLocks noChangeArrowheads="1"/>
            </p:cNvSpPr>
            <p:nvPr/>
          </p:nvSpPr>
          <p:spPr bwMode="auto">
            <a:xfrm>
              <a:off x="3009900" y="3879850"/>
              <a:ext cx="1239838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服务水平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协议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59" name="Rectangle 45"/>
            <p:cNvSpPr>
              <a:spLocks noChangeArrowheads="1"/>
            </p:cNvSpPr>
            <p:nvPr/>
          </p:nvSpPr>
          <p:spPr bwMode="auto">
            <a:xfrm>
              <a:off x="3009900" y="4365625"/>
              <a:ext cx="1239838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服务厂商管理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0" name="Rectangle 34"/>
            <p:cNvSpPr>
              <a:spLocks noChangeArrowheads="1"/>
            </p:cNvSpPr>
            <p:nvPr/>
          </p:nvSpPr>
          <p:spPr bwMode="auto">
            <a:xfrm>
              <a:off x="4327525" y="5465763"/>
              <a:ext cx="1233488" cy="2873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系统测试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1" name="Rectangle 126"/>
            <p:cNvSpPr>
              <a:spLocks noChangeArrowheads="1"/>
            </p:cNvSpPr>
            <p:nvPr/>
          </p:nvSpPr>
          <p:spPr bwMode="auto">
            <a:xfrm>
              <a:off x="8266113" y="3651250"/>
              <a:ext cx="1203325" cy="1984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流程管理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2" name="Rectangle 84"/>
            <p:cNvSpPr>
              <a:spLocks noChangeArrowheads="1"/>
            </p:cNvSpPr>
            <p:nvPr/>
          </p:nvSpPr>
          <p:spPr bwMode="auto">
            <a:xfrm>
              <a:off x="6938963" y="1911350"/>
              <a:ext cx="1228725" cy="5937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6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3" name="Rectangle 80"/>
            <p:cNvSpPr>
              <a:spLocks noChangeArrowheads="1"/>
            </p:cNvSpPr>
            <p:nvPr/>
          </p:nvSpPr>
          <p:spPr bwMode="auto">
            <a:xfrm>
              <a:off x="4330700" y="3778250"/>
              <a:ext cx="1209675" cy="317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开发工具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4" name="Rectangle 81"/>
            <p:cNvSpPr>
              <a:spLocks noChangeArrowheads="1"/>
            </p:cNvSpPr>
            <p:nvPr/>
          </p:nvSpPr>
          <p:spPr bwMode="auto">
            <a:xfrm>
              <a:off x="4330700" y="4140200"/>
              <a:ext cx="1212850" cy="3016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版本管理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5" name="Rectangle 77"/>
            <p:cNvSpPr>
              <a:spLocks noChangeArrowheads="1"/>
            </p:cNvSpPr>
            <p:nvPr/>
          </p:nvSpPr>
          <p:spPr bwMode="auto">
            <a:xfrm>
              <a:off x="4330700" y="3390900"/>
              <a:ext cx="1209675" cy="3476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产品架构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6" name="Rectangle 23"/>
            <p:cNvSpPr>
              <a:spLocks noChangeArrowheads="1"/>
            </p:cNvSpPr>
            <p:nvPr/>
          </p:nvSpPr>
          <p:spPr bwMode="auto">
            <a:xfrm>
              <a:off x="4343400" y="2587625"/>
              <a:ext cx="1238250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开发策略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7" name="Rectangle 36"/>
            <p:cNvSpPr>
              <a:spLocks noChangeArrowheads="1"/>
            </p:cNvSpPr>
            <p:nvPr/>
          </p:nvSpPr>
          <p:spPr bwMode="auto">
            <a:xfrm>
              <a:off x="4327525" y="4873625"/>
              <a:ext cx="1233488" cy="2667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需求分析</a:t>
              </a: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8" name="Rectangle 81"/>
            <p:cNvSpPr>
              <a:spLocks noChangeArrowheads="1"/>
            </p:cNvSpPr>
            <p:nvPr/>
          </p:nvSpPr>
          <p:spPr bwMode="auto">
            <a:xfrm>
              <a:off x="4341813" y="4492625"/>
              <a:ext cx="1211262" cy="3016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600" b="0">
                  <a:ea typeface="宋体" panose="02010600030101010101" pitchFamily="2" charset="-122"/>
                  <a:cs typeface="Arial" panose="020B0604020202020204" pitchFamily="34" charset="0"/>
                </a:rPr>
                <a:t>项目管理</a:t>
              </a:r>
              <a:endParaRPr lang="en-US" altLang="zh-CN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69" name="Rectangle 37"/>
            <p:cNvSpPr>
              <a:spLocks noChangeArrowheads="1"/>
            </p:cNvSpPr>
            <p:nvPr/>
          </p:nvSpPr>
          <p:spPr bwMode="auto">
            <a:xfrm>
              <a:off x="1676400" y="1598613"/>
              <a:ext cx="1316038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销售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0" name="Rectangle 54"/>
            <p:cNvSpPr>
              <a:spLocks noChangeArrowheads="1"/>
            </p:cNvSpPr>
            <p:nvPr/>
          </p:nvSpPr>
          <p:spPr bwMode="auto">
            <a:xfrm>
              <a:off x="6889750" y="1598613"/>
              <a:ext cx="1316038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支持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1" name="Rectangle 67"/>
            <p:cNvSpPr>
              <a:spLocks noChangeArrowheads="1"/>
            </p:cNvSpPr>
            <p:nvPr/>
          </p:nvSpPr>
          <p:spPr bwMode="auto">
            <a:xfrm>
              <a:off x="5576888" y="1598613"/>
              <a:ext cx="1320800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2" name="Rectangle 21"/>
            <p:cNvSpPr>
              <a:spLocks noChangeArrowheads="1"/>
            </p:cNvSpPr>
            <p:nvPr/>
          </p:nvSpPr>
          <p:spPr bwMode="auto">
            <a:xfrm>
              <a:off x="2982913" y="1598613"/>
              <a:ext cx="1317625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服务管理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3" name="Rectangle 21"/>
            <p:cNvSpPr>
              <a:spLocks noChangeArrowheads="1"/>
            </p:cNvSpPr>
            <p:nvPr/>
          </p:nvSpPr>
          <p:spPr bwMode="auto">
            <a:xfrm>
              <a:off x="4294188" y="1598613"/>
              <a:ext cx="1317625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开发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4" name="Rectangle 120"/>
            <p:cNvSpPr>
              <a:spLocks noChangeArrowheads="1"/>
            </p:cNvSpPr>
            <p:nvPr/>
          </p:nvSpPr>
          <p:spPr bwMode="auto">
            <a:xfrm>
              <a:off x="8215313" y="1598613"/>
              <a:ext cx="1316037" cy="3175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FFFFFF"/>
              </a:solidFill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企业职能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5" name="Rectangle 5"/>
            <p:cNvSpPr>
              <a:spLocks noChangeArrowheads="1"/>
            </p:cNvSpPr>
            <p:nvPr/>
          </p:nvSpPr>
          <p:spPr bwMode="auto">
            <a:xfrm>
              <a:off x="620713" y="1885950"/>
              <a:ext cx="1065212" cy="1473200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战略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6" name="Rectangle 6"/>
            <p:cNvSpPr>
              <a:spLocks noChangeArrowheads="1"/>
            </p:cNvSpPr>
            <p:nvPr/>
          </p:nvSpPr>
          <p:spPr bwMode="auto">
            <a:xfrm>
              <a:off x="620713" y="3359150"/>
              <a:ext cx="1065212" cy="1473200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控制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977" name="Rectangle 7"/>
            <p:cNvSpPr>
              <a:spLocks noChangeArrowheads="1"/>
            </p:cNvSpPr>
            <p:nvPr/>
          </p:nvSpPr>
          <p:spPr bwMode="auto">
            <a:xfrm>
              <a:off x="620713" y="4832350"/>
              <a:ext cx="1065212" cy="1473200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操作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执行</a:t>
              </a:r>
              <a:endParaRPr lang="zh-CN" altLang="en-US" sz="10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" y="333375"/>
            <a:ext cx="8019305" cy="6477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业务能力（业务领域）图来描述企业的运营状态：“一页纸上的业务模型”</a:t>
            </a:r>
            <a:endParaRPr lang="zh-CN" altLang="en-US" dirty="0"/>
          </a:p>
        </p:txBody>
      </p:sp>
      <p:grpSp>
        <p:nvGrpSpPr>
          <p:cNvPr id="36868" name="Group 4"/>
          <p:cNvGrpSpPr/>
          <p:nvPr/>
        </p:nvGrpSpPr>
        <p:grpSpPr bwMode="auto">
          <a:xfrm>
            <a:off x="4445000" y="3333750"/>
            <a:ext cx="2470150" cy="2921000"/>
            <a:chOff x="793" y="1173"/>
            <a:chExt cx="1600" cy="1986"/>
          </a:xfrm>
        </p:grpSpPr>
        <p:sp>
          <p:nvSpPr>
            <p:cNvPr id="36880" name="Rectangle 5"/>
            <p:cNvSpPr>
              <a:spLocks noChangeArrowheads="1"/>
            </p:cNvSpPr>
            <p:nvPr/>
          </p:nvSpPr>
          <p:spPr bwMode="gray">
            <a:xfrm>
              <a:off x="793" y="1173"/>
              <a:ext cx="1600" cy="198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36000" rIns="0" bIns="0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业务能力</a:t>
              </a:r>
              <a:endParaRPr lang="zh-CN" altLang="en-US" sz="16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36881" name="Group 6"/>
            <p:cNvGrpSpPr/>
            <p:nvPr/>
          </p:nvGrpSpPr>
          <p:grpSpPr bwMode="auto">
            <a:xfrm>
              <a:off x="1012" y="1444"/>
              <a:ext cx="1162" cy="1608"/>
              <a:chOff x="980" y="1444"/>
              <a:chExt cx="1162" cy="1608"/>
            </a:xfrm>
          </p:grpSpPr>
          <p:sp>
            <p:nvSpPr>
              <p:cNvPr id="36882" name="Rectangle 7"/>
              <p:cNvSpPr>
                <a:spLocks noChangeArrowheads="1"/>
              </p:cNvSpPr>
              <p:nvPr/>
            </p:nvSpPr>
            <p:spPr bwMode="gray">
              <a:xfrm>
                <a:off x="980" y="1735"/>
                <a:ext cx="1162" cy="446"/>
              </a:xfrm>
              <a:prstGeom prst="rect">
                <a:avLst/>
              </a:prstGeom>
              <a:solidFill>
                <a:srgbClr val="D9D9D9"/>
              </a:solidFill>
              <a:ln w="317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200" dirty="0">
                    <a:ea typeface="宋体" panose="02010600030101010101" pitchFamily="2" charset="-122"/>
                    <a:cs typeface="Arial" panose="020B0604020202020204" pitchFamily="34" charset="0"/>
                  </a:rPr>
                  <a:t>业务流程</a:t>
                </a:r>
                <a:r>
                  <a:rPr lang="en-US" altLang="zh-CN" sz="1200" dirty="0">
                    <a:ea typeface="宋体" panose="02010600030101010101" pitchFamily="2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1200" dirty="0">
                    <a:ea typeface="宋体" panose="02010600030101010101" pitchFamily="2" charset="-122"/>
                    <a:cs typeface="Arial" panose="020B0604020202020204" pitchFamily="34" charset="0"/>
                  </a:rPr>
                  <a:t>动作</a:t>
                </a:r>
                <a:endParaRPr lang="zh-CN" altLang="en-US" sz="1200" dirty="0"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883" name="AutoShape 8"/>
              <p:cNvSpPr>
                <a:spLocks noChangeArrowheads="1"/>
              </p:cNvSpPr>
              <p:nvPr/>
            </p:nvSpPr>
            <p:spPr bwMode="gray">
              <a:xfrm>
                <a:off x="1038" y="1948"/>
                <a:ext cx="348" cy="116"/>
              </a:xfrm>
              <a:prstGeom prst="parallelogram">
                <a:avLst>
                  <a:gd name="adj" fmla="val 75000"/>
                </a:avLst>
              </a:prstGeom>
              <a:solidFill>
                <a:srgbClr val="999999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6884" name="AutoShape 9"/>
              <p:cNvSpPr>
                <a:spLocks noChangeArrowheads="1"/>
              </p:cNvSpPr>
              <p:nvPr/>
            </p:nvSpPr>
            <p:spPr bwMode="gray">
              <a:xfrm>
                <a:off x="1386" y="1948"/>
                <a:ext cx="349" cy="116"/>
              </a:xfrm>
              <a:prstGeom prst="parallelogram">
                <a:avLst>
                  <a:gd name="adj" fmla="val 75216"/>
                </a:avLst>
              </a:prstGeom>
              <a:solidFill>
                <a:srgbClr val="999999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SzTx/>
                  <a:buFont typeface="Wingdings" panose="05000000000000000000" pitchFamily="2" charset="2"/>
                  <a:buChar char="§"/>
                </a:pPr>
                <a:endParaRPr lang="zh-CN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6885" name="AutoShape 10"/>
              <p:cNvSpPr>
                <a:spLocks noChangeArrowheads="1"/>
              </p:cNvSpPr>
              <p:nvPr/>
            </p:nvSpPr>
            <p:spPr bwMode="gray">
              <a:xfrm>
                <a:off x="1735" y="1948"/>
                <a:ext cx="349" cy="116"/>
              </a:xfrm>
              <a:prstGeom prst="parallelogram">
                <a:avLst>
                  <a:gd name="adj" fmla="val 75216"/>
                </a:avLst>
              </a:prstGeom>
              <a:solidFill>
                <a:srgbClr val="999999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de-DE" altLang="zh-CN" sz="1200" b="0">
                  <a:solidFill>
                    <a:schemeClr val="bg2"/>
                  </a:solidFill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886" name="Rectangle 11"/>
              <p:cNvSpPr>
                <a:spLocks noChangeArrowheads="1"/>
              </p:cNvSpPr>
              <p:nvPr/>
            </p:nvSpPr>
            <p:spPr bwMode="gray">
              <a:xfrm>
                <a:off x="980" y="2181"/>
                <a:ext cx="1162" cy="290"/>
              </a:xfrm>
              <a:prstGeom prst="rect">
                <a:avLst/>
              </a:prstGeom>
              <a:solidFill>
                <a:srgbClr val="D9D9D9"/>
              </a:solidFill>
              <a:ln w="317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 anchorCtr="1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200">
                    <a:ea typeface="宋体" panose="02010600030101010101" pitchFamily="2" charset="-122"/>
                    <a:cs typeface="Arial" panose="020B0604020202020204" pitchFamily="34" charset="0"/>
                  </a:rPr>
                  <a:t>资源</a:t>
                </a:r>
                <a:endParaRPr lang="zh-CN" altLang="en-US" sz="1200"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887" name="Rectangle 12"/>
              <p:cNvSpPr>
                <a:spLocks noChangeArrowheads="1"/>
              </p:cNvSpPr>
              <p:nvPr/>
            </p:nvSpPr>
            <p:spPr bwMode="gray">
              <a:xfrm>
                <a:off x="980" y="2471"/>
                <a:ext cx="1162" cy="291"/>
              </a:xfrm>
              <a:prstGeom prst="rect">
                <a:avLst/>
              </a:prstGeom>
              <a:solidFill>
                <a:srgbClr val="D9D9D9"/>
              </a:solidFill>
              <a:ln w="317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 anchorCtr="1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200">
                    <a:ea typeface="宋体" panose="02010600030101010101" pitchFamily="2" charset="-122"/>
                    <a:cs typeface="Arial" panose="020B0604020202020204" pitchFamily="34" charset="0"/>
                  </a:rPr>
                  <a:t>应用系统</a:t>
                </a:r>
                <a:endParaRPr lang="zh-CN" altLang="en-US" sz="1200"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888" name="Rectangle 13"/>
              <p:cNvSpPr>
                <a:spLocks noChangeArrowheads="1"/>
              </p:cNvSpPr>
              <p:nvPr/>
            </p:nvSpPr>
            <p:spPr bwMode="gray">
              <a:xfrm>
                <a:off x="980" y="2762"/>
                <a:ext cx="1162" cy="290"/>
              </a:xfrm>
              <a:prstGeom prst="rect">
                <a:avLst/>
              </a:prstGeom>
              <a:solidFill>
                <a:srgbClr val="D9D9D9"/>
              </a:solidFill>
              <a:ln w="317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 anchorCtr="1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200">
                    <a:ea typeface="宋体" panose="02010600030101010101" pitchFamily="2" charset="-122"/>
                    <a:cs typeface="Arial" panose="020B0604020202020204" pitchFamily="34" charset="0"/>
                  </a:rPr>
                  <a:t>基础设施</a:t>
                </a:r>
                <a:endParaRPr lang="zh-CN" altLang="en-US" sz="1200"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889" name="Rectangle 14"/>
              <p:cNvSpPr>
                <a:spLocks noChangeArrowheads="1"/>
              </p:cNvSpPr>
              <p:nvPr/>
            </p:nvSpPr>
            <p:spPr bwMode="gray">
              <a:xfrm>
                <a:off x="980" y="1444"/>
                <a:ext cx="1162" cy="291"/>
              </a:xfrm>
              <a:prstGeom prst="rect">
                <a:avLst/>
              </a:prstGeom>
              <a:solidFill>
                <a:srgbClr val="D9D9D9"/>
              </a:solidFill>
              <a:ln w="317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 anchorCtr="1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200">
                    <a:ea typeface="宋体" panose="02010600030101010101" pitchFamily="2" charset="-122"/>
                    <a:cs typeface="Arial" panose="020B0604020202020204" pitchFamily="34" charset="0"/>
                  </a:rPr>
                  <a:t>业务目的</a:t>
                </a:r>
                <a:endParaRPr lang="zh-CN" altLang="en-US" sz="1200"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6869" name="Rectangle 15"/>
          <p:cNvSpPr>
            <a:spLocks noChangeArrowheads="1"/>
          </p:cNvSpPr>
          <p:nvPr/>
        </p:nvSpPr>
        <p:spPr bwMode="auto">
          <a:xfrm>
            <a:off x="7050088" y="4046538"/>
            <a:ext cx="2667000" cy="1954212"/>
          </a:xfrm>
          <a:prstGeom prst="rect">
            <a:avLst/>
          </a:prstGeom>
          <a:noFill/>
          <a:ln w="6350">
            <a:solidFill>
              <a:srgbClr val="00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5425" indent="-111125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 b="0">
                <a:ea typeface="宋体" panose="02010600030101010101" pitchFamily="2" charset="-122"/>
                <a:cs typeface="Arial" panose="020B0604020202020204" pitchFamily="34" charset="0"/>
              </a:rPr>
              <a:t>一个</a:t>
            </a:r>
            <a:r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业务能力</a:t>
            </a:r>
            <a:r>
              <a:rPr lang="zh-CN" altLang="en-US" sz="1200" b="0">
                <a:ea typeface="宋体" panose="02010600030101010101" pitchFamily="2" charset="-122"/>
                <a:cs typeface="Arial" panose="020B0604020202020204" pitchFamily="34" charset="0"/>
              </a:rPr>
              <a:t> 是具有内在联系的一系列业务动作组成的，其具有独立运作的 能力的， 每一个组件</a:t>
            </a:r>
            <a:r>
              <a:rPr lang="en-US" altLang="zh-CN" sz="1200" b="0"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endParaRPr lang="en-US" altLang="zh-CN" sz="1200" b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  <a:cs typeface="Arial" panose="020B0604020202020204" pitchFamily="34" charset="0"/>
              </a:rPr>
              <a:t>为企业提供</a:t>
            </a:r>
            <a:r>
              <a:rPr lang="zh-CN" altLang="en-US" sz="1200" b="1">
                <a:ea typeface="宋体" panose="02010600030101010101" pitchFamily="2" charset="-122"/>
                <a:cs typeface="Arial" panose="020B0604020202020204" pitchFamily="34" charset="0"/>
              </a:rPr>
              <a:t>独特的服务</a:t>
            </a:r>
            <a:endParaRPr lang="zh-CN" altLang="en-US" sz="1200" b="1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solidFill>
                  <a:schemeClr val="tx2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可以与内部组件和外部服务进行合作</a:t>
            </a:r>
            <a:endParaRPr lang="zh-CN" altLang="en-US" sz="1200">
              <a:solidFill>
                <a:schemeClr val="tx2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  <a:cs typeface="Arial" panose="020B0604020202020204" pitchFamily="34" charset="0"/>
              </a:rPr>
              <a:t>可以根据相互</a:t>
            </a:r>
            <a:r>
              <a:rPr lang="zh-CN" altLang="en-US" sz="1200" b="1">
                <a:ea typeface="宋体" panose="02010600030101010101" pitchFamily="2" charset="-122"/>
                <a:cs typeface="Arial" panose="020B0604020202020204" pitchFamily="34" charset="0"/>
              </a:rPr>
              <a:t>协调的工作流</a:t>
            </a:r>
            <a:endParaRPr lang="zh-CN" altLang="en-US" sz="1200" b="1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200">
                <a:ea typeface="宋体" panose="02010600030101010101" pitchFamily="2" charset="-122"/>
                <a:cs typeface="Arial" panose="020B0604020202020204" pitchFamily="34" charset="0"/>
              </a:rPr>
              <a:t>   进行运作</a:t>
            </a:r>
            <a:endParaRPr lang="zh-CN" altLang="en-US" sz="120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  <a:cs typeface="Arial" panose="020B0604020202020204" pitchFamily="34" charset="0"/>
              </a:rPr>
              <a:t>其运作具有可衡量的</a:t>
            </a:r>
            <a:r>
              <a:rPr lang="zh-CN" altLang="en-US" sz="1200" b="1">
                <a:ea typeface="宋体" panose="02010600030101010101" pitchFamily="2" charset="-122"/>
                <a:cs typeface="Arial" panose="020B0604020202020204" pitchFamily="34" charset="0"/>
              </a:rPr>
              <a:t>服务和成本水平</a:t>
            </a:r>
            <a:endParaRPr lang="zh-CN" altLang="en-US" sz="1200" b="1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6870" name="AutoShape 16"/>
          <p:cNvSpPr>
            <a:spLocks noChangeArrowheads="1"/>
          </p:cNvSpPr>
          <p:nvPr/>
        </p:nvSpPr>
        <p:spPr bwMode="auto">
          <a:xfrm>
            <a:off x="2569931" y="2801444"/>
            <a:ext cx="636588" cy="2587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36871" name="Line 17"/>
          <p:cNvSpPr>
            <a:spLocks noChangeShapeType="1"/>
          </p:cNvSpPr>
          <p:nvPr/>
        </p:nvSpPr>
        <p:spPr bwMode="auto">
          <a:xfrm>
            <a:off x="2603190" y="3051822"/>
            <a:ext cx="1830698" cy="3153716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36872" name="Line 18"/>
          <p:cNvSpPr>
            <a:spLocks noChangeShapeType="1"/>
          </p:cNvSpPr>
          <p:nvPr/>
        </p:nvSpPr>
        <p:spPr bwMode="auto">
          <a:xfrm>
            <a:off x="3220356" y="2809417"/>
            <a:ext cx="1245281" cy="541795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GB"/>
          </a:p>
        </p:txBody>
      </p:sp>
      <p:cxnSp>
        <p:nvCxnSpPr>
          <p:cNvPr id="36873" name="AutoShape 19"/>
          <p:cNvCxnSpPr>
            <a:cxnSpLocks noChangeShapeType="1"/>
            <a:stCxn id="36869" idx="0"/>
          </p:cNvCxnSpPr>
          <p:nvPr/>
        </p:nvCxnSpPr>
        <p:spPr bwMode="auto">
          <a:xfrm rot="5400000" flipH="1">
            <a:off x="7391400" y="3054350"/>
            <a:ext cx="515938" cy="1468438"/>
          </a:xfrm>
          <a:prstGeom prst="curvedConnector2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874" name="Group 20"/>
          <p:cNvGrpSpPr/>
          <p:nvPr/>
        </p:nvGrpSpPr>
        <p:grpSpPr bwMode="auto">
          <a:xfrm>
            <a:off x="330200" y="2924175"/>
            <a:ext cx="3502025" cy="2998788"/>
            <a:chOff x="192" y="1603"/>
            <a:chExt cx="2037" cy="1889"/>
          </a:xfrm>
        </p:grpSpPr>
        <p:sp>
          <p:nvSpPr>
            <p:cNvPr id="36878" name="Rectangle 21"/>
            <p:cNvSpPr>
              <a:spLocks noChangeArrowheads="1"/>
            </p:cNvSpPr>
            <p:nvPr/>
          </p:nvSpPr>
          <p:spPr bwMode="auto">
            <a:xfrm>
              <a:off x="192" y="2622"/>
              <a:ext cx="2037" cy="8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225425" indent="-111125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400">
                  <a:solidFill>
                    <a:schemeClr val="tx2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管理级别</a:t>
              </a:r>
              <a:r>
                <a:rPr lang="zh-CN" altLang="en-US" sz="1400" b="0">
                  <a:ea typeface="宋体" panose="02010600030101010101" pitchFamily="2" charset="-122"/>
                  <a:cs typeface="Arial" panose="020B0604020202020204" pitchFamily="34" charset="0"/>
                </a:rPr>
                <a:t> （横行）来表示业务决策的范围和目的</a:t>
              </a:r>
              <a:endParaRPr lang="zh-CN" altLang="en-US" sz="14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lvl="1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</a:pPr>
              <a:r>
                <a:rPr lang="zh-CN" altLang="en-US" sz="1400" b="1">
                  <a:solidFill>
                    <a:schemeClr val="tx2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战略规划</a:t>
              </a:r>
              <a:r>
                <a:rPr lang="zh-CN" altLang="en-US" sz="1400">
                  <a:ea typeface="宋体" panose="02010600030101010101" pitchFamily="2" charset="-122"/>
                  <a:cs typeface="Arial" panose="020B0604020202020204" pitchFamily="34" charset="0"/>
                </a:rPr>
                <a:t>组件提供战略和整体性的方向</a:t>
              </a:r>
              <a:endParaRPr lang="zh-CN" altLang="en-US" sz="140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lvl="1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</a:pPr>
              <a:r>
                <a:rPr lang="zh-CN" altLang="en-US" sz="1400" b="1">
                  <a:solidFill>
                    <a:schemeClr val="tx2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管理控制</a:t>
              </a:r>
              <a:r>
                <a:rPr lang="zh-CN" altLang="en-US" sz="1400">
                  <a:ea typeface="宋体" panose="02010600030101010101" pitchFamily="2" charset="-122"/>
                  <a:cs typeface="Arial" panose="020B0604020202020204" pitchFamily="34" charset="0"/>
                </a:rPr>
                <a:t> 组件提供管理监控和审计的工作，并负责例外情况的处理</a:t>
              </a:r>
              <a:endParaRPr lang="zh-CN" altLang="en-US" sz="140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lvl="1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</a:pPr>
              <a:r>
                <a:rPr lang="zh-CN" altLang="en-US" sz="1400" b="1">
                  <a:solidFill>
                    <a:schemeClr val="tx2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操作执行</a:t>
              </a:r>
              <a:r>
                <a:rPr lang="zh-CN" altLang="en-US" sz="1400">
                  <a:ea typeface="宋体" panose="02010600030101010101" pitchFamily="2" charset="-122"/>
                  <a:cs typeface="Arial" panose="020B0604020202020204" pitchFamily="34" charset="0"/>
                </a:rPr>
                <a:t> 组件负责具体执行业务操作</a:t>
              </a:r>
              <a:endParaRPr lang="zh-CN" altLang="en-US" sz="140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6879" name="AutoShape 22"/>
            <p:cNvCxnSpPr>
              <a:cxnSpLocks noChangeShapeType="1"/>
              <a:stCxn id="36878" idx="0"/>
            </p:cNvCxnSpPr>
            <p:nvPr/>
          </p:nvCxnSpPr>
          <p:spPr bwMode="auto">
            <a:xfrm rot="5400000" flipH="1">
              <a:off x="220" y="1631"/>
              <a:ext cx="1019" cy="963"/>
            </a:xfrm>
            <a:prstGeom prst="curvedConnector4">
              <a:avLst>
                <a:gd name="adj1" fmla="val 14523"/>
                <a:gd name="adj2" fmla="val 114954"/>
              </a:avLst>
            </a:prstGeom>
            <a:noFill/>
            <a:ln w="63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6875" name="Group 23"/>
          <p:cNvGrpSpPr/>
          <p:nvPr/>
        </p:nvGrpSpPr>
        <p:grpSpPr bwMode="auto">
          <a:xfrm>
            <a:off x="4088015" y="2046288"/>
            <a:ext cx="5367134" cy="523875"/>
            <a:chOff x="2378" y="854"/>
            <a:chExt cx="3122" cy="330"/>
          </a:xfrm>
        </p:grpSpPr>
        <p:sp>
          <p:nvSpPr>
            <p:cNvPr id="36876" name="Rectangle 24"/>
            <p:cNvSpPr>
              <a:spLocks noChangeArrowheads="1"/>
            </p:cNvSpPr>
            <p:nvPr/>
          </p:nvSpPr>
          <p:spPr bwMode="auto">
            <a:xfrm>
              <a:off x="2994" y="854"/>
              <a:ext cx="2506" cy="330"/>
            </a:xfrm>
            <a:prstGeom prst="rect">
              <a:avLst/>
            </a:prstGeom>
            <a:noFill/>
            <a:ln w="6350">
              <a:solidFill>
                <a:srgbClr val="000099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400" dirty="0">
                  <a:solidFill>
                    <a:schemeClr val="tx2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业务能力</a:t>
              </a:r>
              <a:r>
                <a:rPr lang="zh-CN" altLang="en-US" sz="1400" dirty="0">
                  <a:ea typeface="宋体" panose="02010600030101010101" pitchFamily="2" charset="-122"/>
                  <a:cs typeface="Arial" panose="020B0604020202020204" pitchFamily="34" charset="0"/>
                </a:rPr>
                <a:t> ：</a:t>
              </a:r>
              <a:r>
                <a:rPr lang="zh-CN" altLang="en-US" sz="1400" b="0" dirty="0">
                  <a:ea typeface="宋体" panose="02010600030101010101" pitchFamily="2" charset="-122"/>
                  <a:cs typeface="Arial" panose="020B0604020202020204" pitchFamily="34" charset="0"/>
                </a:rPr>
                <a:t>是主要资产和资源的组合，用来交付或提供业务功能以实现战略目标</a:t>
              </a:r>
              <a:endParaRPr lang="zh-CN" altLang="en-US" sz="1200" b="0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77" name="Line 25"/>
            <p:cNvSpPr>
              <a:spLocks noChangeShapeType="1"/>
            </p:cNvSpPr>
            <p:nvPr/>
          </p:nvSpPr>
          <p:spPr bwMode="auto">
            <a:xfrm flipH="1" flipV="1">
              <a:off x="2378" y="946"/>
              <a:ext cx="605" cy="1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2"/>
          <p:cNvSpPr txBox="1">
            <a:spLocks noGrp="1"/>
          </p:cNvSpPr>
          <p:nvPr/>
        </p:nvSpPr>
        <p:spPr bwMode="auto">
          <a:xfrm>
            <a:off x="330200" y="6534150"/>
            <a:ext cx="1320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4000" tIns="6840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3B416C1-6A6B-4F90-A4F6-25AAF6478B70}" type="slidenum">
              <a:rPr lang="zh-CN" altLang="en-US" sz="800" b="0">
                <a:solidFill>
                  <a:schemeClr val="bg1"/>
                </a:solidFill>
                <a:ea typeface="华文楷体" panose="02010600040101010101" pitchFamily="2" charset="-122"/>
                <a:cs typeface="Arial" panose="020B0604020202020204" pitchFamily="34" charset="0"/>
              </a:rPr>
            </a:fld>
            <a:endParaRPr lang="en-US" altLang="zh-CN" sz="800" b="0">
              <a:solidFill>
                <a:schemeClr val="bg1"/>
              </a:solidFill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9155" name="灯片编号占位符 2"/>
          <p:cNvSpPr txBox="1">
            <a:spLocks noGrp="1"/>
          </p:cNvSpPr>
          <p:nvPr/>
        </p:nvSpPr>
        <p:spPr bwMode="auto">
          <a:xfrm>
            <a:off x="330200" y="6534150"/>
            <a:ext cx="1320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4000" tIns="6840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87874BF-BAE4-4905-A418-A929F81D4A26}" type="slidenum">
              <a:rPr lang="zh-CN" altLang="en-US" sz="800" b="0">
                <a:solidFill>
                  <a:schemeClr val="bg1"/>
                </a:solidFill>
                <a:ea typeface="华文楷体" panose="02010600040101010101" pitchFamily="2" charset="-122"/>
                <a:cs typeface="Arial" panose="020B0604020202020204" pitchFamily="34" charset="0"/>
              </a:rPr>
            </a:fld>
            <a:endParaRPr lang="en-US" altLang="zh-CN" sz="800" b="0">
              <a:solidFill>
                <a:schemeClr val="bg1"/>
              </a:solidFill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9156" name="Rectangle 2"/>
          <p:cNvSpPr>
            <a:spLocks noChangeArrowheads="1"/>
          </p:cNvSpPr>
          <p:nvPr/>
        </p:nvSpPr>
        <p:spPr bwMode="auto">
          <a:xfrm>
            <a:off x="309563" y="188913"/>
            <a:ext cx="9159875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业务能力 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CBM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总图 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– 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各个行业参考图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0988" y="1306661"/>
            <a:ext cx="9380537" cy="5146675"/>
            <a:chOff x="280988" y="1125538"/>
            <a:chExt cx="9380537" cy="5146675"/>
          </a:xfrm>
        </p:grpSpPr>
        <p:sp>
          <p:nvSpPr>
            <p:cNvPr id="3" name="Rectangle 416"/>
            <p:cNvSpPr>
              <a:spLocks noChangeArrowheads="1"/>
            </p:cNvSpPr>
            <p:nvPr/>
          </p:nvSpPr>
          <p:spPr bwMode="auto">
            <a:xfrm>
              <a:off x="8682038" y="1443038"/>
              <a:ext cx="979487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" name="Rectangle 420"/>
            <p:cNvSpPr>
              <a:spLocks noChangeArrowheads="1"/>
            </p:cNvSpPr>
            <p:nvPr/>
          </p:nvSpPr>
          <p:spPr bwMode="auto">
            <a:xfrm>
              <a:off x="7683500" y="1443038"/>
              <a:ext cx="979488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" name="Rectangle 419"/>
            <p:cNvSpPr>
              <a:spLocks noChangeArrowheads="1"/>
            </p:cNvSpPr>
            <p:nvPr/>
          </p:nvSpPr>
          <p:spPr bwMode="auto">
            <a:xfrm>
              <a:off x="6673850" y="1443038"/>
              <a:ext cx="979488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6" name="Rectangle 418"/>
            <p:cNvSpPr>
              <a:spLocks noChangeArrowheads="1"/>
            </p:cNvSpPr>
            <p:nvPr/>
          </p:nvSpPr>
          <p:spPr bwMode="auto">
            <a:xfrm>
              <a:off x="5675313" y="1443038"/>
              <a:ext cx="979487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7" name="Rectangle 417"/>
            <p:cNvSpPr>
              <a:spLocks noChangeArrowheads="1"/>
            </p:cNvSpPr>
            <p:nvPr/>
          </p:nvSpPr>
          <p:spPr bwMode="auto">
            <a:xfrm>
              <a:off x="4675188" y="1443038"/>
              <a:ext cx="979487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8" name="Rectangle 415"/>
            <p:cNvSpPr>
              <a:spLocks noChangeArrowheads="1"/>
            </p:cNvSpPr>
            <p:nvPr/>
          </p:nvSpPr>
          <p:spPr bwMode="auto">
            <a:xfrm>
              <a:off x="1674813" y="1443038"/>
              <a:ext cx="979487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9" name="Rectangle 414"/>
            <p:cNvSpPr>
              <a:spLocks noChangeArrowheads="1"/>
            </p:cNvSpPr>
            <p:nvPr/>
          </p:nvSpPr>
          <p:spPr bwMode="auto">
            <a:xfrm>
              <a:off x="3679825" y="1443038"/>
              <a:ext cx="979488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0" name="Rectangle 413"/>
            <p:cNvSpPr>
              <a:spLocks noChangeArrowheads="1"/>
            </p:cNvSpPr>
            <p:nvPr/>
          </p:nvSpPr>
          <p:spPr bwMode="auto">
            <a:xfrm>
              <a:off x="677863" y="1443038"/>
              <a:ext cx="979487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80988" y="1443038"/>
              <a:ext cx="398462" cy="1101725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战略规划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280988" y="2544763"/>
              <a:ext cx="398462" cy="1774825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管理控制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80988" y="4313238"/>
              <a:ext cx="398462" cy="194945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操作执行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703263" y="2174875"/>
              <a:ext cx="93186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市场营销计划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15" name="Rectangle 72"/>
            <p:cNvSpPr>
              <a:spLocks noChangeArrowheads="1"/>
            </p:cNvSpPr>
            <p:nvPr/>
          </p:nvSpPr>
          <p:spPr bwMode="auto">
            <a:xfrm>
              <a:off x="3714750" y="2909888"/>
              <a:ext cx="920750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客户满意度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6" name="Rectangle 80"/>
            <p:cNvSpPr>
              <a:spLocks noChangeArrowheads="1"/>
            </p:cNvSpPr>
            <p:nvPr/>
          </p:nvSpPr>
          <p:spPr bwMode="auto">
            <a:xfrm>
              <a:off x="3714750" y="5700713"/>
              <a:ext cx="911225" cy="2476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客户接待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17" name="Rectangle 39"/>
            <p:cNvSpPr>
              <a:spLocks noChangeArrowheads="1"/>
            </p:cNvSpPr>
            <p:nvPr/>
          </p:nvSpPr>
          <p:spPr bwMode="auto">
            <a:xfrm>
              <a:off x="703263" y="1477963"/>
              <a:ext cx="93186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产品和解决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方案规划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703263" y="4338638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市场信息收集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9" name="Rectangle 50"/>
            <p:cNvSpPr>
              <a:spLocks noChangeArrowheads="1"/>
            </p:cNvSpPr>
            <p:nvPr/>
          </p:nvSpPr>
          <p:spPr bwMode="auto">
            <a:xfrm>
              <a:off x="703263" y="4692650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市场活动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0" name="Rectangle 58"/>
            <p:cNvSpPr>
              <a:spLocks noChangeArrowheads="1"/>
            </p:cNvSpPr>
            <p:nvPr/>
          </p:nvSpPr>
          <p:spPr bwMode="auto">
            <a:xfrm>
              <a:off x="5699125" y="2557463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900" b="1">
                  <a:ea typeface="宋体" panose="02010600030101010101" pitchFamily="2" charset="-122"/>
                </a:rPr>
                <a:t>IT</a:t>
              </a:r>
              <a:r>
                <a:rPr lang="zh-CN" altLang="en-US" sz="900" b="1">
                  <a:ea typeface="宋体" panose="02010600030101010101" pitchFamily="2" charset="-122"/>
                </a:rPr>
                <a:t>资产管理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1" name="Rectangle 59"/>
            <p:cNvSpPr>
              <a:spLocks noChangeArrowheads="1"/>
            </p:cNvSpPr>
            <p:nvPr/>
          </p:nvSpPr>
          <p:spPr bwMode="auto">
            <a:xfrm>
              <a:off x="5699125" y="2903538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性能管理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2" name="Rectangle 60"/>
            <p:cNvSpPr>
              <a:spLocks noChangeArrowheads="1"/>
            </p:cNvSpPr>
            <p:nvPr/>
          </p:nvSpPr>
          <p:spPr bwMode="auto">
            <a:xfrm>
              <a:off x="5699125" y="3254375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900" b="1">
                  <a:ea typeface="宋体" panose="02010600030101010101" pitchFamily="2" charset="-122"/>
                </a:rPr>
                <a:t>IT</a:t>
              </a:r>
              <a:r>
                <a:rPr lang="zh-CN" altLang="en-US" sz="900" b="1">
                  <a:ea typeface="宋体" panose="02010600030101010101" pitchFamily="2" charset="-122"/>
                </a:rPr>
                <a:t>系统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架构设计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3" name="Rectangle 63"/>
            <p:cNvSpPr>
              <a:spLocks noChangeArrowheads="1"/>
            </p:cNvSpPr>
            <p:nvPr/>
          </p:nvSpPr>
          <p:spPr bwMode="auto">
            <a:xfrm>
              <a:off x="5699125" y="4338638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900" b="1">
                  <a:ea typeface="宋体" panose="02010600030101010101" pitchFamily="2" charset="-122"/>
                </a:rPr>
                <a:t>IT</a:t>
              </a:r>
              <a:r>
                <a:rPr lang="zh-CN" altLang="en-US" sz="900" b="1">
                  <a:ea typeface="宋体" panose="02010600030101010101" pitchFamily="2" charset="-122"/>
                </a:rPr>
                <a:t>设施运维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4" name="Rectangle 65"/>
            <p:cNvSpPr>
              <a:spLocks noChangeArrowheads="1"/>
            </p:cNvSpPr>
            <p:nvPr/>
          </p:nvSpPr>
          <p:spPr bwMode="auto">
            <a:xfrm>
              <a:off x="5699125" y="4681538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应用系统实施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5" name="Rectangle 69"/>
            <p:cNvSpPr>
              <a:spLocks noChangeArrowheads="1"/>
            </p:cNvSpPr>
            <p:nvPr/>
          </p:nvSpPr>
          <p:spPr bwMode="auto">
            <a:xfrm>
              <a:off x="4708525" y="1477963"/>
              <a:ext cx="9207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产品支持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策略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6" name="Rectangle 77"/>
            <p:cNvSpPr>
              <a:spLocks noChangeArrowheads="1"/>
            </p:cNvSpPr>
            <p:nvPr/>
          </p:nvSpPr>
          <p:spPr bwMode="auto">
            <a:xfrm>
              <a:off x="4708525" y="4338638"/>
              <a:ext cx="9207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产品问题解答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27" name="Rectangle 80"/>
            <p:cNvSpPr>
              <a:spLocks noChangeArrowheads="1"/>
            </p:cNvSpPr>
            <p:nvPr/>
          </p:nvSpPr>
          <p:spPr bwMode="auto">
            <a:xfrm>
              <a:off x="4708525" y="5021263"/>
              <a:ext cx="9207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变更</a:t>
              </a:r>
              <a:r>
                <a:rPr lang="en-US" altLang="zh-CN" sz="900" b="1" dirty="0">
                  <a:ea typeface="宋体" panose="02010600030101010101" pitchFamily="2" charset="-122"/>
                </a:rPr>
                <a:t>/</a:t>
              </a:r>
              <a:r>
                <a:rPr lang="zh-CN" altLang="en-US" sz="900" b="1" dirty="0">
                  <a:ea typeface="宋体" panose="02010600030101010101" pitchFamily="2" charset="-122"/>
                </a:rPr>
                <a:t>升级</a:t>
              </a:r>
              <a:endParaRPr lang="en-US" altLang="zh-CN" sz="900" b="1" dirty="0">
                <a:ea typeface="宋体" panose="02010600030101010101" pitchFamily="2" charset="-122"/>
              </a:endParaRPr>
            </a:p>
          </p:txBody>
        </p:sp>
        <p:sp>
          <p:nvSpPr>
            <p:cNvPr id="28" name="Rectangle 81"/>
            <p:cNvSpPr>
              <a:spLocks noChangeArrowheads="1"/>
            </p:cNvSpPr>
            <p:nvPr/>
          </p:nvSpPr>
          <p:spPr bwMode="auto">
            <a:xfrm>
              <a:off x="4708525" y="5364163"/>
              <a:ext cx="9207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客户需求反馈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3714750" y="1477963"/>
              <a:ext cx="91757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服务规划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>
              <a:off x="3714750" y="5073650"/>
              <a:ext cx="911225" cy="2936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安装</a:t>
              </a:r>
              <a:r>
                <a:rPr lang="en-US" altLang="zh-CN" sz="900" b="1">
                  <a:ea typeface="宋体" panose="02010600030101010101" pitchFamily="2" charset="-122"/>
                </a:rPr>
                <a:t>/</a:t>
              </a:r>
              <a:r>
                <a:rPr lang="zh-CN" altLang="en-US" sz="900" b="1">
                  <a:ea typeface="宋体" panose="02010600030101010101" pitchFamily="2" charset="-122"/>
                </a:rPr>
                <a:t>实施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服务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1" name="Rectangle 35"/>
            <p:cNvSpPr>
              <a:spLocks noChangeArrowheads="1"/>
            </p:cNvSpPr>
            <p:nvPr/>
          </p:nvSpPr>
          <p:spPr bwMode="auto">
            <a:xfrm>
              <a:off x="3714750" y="5399088"/>
              <a:ext cx="911225" cy="2730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投诉处理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703263" y="1825625"/>
              <a:ext cx="92551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市场策略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1717675" y="4983163"/>
              <a:ext cx="904875" cy="2921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产品开发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34" name="Rectangle 44"/>
            <p:cNvSpPr>
              <a:spLocks noChangeArrowheads="1"/>
            </p:cNvSpPr>
            <p:nvPr/>
          </p:nvSpPr>
          <p:spPr bwMode="auto">
            <a:xfrm>
              <a:off x="3714750" y="2560638"/>
              <a:ext cx="91757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服务管理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717675" y="5305425"/>
              <a:ext cx="904875" cy="2921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产品测试</a:t>
              </a:r>
              <a:endParaRPr lang="en-US" altLang="zh-CN" sz="900" b="1" dirty="0">
                <a:ea typeface="宋体" panose="02010600030101010101" pitchFamily="2" charset="-122"/>
              </a:endParaRPr>
            </a:p>
          </p:txBody>
        </p:sp>
        <p:sp>
          <p:nvSpPr>
            <p:cNvPr id="36" name="Rectangle 84"/>
            <p:cNvSpPr>
              <a:spLocks noChangeArrowheads="1"/>
            </p:cNvSpPr>
            <p:nvPr/>
          </p:nvSpPr>
          <p:spPr bwMode="auto">
            <a:xfrm>
              <a:off x="5699125" y="1477963"/>
              <a:ext cx="92710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900" b="1">
                  <a:ea typeface="宋体" panose="02010600030101010101" pitchFamily="2" charset="-122"/>
                </a:rPr>
                <a:t>IT</a:t>
              </a:r>
              <a:r>
                <a:rPr lang="zh-CN" altLang="en-US" sz="900" b="1">
                  <a:ea typeface="宋体" panose="02010600030101010101" pitchFamily="2" charset="-122"/>
                </a:rPr>
                <a:t>规划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7" name="Rectangle 80"/>
            <p:cNvSpPr>
              <a:spLocks noChangeArrowheads="1"/>
            </p:cNvSpPr>
            <p:nvPr/>
          </p:nvSpPr>
          <p:spPr bwMode="auto">
            <a:xfrm>
              <a:off x="1717675" y="2903538"/>
              <a:ext cx="900113" cy="31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解决方案设计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38" name="Rectangle 77"/>
            <p:cNvSpPr>
              <a:spLocks noChangeArrowheads="1"/>
            </p:cNvSpPr>
            <p:nvPr/>
          </p:nvSpPr>
          <p:spPr bwMode="auto">
            <a:xfrm>
              <a:off x="1717675" y="2557463"/>
              <a:ext cx="900113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产品体系架构</a:t>
              </a:r>
              <a:endParaRPr lang="zh-CN" altLang="en-US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设计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39" name="Rectangle 23"/>
            <p:cNvSpPr>
              <a:spLocks noChangeArrowheads="1"/>
            </p:cNvSpPr>
            <p:nvPr/>
          </p:nvSpPr>
          <p:spPr bwMode="auto">
            <a:xfrm>
              <a:off x="1717675" y="1477963"/>
              <a:ext cx="9080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产品研发规划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1717675" y="4338638"/>
              <a:ext cx="904875" cy="2921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产品需求分析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1" name="Rectangle 81"/>
            <p:cNvSpPr>
              <a:spLocks noChangeArrowheads="1"/>
            </p:cNvSpPr>
            <p:nvPr/>
          </p:nvSpPr>
          <p:spPr bwMode="auto">
            <a:xfrm>
              <a:off x="1717675" y="3597275"/>
              <a:ext cx="90011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项目管理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3714750" y="4724400"/>
              <a:ext cx="91122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订单和商务处理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1717675" y="4660900"/>
              <a:ext cx="901700" cy="2921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产品设计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44" name="Rectangle 44"/>
            <p:cNvSpPr>
              <a:spLocks noChangeArrowheads="1"/>
            </p:cNvSpPr>
            <p:nvPr/>
          </p:nvSpPr>
          <p:spPr bwMode="auto">
            <a:xfrm>
              <a:off x="703263" y="2557463"/>
              <a:ext cx="93186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市场分析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5" name="Rectangle 129"/>
            <p:cNvSpPr>
              <a:spLocks noChangeArrowheads="1"/>
            </p:cNvSpPr>
            <p:nvPr/>
          </p:nvSpPr>
          <p:spPr bwMode="auto">
            <a:xfrm>
              <a:off x="7702550" y="468788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固定资产管理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6" name="Rectangle 122"/>
            <p:cNvSpPr>
              <a:spLocks noChangeArrowheads="1"/>
            </p:cNvSpPr>
            <p:nvPr/>
          </p:nvSpPr>
          <p:spPr bwMode="auto">
            <a:xfrm>
              <a:off x="7702550" y="1477963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财务规划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7" name="Rectangle 126"/>
            <p:cNvSpPr>
              <a:spLocks noChangeArrowheads="1"/>
            </p:cNvSpPr>
            <p:nvPr/>
          </p:nvSpPr>
          <p:spPr bwMode="auto">
            <a:xfrm>
              <a:off x="7702550" y="2557463"/>
              <a:ext cx="931863" cy="2841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财务制度管理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8" name="Rectangle 131"/>
            <p:cNvSpPr>
              <a:spLocks noChangeArrowheads="1"/>
            </p:cNvSpPr>
            <p:nvPr/>
          </p:nvSpPr>
          <p:spPr bwMode="auto">
            <a:xfrm>
              <a:off x="7702550" y="3176588"/>
              <a:ext cx="931863" cy="2841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成本控制和分析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" name="Rectangle 133"/>
            <p:cNvSpPr>
              <a:spLocks noChangeArrowheads="1"/>
            </p:cNvSpPr>
            <p:nvPr/>
          </p:nvSpPr>
          <p:spPr bwMode="auto">
            <a:xfrm>
              <a:off x="7702550" y="433863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收付处理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50" name="Rectangle 137"/>
            <p:cNvSpPr>
              <a:spLocks noChangeArrowheads="1"/>
            </p:cNvSpPr>
            <p:nvPr/>
          </p:nvSpPr>
          <p:spPr bwMode="auto">
            <a:xfrm>
              <a:off x="7702550" y="503078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税务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1" name="Rectangle 139"/>
            <p:cNvSpPr>
              <a:spLocks noChangeArrowheads="1"/>
            </p:cNvSpPr>
            <p:nvPr/>
          </p:nvSpPr>
          <p:spPr bwMode="auto">
            <a:xfrm>
              <a:off x="7702550" y="3489325"/>
              <a:ext cx="931863" cy="2555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资金计划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2" name="Rectangle 141"/>
            <p:cNvSpPr>
              <a:spLocks noChangeArrowheads="1"/>
            </p:cNvSpPr>
            <p:nvPr/>
          </p:nvSpPr>
          <p:spPr bwMode="auto">
            <a:xfrm>
              <a:off x="7702550" y="5378450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会计核算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3" name="Rectangle 126"/>
            <p:cNvSpPr>
              <a:spLocks noChangeArrowheads="1"/>
            </p:cNvSpPr>
            <p:nvPr/>
          </p:nvSpPr>
          <p:spPr bwMode="auto">
            <a:xfrm>
              <a:off x="7681913" y="2878138"/>
              <a:ext cx="931862" cy="2841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财务预算管理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4" name="Rectangle 140"/>
            <p:cNvSpPr>
              <a:spLocks noChangeArrowheads="1"/>
            </p:cNvSpPr>
            <p:nvPr/>
          </p:nvSpPr>
          <p:spPr bwMode="auto">
            <a:xfrm>
              <a:off x="8709025" y="4060825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安全管理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5" name="Rectangle 126"/>
            <p:cNvSpPr>
              <a:spLocks noChangeArrowheads="1"/>
            </p:cNvSpPr>
            <p:nvPr/>
          </p:nvSpPr>
          <p:spPr bwMode="auto">
            <a:xfrm>
              <a:off x="6700838" y="3605213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关键人才管理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6" name="Rectangle 133"/>
            <p:cNvSpPr>
              <a:spLocks noChangeArrowheads="1"/>
            </p:cNvSpPr>
            <p:nvPr/>
          </p:nvSpPr>
          <p:spPr bwMode="auto">
            <a:xfrm>
              <a:off x="6700838" y="2909888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任职资格管理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7" name="Rectangle 137"/>
            <p:cNvSpPr>
              <a:spLocks noChangeArrowheads="1"/>
            </p:cNvSpPr>
            <p:nvPr/>
          </p:nvSpPr>
          <p:spPr bwMode="auto">
            <a:xfrm>
              <a:off x="6700838" y="4340225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人员招聘</a:t>
              </a:r>
              <a:r>
                <a:rPr lang="en-US" altLang="zh-CN" sz="900" b="1">
                  <a:ea typeface="宋体" panose="02010600030101010101" pitchFamily="2" charset="-122"/>
                </a:rPr>
                <a:t>/</a:t>
              </a:r>
              <a:r>
                <a:rPr lang="zh-CN" altLang="en-US" sz="900" b="1">
                  <a:ea typeface="宋体" panose="02010600030101010101" pitchFamily="2" charset="-122"/>
                </a:rPr>
                <a:t>调配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58" name="Rectangle 139"/>
            <p:cNvSpPr>
              <a:spLocks noChangeArrowheads="1"/>
            </p:cNvSpPr>
            <p:nvPr/>
          </p:nvSpPr>
          <p:spPr bwMode="auto">
            <a:xfrm>
              <a:off x="6700838" y="1482725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人力资源规划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59" name="Rectangle 140"/>
            <p:cNvSpPr>
              <a:spLocks noChangeArrowheads="1"/>
            </p:cNvSpPr>
            <p:nvPr/>
          </p:nvSpPr>
          <p:spPr bwMode="auto">
            <a:xfrm>
              <a:off x="6700838" y="3254375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绩效管理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60" name="Rectangle 141"/>
            <p:cNvSpPr>
              <a:spLocks noChangeArrowheads="1"/>
            </p:cNvSpPr>
            <p:nvPr/>
          </p:nvSpPr>
          <p:spPr bwMode="auto">
            <a:xfrm>
              <a:off x="6700838" y="5387975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员工关系和服务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61" name="Rectangle 126"/>
            <p:cNvSpPr>
              <a:spLocks noChangeArrowheads="1"/>
            </p:cNvSpPr>
            <p:nvPr/>
          </p:nvSpPr>
          <p:spPr bwMode="auto">
            <a:xfrm>
              <a:off x="6694488" y="5037138"/>
              <a:ext cx="93027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薪酬福利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62" name="Rectangle 123"/>
            <p:cNvSpPr>
              <a:spLocks noChangeArrowheads="1"/>
            </p:cNvSpPr>
            <p:nvPr/>
          </p:nvSpPr>
          <p:spPr bwMode="auto">
            <a:xfrm>
              <a:off x="8709025" y="2179638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业务规划和预算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63" name="Rectangle 122"/>
            <p:cNvSpPr>
              <a:spLocks noChangeArrowheads="1"/>
            </p:cNvSpPr>
            <p:nvPr/>
          </p:nvSpPr>
          <p:spPr bwMode="auto">
            <a:xfrm>
              <a:off x="8709025" y="1477963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业务战略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08" name="Rectangle 123"/>
            <p:cNvSpPr>
              <a:spLocks noChangeArrowheads="1"/>
            </p:cNvSpPr>
            <p:nvPr/>
          </p:nvSpPr>
          <p:spPr bwMode="auto">
            <a:xfrm>
              <a:off x="8709025" y="1827213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运营模式</a:t>
              </a:r>
              <a:r>
                <a:rPr lang="en-US" altLang="zh-CN" sz="900" b="1" dirty="0">
                  <a:ea typeface="宋体" panose="02010600030101010101" pitchFamily="2" charset="-122"/>
                </a:rPr>
                <a:t>/</a:t>
              </a:r>
              <a:r>
                <a:rPr lang="zh-CN" altLang="en-US" sz="900" b="1" dirty="0">
                  <a:ea typeface="宋体" panose="02010600030101010101" pitchFamily="2" charset="-122"/>
                </a:rPr>
                <a:t>组织架构设计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49309" name="Rectangle 126"/>
            <p:cNvSpPr>
              <a:spLocks noChangeArrowheads="1"/>
            </p:cNvSpPr>
            <p:nvPr/>
          </p:nvSpPr>
          <p:spPr bwMode="auto">
            <a:xfrm>
              <a:off x="8709025" y="2549525"/>
              <a:ext cx="915988" cy="2365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采购管理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0" name="Rectangle 131"/>
            <p:cNvSpPr>
              <a:spLocks noChangeArrowheads="1"/>
            </p:cNvSpPr>
            <p:nvPr/>
          </p:nvSpPr>
          <p:spPr bwMode="auto">
            <a:xfrm>
              <a:off x="8709025" y="3294063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审计和合规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1" name="Rectangle 139"/>
            <p:cNvSpPr>
              <a:spLocks noChangeArrowheads="1"/>
            </p:cNvSpPr>
            <p:nvPr/>
          </p:nvSpPr>
          <p:spPr bwMode="auto">
            <a:xfrm>
              <a:off x="8709025" y="3544888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公共</a:t>
              </a:r>
              <a:r>
                <a:rPr lang="en-US" altLang="zh-CN" sz="900" b="1">
                  <a:ea typeface="宋体" panose="02010600030101010101" pitchFamily="2" charset="-122"/>
                </a:rPr>
                <a:t>/</a:t>
              </a:r>
              <a:r>
                <a:rPr lang="zh-CN" altLang="en-US" sz="900" b="1">
                  <a:ea typeface="宋体" panose="02010600030101010101" pitchFamily="2" charset="-122"/>
                </a:rPr>
                <a:t>投资关系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2" name="Rectangle 140"/>
            <p:cNvSpPr>
              <a:spLocks noChangeArrowheads="1"/>
            </p:cNvSpPr>
            <p:nvPr/>
          </p:nvSpPr>
          <p:spPr bwMode="auto">
            <a:xfrm>
              <a:off x="8709025" y="3802063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品牌管理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3" name="Rectangle 141"/>
            <p:cNvSpPr>
              <a:spLocks noChangeArrowheads="1"/>
            </p:cNvSpPr>
            <p:nvPr/>
          </p:nvSpPr>
          <p:spPr bwMode="auto">
            <a:xfrm>
              <a:off x="8709025" y="5035550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知识管理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4" name="Rectangle 126"/>
            <p:cNvSpPr>
              <a:spLocks noChangeArrowheads="1"/>
            </p:cNvSpPr>
            <p:nvPr/>
          </p:nvSpPr>
          <p:spPr bwMode="auto">
            <a:xfrm>
              <a:off x="8709025" y="3044825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流程管理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5" name="Rectangle 129"/>
            <p:cNvSpPr>
              <a:spLocks noChangeArrowheads="1"/>
            </p:cNvSpPr>
            <p:nvPr/>
          </p:nvSpPr>
          <p:spPr bwMode="auto">
            <a:xfrm>
              <a:off x="6700838" y="4683125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培训和发展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6" name="Rectangle 137"/>
            <p:cNvSpPr>
              <a:spLocks noChangeArrowheads="1"/>
            </p:cNvSpPr>
            <p:nvPr/>
          </p:nvSpPr>
          <p:spPr bwMode="auto">
            <a:xfrm>
              <a:off x="7702550" y="571658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资金管理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7" name="Rectangle 141"/>
            <p:cNvSpPr>
              <a:spLocks noChangeArrowheads="1"/>
            </p:cNvSpPr>
            <p:nvPr/>
          </p:nvSpPr>
          <p:spPr bwMode="auto">
            <a:xfrm>
              <a:off x="8709025" y="4692650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行政服务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18" name="Rectangle 141"/>
            <p:cNvSpPr>
              <a:spLocks noChangeArrowheads="1"/>
            </p:cNvSpPr>
            <p:nvPr/>
          </p:nvSpPr>
          <p:spPr bwMode="auto">
            <a:xfrm>
              <a:off x="6708775" y="2559050"/>
              <a:ext cx="91440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 dirty="0">
                  <a:ea typeface="宋体" panose="02010600030101010101" pitchFamily="2" charset="-122"/>
                </a:rPr>
                <a:t>企业文化建设</a:t>
              </a:r>
              <a:endParaRPr lang="zh-CN" altLang="en-US" sz="900" b="1" dirty="0">
                <a:ea typeface="宋体" panose="02010600030101010101" pitchFamily="2" charset="-122"/>
              </a:endParaRPr>
            </a:p>
          </p:txBody>
        </p:sp>
        <p:sp>
          <p:nvSpPr>
            <p:cNvPr id="49319" name="Rectangle 40"/>
            <p:cNvSpPr>
              <a:spLocks noChangeArrowheads="1"/>
            </p:cNvSpPr>
            <p:nvPr/>
          </p:nvSpPr>
          <p:spPr bwMode="auto">
            <a:xfrm>
              <a:off x="4708525" y="2559050"/>
              <a:ext cx="92392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客户产品沟通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20" name="Rectangle 37"/>
            <p:cNvSpPr>
              <a:spLocks noChangeArrowheads="1"/>
            </p:cNvSpPr>
            <p:nvPr/>
          </p:nvSpPr>
          <p:spPr bwMode="auto">
            <a:xfrm>
              <a:off x="687388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市场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1" name="Rectangle 54"/>
            <p:cNvSpPr>
              <a:spLocks noChangeArrowheads="1"/>
            </p:cNvSpPr>
            <p:nvPr/>
          </p:nvSpPr>
          <p:spPr bwMode="auto">
            <a:xfrm>
              <a:off x="5681663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IT</a:t>
              </a:r>
              <a:r>
                <a:rPr lang="zh-CN" altLang="en-US" sz="1600" b="1">
                  <a:ea typeface="宋体" panose="02010600030101010101" pitchFamily="2" charset="-122"/>
                </a:rPr>
                <a:t>服务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2" name="Rectangle 67"/>
            <p:cNvSpPr>
              <a:spLocks noChangeArrowheads="1"/>
            </p:cNvSpPr>
            <p:nvPr/>
          </p:nvSpPr>
          <p:spPr bwMode="auto">
            <a:xfrm>
              <a:off x="4678363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产品支持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3" name="Rectangle 21"/>
            <p:cNvSpPr>
              <a:spLocks noChangeArrowheads="1"/>
            </p:cNvSpPr>
            <p:nvPr/>
          </p:nvSpPr>
          <p:spPr bwMode="auto">
            <a:xfrm>
              <a:off x="3678238" y="1125538"/>
              <a:ext cx="989012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客户服务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4" name="Rectangle 21"/>
            <p:cNvSpPr>
              <a:spLocks noChangeArrowheads="1"/>
            </p:cNvSpPr>
            <p:nvPr/>
          </p:nvSpPr>
          <p:spPr bwMode="auto">
            <a:xfrm>
              <a:off x="1685925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 dirty="0">
                  <a:ea typeface="宋体" panose="02010600030101010101" pitchFamily="2" charset="-122"/>
                </a:rPr>
                <a:t>产品开发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49325" name="Rectangle 120"/>
            <p:cNvSpPr>
              <a:spLocks noChangeArrowheads="1"/>
            </p:cNvSpPr>
            <p:nvPr/>
          </p:nvSpPr>
          <p:spPr bwMode="auto">
            <a:xfrm>
              <a:off x="7672388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财务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6" name="Rectangle 120"/>
            <p:cNvSpPr>
              <a:spLocks noChangeArrowheads="1"/>
            </p:cNvSpPr>
            <p:nvPr/>
          </p:nvSpPr>
          <p:spPr bwMode="auto">
            <a:xfrm>
              <a:off x="6683375" y="1125538"/>
              <a:ext cx="989013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人力资源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7" name="Rectangle 120"/>
            <p:cNvSpPr>
              <a:spLocks noChangeArrowheads="1"/>
            </p:cNvSpPr>
            <p:nvPr/>
          </p:nvSpPr>
          <p:spPr bwMode="auto">
            <a:xfrm>
              <a:off x="8672513" y="1125538"/>
              <a:ext cx="989012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企业职能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28" name="Line 422"/>
            <p:cNvSpPr>
              <a:spLocks noChangeShapeType="1"/>
            </p:cNvSpPr>
            <p:nvPr/>
          </p:nvSpPr>
          <p:spPr bwMode="auto">
            <a:xfrm>
              <a:off x="676275" y="2528888"/>
              <a:ext cx="8969375" cy="0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1750" tIns="31750" rIns="31750" anchor="ctr"/>
            <a:lstStyle/>
            <a:p>
              <a:endParaRPr lang="zh-CN" altLang="en-US" sz="2000"/>
            </a:p>
          </p:txBody>
        </p:sp>
        <p:sp>
          <p:nvSpPr>
            <p:cNvPr id="49329" name="Rectangle 139"/>
            <p:cNvSpPr>
              <a:spLocks noChangeArrowheads="1"/>
            </p:cNvSpPr>
            <p:nvPr/>
          </p:nvSpPr>
          <p:spPr bwMode="auto">
            <a:xfrm>
              <a:off x="7702550" y="3775075"/>
              <a:ext cx="931863" cy="2555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投资融资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0" name="Rectangle 141"/>
            <p:cNvSpPr>
              <a:spLocks noChangeArrowheads="1"/>
            </p:cNvSpPr>
            <p:nvPr/>
          </p:nvSpPr>
          <p:spPr bwMode="auto">
            <a:xfrm>
              <a:off x="8709025" y="4338638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采购和生产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1" name="Rectangle 427"/>
            <p:cNvSpPr>
              <a:spLocks noChangeArrowheads="1"/>
            </p:cNvSpPr>
            <p:nvPr/>
          </p:nvSpPr>
          <p:spPr bwMode="auto">
            <a:xfrm>
              <a:off x="2678113" y="1443038"/>
              <a:ext cx="981075" cy="48291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5"/>
              </a:schemeClr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2" name="Rectangle 53"/>
            <p:cNvSpPr>
              <a:spLocks noChangeArrowheads="1"/>
            </p:cNvSpPr>
            <p:nvPr/>
          </p:nvSpPr>
          <p:spPr bwMode="auto">
            <a:xfrm>
              <a:off x="2695575" y="5772150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合作伙伴培训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3" name="Rectangle 39"/>
            <p:cNvSpPr>
              <a:spLocks noChangeArrowheads="1"/>
            </p:cNvSpPr>
            <p:nvPr/>
          </p:nvSpPr>
          <p:spPr bwMode="auto">
            <a:xfrm>
              <a:off x="2695575" y="1477963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渠道和销售策略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4" name="Rectangle 43"/>
            <p:cNvSpPr>
              <a:spLocks noChangeArrowheads="1"/>
            </p:cNvSpPr>
            <p:nvPr/>
          </p:nvSpPr>
          <p:spPr bwMode="auto">
            <a:xfrm>
              <a:off x="2695575" y="2557463"/>
              <a:ext cx="933450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销售管理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5" name="Rectangle 44"/>
            <p:cNvSpPr>
              <a:spLocks noChangeArrowheads="1"/>
            </p:cNvSpPr>
            <p:nvPr/>
          </p:nvSpPr>
          <p:spPr bwMode="auto">
            <a:xfrm>
              <a:off x="2695575" y="290353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渠道管理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6" name="Rectangle 47"/>
            <p:cNvSpPr>
              <a:spLocks noChangeArrowheads="1"/>
            </p:cNvSpPr>
            <p:nvPr/>
          </p:nvSpPr>
          <p:spPr bwMode="auto">
            <a:xfrm>
              <a:off x="2695575" y="4338638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销售支持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7" name="Rectangle 49"/>
            <p:cNvSpPr>
              <a:spLocks noChangeArrowheads="1"/>
            </p:cNvSpPr>
            <p:nvPr/>
          </p:nvSpPr>
          <p:spPr bwMode="auto">
            <a:xfrm>
              <a:off x="2695575" y="4676775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销售活动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8" name="Rectangle 52"/>
            <p:cNvSpPr>
              <a:spLocks noChangeArrowheads="1"/>
            </p:cNvSpPr>
            <p:nvPr/>
          </p:nvSpPr>
          <p:spPr bwMode="auto">
            <a:xfrm>
              <a:off x="2690813" y="5430838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工具产品售前服务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39" name="Rectangle 37"/>
            <p:cNvSpPr>
              <a:spLocks noChangeArrowheads="1"/>
            </p:cNvSpPr>
            <p:nvPr/>
          </p:nvSpPr>
          <p:spPr bwMode="auto">
            <a:xfrm>
              <a:off x="2689225" y="1125538"/>
              <a:ext cx="990600" cy="3175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600" b="1">
                  <a:ea typeface="宋体" panose="02010600030101010101" pitchFamily="2" charset="-122"/>
                </a:rPr>
                <a:t>销售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49340" name="Rectangle 50"/>
            <p:cNvSpPr>
              <a:spLocks noChangeArrowheads="1"/>
            </p:cNvSpPr>
            <p:nvPr/>
          </p:nvSpPr>
          <p:spPr bwMode="auto">
            <a:xfrm>
              <a:off x="703263" y="3254375"/>
              <a:ext cx="93186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产品预研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41" name="Rectangle 50"/>
            <p:cNvSpPr>
              <a:spLocks noChangeArrowheads="1"/>
            </p:cNvSpPr>
            <p:nvPr/>
          </p:nvSpPr>
          <p:spPr bwMode="auto">
            <a:xfrm>
              <a:off x="703263" y="2903538"/>
              <a:ext cx="931862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收益分析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42" name="Rectangle 80"/>
            <p:cNvSpPr>
              <a:spLocks noChangeArrowheads="1"/>
            </p:cNvSpPr>
            <p:nvPr/>
          </p:nvSpPr>
          <p:spPr bwMode="auto">
            <a:xfrm>
              <a:off x="1717675" y="3254375"/>
              <a:ext cx="900113" cy="31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技术管理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49343" name="Rectangle 44"/>
            <p:cNvSpPr>
              <a:spLocks noChangeArrowheads="1"/>
            </p:cNvSpPr>
            <p:nvPr/>
          </p:nvSpPr>
          <p:spPr bwMode="auto">
            <a:xfrm>
              <a:off x="2695575" y="3254375"/>
              <a:ext cx="9318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价格管理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28" name="Line 450"/>
            <p:cNvSpPr>
              <a:spLocks noChangeShapeType="1"/>
            </p:cNvSpPr>
            <p:nvPr/>
          </p:nvSpPr>
          <p:spPr bwMode="auto">
            <a:xfrm>
              <a:off x="676275" y="4310063"/>
              <a:ext cx="89789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  <p:sp>
          <p:nvSpPr>
            <p:cNvPr id="129" name="Rectangle 80"/>
            <p:cNvSpPr>
              <a:spLocks noChangeArrowheads="1"/>
            </p:cNvSpPr>
            <p:nvPr/>
          </p:nvSpPr>
          <p:spPr bwMode="auto">
            <a:xfrm>
              <a:off x="4708525" y="4678363"/>
              <a:ext cx="920750" cy="3206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客户产品培训</a:t>
              </a:r>
              <a:endParaRPr lang="en-US" altLang="zh-CN" sz="900" b="1">
                <a:ea typeface="宋体" panose="02010600030101010101" pitchFamily="2" charset="-122"/>
              </a:endParaRPr>
            </a:p>
          </p:txBody>
        </p:sp>
        <p:sp>
          <p:nvSpPr>
            <p:cNvPr id="130" name="Rectangle 40"/>
            <p:cNvSpPr>
              <a:spLocks noChangeArrowheads="1"/>
            </p:cNvSpPr>
            <p:nvPr/>
          </p:nvSpPr>
          <p:spPr bwMode="auto">
            <a:xfrm>
              <a:off x="4708525" y="2901950"/>
              <a:ext cx="92392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产品维护管理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1" name="Rectangle 50"/>
            <p:cNvSpPr>
              <a:spLocks noChangeArrowheads="1"/>
            </p:cNvSpPr>
            <p:nvPr/>
          </p:nvSpPr>
          <p:spPr bwMode="auto">
            <a:xfrm>
              <a:off x="703263" y="3606800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产品生命周期</a:t>
              </a:r>
              <a:endParaRPr lang="en-US" altLang="zh-CN" sz="900" b="1"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2" name="Rectangle 44"/>
            <p:cNvSpPr>
              <a:spLocks noChangeArrowheads="1"/>
            </p:cNvSpPr>
            <p:nvPr/>
          </p:nvSpPr>
          <p:spPr bwMode="auto">
            <a:xfrm>
              <a:off x="2695575" y="3597275"/>
              <a:ext cx="295751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客户关系管理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3" name="Rectangle 141"/>
            <p:cNvSpPr>
              <a:spLocks noChangeArrowheads="1"/>
            </p:cNvSpPr>
            <p:nvPr/>
          </p:nvSpPr>
          <p:spPr bwMode="auto">
            <a:xfrm>
              <a:off x="8709025" y="5387975"/>
              <a:ext cx="915988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公司资产管理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4" name="Rectangle 32"/>
            <p:cNvSpPr>
              <a:spLocks noChangeArrowheads="1"/>
            </p:cNvSpPr>
            <p:nvPr/>
          </p:nvSpPr>
          <p:spPr bwMode="auto">
            <a:xfrm>
              <a:off x="3708400" y="4338638"/>
              <a:ext cx="911225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服务支持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5" name="Rectangle 126"/>
            <p:cNvSpPr>
              <a:spLocks noChangeArrowheads="1"/>
            </p:cNvSpPr>
            <p:nvPr/>
          </p:nvSpPr>
          <p:spPr bwMode="auto">
            <a:xfrm>
              <a:off x="8709025" y="2797175"/>
              <a:ext cx="915988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合同管理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6" name="Rectangle 72"/>
            <p:cNvSpPr>
              <a:spLocks noChangeArrowheads="1"/>
            </p:cNvSpPr>
            <p:nvPr/>
          </p:nvSpPr>
          <p:spPr bwMode="auto">
            <a:xfrm>
              <a:off x="3721100" y="3252788"/>
              <a:ext cx="919163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实施管理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sp>
          <p:nvSpPr>
            <p:cNvPr id="137" name="Rectangle 52"/>
            <p:cNvSpPr>
              <a:spLocks noChangeArrowheads="1"/>
            </p:cNvSpPr>
            <p:nvPr/>
          </p:nvSpPr>
          <p:spPr bwMode="auto">
            <a:xfrm>
              <a:off x="2690813" y="5053013"/>
              <a:ext cx="931862" cy="3206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900" b="1">
                  <a:ea typeface="宋体" panose="02010600030101010101" pitchFamily="2" charset="-122"/>
                </a:rPr>
                <a:t>售前咨询</a:t>
              </a:r>
              <a:endParaRPr lang="zh-CN" altLang="en-US" sz="900" b="1">
                <a:ea typeface="宋体" panose="02010600030101010101" pitchFamily="2" charset="-122"/>
              </a:endParaRPr>
            </a:p>
          </p:txBody>
        </p:sp>
        <p:grpSp>
          <p:nvGrpSpPr>
            <p:cNvPr id="138" name="组合 120"/>
            <p:cNvGrpSpPr/>
            <p:nvPr/>
          </p:nvGrpSpPr>
          <p:grpSpPr bwMode="auto">
            <a:xfrm>
              <a:off x="701675" y="5053013"/>
              <a:ext cx="936625" cy="320675"/>
              <a:chOff x="611559" y="5085184"/>
              <a:chExt cx="864096" cy="320675"/>
            </a:xfrm>
          </p:grpSpPr>
          <p:sp>
            <p:nvSpPr>
              <p:cNvPr id="143" name="Rectangle 50"/>
              <p:cNvSpPr>
                <a:spLocks noChangeArrowheads="1"/>
              </p:cNvSpPr>
              <p:nvPr/>
            </p:nvSpPr>
            <p:spPr bwMode="auto">
              <a:xfrm>
                <a:off x="611559" y="5085184"/>
                <a:ext cx="433513" cy="3206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Rectangle 50"/>
              <p:cNvSpPr>
                <a:spLocks noChangeArrowheads="1"/>
              </p:cNvSpPr>
              <p:nvPr/>
            </p:nvSpPr>
            <p:spPr bwMode="auto">
              <a:xfrm>
                <a:off x="1045072" y="5085184"/>
                <a:ext cx="430583" cy="3206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Rectangle 50"/>
              <p:cNvSpPr>
                <a:spLocks noChangeArrowheads="1"/>
              </p:cNvSpPr>
              <p:nvPr/>
            </p:nvSpPr>
            <p:spPr bwMode="auto">
              <a:xfrm>
                <a:off x="611559" y="5085184"/>
                <a:ext cx="861167" cy="3206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en-US" sz="900" b="1">
                    <a:ea typeface="宋体" panose="02010600030101010101" pitchFamily="2" charset="-122"/>
                  </a:rPr>
                  <a:t>市场需求分析</a:t>
                </a: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9" name="组合 121"/>
            <p:cNvGrpSpPr/>
            <p:nvPr/>
          </p:nvGrpSpPr>
          <p:grpSpPr bwMode="auto">
            <a:xfrm>
              <a:off x="1719263" y="5629275"/>
              <a:ext cx="904875" cy="290513"/>
              <a:chOff x="1547664" y="5988645"/>
              <a:chExt cx="864096" cy="320675"/>
            </a:xfrm>
          </p:grpSpPr>
          <p:sp>
            <p:nvSpPr>
              <p:cNvPr id="140" name="Rectangle 50"/>
              <p:cNvSpPr>
                <a:spLocks noChangeArrowheads="1"/>
              </p:cNvSpPr>
              <p:nvPr/>
            </p:nvSpPr>
            <p:spPr bwMode="auto">
              <a:xfrm>
                <a:off x="1547665" y="5988645"/>
                <a:ext cx="432048" cy="320675"/>
              </a:xfrm>
              <a:prstGeom prst="rect">
                <a:avLst/>
              </a:prstGeom>
              <a:solidFill>
                <a:srgbClr val="EAEAEA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Rectangle 50"/>
              <p:cNvSpPr>
                <a:spLocks noChangeArrowheads="1"/>
              </p:cNvSpPr>
              <p:nvPr/>
            </p:nvSpPr>
            <p:spPr bwMode="auto">
              <a:xfrm>
                <a:off x="1979712" y="5988645"/>
                <a:ext cx="432048" cy="320675"/>
              </a:xfrm>
              <a:prstGeom prst="rect">
                <a:avLst/>
              </a:prstGeom>
              <a:solidFill>
                <a:srgbClr val="EAEAEA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Rectangle 50"/>
              <p:cNvSpPr>
                <a:spLocks noChangeArrowheads="1"/>
              </p:cNvSpPr>
              <p:nvPr/>
            </p:nvSpPr>
            <p:spPr bwMode="auto">
              <a:xfrm>
                <a:off x="1547664" y="5988645"/>
                <a:ext cx="860425" cy="320675"/>
              </a:xfrm>
              <a:prstGeom prst="rect">
                <a:avLst/>
              </a:prstGeom>
              <a:solidFill>
                <a:srgbClr val="EAEAEA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en-US" sz="900" b="1">
                    <a:ea typeface="宋体" panose="02010600030101010101" pitchFamily="2" charset="-122"/>
                  </a:rPr>
                  <a:t>技术</a:t>
                </a:r>
                <a:r>
                  <a:rPr lang="en-US" altLang="zh-CN" sz="900" b="1">
                    <a:ea typeface="宋体" panose="02010600030101010101" pitchFamily="2" charset="-122"/>
                  </a:rPr>
                  <a:t>/</a:t>
                </a:r>
                <a:r>
                  <a:rPr lang="zh-CN" altLang="en-US" sz="900" b="1">
                    <a:ea typeface="宋体" panose="02010600030101010101" pitchFamily="2" charset="-122"/>
                  </a:rPr>
                  <a:t>平台研发</a:t>
                </a:r>
                <a:endParaRPr lang="zh-CN" altLang="en-US" sz="900" b="1"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业务能力图（</a:t>
            </a:r>
            <a:r>
              <a:rPr lang="en-US" altLang="zh-CN" dirty="0"/>
              <a:t>CBM</a:t>
            </a:r>
            <a:r>
              <a:rPr lang="zh-CN" altLang="en-US" dirty="0"/>
              <a:t>）示例</a:t>
            </a:r>
            <a:r>
              <a:rPr lang="en-US" altLang="zh-CN" dirty="0"/>
              <a:t>1</a:t>
            </a:r>
            <a:r>
              <a:rPr lang="zh-CN" altLang="en-US" dirty="0"/>
              <a:t>：保险行业</a:t>
            </a:r>
            <a:endParaRPr lang="en-GB" dirty="0"/>
          </a:p>
        </p:txBody>
      </p:sp>
      <p:grpSp>
        <p:nvGrpSpPr>
          <p:cNvPr id="267" name="Group 266"/>
          <p:cNvGrpSpPr/>
          <p:nvPr/>
        </p:nvGrpSpPr>
        <p:grpSpPr>
          <a:xfrm>
            <a:off x="582613" y="1435100"/>
            <a:ext cx="8833295" cy="4737100"/>
            <a:chOff x="582613" y="1435100"/>
            <a:chExt cx="8833295" cy="4737100"/>
          </a:xfrm>
        </p:grpSpPr>
        <p:grpSp>
          <p:nvGrpSpPr>
            <p:cNvPr id="4" name="Group 157"/>
            <p:cNvGrpSpPr/>
            <p:nvPr/>
          </p:nvGrpSpPr>
          <p:grpSpPr bwMode="auto">
            <a:xfrm>
              <a:off x="582613" y="1435100"/>
              <a:ext cx="8833295" cy="4737100"/>
              <a:chOff x="296" y="889"/>
              <a:chExt cx="4961" cy="2984"/>
            </a:xfrm>
          </p:grpSpPr>
          <p:sp>
            <p:nvSpPr>
              <p:cNvPr id="133" name="Rectangle 132"/>
              <p:cNvSpPr>
                <a:spLocks noChangeArrowheads="1"/>
              </p:cNvSpPr>
              <p:nvPr/>
            </p:nvSpPr>
            <p:spPr bwMode="auto">
              <a:xfrm>
                <a:off x="4749" y="2945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34" name="Rectangle 112"/>
              <p:cNvSpPr>
                <a:spLocks noChangeArrowheads="1"/>
              </p:cNvSpPr>
              <p:nvPr/>
            </p:nvSpPr>
            <p:spPr bwMode="auto">
              <a:xfrm>
                <a:off x="4241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35" name="Rectangle 117"/>
              <p:cNvSpPr>
                <a:spLocks noChangeArrowheads="1"/>
              </p:cNvSpPr>
              <p:nvPr/>
            </p:nvSpPr>
            <p:spPr bwMode="auto">
              <a:xfrm>
                <a:off x="4241" y="2945"/>
                <a:ext cx="508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36" name="Rectangle 3"/>
              <p:cNvSpPr>
                <a:spLocks noChangeArrowheads="1"/>
              </p:cNvSpPr>
              <p:nvPr/>
            </p:nvSpPr>
            <p:spPr bwMode="auto">
              <a:xfrm>
                <a:off x="296" y="889"/>
                <a:ext cx="411" cy="200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pic>
            <p:nvPicPr>
              <p:cNvPr id="137" name="Picture 4" descr="ibmlogoc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" y="889"/>
                <a:ext cx="411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8" name="Rectangle 5"/>
              <p:cNvSpPr>
                <a:spLocks noChangeArrowheads="1"/>
              </p:cNvSpPr>
              <p:nvPr/>
            </p:nvSpPr>
            <p:spPr bwMode="auto">
              <a:xfrm>
                <a:off x="296" y="1089"/>
                <a:ext cx="411" cy="928"/>
              </a:xfrm>
              <a:prstGeom prst="rect">
                <a:avLst/>
              </a:prstGeom>
              <a:gradFill rotWithShape="0">
                <a:gsLst>
                  <a:gs pos="0">
                    <a:srgbClr val="646464"/>
                  </a:gs>
                  <a:gs pos="100000">
                    <a:srgbClr val="C8C8C8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200" b="1">
                    <a:solidFill>
                      <a:srgbClr val="FFFFFF"/>
                    </a:solidFill>
                  </a:rPr>
                  <a:t>战略规划</a:t>
                </a:r>
                <a:endParaRPr lang="zh-CN" altLang="en-US" sz="12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39" name="Rectangle 6"/>
              <p:cNvSpPr>
                <a:spLocks noChangeArrowheads="1"/>
              </p:cNvSpPr>
              <p:nvPr/>
            </p:nvSpPr>
            <p:spPr bwMode="auto">
              <a:xfrm>
                <a:off x="296" y="2017"/>
                <a:ext cx="411" cy="928"/>
              </a:xfrm>
              <a:prstGeom prst="rect">
                <a:avLst/>
              </a:prstGeom>
              <a:gradFill rotWithShape="0">
                <a:gsLst>
                  <a:gs pos="0">
                    <a:srgbClr val="646464"/>
                  </a:gs>
                  <a:gs pos="100000">
                    <a:srgbClr val="C8C8C8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200" b="1">
                    <a:solidFill>
                      <a:srgbClr val="FFFFFF"/>
                    </a:solidFill>
                  </a:rPr>
                  <a:t>管理控制</a:t>
                </a:r>
                <a:endParaRPr lang="zh-CN" altLang="en-US" sz="12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Rectangle 7"/>
              <p:cNvSpPr>
                <a:spLocks noChangeArrowheads="1"/>
              </p:cNvSpPr>
              <p:nvPr/>
            </p:nvSpPr>
            <p:spPr bwMode="auto">
              <a:xfrm>
                <a:off x="296" y="2945"/>
                <a:ext cx="411" cy="928"/>
              </a:xfrm>
              <a:prstGeom prst="rect">
                <a:avLst/>
              </a:prstGeom>
              <a:gradFill rotWithShape="0">
                <a:gsLst>
                  <a:gs pos="0">
                    <a:srgbClr val="646464"/>
                  </a:gs>
                  <a:gs pos="100000">
                    <a:srgbClr val="C8C8C8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200" b="1">
                    <a:solidFill>
                      <a:srgbClr val="FFFFFF"/>
                    </a:solidFill>
                  </a:rPr>
                  <a:t>操作执行</a:t>
                </a:r>
                <a:endParaRPr lang="zh-CN" altLang="en-US" sz="12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1" name="Rectangle 8"/>
              <p:cNvSpPr>
                <a:spLocks noChangeArrowheads="1"/>
              </p:cNvSpPr>
              <p:nvPr/>
            </p:nvSpPr>
            <p:spPr bwMode="auto">
              <a:xfrm>
                <a:off x="707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产品管理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2" name="Rectangle 9"/>
              <p:cNvSpPr>
                <a:spLocks noChangeArrowheads="1"/>
              </p:cNvSpPr>
              <p:nvPr/>
            </p:nvSpPr>
            <p:spPr bwMode="auto">
              <a:xfrm>
                <a:off x="707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43" name="Rectangle 10"/>
              <p:cNvSpPr>
                <a:spLocks noChangeArrowheads="1"/>
              </p:cNvSpPr>
              <p:nvPr/>
            </p:nvSpPr>
            <p:spPr bwMode="auto">
              <a:xfrm>
                <a:off x="722" y="1105"/>
                <a:ext cx="478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产品组合管理</a:t>
                </a:r>
                <a:endParaRPr lang="zh-CN" altLang="en-US" sz="900"/>
              </a:p>
            </p:txBody>
          </p:sp>
          <p:sp>
            <p:nvSpPr>
              <p:cNvPr id="144" name="Rectangle 11"/>
              <p:cNvSpPr>
                <a:spLocks noChangeArrowheads="1"/>
              </p:cNvSpPr>
              <p:nvPr/>
            </p:nvSpPr>
            <p:spPr bwMode="auto">
              <a:xfrm>
                <a:off x="722" y="1333"/>
                <a:ext cx="478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产品计划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和分析</a:t>
                </a:r>
                <a:endParaRPr lang="zh-CN" altLang="en-US" sz="900"/>
              </a:p>
            </p:txBody>
          </p:sp>
          <p:sp>
            <p:nvSpPr>
              <p:cNvPr id="145" name="Rectangle 12"/>
              <p:cNvSpPr>
                <a:spLocks noChangeArrowheads="1"/>
              </p:cNvSpPr>
              <p:nvPr/>
            </p:nvSpPr>
            <p:spPr bwMode="auto">
              <a:xfrm>
                <a:off x="722" y="1561"/>
                <a:ext cx="478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品牌管理</a:t>
                </a:r>
                <a:endParaRPr lang="zh-CN" altLang="en-US" sz="900"/>
              </a:p>
            </p:txBody>
          </p:sp>
          <p:sp>
            <p:nvSpPr>
              <p:cNvPr id="146" name="Rectangle 13"/>
              <p:cNvSpPr>
                <a:spLocks noChangeArrowheads="1"/>
              </p:cNvSpPr>
              <p:nvPr/>
            </p:nvSpPr>
            <p:spPr bwMode="auto">
              <a:xfrm>
                <a:off x="722" y="1789"/>
                <a:ext cx="478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市场调查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和分析</a:t>
                </a:r>
                <a:endParaRPr lang="zh-CN" altLang="en-US" sz="900"/>
              </a:p>
            </p:txBody>
          </p:sp>
          <p:sp>
            <p:nvSpPr>
              <p:cNvPr id="147" name="Rectangle 14"/>
              <p:cNvSpPr>
                <a:spLocks noChangeArrowheads="1"/>
              </p:cNvSpPr>
              <p:nvPr/>
            </p:nvSpPr>
            <p:spPr bwMode="auto">
              <a:xfrm>
                <a:off x="707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48" name="Rectangle 15"/>
              <p:cNvSpPr>
                <a:spLocks noChangeArrowheads="1"/>
              </p:cNvSpPr>
              <p:nvPr/>
            </p:nvSpPr>
            <p:spPr bwMode="auto">
              <a:xfrm>
                <a:off x="722" y="2033"/>
                <a:ext cx="478" cy="44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产品需求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管理</a:t>
                </a:r>
                <a:endParaRPr lang="zh-CN" altLang="en-US" sz="900"/>
              </a:p>
            </p:txBody>
          </p:sp>
          <p:sp>
            <p:nvSpPr>
              <p:cNvPr id="149" name="Rectangle 16"/>
              <p:cNvSpPr>
                <a:spLocks noChangeArrowheads="1"/>
              </p:cNvSpPr>
              <p:nvPr/>
            </p:nvSpPr>
            <p:spPr bwMode="auto">
              <a:xfrm>
                <a:off x="722" y="2489"/>
                <a:ext cx="478" cy="44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产品经济学和收益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 </a:t>
                </a:r>
                <a:r>
                  <a:rPr lang="en-US" altLang="zh-CN" sz="900"/>
                  <a:t>(</a:t>
                </a:r>
                <a:r>
                  <a:rPr lang="zh-CN" altLang="en-US" sz="900"/>
                  <a:t>包括精算定价</a:t>
                </a:r>
                <a:r>
                  <a:rPr lang="en-US" altLang="zh-CN" sz="900"/>
                  <a:t>)</a:t>
                </a:r>
                <a:endParaRPr lang="en-US" altLang="zh-CN" sz="900"/>
              </a:p>
            </p:txBody>
          </p:sp>
          <p:sp>
            <p:nvSpPr>
              <p:cNvPr id="150" name="Rectangle 17"/>
              <p:cNvSpPr>
                <a:spLocks noChangeArrowheads="1"/>
              </p:cNvSpPr>
              <p:nvPr/>
            </p:nvSpPr>
            <p:spPr bwMode="auto">
              <a:xfrm>
                <a:off x="707" y="2945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51" name="Rectangle 18"/>
              <p:cNvSpPr>
                <a:spLocks noChangeArrowheads="1"/>
              </p:cNvSpPr>
              <p:nvPr/>
            </p:nvSpPr>
            <p:spPr bwMode="auto">
              <a:xfrm>
                <a:off x="722" y="2961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产品设计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（条款、费率）</a:t>
                </a:r>
                <a:endParaRPr lang="zh-CN" altLang="en-US" sz="900"/>
              </a:p>
            </p:txBody>
          </p:sp>
          <p:sp>
            <p:nvSpPr>
              <p:cNvPr id="152" name="Rectangle 19"/>
              <p:cNvSpPr>
                <a:spLocks noChangeArrowheads="1"/>
              </p:cNvSpPr>
              <p:nvPr/>
            </p:nvSpPr>
            <p:spPr bwMode="auto">
              <a:xfrm>
                <a:off x="722" y="326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审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报批管理</a:t>
                </a:r>
                <a:endParaRPr lang="zh-CN" altLang="en-US" sz="900"/>
              </a:p>
            </p:txBody>
          </p:sp>
          <p:sp>
            <p:nvSpPr>
              <p:cNvPr id="153" name="Rectangle 20"/>
              <p:cNvSpPr>
                <a:spLocks noChangeArrowheads="1"/>
              </p:cNvSpPr>
              <p:nvPr/>
            </p:nvSpPr>
            <p:spPr bwMode="auto">
              <a:xfrm>
                <a:off x="722" y="3569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产品实施</a:t>
                </a:r>
                <a:endParaRPr lang="zh-CN" altLang="en-US" sz="900"/>
              </a:p>
            </p:txBody>
          </p:sp>
          <p:sp>
            <p:nvSpPr>
              <p:cNvPr id="154" name="Rectangle 37"/>
              <p:cNvSpPr>
                <a:spLocks noChangeArrowheads="1"/>
              </p:cNvSpPr>
              <p:nvPr/>
            </p:nvSpPr>
            <p:spPr bwMode="auto">
              <a:xfrm>
                <a:off x="1213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营销 </a:t>
                </a:r>
                <a:r>
                  <a:rPr lang="en-US" altLang="zh-CN" sz="1000" b="1">
                    <a:solidFill>
                      <a:srgbClr val="FFFFFF"/>
                    </a:solidFill>
                  </a:rPr>
                  <a:t>/</a:t>
                </a:r>
                <a:endParaRPr lang="en-US" altLang="zh-CN" sz="1000" b="1">
                  <a:solidFill>
                    <a:srgbClr val="FFFFFF"/>
                  </a:solidFill>
                </a:endParaRPr>
              </a:p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渠道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55" name="Rectangle 38"/>
              <p:cNvSpPr>
                <a:spLocks noChangeArrowheads="1"/>
              </p:cNvSpPr>
              <p:nvPr/>
            </p:nvSpPr>
            <p:spPr bwMode="auto">
              <a:xfrm>
                <a:off x="1213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56" name="Rectangle 39"/>
              <p:cNvSpPr>
                <a:spLocks noChangeArrowheads="1"/>
              </p:cNvSpPr>
              <p:nvPr/>
            </p:nvSpPr>
            <p:spPr bwMode="auto">
              <a:xfrm>
                <a:off x="1228" y="110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渠道关系管理策略</a:t>
                </a:r>
                <a:endParaRPr lang="zh-CN" altLang="en-US" sz="900"/>
              </a:p>
            </p:txBody>
          </p:sp>
          <p:sp>
            <p:nvSpPr>
              <p:cNvPr id="157" name="Rectangle 40"/>
              <p:cNvSpPr>
                <a:spLocks noChangeArrowheads="1"/>
              </p:cNvSpPr>
              <p:nvPr/>
            </p:nvSpPr>
            <p:spPr bwMode="auto">
              <a:xfrm>
                <a:off x="1228" y="1409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渠道细分战略和规划</a:t>
                </a:r>
                <a:endParaRPr lang="zh-CN" altLang="en-US" sz="900"/>
              </a:p>
            </p:txBody>
          </p:sp>
          <p:sp>
            <p:nvSpPr>
              <p:cNvPr id="158" name="Rectangle 41"/>
              <p:cNvSpPr>
                <a:spLocks noChangeArrowheads="1"/>
              </p:cNvSpPr>
              <p:nvPr/>
            </p:nvSpPr>
            <p:spPr bwMode="auto">
              <a:xfrm>
                <a:off x="1228" y="171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营销活动规划</a:t>
                </a:r>
                <a:endParaRPr lang="zh-CN" altLang="en-US" sz="900"/>
              </a:p>
            </p:txBody>
          </p:sp>
          <p:sp>
            <p:nvSpPr>
              <p:cNvPr id="159" name="Rectangle 42"/>
              <p:cNvSpPr>
                <a:spLocks noChangeArrowheads="1"/>
              </p:cNvSpPr>
              <p:nvPr/>
            </p:nvSpPr>
            <p:spPr bwMode="auto">
              <a:xfrm>
                <a:off x="1213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60" name="Rectangle 43"/>
              <p:cNvSpPr>
                <a:spLocks noChangeArrowheads="1"/>
              </p:cNvSpPr>
              <p:nvPr/>
            </p:nvSpPr>
            <p:spPr bwMode="auto">
              <a:xfrm>
                <a:off x="1225" y="2038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渠道管理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en-US" altLang="zh-CN" sz="900"/>
                  <a:t>(</a:t>
                </a:r>
                <a:r>
                  <a:rPr lang="zh-CN" altLang="en-US" sz="900"/>
                  <a:t>计划和考核</a:t>
                </a:r>
                <a:r>
                  <a:rPr lang="en-US" altLang="zh-CN" sz="900"/>
                  <a:t>)</a:t>
                </a:r>
                <a:endParaRPr lang="en-US" altLang="zh-CN" sz="900"/>
              </a:p>
            </p:txBody>
          </p:sp>
          <p:sp>
            <p:nvSpPr>
              <p:cNvPr id="161" name="Rectangle 44"/>
              <p:cNvSpPr>
                <a:spLocks noChangeArrowheads="1"/>
              </p:cNvSpPr>
              <p:nvPr/>
            </p:nvSpPr>
            <p:spPr bwMode="auto">
              <a:xfrm>
                <a:off x="1228" y="234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营销活动管理</a:t>
                </a:r>
                <a:endParaRPr lang="zh-CN" altLang="en-US" sz="900"/>
              </a:p>
            </p:txBody>
          </p:sp>
          <p:sp>
            <p:nvSpPr>
              <p:cNvPr id="162" name="Rectangle 45"/>
              <p:cNvSpPr>
                <a:spLocks noChangeArrowheads="1"/>
              </p:cNvSpPr>
              <p:nvPr/>
            </p:nvSpPr>
            <p:spPr bwMode="auto">
              <a:xfrm>
                <a:off x="1228" y="2641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协商费率</a:t>
                </a:r>
                <a:endParaRPr lang="zh-CN" altLang="en-US" sz="900"/>
              </a:p>
            </p:txBody>
          </p:sp>
          <p:sp>
            <p:nvSpPr>
              <p:cNvPr id="163" name="Rectangle 46"/>
              <p:cNvSpPr>
                <a:spLocks noChangeArrowheads="1"/>
              </p:cNvSpPr>
              <p:nvPr/>
            </p:nvSpPr>
            <p:spPr bwMode="auto">
              <a:xfrm>
                <a:off x="1213" y="2945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64" name="Rectangle 47"/>
              <p:cNvSpPr>
                <a:spLocks noChangeArrowheads="1"/>
              </p:cNvSpPr>
              <p:nvPr/>
            </p:nvSpPr>
            <p:spPr bwMode="auto">
              <a:xfrm>
                <a:off x="1228" y="2961"/>
                <a:ext cx="478" cy="11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渠道支持</a:t>
                </a:r>
                <a:endParaRPr lang="zh-CN" altLang="en-US" sz="900"/>
              </a:p>
            </p:txBody>
          </p:sp>
          <p:sp>
            <p:nvSpPr>
              <p:cNvPr id="165" name="Rectangle 48"/>
              <p:cNvSpPr>
                <a:spLocks noChangeArrowheads="1"/>
              </p:cNvSpPr>
              <p:nvPr/>
            </p:nvSpPr>
            <p:spPr bwMode="auto">
              <a:xfrm>
                <a:off x="1228" y="3091"/>
                <a:ext cx="478" cy="115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渠道信息</a:t>
                </a:r>
                <a:endParaRPr lang="zh-CN" altLang="en-US" sz="900"/>
              </a:p>
            </p:txBody>
          </p:sp>
          <p:sp>
            <p:nvSpPr>
              <p:cNvPr id="166" name="Rectangle 49"/>
              <p:cNvSpPr>
                <a:spLocks noChangeArrowheads="1"/>
              </p:cNvSpPr>
              <p:nvPr/>
            </p:nvSpPr>
            <p:spPr bwMode="auto">
              <a:xfrm>
                <a:off x="1228" y="3222"/>
                <a:ext cx="478" cy="11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营销活动执行</a:t>
                </a:r>
                <a:endParaRPr lang="zh-CN" altLang="en-US" sz="900"/>
              </a:p>
            </p:txBody>
          </p:sp>
          <p:sp>
            <p:nvSpPr>
              <p:cNvPr id="167" name="Rectangle 50"/>
              <p:cNvSpPr>
                <a:spLocks noChangeArrowheads="1"/>
              </p:cNvSpPr>
              <p:nvPr/>
            </p:nvSpPr>
            <p:spPr bwMode="auto">
              <a:xfrm>
                <a:off x="1228" y="3352"/>
                <a:ext cx="478" cy="23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业务推动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和支持</a:t>
                </a:r>
                <a:endParaRPr lang="zh-CN" altLang="en-US" sz="900"/>
              </a:p>
            </p:txBody>
          </p:sp>
          <p:sp>
            <p:nvSpPr>
              <p:cNvPr id="168" name="Rectangle 52"/>
              <p:cNvSpPr>
                <a:spLocks noChangeArrowheads="1"/>
              </p:cNvSpPr>
              <p:nvPr/>
            </p:nvSpPr>
            <p:spPr bwMode="auto">
              <a:xfrm>
                <a:off x="1228" y="3600"/>
                <a:ext cx="478" cy="131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代理佣金</a:t>
                </a:r>
                <a:endParaRPr lang="zh-CN" altLang="en-US" sz="900"/>
              </a:p>
            </p:txBody>
          </p:sp>
          <p:sp>
            <p:nvSpPr>
              <p:cNvPr id="169" name="Rectangle 53"/>
              <p:cNvSpPr>
                <a:spLocks noChangeArrowheads="1"/>
              </p:cNvSpPr>
              <p:nvPr/>
            </p:nvSpPr>
            <p:spPr bwMode="auto">
              <a:xfrm>
                <a:off x="1228" y="3743"/>
                <a:ext cx="478" cy="11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渠道培训</a:t>
                </a:r>
                <a:endParaRPr lang="zh-CN" altLang="en-US" sz="900"/>
              </a:p>
            </p:txBody>
          </p:sp>
          <p:sp>
            <p:nvSpPr>
              <p:cNvPr id="170" name="Rectangle 54"/>
              <p:cNvSpPr>
                <a:spLocks noChangeArrowheads="1"/>
              </p:cNvSpPr>
              <p:nvPr/>
            </p:nvSpPr>
            <p:spPr bwMode="auto">
              <a:xfrm>
                <a:off x="3224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保单服务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71" name="Rectangle 55"/>
              <p:cNvSpPr>
                <a:spLocks noChangeArrowheads="1"/>
              </p:cNvSpPr>
              <p:nvPr/>
            </p:nvSpPr>
            <p:spPr bwMode="auto">
              <a:xfrm>
                <a:off x="3224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72" name="Rectangle 56"/>
              <p:cNvSpPr>
                <a:spLocks noChangeArrowheads="1"/>
              </p:cNvSpPr>
              <p:nvPr/>
            </p:nvSpPr>
            <p:spPr bwMode="auto">
              <a:xfrm>
                <a:off x="3235" y="1105"/>
                <a:ext cx="482" cy="89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保单管理战略和规划</a:t>
                </a:r>
                <a:endParaRPr lang="zh-CN" altLang="en-US" sz="600"/>
              </a:p>
            </p:txBody>
          </p:sp>
          <p:sp>
            <p:nvSpPr>
              <p:cNvPr id="173" name="Rectangle 57"/>
              <p:cNvSpPr>
                <a:spLocks noChangeArrowheads="1"/>
              </p:cNvSpPr>
              <p:nvPr/>
            </p:nvSpPr>
            <p:spPr bwMode="auto">
              <a:xfrm>
                <a:off x="3224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74" name="Rectangle 58"/>
              <p:cNvSpPr>
                <a:spLocks noChangeArrowheads="1"/>
              </p:cNvSpPr>
              <p:nvPr/>
            </p:nvSpPr>
            <p:spPr bwMode="auto">
              <a:xfrm>
                <a:off x="3239" y="203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超权限业务</a:t>
                </a:r>
                <a:endParaRPr lang="zh-CN" altLang="en-US" sz="900"/>
              </a:p>
            </p:txBody>
          </p:sp>
          <p:sp>
            <p:nvSpPr>
              <p:cNvPr id="175" name="Rectangle 59"/>
              <p:cNvSpPr>
                <a:spLocks noChangeArrowheads="1"/>
              </p:cNvSpPr>
              <p:nvPr/>
            </p:nvSpPr>
            <p:spPr bwMode="auto">
              <a:xfrm>
                <a:off x="3239" y="2337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保单处理服务</a:t>
                </a:r>
                <a:endParaRPr lang="zh-CN" altLang="en-US" sz="900"/>
              </a:p>
              <a:p>
                <a:pPr algn="ctr"/>
                <a:r>
                  <a:rPr lang="zh-CN" altLang="en-US" sz="900"/>
                  <a:t>水平管理</a:t>
                </a:r>
                <a:endParaRPr lang="zh-CN" altLang="en-US" sz="900"/>
              </a:p>
            </p:txBody>
          </p:sp>
          <p:sp>
            <p:nvSpPr>
              <p:cNvPr id="176" name="Rectangle 60"/>
              <p:cNvSpPr>
                <a:spLocks noChangeArrowheads="1"/>
              </p:cNvSpPr>
              <p:nvPr/>
            </p:nvSpPr>
            <p:spPr bwMode="auto">
              <a:xfrm>
                <a:off x="3239" y="2641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增值服务管理</a:t>
                </a:r>
                <a:endParaRPr lang="zh-CN" altLang="en-US" sz="900"/>
              </a:p>
            </p:txBody>
          </p:sp>
          <p:sp>
            <p:nvSpPr>
              <p:cNvPr id="177" name="Rectangle 61"/>
              <p:cNvSpPr>
                <a:spLocks noChangeArrowheads="1"/>
              </p:cNvSpPr>
              <p:nvPr/>
            </p:nvSpPr>
            <p:spPr bwMode="auto">
              <a:xfrm>
                <a:off x="3224" y="2945"/>
                <a:ext cx="508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78" name="Rectangle 62"/>
              <p:cNvSpPr>
                <a:spLocks noChangeArrowheads="1"/>
              </p:cNvSpPr>
              <p:nvPr/>
            </p:nvSpPr>
            <p:spPr bwMode="auto">
              <a:xfrm>
                <a:off x="3239" y="2961"/>
                <a:ext cx="478" cy="159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批改</a:t>
                </a:r>
                <a:endParaRPr lang="zh-CN" altLang="en-US" sz="900"/>
              </a:p>
            </p:txBody>
          </p:sp>
          <p:sp>
            <p:nvSpPr>
              <p:cNvPr id="179" name="Rectangle 63"/>
              <p:cNvSpPr>
                <a:spLocks noChangeArrowheads="1"/>
              </p:cNvSpPr>
              <p:nvPr/>
            </p:nvSpPr>
            <p:spPr bwMode="auto">
              <a:xfrm>
                <a:off x="3239" y="3287"/>
                <a:ext cx="478" cy="14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增值服务提供</a:t>
                </a:r>
                <a:endParaRPr lang="zh-CN" altLang="en-US" sz="900"/>
              </a:p>
            </p:txBody>
          </p:sp>
          <p:sp>
            <p:nvSpPr>
              <p:cNvPr id="180" name="Rectangle 64"/>
              <p:cNvSpPr>
                <a:spLocks noChangeArrowheads="1"/>
              </p:cNvSpPr>
              <p:nvPr/>
            </p:nvSpPr>
            <p:spPr bwMode="auto">
              <a:xfrm>
                <a:off x="3239" y="3446"/>
                <a:ext cx="478" cy="133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产品终止处理</a:t>
                </a:r>
                <a:endParaRPr lang="zh-CN" altLang="en-US" sz="900"/>
              </a:p>
            </p:txBody>
          </p:sp>
          <p:sp>
            <p:nvSpPr>
              <p:cNvPr id="181" name="Rectangle 65"/>
              <p:cNvSpPr>
                <a:spLocks noChangeArrowheads="1"/>
              </p:cNvSpPr>
              <p:nvPr/>
            </p:nvSpPr>
            <p:spPr bwMode="auto">
              <a:xfrm>
                <a:off x="3239" y="3589"/>
                <a:ext cx="478" cy="12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内容管理</a:t>
                </a:r>
                <a:endParaRPr lang="zh-CN" altLang="en-US" sz="900"/>
              </a:p>
            </p:txBody>
          </p:sp>
          <p:sp>
            <p:nvSpPr>
              <p:cNvPr id="182" name="Rectangle 66"/>
              <p:cNvSpPr>
                <a:spLocks noChangeArrowheads="1"/>
              </p:cNvSpPr>
              <p:nvPr/>
            </p:nvSpPr>
            <p:spPr bwMode="auto">
              <a:xfrm>
                <a:off x="3239" y="3731"/>
                <a:ext cx="478" cy="12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文档、影像</a:t>
                </a:r>
                <a:endParaRPr lang="zh-CN" altLang="en-US" sz="900"/>
              </a:p>
            </p:txBody>
          </p:sp>
          <p:sp>
            <p:nvSpPr>
              <p:cNvPr id="183" name="Rectangle 82"/>
              <p:cNvSpPr>
                <a:spLocks noChangeArrowheads="1"/>
              </p:cNvSpPr>
              <p:nvPr/>
            </p:nvSpPr>
            <p:spPr bwMode="auto">
              <a:xfrm>
                <a:off x="3733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理赔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4" name="Rectangle 83"/>
              <p:cNvSpPr>
                <a:spLocks noChangeArrowheads="1"/>
              </p:cNvSpPr>
              <p:nvPr/>
            </p:nvSpPr>
            <p:spPr bwMode="auto">
              <a:xfrm>
                <a:off x="3733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85" name="Rectangle 84"/>
              <p:cNvSpPr>
                <a:spLocks noChangeArrowheads="1"/>
              </p:cNvSpPr>
              <p:nvPr/>
            </p:nvSpPr>
            <p:spPr bwMode="auto">
              <a:xfrm>
                <a:off x="3747" y="1105"/>
                <a:ext cx="479" cy="89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理赔战略</a:t>
                </a:r>
                <a:endParaRPr lang="zh-CN" altLang="en-US" sz="900"/>
              </a:p>
            </p:txBody>
          </p:sp>
          <p:sp>
            <p:nvSpPr>
              <p:cNvPr id="186" name="Rectangle 85"/>
              <p:cNvSpPr>
                <a:spLocks noChangeArrowheads="1"/>
              </p:cNvSpPr>
              <p:nvPr/>
            </p:nvSpPr>
            <p:spPr bwMode="auto">
              <a:xfrm>
                <a:off x="3733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87" name="Rectangle 86"/>
              <p:cNvSpPr>
                <a:spLocks noChangeArrowheads="1"/>
              </p:cNvSpPr>
              <p:nvPr/>
            </p:nvSpPr>
            <p:spPr bwMode="auto">
              <a:xfrm>
                <a:off x="3747" y="2033"/>
                <a:ext cx="479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潜在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实际损失准备金管理</a:t>
                </a:r>
                <a:endParaRPr lang="zh-CN" altLang="en-US" sz="900"/>
              </a:p>
            </p:txBody>
          </p:sp>
          <p:sp>
            <p:nvSpPr>
              <p:cNvPr id="188" name="Rectangle 87"/>
              <p:cNvSpPr>
                <a:spLocks noChangeArrowheads="1"/>
              </p:cNvSpPr>
              <p:nvPr/>
            </p:nvSpPr>
            <p:spPr bwMode="auto">
              <a:xfrm>
                <a:off x="3747" y="2261"/>
                <a:ext cx="479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理赔管理</a:t>
                </a:r>
                <a:endParaRPr lang="zh-CN" altLang="en-US" sz="900"/>
              </a:p>
            </p:txBody>
          </p:sp>
          <p:sp>
            <p:nvSpPr>
              <p:cNvPr id="189" name="Rectangle 88"/>
              <p:cNvSpPr>
                <a:spLocks noChangeArrowheads="1"/>
              </p:cNvSpPr>
              <p:nvPr/>
            </p:nvSpPr>
            <p:spPr bwMode="auto">
              <a:xfrm>
                <a:off x="3747" y="2489"/>
                <a:ext cx="479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诉讼管理</a:t>
                </a:r>
                <a:endParaRPr lang="zh-CN" altLang="en-US" sz="900"/>
              </a:p>
            </p:txBody>
          </p:sp>
          <p:sp>
            <p:nvSpPr>
              <p:cNvPr id="190" name="Rectangle 89"/>
              <p:cNvSpPr>
                <a:spLocks noChangeArrowheads="1"/>
              </p:cNvSpPr>
              <p:nvPr/>
            </p:nvSpPr>
            <p:spPr bwMode="auto">
              <a:xfrm>
                <a:off x="3747" y="2717"/>
                <a:ext cx="479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欺诈管理</a:t>
                </a:r>
                <a:endParaRPr lang="zh-CN" altLang="en-US" sz="900"/>
              </a:p>
            </p:txBody>
          </p:sp>
          <p:sp>
            <p:nvSpPr>
              <p:cNvPr id="191" name="Rectangle 90"/>
              <p:cNvSpPr>
                <a:spLocks noChangeArrowheads="1"/>
              </p:cNvSpPr>
              <p:nvPr/>
            </p:nvSpPr>
            <p:spPr bwMode="auto">
              <a:xfrm>
                <a:off x="3733" y="2945"/>
                <a:ext cx="508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192" name="Rectangle 91"/>
              <p:cNvSpPr>
                <a:spLocks noChangeArrowheads="1"/>
              </p:cNvSpPr>
              <p:nvPr/>
            </p:nvSpPr>
            <p:spPr bwMode="auto">
              <a:xfrm>
                <a:off x="3747" y="2961"/>
                <a:ext cx="479" cy="16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 dirty="0"/>
                  <a:t>保修</a:t>
                </a:r>
                <a:endParaRPr lang="zh-CN" altLang="en-US" sz="900" dirty="0"/>
              </a:p>
            </p:txBody>
          </p:sp>
          <p:sp>
            <p:nvSpPr>
              <p:cNvPr id="193" name="Rectangle 92"/>
              <p:cNvSpPr>
                <a:spLocks noChangeArrowheads="1"/>
              </p:cNvSpPr>
              <p:nvPr/>
            </p:nvSpPr>
            <p:spPr bwMode="auto">
              <a:xfrm>
                <a:off x="3747" y="3143"/>
                <a:ext cx="479" cy="16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查勘定损</a:t>
                </a:r>
                <a:endParaRPr lang="zh-CN" altLang="en-US" sz="900"/>
              </a:p>
            </p:txBody>
          </p:sp>
          <p:sp>
            <p:nvSpPr>
              <p:cNvPr id="194" name="Rectangle 93"/>
              <p:cNvSpPr>
                <a:spLocks noChangeArrowheads="1"/>
              </p:cNvSpPr>
              <p:nvPr/>
            </p:nvSpPr>
            <p:spPr bwMode="auto">
              <a:xfrm>
                <a:off x="3747" y="3326"/>
                <a:ext cx="479" cy="16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赔案后台处理</a:t>
                </a:r>
                <a:endParaRPr lang="zh-CN" altLang="en-US" sz="900"/>
              </a:p>
            </p:txBody>
          </p:sp>
          <p:sp>
            <p:nvSpPr>
              <p:cNvPr id="195" name="Rectangle 94"/>
              <p:cNvSpPr>
                <a:spLocks noChangeArrowheads="1"/>
              </p:cNvSpPr>
              <p:nvPr/>
            </p:nvSpPr>
            <p:spPr bwMode="auto">
              <a:xfrm>
                <a:off x="3747" y="3508"/>
                <a:ext cx="479" cy="16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残值和代位清偿</a:t>
                </a:r>
                <a:endParaRPr lang="zh-CN" altLang="en-US" sz="900"/>
              </a:p>
            </p:txBody>
          </p:sp>
          <p:sp>
            <p:nvSpPr>
              <p:cNvPr id="196" name="Rectangle 95"/>
              <p:cNvSpPr>
                <a:spLocks noChangeArrowheads="1"/>
              </p:cNvSpPr>
              <p:nvPr/>
            </p:nvSpPr>
            <p:spPr bwMode="auto">
              <a:xfrm>
                <a:off x="3747" y="3691"/>
                <a:ext cx="479" cy="16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欺诈调查</a:t>
                </a:r>
                <a:endParaRPr lang="zh-CN" altLang="en-US" sz="900"/>
              </a:p>
            </p:txBody>
          </p:sp>
          <p:sp>
            <p:nvSpPr>
              <p:cNvPr id="197" name="Rectangle 105"/>
              <p:cNvSpPr>
                <a:spLocks noChangeArrowheads="1"/>
              </p:cNvSpPr>
              <p:nvPr/>
            </p:nvSpPr>
            <p:spPr bwMode="auto">
              <a:xfrm>
                <a:off x="4254" y="3480"/>
                <a:ext cx="478" cy="18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催收</a:t>
                </a:r>
                <a:endParaRPr lang="zh-CN" altLang="en-US" sz="900"/>
              </a:p>
            </p:txBody>
          </p:sp>
          <p:sp>
            <p:nvSpPr>
              <p:cNvPr id="198" name="Rectangle 106"/>
              <p:cNvSpPr>
                <a:spLocks noChangeArrowheads="1"/>
              </p:cNvSpPr>
              <p:nvPr/>
            </p:nvSpPr>
            <p:spPr bwMode="auto">
              <a:xfrm>
                <a:off x="4254" y="2442"/>
                <a:ext cx="478" cy="153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现金管理</a:t>
                </a:r>
                <a:endParaRPr lang="zh-CN" altLang="en-US" sz="900"/>
              </a:p>
            </p:txBody>
          </p:sp>
          <p:sp>
            <p:nvSpPr>
              <p:cNvPr id="199" name="Rectangle 107"/>
              <p:cNvSpPr>
                <a:spLocks noChangeArrowheads="1"/>
              </p:cNvSpPr>
              <p:nvPr/>
            </p:nvSpPr>
            <p:spPr bwMode="auto">
              <a:xfrm>
                <a:off x="4241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财务管理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Rectangle 108"/>
              <p:cNvSpPr>
                <a:spLocks noChangeArrowheads="1"/>
              </p:cNvSpPr>
              <p:nvPr/>
            </p:nvSpPr>
            <p:spPr bwMode="auto">
              <a:xfrm>
                <a:off x="4241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01" name="Rectangle 109"/>
              <p:cNvSpPr>
                <a:spLocks noChangeArrowheads="1"/>
              </p:cNvSpPr>
              <p:nvPr/>
            </p:nvSpPr>
            <p:spPr bwMode="auto">
              <a:xfrm>
                <a:off x="4254" y="110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财务规定</a:t>
                </a:r>
                <a:endParaRPr lang="zh-CN" altLang="en-US" sz="900"/>
              </a:p>
            </p:txBody>
          </p:sp>
          <p:sp>
            <p:nvSpPr>
              <p:cNvPr id="202" name="Rectangle 110"/>
              <p:cNvSpPr>
                <a:spLocks noChangeArrowheads="1"/>
              </p:cNvSpPr>
              <p:nvPr/>
            </p:nvSpPr>
            <p:spPr bwMode="auto">
              <a:xfrm>
                <a:off x="4254" y="1409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投资策略</a:t>
                </a:r>
                <a:endParaRPr lang="zh-CN" altLang="en-US" sz="900"/>
              </a:p>
            </p:txBody>
          </p:sp>
          <p:sp>
            <p:nvSpPr>
              <p:cNvPr id="203" name="Rectangle 111"/>
              <p:cNvSpPr>
                <a:spLocks noChangeArrowheads="1"/>
              </p:cNvSpPr>
              <p:nvPr/>
            </p:nvSpPr>
            <p:spPr bwMode="auto">
              <a:xfrm>
                <a:off x="4254" y="171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财务计划和预算</a:t>
                </a:r>
                <a:endParaRPr lang="zh-CN" altLang="en-US" sz="900"/>
              </a:p>
            </p:txBody>
          </p:sp>
          <p:sp>
            <p:nvSpPr>
              <p:cNvPr id="204" name="Rectangle 113"/>
              <p:cNvSpPr>
                <a:spLocks noChangeArrowheads="1"/>
              </p:cNvSpPr>
              <p:nvPr/>
            </p:nvSpPr>
            <p:spPr bwMode="auto">
              <a:xfrm>
                <a:off x="4254" y="2033"/>
                <a:ext cx="478" cy="169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资金准备金管理</a:t>
                </a:r>
                <a:endParaRPr lang="zh-CN" altLang="en-US" sz="900"/>
              </a:p>
            </p:txBody>
          </p:sp>
          <p:sp>
            <p:nvSpPr>
              <p:cNvPr id="205" name="Rectangle 114"/>
              <p:cNvSpPr>
                <a:spLocks noChangeArrowheads="1"/>
              </p:cNvSpPr>
              <p:nvPr/>
            </p:nvSpPr>
            <p:spPr bwMode="auto">
              <a:xfrm>
                <a:off x="4254" y="2212"/>
                <a:ext cx="478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监管合规监控</a:t>
                </a:r>
                <a:endParaRPr lang="zh-CN" altLang="en-US" sz="900"/>
              </a:p>
            </p:txBody>
          </p:sp>
          <p:sp>
            <p:nvSpPr>
              <p:cNvPr id="206" name="Rectangle 115"/>
              <p:cNvSpPr>
                <a:spLocks noChangeArrowheads="1"/>
              </p:cNvSpPr>
              <p:nvPr/>
            </p:nvSpPr>
            <p:spPr bwMode="auto">
              <a:xfrm>
                <a:off x="4254" y="2613"/>
                <a:ext cx="478" cy="14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资产组合</a:t>
                </a:r>
                <a:r>
                  <a:rPr lang="en-US" altLang="zh-CN" sz="900"/>
                  <a:t>/</a:t>
                </a:r>
                <a:endParaRPr lang="en-US" altLang="zh-CN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投资管理</a:t>
                </a:r>
                <a:endParaRPr lang="zh-CN" altLang="en-US" sz="900"/>
              </a:p>
            </p:txBody>
          </p:sp>
          <p:sp>
            <p:nvSpPr>
              <p:cNvPr id="207" name="Rectangle 116"/>
              <p:cNvSpPr>
                <a:spLocks noChangeArrowheads="1"/>
              </p:cNvSpPr>
              <p:nvPr/>
            </p:nvSpPr>
            <p:spPr bwMode="auto">
              <a:xfrm>
                <a:off x="4254" y="2779"/>
                <a:ext cx="478" cy="15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资本管理</a:t>
                </a:r>
                <a:endParaRPr lang="zh-CN" altLang="en-US" sz="900"/>
              </a:p>
            </p:txBody>
          </p:sp>
          <p:sp>
            <p:nvSpPr>
              <p:cNvPr id="208" name="Rectangle 118"/>
              <p:cNvSpPr>
                <a:spLocks noChangeArrowheads="1"/>
              </p:cNvSpPr>
              <p:nvPr/>
            </p:nvSpPr>
            <p:spPr bwMode="auto">
              <a:xfrm>
                <a:off x="4254" y="2961"/>
                <a:ext cx="478" cy="17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财务报告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和指标</a:t>
                </a:r>
                <a:endParaRPr lang="zh-CN" altLang="en-US" sz="900"/>
              </a:p>
            </p:txBody>
          </p:sp>
          <p:sp>
            <p:nvSpPr>
              <p:cNvPr id="209" name="Rectangle 119"/>
              <p:cNvSpPr>
                <a:spLocks noChangeArrowheads="1"/>
              </p:cNvSpPr>
              <p:nvPr/>
            </p:nvSpPr>
            <p:spPr bwMode="auto">
              <a:xfrm>
                <a:off x="4254" y="3679"/>
                <a:ext cx="478" cy="17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投资交易</a:t>
                </a:r>
                <a:endParaRPr lang="zh-CN" altLang="en-US" sz="900"/>
              </a:p>
            </p:txBody>
          </p:sp>
          <p:sp>
            <p:nvSpPr>
              <p:cNvPr id="210" name="Rectangle 120"/>
              <p:cNvSpPr>
                <a:spLocks noChangeArrowheads="1"/>
              </p:cNvSpPr>
              <p:nvPr/>
            </p:nvSpPr>
            <p:spPr bwMode="auto">
              <a:xfrm>
                <a:off x="4749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企业职能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1" name="Rectangle 121"/>
              <p:cNvSpPr>
                <a:spLocks noChangeArrowheads="1"/>
              </p:cNvSpPr>
              <p:nvPr/>
            </p:nvSpPr>
            <p:spPr bwMode="auto">
              <a:xfrm>
                <a:off x="4749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12" name="Rectangle 122"/>
              <p:cNvSpPr>
                <a:spLocks noChangeArrowheads="1"/>
              </p:cNvSpPr>
              <p:nvPr/>
            </p:nvSpPr>
            <p:spPr bwMode="auto">
              <a:xfrm>
                <a:off x="4764" y="110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业务战略</a:t>
                </a:r>
                <a:endParaRPr lang="zh-CN" altLang="en-US" sz="900"/>
              </a:p>
            </p:txBody>
          </p:sp>
          <p:sp>
            <p:nvSpPr>
              <p:cNvPr id="213" name="Rectangle 123"/>
              <p:cNvSpPr>
                <a:spLocks noChangeArrowheads="1"/>
              </p:cNvSpPr>
              <p:nvPr/>
            </p:nvSpPr>
            <p:spPr bwMode="auto">
              <a:xfrm>
                <a:off x="4764" y="1409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业务规划和预算</a:t>
                </a:r>
                <a:endParaRPr lang="zh-CN" altLang="en-US" sz="900"/>
              </a:p>
            </p:txBody>
          </p:sp>
          <p:sp>
            <p:nvSpPr>
              <p:cNvPr id="214" name="Rectangle 124"/>
              <p:cNvSpPr>
                <a:spLocks noChangeArrowheads="1"/>
              </p:cNvSpPr>
              <p:nvPr/>
            </p:nvSpPr>
            <p:spPr bwMode="auto">
              <a:xfrm>
                <a:off x="4764" y="171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业务规定和程序</a:t>
                </a:r>
                <a:endParaRPr lang="zh-CN" altLang="en-US" sz="900"/>
              </a:p>
            </p:txBody>
          </p:sp>
          <p:sp>
            <p:nvSpPr>
              <p:cNvPr id="215" name="Rectangle 125"/>
              <p:cNvSpPr>
                <a:spLocks noChangeArrowheads="1"/>
              </p:cNvSpPr>
              <p:nvPr/>
            </p:nvSpPr>
            <p:spPr bwMode="auto">
              <a:xfrm>
                <a:off x="4749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16" name="Rectangle 126"/>
              <p:cNvSpPr>
                <a:spLocks noChangeArrowheads="1"/>
              </p:cNvSpPr>
              <p:nvPr/>
            </p:nvSpPr>
            <p:spPr bwMode="auto">
              <a:xfrm>
                <a:off x="4764" y="2033"/>
                <a:ext cx="478" cy="20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采购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厂商管理</a:t>
                </a:r>
                <a:endParaRPr lang="zh-CN" altLang="en-US" sz="900"/>
              </a:p>
            </p:txBody>
          </p:sp>
          <p:sp>
            <p:nvSpPr>
              <p:cNvPr id="217" name="Rectangle 129"/>
              <p:cNvSpPr>
                <a:spLocks noChangeArrowheads="1"/>
              </p:cNvSpPr>
              <p:nvPr/>
            </p:nvSpPr>
            <p:spPr bwMode="auto">
              <a:xfrm>
                <a:off x="4764" y="3163"/>
                <a:ext cx="478" cy="10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固定资产管理</a:t>
                </a:r>
                <a:endParaRPr lang="zh-CN" altLang="en-US" sz="900"/>
              </a:p>
            </p:txBody>
          </p:sp>
          <p:sp>
            <p:nvSpPr>
              <p:cNvPr id="218" name="Rectangle 131"/>
              <p:cNvSpPr>
                <a:spLocks noChangeArrowheads="1"/>
              </p:cNvSpPr>
              <p:nvPr/>
            </p:nvSpPr>
            <p:spPr bwMode="auto">
              <a:xfrm>
                <a:off x="4764" y="2255"/>
                <a:ext cx="478" cy="269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审计</a:t>
                </a:r>
                <a:r>
                  <a:rPr lang="en-US" altLang="zh-CN" sz="900"/>
                  <a:t>/</a:t>
                </a:r>
                <a:endParaRPr lang="en-US" altLang="zh-CN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法律合规</a:t>
                </a:r>
                <a:endParaRPr lang="zh-CN" altLang="en-US" sz="900"/>
              </a:p>
            </p:txBody>
          </p:sp>
          <p:sp>
            <p:nvSpPr>
              <p:cNvPr id="219" name="Rectangle 133"/>
              <p:cNvSpPr>
                <a:spLocks noChangeArrowheads="1"/>
              </p:cNvSpPr>
              <p:nvPr/>
            </p:nvSpPr>
            <p:spPr bwMode="auto">
              <a:xfrm>
                <a:off x="4764" y="2963"/>
                <a:ext cx="478" cy="185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财务</a:t>
                </a:r>
                <a:r>
                  <a:rPr lang="en-US" altLang="zh-CN" sz="900"/>
                  <a:t>(</a:t>
                </a:r>
                <a:r>
                  <a:rPr lang="zh-CN" altLang="en-US" sz="900"/>
                  <a:t>应收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应付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总帐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税务</a:t>
                </a:r>
                <a:r>
                  <a:rPr lang="en-US" altLang="zh-CN" sz="900"/>
                  <a:t>)</a:t>
                </a:r>
                <a:endParaRPr lang="en-US" altLang="zh-CN" sz="900"/>
              </a:p>
            </p:txBody>
          </p:sp>
          <p:sp>
            <p:nvSpPr>
              <p:cNvPr id="220" name="Rectangle 136"/>
              <p:cNvSpPr>
                <a:spLocks noChangeArrowheads="1"/>
              </p:cNvSpPr>
              <p:nvPr/>
            </p:nvSpPr>
            <p:spPr bwMode="auto">
              <a:xfrm>
                <a:off x="4764" y="3287"/>
                <a:ext cx="478" cy="149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应用系统开发和维护</a:t>
                </a:r>
                <a:endParaRPr lang="zh-CN" altLang="en-US" sz="900"/>
              </a:p>
            </p:txBody>
          </p:sp>
          <p:sp>
            <p:nvSpPr>
              <p:cNvPr id="221" name="Rectangle 137"/>
              <p:cNvSpPr>
                <a:spLocks noChangeArrowheads="1"/>
              </p:cNvSpPr>
              <p:nvPr/>
            </p:nvSpPr>
            <p:spPr bwMode="auto">
              <a:xfrm>
                <a:off x="4764" y="3625"/>
                <a:ext cx="478" cy="131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700"/>
                  <a:t>人力资源（薪酬、福利、招聘、绩效）</a:t>
                </a:r>
                <a:endParaRPr lang="zh-CN" altLang="en-US" sz="700"/>
              </a:p>
            </p:txBody>
          </p:sp>
          <p:sp>
            <p:nvSpPr>
              <p:cNvPr id="222" name="Rectangle 138"/>
              <p:cNvSpPr>
                <a:spLocks noChangeArrowheads="1"/>
              </p:cNvSpPr>
              <p:nvPr/>
            </p:nvSpPr>
            <p:spPr bwMode="auto">
              <a:xfrm>
                <a:off x="4764" y="3448"/>
                <a:ext cx="478" cy="165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US" altLang="zh-CN" sz="900"/>
                  <a:t>IT</a:t>
                </a:r>
                <a:r>
                  <a:rPr lang="zh-CN" altLang="en-US" sz="900"/>
                  <a:t>设施维护和运行</a:t>
                </a:r>
                <a:endParaRPr lang="zh-CN" altLang="en-US" sz="900"/>
              </a:p>
            </p:txBody>
          </p:sp>
          <p:sp>
            <p:nvSpPr>
              <p:cNvPr id="223" name="Rectangle 139"/>
              <p:cNvSpPr>
                <a:spLocks noChangeArrowheads="1"/>
              </p:cNvSpPr>
              <p:nvPr/>
            </p:nvSpPr>
            <p:spPr bwMode="auto">
              <a:xfrm>
                <a:off x="4764" y="2540"/>
                <a:ext cx="478" cy="20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公共关系</a:t>
                </a:r>
                <a:endParaRPr lang="zh-CN" altLang="en-US" sz="900"/>
              </a:p>
            </p:txBody>
          </p:sp>
          <p:sp>
            <p:nvSpPr>
              <p:cNvPr id="224" name="Rectangle 140"/>
              <p:cNvSpPr>
                <a:spLocks noChangeArrowheads="1"/>
              </p:cNvSpPr>
              <p:nvPr/>
            </p:nvSpPr>
            <p:spPr bwMode="auto">
              <a:xfrm>
                <a:off x="4764" y="2765"/>
                <a:ext cx="478" cy="17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安全管理</a:t>
                </a:r>
                <a:endParaRPr lang="zh-CN" altLang="en-US" sz="900"/>
              </a:p>
            </p:txBody>
          </p:sp>
          <p:sp>
            <p:nvSpPr>
              <p:cNvPr id="225" name="Rectangle 141"/>
              <p:cNvSpPr>
                <a:spLocks noChangeArrowheads="1"/>
              </p:cNvSpPr>
              <p:nvPr/>
            </p:nvSpPr>
            <p:spPr bwMode="auto">
              <a:xfrm>
                <a:off x="4764" y="3772"/>
                <a:ext cx="478" cy="85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700"/>
                  <a:t>培训和知识管理</a:t>
                </a:r>
                <a:endParaRPr lang="zh-CN" altLang="en-US" sz="700"/>
              </a:p>
            </p:txBody>
          </p:sp>
          <p:sp>
            <p:nvSpPr>
              <p:cNvPr id="226" name="Rectangle 67"/>
              <p:cNvSpPr>
                <a:spLocks noChangeArrowheads="1"/>
              </p:cNvSpPr>
              <p:nvPr/>
            </p:nvSpPr>
            <p:spPr bwMode="auto">
              <a:xfrm>
                <a:off x="2718" y="889"/>
                <a:ext cx="509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客户关系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管理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Rectangle 68"/>
              <p:cNvSpPr>
                <a:spLocks noChangeArrowheads="1"/>
              </p:cNvSpPr>
              <p:nvPr/>
            </p:nvSpPr>
            <p:spPr bwMode="auto">
              <a:xfrm>
                <a:off x="2718" y="1089"/>
                <a:ext cx="509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28" name="Rectangle 69"/>
              <p:cNvSpPr>
                <a:spLocks noChangeArrowheads="1"/>
              </p:cNvSpPr>
              <p:nvPr/>
            </p:nvSpPr>
            <p:spPr bwMode="auto">
              <a:xfrm>
                <a:off x="2741" y="1105"/>
                <a:ext cx="471" cy="44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客户关系管理战略</a:t>
                </a:r>
                <a:endParaRPr lang="zh-CN" altLang="en-US" sz="900"/>
              </a:p>
            </p:txBody>
          </p:sp>
          <p:sp>
            <p:nvSpPr>
              <p:cNvPr id="229" name="Rectangle 70"/>
              <p:cNvSpPr>
                <a:spLocks noChangeArrowheads="1"/>
              </p:cNvSpPr>
              <p:nvPr/>
            </p:nvSpPr>
            <p:spPr bwMode="auto">
              <a:xfrm>
                <a:off x="2741" y="1561"/>
                <a:ext cx="471" cy="44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客户细分战略和规划</a:t>
                </a:r>
                <a:endParaRPr lang="zh-CN" altLang="en-US" sz="900"/>
              </a:p>
            </p:txBody>
          </p:sp>
          <p:sp>
            <p:nvSpPr>
              <p:cNvPr id="230" name="Rectangle 71"/>
              <p:cNvSpPr>
                <a:spLocks noChangeArrowheads="1"/>
              </p:cNvSpPr>
              <p:nvPr/>
            </p:nvSpPr>
            <p:spPr bwMode="auto">
              <a:xfrm>
                <a:off x="2718" y="2017"/>
                <a:ext cx="509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31" name="Rectangle 72"/>
              <p:cNvSpPr>
                <a:spLocks noChangeArrowheads="1"/>
              </p:cNvSpPr>
              <p:nvPr/>
            </p:nvSpPr>
            <p:spPr bwMode="auto">
              <a:xfrm>
                <a:off x="2741" y="2033"/>
                <a:ext cx="471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客户满意度</a:t>
                </a:r>
                <a:endParaRPr lang="zh-CN" altLang="en-US" sz="900"/>
              </a:p>
              <a:p>
                <a:pPr algn="ctr"/>
                <a:r>
                  <a:rPr lang="zh-CN" altLang="en-US" sz="900"/>
                  <a:t>管理</a:t>
                </a:r>
                <a:endParaRPr lang="zh-CN" altLang="en-US" sz="900"/>
              </a:p>
            </p:txBody>
          </p:sp>
          <p:sp>
            <p:nvSpPr>
              <p:cNvPr id="232" name="Rectangle 73"/>
              <p:cNvSpPr>
                <a:spLocks noChangeArrowheads="1"/>
              </p:cNvSpPr>
              <p:nvPr/>
            </p:nvSpPr>
            <p:spPr bwMode="auto">
              <a:xfrm>
                <a:off x="2747" y="2261"/>
                <a:ext cx="465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客户利润率</a:t>
                </a:r>
                <a:endParaRPr lang="zh-CN" altLang="en-US" sz="900"/>
              </a:p>
              <a:p>
                <a:pPr algn="ctr"/>
                <a:r>
                  <a:rPr lang="zh-CN" altLang="en-US" sz="900"/>
                  <a:t>分析</a:t>
                </a:r>
                <a:endParaRPr lang="zh-CN" altLang="en-US" sz="900"/>
              </a:p>
            </p:txBody>
          </p:sp>
          <p:sp>
            <p:nvSpPr>
              <p:cNvPr id="233" name="Rectangle 74"/>
              <p:cNvSpPr>
                <a:spLocks noChangeArrowheads="1"/>
              </p:cNvSpPr>
              <p:nvPr/>
            </p:nvSpPr>
            <p:spPr bwMode="auto">
              <a:xfrm>
                <a:off x="2747" y="2489"/>
                <a:ext cx="465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客户接触管理</a:t>
                </a:r>
                <a:r>
                  <a:rPr lang="fr-FR" altLang="zh-CN" sz="900"/>
                  <a:t>(</a:t>
                </a:r>
                <a:r>
                  <a:rPr lang="zh-CN" altLang="en-US" sz="900"/>
                  <a:t>沟通管理</a:t>
                </a:r>
                <a:r>
                  <a:rPr lang="fr-FR" altLang="zh-CN" sz="900"/>
                  <a:t>)</a:t>
                </a:r>
                <a:endParaRPr lang="en-US" altLang="zh-CN" sz="900"/>
              </a:p>
            </p:txBody>
          </p:sp>
          <p:sp>
            <p:nvSpPr>
              <p:cNvPr id="234" name="Rectangle 75"/>
              <p:cNvSpPr>
                <a:spLocks noChangeArrowheads="1"/>
              </p:cNvSpPr>
              <p:nvPr/>
            </p:nvSpPr>
            <p:spPr bwMode="auto">
              <a:xfrm>
                <a:off x="2747" y="2717"/>
                <a:ext cx="465" cy="21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客户服务水平管理</a:t>
                </a:r>
                <a:endParaRPr lang="zh-CN" altLang="en-US" sz="900"/>
              </a:p>
            </p:txBody>
          </p:sp>
          <p:sp>
            <p:nvSpPr>
              <p:cNvPr id="235" name="Rectangle 76"/>
              <p:cNvSpPr>
                <a:spLocks noChangeArrowheads="1"/>
              </p:cNvSpPr>
              <p:nvPr/>
            </p:nvSpPr>
            <p:spPr bwMode="auto">
              <a:xfrm>
                <a:off x="2718" y="2945"/>
                <a:ext cx="509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36" name="Rectangle 77"/>
              <p:cNvSpPr>
                <a:spLocks noChangeArrowheads="1"/>
              </p:cNvSpPr>
              <p:nvPr/>
            </p:nvSpPr>
            <p:spPr bwMode="auto">
              <a:xfrm>
                <a:off x="2741" y="2961"/>
                <a:ext cx="471" cy="219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 </a:t>
                </a:r>
                <a:r>
                  <a:rPr lang="en-US" altLang="zh-CN" sz="900"/>
                  <a:t>/ </a:t>
                </a:r>
                <a:r>
                  <a:rPr lang="zh-CN" altLang="en-US" sz="900"/>
                  <a:t>伙伴信息收集、维护</a:t>
                </a:r>
                <a:endParaRPr lang="zh-CN" altLang="en-US" sz="900"/>
              </a:p>
            </p:txBody>
          </p:sp>
          <p:sp>
            <p:nvSpPr>
              <p:cNvPr id="237" name="Rectangle 80"/>
              <p:cNvSpPr>
                <a:spLocks noChangeArrowheads="1"/>
              </p:cNvSpPr>
              <p:nvPr/>
            </p:nvSpPr>
            <p:spPr bwMode="auto">
              <a:xfrm>
                <a:off x="2741" y="3205"/>
                <a:ext cx="471" cy="32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客户接触 </a:t>
                </a:r>
                <a:endParaRPr lang="zh-CN" altLang="en-US" sz="900"/>
              </a:p>
              <a:p>
                <a:pPr algn="ctr"/>
                <a:r>
                  <a:rPr lang="en-US" altLang="zh-CN" sz="900"/>
                  <a:t>(</a:t>
                </a:r>
                <a:r>
                  <a:rPr lang="zh-CN" altLang="en-US" sz="900"/>
                  <a:t>柜台、电话、</a:t>
                </a:r>
                <a:r>
                  <a:rPr lang="en-US" altLang="zh-CN" sz="900"/>
                  <a:t>fax</a:t>
                </a:r>
                <a:r>
                  <a:rPr lang="zh-CN" altLang="en-US" sz="900"/>
                  <a:t>、</a:t>
                </a:r>
                <a:r>
                  <a:rPr lang="en-US" altLang="zh-CN" sz="900"/>
                  <a:t>web)</a:t>
                </a:r>
                <a:endParaRPr lang="en-US" altLang="zh-CN" sz="900"/>
              </a:p>
            </p:txBody>
          </p:sp>
          <p:sp>
            <p:nvSpPr>
              <p:cNvPr id="238" name="Rectangle 81"/>
              <p:cNvSpPr>
                <a:spLocks noChangeArrowheads="1"/>
              </p:cNvSpPr>
              <p:nvPr/>
            </p:nvSpPr>
            <p:spPr bwMode="auto">
              <a:xfrm>
                <a:off x="2741" y="3553"/>
                <a:ext cx="471" cy="304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邮件管理</a:t>
                </a:r>
                <a:endParaRPr lang="zh-CN" altLang="en-US" sz="900"/>
              </a:p>
              <a:p>
                <a:pPr algn="ctr"/>
                <a:r>
                  <a:rPr lang="en-US" altLang="zh-CN" sz="900"/>
                  <a:t>(</a:t>
                </a:r>
                <a:r>
                  <a:rPr lang="zh-CN" altLang="en-US" sz="900"/>
                  <a:t>纸质、电子</a:t>
                </a:r>
                <a:r>
                  <a:rPr lang="en-US" altLang="zh-CN" sz="900"/>
                  <a:t>)</a:t>
                </a:r>
                <a:endParaRPr lang="en-US" altLang="zh-CN" sz="900"/>
              </a:p>
            </p:txBody>
          </p:sp>
          <p:sp>
            <p:nvSpPr>
              <p:cNvPr id="239" name="Rectangle 21"/>
              <p:cNvSpPr>
                <a:spLocks noChangeArrowheads="1"/>
              </p:cNvSpPr>
              <p:nvPr/>
            </p:nvSpPr>
            <p:spPr bwMode="auto">
              <a:xfrm>
                <a:off x="1717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风险管理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Rectangle 22"/>
              <p:cNvSpPr>
                <a:spLocks noChangeArrowheads="1"/>
              </p:cNvSpPr>
              <p:nvPr/>
            </p:nvSpPr>
            <p:spPr bwMode="auto">
              <a:xfrm>
                <a:off x="1717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41" name="Rectangle 23"/>
              <p:cNvSpPr>
                <a:spLocks noChangeArrowheads="1"/>
              </p:cNvSpPr>
              <p:nvPr/>
            </p:nvSpPr>
            <p:spPr bwMode="auto">
              <a:xfrm>
                <a:off x="1728" y="110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风险、合规、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法律战略</a:t>
                </a:r>
                <a:endParaRPr lang="zh-CN" altLang="en-US" sz="900"/>
              </a:p>
            </p:txBody>
          </p:sp>
          <p:sp>
            <p:nvSpPr>
              <p:cNvPr id="242" name="Rectangle 24"/>
              <p:cNvSpPr>
                <a:spLocks noChangeArrowheads="1"/>
              </p:cNvSpPr>
              <p:nvPr/>
            </p:nvSpPr>
            <p:spPr bwMode="auto">
              <a:xfrm>
                <a:off x="1728" y="1409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再保战略</a:t>
                </a:r>
                <a:endParaRPr lang="zh-CN" altLang="en-US" sz="900"/>
              </a:p>
            </p:txBody>
          </p:sp>
          <p:sp>
            <p:nvSpPr>
              <p:cNvPr id="243" name="Rectangle 25"/>
              <p:cNvSpPr>
                <a:spLocks noChangeArrowheads="1"/>
              </p:cNvSpPr>
              <p:nvPr/>
            </p:nvSpPr>
            <p:spPr bwMode="auto">
              <a:xfrm>
                <a:off x="1728" y="1713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巨灾风险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r>
                  <a:rPr lang="zh-CN" altLang="en-US" sz="900"/>
                  <a:t>应对规划</a:t>
                </a:r>
                <a:endParaRPr lang="zh-CN" altLang="en-US" sz="900"/>
              </a:p>
            </p:txBody>
          </p:sp>
          <p:sp>
            <p:nvSpPr>
              <p:cNvPr id="244" name="Rectangle 26"/>
              <p:cNvSpPr>
                <a:spLocks noChangeArrowheads="1"/>
              </p:cNvSpPr>
              <p:nvPr/>
            </p:nvSpPr>
            <p:spPr bwMode="auto">
              <a:xfrm>
                <a:off x="1717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45" name="Rectangle 31"/>
              <p:cNvSpPr>
                <a:spLocks noChangeArrowheads="1"/>
              </p:cNvSpPr>
              <p:nvPr/>
            </p:nvSpPr>
            <p:spPr bwMode="auto">
              <a:xfrm>
                <a:off x="1717" y="2945"/>
                <a:ext cx="508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46" name="Rectangle 32"/>
              <p:cNvSpPr>
                <a:spLocks noChangeArrowheads="1"/>
              </p:cNvSpPr>
              <p:nvPr/>
            </p:nvSpPr>
            <p:spPr bwMode="auto">
              <a:xfrm>
                <a:off x="1735" y="2960"/>
                <a:ext cx="470" cy="23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客户风险评级</a:t>
                </a:r>
                <a:endParaRPr lang="zh-CN" altLang="en-US" sz="900"/>
              </a:p>
            </p:txBody>
          </p:sp>
          <p:sp>
            <p:nvSpPr>
              <p:cNvPr id="247" name="Rectangle 34"/>
              <p:cNvSpPr>
                <a:spLocks noChangeArrowheads="1"/>
              </p:cNvSpPr>
              <p:nvPr/>
            </p:nvSpPr>
            <p:spPr bwMode="auto">
              <a:xfrm>
                <a:off x="1735" y="3205"/>
                <a:ext cx="470" cy="35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风险预警</a:t>
                </a:r>
                <a:r>
                  <a:rPr lang="en-US" altLang="zh-CN" sz="900"/>
                  <a:t>/</a:t>
                </a:r>
                <a:r>
                  <a:rPr lang="zh-CN" altLang="en-US" sz="900"/>
                  <a:t>服务</a:t>
                </a:r>
                <a:endParaRPr lang="zh-CN" altLang="en-US" sz="900"/>
              </a:p>
            </p:txBody>
          </p:sp>
          <p:sp>
            <p:nvSpPr>
              <p:cNvPr id="248" name="Rectangle 35"/>
              <p:cNvSpPr>
                <a:spLocks noChangeArrowheads="1"/>
              </p:cNvSpPr>
              <p:nvPr/>
            </p:nvSpPr>
            <p:spPr bwMode="auto">
              <a:xfrm>
                <a:off x="1735" y="3579"/>
                <a:ext cx="470" cy="28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合约和临分</a:t>
                </a:r>
                <a:endParaRPr lang="zh-CN" altLang="en-US" sz="900"/>
              </a:p>
              <a:p>
                <a:pPr algn="ctr"/>
                <a:r>
                  <a:rPr lang="zh-CN" altLang="en-US" sz="900"/>
                  <a:t>再保</a:t>
                </a:r>
                <a:endParaRPr lang="zh-CN" altLang="en-US" sz="900"/>
              </a:p>
            </p:txBody>
          </p:sp>
          <p:sp>
            <p:nvSpPr>
              <p:cNvPr id="249" name="Rectangle 21"/>
              <p:cNvSpPr>
                <a:spLocks noChangeArrowheads="1"/>
              </p:cNvSpPr>
              <p:nvPr/>
            </p:nvSpPr>
            <p:spPr bwMode="auto">
              <a:xfrm>
                <a:off x="2223" y="889"/>
                <a:ext cx="508" cy="200"/>
              </a:xfrm>
              <a:prstGeom prst="rect">
                <a:avLst/>
              </a:prstGeom>
              <a:gradFill rotWithShape="0">
                <a:gsLst>
                  <a:gs pos="0">
                    <a:srgbClr val="454580"/>
                  </a:gs>
                  <a:gs pos="100000">
                    <a:srgbClr val="8A8AFF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1000" b="1">
                    <a:solidFill>
                      <a:srgbClr val="FFFFFF"/>
                    </a:solidFill>
                  </a:rPr>
                  <a:t>承保</a:t>
                </a:r>
                <a:endParaRPr lang="zh-CN" altLang="en-US" sz="1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50" name="Rectangle 22"/>
              <p:cNvSpPr>
                <a:spLocks noChangeArrowheads="1"/>
              </p:cNvSpPr>
              <p:nvPr/>
            </p:nvSpPr>
            <p:spPr bwMode="auto">
              <a:xfrm>
                <a:off x="2223" y="1089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51" name="Rectangle 23"/>
              <p:cNvSpPr>
                <a:spLocks noChangeArrowheads="1"/>
              </p:cNvSpPr>
              <p:nvPr/>
            </p:nvSpPr>
            <p:spPr bwMode="auto">
              <a:xfrm>
                <a:off x="2238" y="110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承保策略</a:t>
                </a:r>
                <a:endParaRPr lang="zh-CN" altLang="en-US" sz="900"/>
              </a:p>
            </p:txBody>
          </p:sp>
          <p:sp>
            <p:nvSpPr>
              <p:cNvPr id="252" name="Rectangle 24"/>
              <p:cNvSpPr>
                <a:spLocks noChangeArrowheads="1"/>
              </p:cNvSpPr>
              <p:nvPr/>
            </p:nvSpPr>
            <p:spPr bwMode="auto">
              <a:xfrm>
                <a:off x="2238" y="1409"/>
                <a:ext cx="478" cy="5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承保规划</a:t>
                </a:r>
                <a:endParaRPr lang="zh-CN" altLang="en-US" sz="900"/>
              </a:p>
            </p:txBody>
          </p:sp>
          <p:sp>
            <p:nvSpPr>
              <p:cNvPr id="253" name="Rectangle 26"/>
              <p:cNvSpPr>
                <a:spLocks noChangeArrowheads="1"/>
              </p:cNvSpPr>
              <p:nvPr/>
            </p:nvSpPr>
            <p:spPr bwMode="auto">
              <a:xfrm>
                <a:off x="2223" y="2017"/>
                <a:ext cx="508" cy="928"/>
              </a:xfrm>
              <a:prstGeom prst="rect">
                <a:avLst/>
              </a:prstGeom>
              <a:solidFill>
                <a:srgbClr val="FFFFFF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54" name="Rectangle 30"/>
              <p:cNvSpPr>
                <a:spLocks noChangeArrowheads="1"/>
              </p:cNvSpPr>
              <p:nvPr/>
            </p:nvSpPr>
            <p:spPr bwMode="auto">
              <a:xfrm>
                <a:off x="2238" y="2038"/>
                <a:ext cx="478" cy="893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核保管理</a:t>
                </a:r>
                <a:endParaRPr lang="zh-CN" altLang="en-US" sz="900"/>
              </a:p>
            </p:txBody>
          </p:sp>
          <p:sp>
            <p:nvSpPr>
              <p:cNvPr id="255" name="Rectangle 31"/>
              <p:cNvSpPr>
                <a:spLocks noChangeArrowheads="1"/>
              </p:cNvSpPr>
              <p:nvPr/>
            </p:nvSpPr>
            <p:spPr bwMode="auto">
              <a:xfrm>
                <a:off x="2223" y="2945"/>
                <a:ext cx="508" cy="928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3600"/>
              </a:p>
            </p:txBody>
          </p:sp>
          <p:sp>
            <p:nvSpPr>
              <p:cNvPr id="256" name="Rectangle 34"/>
              <p:cNvSpPr>
                <a:spLocks noChangeArrowheads="1"/>
              </p:cNvSpPr>
              <p:nvPr/>
            </p:nvSpPr>
            <p:spPr bwMode="auto">
              <a:xfrm>
                <a:off x="2238" y="3666"/>
                <a:ext cx="478" cy="191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归档</a:t>
                </a:r>
                <a:endParaRPr lang="zh-CN" altLang="en-US" sz="900"/>
              </a:p>
            </p:txBody>
          </p:sp>
          <p:sp>
            <p:nvSpPr>
              <p:cNvPr id="257" name="Rectangle 36"/>
              <p:cNvSpPr>
                <a:spLocks noChangeArrowheads="1"/>
              </p:cNvSpPr>
              <p:nvPr/>
            </p:nvSpPr>
            <p:spPr bwMode="auto">
              <a:xfrm>
                <a:off x="2238" y="3143"/>
                <a:ext cx="478" cy="14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核保决定</a:t>
                </a:r>
                <a:endParaRPr lang="zh-CN" altLang="en-US" sz="900"/>
              </a:p>
            </p:txBody>
          </p:sp>
          <p:sp>
            <p:nvSpPr>
              <p:cNvPr id="258" name="Rectangle 36"/>
              <p:cNvSpPr>
                <a:spLocks noChangeArrowheads="1"/>
              </p:cNvSpPr>
              <p:nvPr/>
            </p:nvSpPr>
            <p:spPr bwMode="auto">
              <a:xfrm>
                <a:off x="2236" y="2959"/>
                <a:ext cx="482" cy="16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报价</a:t>
                </a:r>
                <a:endParaRPr lang="zh-CN" altLang="en-US" sz="900"/>
              </a:p>
            </p:txBody>
          </p:sp>
          <p:sp>
            <p:nvSpPr>
              <p:cNvPr id="259" name="Rectangle 34"/>
              <p:cNvSpPr>
                <a:spLocks noChangeArrowheads="1"/>
              </p:cNvSpPr>
              <p:nvPr/>
            </p:nvSpPr>
            <p:spPr bwMode="auto">
              <a:xfrm>
                <a:off x="2236" y="3491"/>
                <a:ext cx="482" cy="15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打单</a:t>
                </a:r>
                <a:endParaRPr lang="zh-CN" altLang="en-US" sz="900"/>
              </a:p>
            </p:txBody>
          </p:sp>
          <p:sp>
            <p:nvSpPr>
              <p:cNvPr id="260" name="Rectangle 118"/>
              <p:cNvSpPr>
                <a:spLocks noChangeArrowheads="1"/>
              </p:cNvSpPr>
              <p:nvPr/>
            </p:nvSpPr>
            <p:spPr bwMode="auto">
              <a:xfrm>
                <a:off x="4254" y="3154"/>
                <a:ext cx="478" cy="13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收款</a:t>
                </a:r>
                <a:endParaRPr lang="zh-CN" altLang="en-US" sz="900"/>
              </a:p>
            </p:txBody>
          </p:sp>
          <p:sp>
            <p:nvSpPr>
              <p:cNvPr id="261" name="Rectangle 105"/>
              <p:cNvSpPr>
                <a:spLocks noChangeArrowheads="1"/>
              </p:cNvSpPr>
              <p:nvPr/>
            </p:nvSpPr>
            <p:spPr bwMode="auto">
              <a:xfrm>
                <a:off x="4254" y="3314"/>
                <a:ext cx="478" cy="151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付款</a:t>
                </a:r>
                <a:endParaRPr lang="zh-CN" altLang="en-US" sz="900"/>
              </a:p>
            </p:txBody>
          </p:sp>
          <p:sp>
            <p:nvSpPr>
              <p:cNvPr id="262" name="Rectangle 43"/>
              <p:cNvSpPr>
                <a:spLocks noChangeArrowheads="1"/>
              </p:cNvSpPr>
              <p:nvPr/>
            </p:nvSpPr>
            <p:spPr bwMode="auto">
              <a:xfrm>
                <a:off x="1728" y="2033"/>
                <a:ext cx="478" cy="296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精算控制</a:t>
                </a:r>
                <a:endParaRPr lang="zh-CN" altLang="en-US" sz="900"/>
              </a:p>
              <a:p>
                <a:pPr algn="ctr">
                  <a:buFontTx/>
                  <a:buNone/>
                </a:pPr>
                <a:endParaRPr lang="zh-CN" altLang="en-US" sz="900"/>
              </a:p>
            </p:txBody>
          </p:sp>
          <p:sp>
            <p:nvSpPr>
              <p:cNvPr id="263" name="Rectangle 44"/>
              <p:cNvSpPr>
                <a:spLocks noChangeArrowheads="1"/>
              </p:cNvSpPr>
              <p:nvPr/>
            </p:nvSpPr>
            <p:spPr bwMode="auto">
              <a:xfrm>
                <a:off x="1728" y="2345"/>
                <a:ext cx="478" cy="288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风险和暴露</a:t>
                </a:r>
                <a:endParaRPr lang="zh-CN" altLang="en-US" sz="900"/>
              </a:p>
              <a:p>
                <a:pPr algn="ctr"/>
                <a:r>
                  <a:rPr lang="zh-CN" altLang="en-US" sz="900"/>
                  <a:t>管理</a:t>
                </a:r>
                <a:endParaRPr lang="zh-CN" altLang="en-US" sz="900"/>
              </a:p>
            </p:txBody>
          </p:sp>
          <p:sp>
            <p:nvSpPr>
              <p:cNvPr id="264" name="Rectangle 45"/>
              <p:cNvSpPr>
                <a:spLocks noChangeArrowheads="1"/>
              </p:cNvSpPr>
              <p:nvPr/>
            </p:nvSpPr>
            <p:spPr bwMode="auto">
              <a:xfrm>
                <a:off x="1728" y="2651"/>
                <a:ext cx="478" cy="280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zh-CN" altLang="en-US" sz="900"/>
                  <a:t>再保管理</a:t>
                </a:r>
                <a:endParaRPr lang="zh-CN" altLang="en-US" sz="900"/>
              </a:p>
            </p:txBody>
          </p:sp>
          <p:sp>
            <p:nvSpPr>
              <p:cNvPr id="265" name="Rectangle 34"/>
              <p:cNvSpPr>
                <a:spLocks noChangeArrowheads="1"/>
              </p:cNvSpPr>
              <p:nvPr/>
            </p:nvSpPr>
            <p:spPr bwMode="auto">
              <a:xfrm>
                <a:off x="2236" y="3312"/>
                <a:ext cx="482" cy="157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入单</a:t>
                </a:r>
                <a:endParaRPr lang="zh-CN" altLang="en-US" sz="900"/>
              </a:p>
            </p:txBody>
          </p:sp>
          <p:sp>
            <p:nvSpPr>
              <p:cNvPr id="266" name="Rectangle 63"/>
              <p:cNvSpPr>
                <a:spLocks noChangeArrowheads="1"/>
              </p:cNvSpPr>
              <p:nvPr/>
            </p:nvSpPr>
            <p:spPr bwMode="auto">
              <a:xfrm>
                <a:off x="3239" y="3139"/>
                <a:ext cx="478" cy="132"/>
              </a:xfrm>
              <a:prstGeom prst="rect">
                <a:avLst/>
              </a:prstGeom>
              <a:gradFill rotWithShape="0">
                <a:gsLst>
                  <a:gs pos="0">
                    <a:srgbClr val="FEFEFE"/>
                  </a:gs>
                  <a:gs pos="100000">
                    <a:srgbClr val="F1F1F1"/>
                  </a:gs>
                </a:gsLst>
                <a:lin ang="5400000" scaled="1"/>
              </a:gradFill>
              <a:ln w="6350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31750" tIns="31750" rIns="3175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zh-CN" altLang="en-US" sz="900"/>
                  <a:t>续保</a:t>
                </a:r>
                <a:endParaRPr lang="zh-CN" altLang="en-US" sz="900"/>
              </a:p>
            </p:txBody>
          </p:sp>
        </p:grpSp>
        <p:sp>
          <p:nvSpPr>
            <p:cNvPr id="5" name="Rectangle 132"/>
            <p:cNvSpPr>
              <a:spLocks noChangeArrowheads="1"/>
            </p:cNvSpPr>
            <p:nvPr/>
          </p:nvSpPr>
          <p:spPr bwMode="auto">
            <a:xfrm>
              <a:off x="8511390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6" name="Rectangle 112"/>
            <p:cNvSpPr>
              <a:spLocks noChangeArrowheads="1"/>
            </p:cNvSpPr>
            <p:nvPr/>
          </p:nvSpPr>
          <p:spPr bwMode="auto">
            <a:xfrm>
              <a:off x="7606872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7" name="Rectangle 117"/>
            <p:cNvSpPr>
              <a:spLocks noChangeArrowheads="1"/>
            </p:cNvSpPr>
            <p:nvPr/>
          </p:nvSpPr>
          <p:spPr bwMode="auto">
            <a:xfrm>
              <a:off x="7606872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582613" y="1435100"/>
              <a:ext cx="731804" cy="317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82613" y="1752600"/>
              <a:ext cx="731804" cy="1473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战略</a:t>
              </a:r>
              <a:endParaRPr lang="zh-CN" altLang="en-US" sz="1600" b="1">
                <a:solidFill>
                  <a:srgbClr val="FFFFFF"/>
                </a:solidFill>
              </a:endParaRPr>
            </a:p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规划</a:t>
              </a:r>
              <a:endParaRPr lang="zh-CN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82613" y="3225800"/>
              <a:ext cx="731804" cy="1473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管理</a:t>
              </a:r>
              <a:endParaRPr lang="zh-CN" altLang="en-US" sz="1600" b="1">
                <a:solidFill>
                  <a:srgbClr val="FFFFFF"/>
                </a:solidFill>
              </a:endParaRPr>
            </a:p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控制</a:t>
              </a:r>
              <a:endParaRPr lang="zh-CN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82613" y="4699000"/>
              <a:ext cx="731804" cy="1473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操作</a:t>
              </a:r>
              <a:endParaRPr lang="zh-CN" altLang="en-US" sz="1600" b="1">
                <a:solidFill>
                  <a:srgbClr val="FFFFFF"/>
                </a:solidFill>
              </a:endParaRPr>
            </a:p>
            <a:p>
              <a:pPr algn="ctr">
                <a:buFontTx/>
                <a:buNone/>
              </a:pPr>
              <a:r>
                <a:rPr lang="zh-CN" altLang="en-US" sz="1600" b="1">
                  <a:solidFill>
                    <a:srgbClr val="FFFFFF"/>
                  </a:solidFill>
                </a:rPr>
                <a:t>执行</a:t>
              </a:r>
              <a:endParaRPr lang="zh-CN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1314417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产品管理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314417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341126" y="1778000"/>
              <a:ext cx="85110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产品组合管理</a:t>
              </a:r>
              <a:endParaRPr lang="zh-CN" altLang="en-US" sz="900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341126" y="2139950"/>
              <a:ext cx="85110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产品计划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和分析</a:t>
              </a:r>
              <a:endParaRPr lang="zh-CN" altLang="en-US" sz="900"/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1341126" y="2501900"/>
              <a:ext cx="85110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品牌管理</a:t>
              </a:r>
              <a:endParaRPr lang="zh-CN" altLang="en-US" sz="900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341126" y="2863850"/>
              <a:ext cx="851102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市场调查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和分析</a:t>
              </a:r>
              <a:endParaRPr lang="zh-CN" altLang="en-US" sz="900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314417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1341126" y="3251200"/>
              <a:ext cx="851102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产品需求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管理</a:t>
              </a:r>
              <a:endParaRPr lang="zh-CN" altLang="en-US" sz="900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1341126" y="3975100"/>
              <a:ext cx="851102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产品经济学和收益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 </a:t>
              </a:r>
              <a:r>
                <a:rPr lang="en-US" altLang="zh-CN" sz="900"/>
                <a:t>(</a:t>
              </a:r>
              <a:r>
                <a:rPr lang="zh-CN" altLang="en-US" sz="900"/>
                <a:t>包括精算定价</a:t>
              </a:r>
              <a:r>
                <a:rPr lang="en-US" altLang="zh-CN" sz="900"/>
                <a:t>)</a:t>
              </a:r>
              <a:endParaRPr lang="en-US" altLang="zh-CN" sz="900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314417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341126" y="47244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产品设计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（条款、费率）</a:t>
              </a:r>
              <a:endParaRPr lang="zh-CN" altLang="en-US" sz="900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341126" y="5207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审</a:t>
              </a:r>
              <a:r>
                <a:rPr lang="en-US" altLang="zh-CN" sz="900"/>
                <a:t>/</a:t>
              </a:r>
              <a:r>
                <a:rPr lang="zh-CN" altLang="en-US" sz="900"/>
                <a:t>报批管理</a:t>
              </a:r>
              <a:endParaRPr lang="zh-CN" altLang="en-US" sz="900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341126" y="56896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产品实施</a:t>
              </a:r>
              <a:endParaRPr lang="zh-CN" altLang="en-US" sz="900"/>
            </a:p>
          </p:txBody>
        </p:sp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>
              <a:off x="2215374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营销 </a:t>
              </a:r>
              <a:r>
                <a:rPr lang="en-US" altLang="zh-CN" sz="1050" b="1">
                  <a:solidFill>
                    <a:srgbClr val="FFFFFF"/>
                  </a:solidFill>
                </a:rPr>
                <a:t>/</a:t>
              </a:r>
              <a:endParaRPr lang="en-US" altLang="zh-CN" sz="1050" b="1">
                <a:solidFill>
                  <a:srgbClr val="FFFFFF"/>
                </a:solidFill>
              </a:endParaRPr>
            </a:p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渠道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26" name="Rectangle 38"/>
            <p:cNvSpPr>
              <a:spLocks noChangeArrowheads="1"/>
            </p:cNvSpPr>
            <p:nvPr/>
          </p:nvSpPr>
          <p:spPr bwMode="auto">
            <a:xfrm>
              <a:off x="2215374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27" name="Rectangle 39"/>
            <p:cNvSpPr>
              <a:spLocks noChangeArrowheads="1"/>
            </p:cNvSpPr>
            <p:nvPr/>
          </p:nvSpPr>
          <p:spPr bwMode="auto">
            <a:xfrm>
              <a:off x="2242083" y="1778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渠道关系管理策略</a:t>
              </a:r>
              <a:endParaRPr lang="zh-CN" altLang="en-US" sz="900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2242083" y="22606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渠道细分战略和规划</a:t>
              </a:r>
              <a:endParaRPr lang="zh-CN" altLang="en-US" sz="900"/>
            </a:p>
          </p:txBody>
        </p:sp>
        <p:sp>
          <p:nvSpPr>
            <p:cNvPr id="29" name="Rectangle 41"/>
            <p:cNvSpPr>
              <a:spLocks noChangeArrowheads="1"/>
            </p:cNvSpPr>
            <p:nvPr/>
          </p:nvSpPr>
          <p:spPr bwMode="auto">
            <a:xfrm>
              <a:off x="2242083" y="27432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营销活动规划</a:t>
              </a:r>
              <a:endParaRPr lang="zh-CN" altLang="en-US" sz="900"/>
            </a:p>
          </p:txBody>
        </p:sp>
        <p:sp>
          <p:nvSpPr>
            <p:cNvPr id="30" name="Rectangle 42"/>
            <p:cNvSpPr>
              <a:spLocks noChangeArrowheads="1"/>
            </p:cNvSpPr>
            <p:nvPr/>
          </p:nvSpPr>
          <p:spPr bwMode="auto">
            <a:xfrm>
              <a:off x="2215374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31" name="Rectangle 43"/>
            <p:cNvSpPr>
              <a:spLocks noChangeArrowheads="1"/>
            </p:cNvSpPr>
            <p:nvPr/>
          </p:nvSpPr>
          <p:spPr bwMode="auto">
            <a:xfrm>
              <a:off x="2236741" y="3259138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渠道管理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en-US" altLang="zh-CN" sz="900"/>
                <a:t>(</a:t>
              </a:r>
              <a:r>
                <a:rPr lang="zh-CN" altLang="en-US" sz="900"/>
                <a:t>计划和考核</a:t>
              </a:r>
              <a:r>
                <a:rPr lang="en-US" altLang="zh-CN" sz="900"/>
                <a:t>)</a:t>
              </a:r>
              <a:endParaRPr lang="en-US" altLang="zh-CN" sz="900"/>
            </a:p>
          </p:txBody>
        </p:sp>
        <p:sp>
          <p:nvSpPr>
            <p:cNvPr id="32" name="Rectangle 44"/>
            <p:cNvSpPr>
              <a:spLocks noChangeArrowheads="1"/>
            </p:cNvSpPr>
            <p:nvPr/>
          </p:nvSpPr>
          <p:spPr bwMode="auto">
            <a:xfrm>
              <a:off x="2242083" y="3743325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营销活动管理</a:t>
              </a:r>
              <a:endParaRPr lang="zh-CN" altLang="en-US" sz="900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2242083" y="42164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协商费率</a:t>
              </a:r>
              <a:endParaRPr lang="zh-CN" altLang="en-US" sz="900"/>
            </a:p>
          </p:txBody>
        </p:sp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2215374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35" name="Rectangle 47"/>
            <p:cNvSpPr>
              <a:spLocks noChangeArrowheads="1"/>
            </p:cNvSpPr>
            <p:nvPr/>
          </p:nvSpPr>
          <p:spPr bwMode="auto">
            <a:xfrm>
              <a:off x="2242083" y="4724400"/>
              <a:ext cx="851102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渠道支持</a:t>
              </a:r>
              <a:endParaRPr lang="zh-CN" altLang="en-US" sz="900"/>
            </a:p>
          </p:txBody>
        </p:sp>
        <p:sp>
          <p:nvSpPr>
            <p:cNvPr id="36" name="Rectangle 48"/>
            <p:cNvSpPr>
              <a:spLocks noChangeArrowheads="1"/>
            </p:cNvSpPr>
            <p:nvPr/>
          </p:nvSpPr>
          <p:spPr bwMode="auto">
            <a:xfrm>
              <a:off x="2242083" y="4930775"/>
              <a:ext cx="851102" cy="1825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渠道信息</a:t>
              </a:r>
              <a:endParaRPr lang="zh-CN" altLang="en-US" sz="900"/>
            </a:p>
          </p:txBody>
        </p:sp>
        <p:sp>
          <p:nvSpPr>
            <p:cNvPr id="37" name="Rectangle 49"/>
            <p:cNvSpPr>
              <a:spLocks noChangeArrowheads="1"/>
            </p:cNvSpPr>
            <p:nvPr/>
          </p:nvSpPr>
          <p:spPr bwMode="auto">
            <a:xfrm>
              <a:off x="2242083" y="5138738"/>
              <a:ext cx="851102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营销活动执行</a:t>
              </a:r>
              <a:endParaRPr lang="zh-CN" altLang="en-US" sz="900"/>
            </a:p>
          </p:txBody>
        </p:sp>
        <p:sp>
          <p:nvSpPr>
            <p:cNvPr id="38" name="Rectangle 50"/>
            <p:cNvSpPr>
              <a:spLocks noChangeArrowheads="1"/>
            </p:cNvSpPr>
            <p:nvPr/>
          </p:nvSpPr>
          <p:spPr bwMode="auto">
            <a:xfrm>
              <a:off x="2242083" y="5345113"/>
              <a:ext cx="851102" cy="3762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销售推动</a:t>
              </a:r>
              <a:endParaRPr lang="zh-CN" altLang="en-US" sz="900"/>
            </a:p>
          </p:txBody>
        </p:sp>
        <p:sp>
          <p:nvSpPr>
            <p:cNvPr id="39" name="Rectangle 52"/>
            <p:cNvSpPr>
              <a:spLocks noChangeArrowheads="1"/>
            </p:cNvSpPr>
            <p:nvPr/>
          </p:nvSpPr>
          <p:spPr bwMode="auto">
            <a:xfrm>
              <a:off x="2242083" y="5738813"/>
              <a:ext cx="851102" cy="2079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代理佣金</a:t>
              </a:r>
              <a:endParaRPr lang="zh-CN" altLang="en-US" sz="900"/>
            </a:p>
          </p:txBody>
        </p:sp>
        <p:sp>
          <p:nvSpPr>
            <p:cNvPr id="40" name="Rectangle 53"/>
            <p:cNvSpPr>
              <a:spLocks noChangeArrowheads="1"/>
            </p:cNvSpPr>
            <p:nvPr/>
          </p:nvSpPr>
          <p:spPr bwMode="auto">
            <a:xfrm>
              <a:off x="2242083" y="5965825"/>
              <a:ext cx="851102" cy="1809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渠道培训</a:t>
              </a:r>
              <a:endParaRPr lang="zh-CN" altLang="en-US" sz="900"/>
            </a:p>
          </p:txBody>
        </p:sp>
        <p:sp>
          <p:nvSpPr>
            <p:cNvPr id="41" name="Rectangle 54"/>
            <p:cNvSpPr>
              <a:spLocks noChangeArrowheads="1"/>
            </p:cNvSpPr>
            <p:nvPr/>
          </p:nvSpPr>
          <p:spPr bwMode="auto">
            <a:xfrm>
              <a:off x="5796056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保单服务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42" name="Rectangle 55"/>
            <p:cNvSpPr>
              <a:spLocks noChangeArrowheads="1"/>
            </p:cNvSpPr>
            <p:nvPr/>
          </p:nvSpPr>
          <p:spPr bwMode="auto">
            <a:xfrm>
              <a:off x="5796056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43" name="Rectangle 56"/>
            <p:cNvSpPr>
              <a:spLocks noChangeArrowheads="1"/>
            </p:cNvSpPr>
            <p:nvPr/>
          </p:nvSpPr>
          <p:spPr bwMode="auto">
            <a:xfrm>
              <a:off x="5815641" y="1778000"/>
              <a:ext cx="858224" cy="14224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保单管理战略和规划</a:t>
              </a:r>
              <a:endParaRPr lang="zh-CN" altLang="en-US" sz="600"/>
            </a:p>
          </p:txBody>
        </p:sp>
        <p:sp>
          <p:nvSpPr>
            <p:cNvPr id="44" name="Rectangle 57"/>
            <p:cNvSpPr>
              <a:spLocks noChangeArrowheads="1"/>
            </p:cNvSpPr>
            <p:nvPr/>
          </p:nvSpPr>
          <p:spPr bwMode="auto">
            <a:xfrm>
              <a:off x="5796056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45" name="Rectangle 58"/>
            <p:cNvSpPr>
              <a:spLocks noChangeArrowheads="1"/>
            </p:cNvSpPr>
            <p:nvPr/>
          </p:nvSpPr>
          <p:spPr bwMode="auto">
            <a:xfrm>
              <a:off x="5822763" y="3251200"/>
              <a:ext cx="851102" cy="4524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保单服务管理</a:t>
              </a:r>
              <a:endParaRPr lang="zh-CN" altLang="en-US" sz="900"/>
            </a:p>
          </p:txBody>
        </p:sp>
        <p:sp>
          <p:nvSpPr>
            <p:cNvPr id="46" name="Rectangle 59"/>
            <p:cNvSpPr>
              <a:spLocks noChangeArrowheads="1"/>
            </p:cNvSpPr>
            <p:nvPr/>
          </p:nvSpPr>
          <p:spPr bwMode="auto">
            <a:xfrm>
              <a:off x="5822763" y="37338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保单处理服务</a:t>
              </a:r>
              <a:endParaRPr lang="zh-CN" altLang="en-US" sz="900"/>
            </a:p>
            <a:p>
              <a:pPr algn="ctr"/>
              <a:r>
                <a:rPr lang="zh-CN" altLang="en-US" sz="900"/>
                <a:t>水平管理</a:t>
              </a:r>
              <a:endParaRPr lang="zh-CN" altLang="en-US" sz="900"/>
            </a:p>
          </p:txBody>
        </p:sp>
        <p:sp>
          <p:nvSpPr>
            <p:cNvPr id="47" name="Rectangle 60"/>
            <p:cNvSpPr>
              <a:spLocks noChangeArrowheads="1"/>
            </p:cNvSpPr>
            <p:nvPr/>
          </p:nvSpPr>
          <p:spPr bwMode="auto">
            <a:xfrm>
              <a:off x="5822763" y="42164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增值服务管理</a:t>
              </a:r>
              <a:endParaRPr lang="zh-CN" altLang="en-US" sz="900"/>
            </a:p>
          </p:txBody>
        </p:sp>
        <p:sp>
          <p:nvSpPr>
            <p:cNvPr id="48" name="Rectangle 61"/>
            <p:cNvSpPr>
              <a:spLocks noChangeArrowheads="1"/>
            </p:cNvSpPr>
            <p:nvPr/>
          </p:nvSpPr>
          <p:spPr bwMode="auto">
            <a:xfrm>
              <a:off x="5796056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49" name="Rectangle 62"/>
            <p:cNvSpPr>
              <a:spLocks noChangeArrowheads="1"/>
            </p:cNvSpPr>
            <p:nvPr/>
          </p:nvSpPr>
          <p:spPr bwMode="auto">
            <a:xfrm>
              <a:off x="5822763" y="4724400"/>
              <a:ext cx="851102" cy="4714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保单服务操作</a:t>
              </a:r>
              <a:endParaRPr lang="zh-CN" altLang="en-US" sz="900"/>
            </a:p>
          </p:txBody>
        </p:sp>
        <p:sp>
          <p:nvSpPr>
            <p:cNvPr id="50" name="Rectangle 63"/>
            <p:cNvSpPr>
              <a:spLocks noChangeArrowheads="1"/>
            </p:cNvSpPr>
            <p:nvPr/>
          </p:nvSpPr>
          <p:spPr bwMode="auto">
            <a:xfrm>
              <a:off x="5822763" y="5233988"/>
              <a:ext cx="851102" cy="4603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增值服务提供</a:t>
              </a:r>
              <a:endParaRPr lang="zh-CN" altLang="en-US" sz="900"/>
            </a:p>
          </p:txBody>
        </p:sp>
        <p:sp>
          <p:nvSpPr>
            <p:cNvPr id="51" name="Rectangle 65"/>
            <p:cNvSpPr>
              <a:spLocks noChangeArrowheads="1"/>
            </p:cNvSpPr>
            <p:nvPr/>
          </p:nvSpPr>
          <p:spPr bwMode="auto">
            <a:xfrm>
              <a:off x="5822763" y="5734050"/>
              <a:ext cx="851102" cy="4127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内容管理</a:t>
              </a:r>
              <a:endParaRPr lang="zh-CN" altLang="en-US" sz="900"/>
            </a:p>
          </p:txBody>
        </p:sp>
        <p:sp>
          <p:nvSpPr>
            <p:cNvPr id="52" name="Rectangle 82"/>
            <p:cNvSpPr>
              <a:spLocks noChangeArrowheads="1"/>
            </p:cNvSpPr>
            <p:nvPr/>
          </p:nvSpPr>
          <p:spPr bwMode="auto">
            <a:xfrm>
              <a:off x="6702354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理赔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53" name="Rectangle 83"/>
            <p:cNvSpPr>
              <a:spLocks noChangeArrowheads="1"/>
            </p:cNvSpPr>
            <p:nvPr/>
          </p:nvSpPr>
          <p:spPr bwMode="auto">
            <a:xfrm>
              <a:off x="6702354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54" name="Rectangle 84"/>
            <p:cNvSpPr>
              <a:spLocks noChangeArrowheads="1"/>
            </p:cNvSpPr>
            <p:nvPr/>
          </p:nvSpPr>
          <p:spPr bwMode="auto">
            <a:xfrm>
              <a:off x="6727281" y="1778000"/>
              <a:ext cx="852883" cy="14224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理赔战略</a:t>
              </a:r>
              <a:endParaRPr lang="zh-CN" altLang="en-US" sz="900"/>
            </a:p>
          </p:txBody>
        </p:sp>
        <p:sp>
          <p:nvSpPr>
            <p:cNvPr id="55" name="Rectangle 85"/>
            <p:cNvSpPr>
              <a:spLocks noChangeArrowheads="1"/>
            </p:cNvSpPr>
            <p:nvPr/>
          </p:nvSpPr>
          <p:spPr bwMode="auto">
            <a:xfrm>
              <a:off x="6702354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56" name="Rectangle 86"/>
            <p:cNvSpPr>
              <a:spLocks noChangeArrowheads="1"/>
            </p:cNvSpPr>
            <p:nvPr/>
          </p:nvSpPr>
          <p:spPr bwMode="auto">
            <a:xfrm>
              <a:off x="6727281" y="3251200"/>
              <a:ext cx="852883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潜在</a:t>
              </a:r>
              <a:r>
                <a:rPr lang="en-US" altLang="zh-CN" sz="900"/>
                <a:t>/</a:t>
              </a:r>
              <a:r>
                <a:rPr lang="zh-CN" altLang="en-US" sz="900"/>
                <a:t>实际损失准备金管理</a:t>
              </a:r>
              <a:endParaRPr lang="zh-CN" altLang="en-US" sz="900"/>
            </a:p>
          </p:txBody>
        </p:sp>
        <p:sp>
          <p:nvSpPr>
            <p:cNvPr id="57" name="Rectangle 87"/>
            <p:cNvSpPr>
              <a:spLocks noChangeArrowheads="1"/>
            </p:cNvSpPr>
            <p:nvPr/>
          </p:nvSpPr>
          <p:spPr bwMode="auto">
            <a:xfrm>
              <a:off x="6727281" y="3729038"/>
              <a:ext cx="852883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理赔管理</a:t>
              </a:r>
              <a:endParaRPr lang="zh-CN" altLang="en-US" sz="900"/>
            </a:p>
          </p:txBody>
        </p:sp>
        <p:sp>
          <p:nvSpPr>
            <p:cNvPr id="58" name="Rectangle 88"/>
            <p:cNvSpPr>
              <a:spLocks noChangeArrowheads="1"/>
            </p:cNvSpPr>
            <p:nvPr/>
          </p:nvSpPr>
          <p:spPr bwMode="auto">
            <a:xfrm>
              <a:off x="6727281" y="4219575"/>
              <a:ext cx="852883" cy="4524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诉讼管理</a:t>
              </a:r>
              <a:endParaRPr lang="zh-CN" altLang="en-US" sz="900"/>
            </a:p>
          </p:txBody>
        </p:sp>
        <p:sp>
          <p:nvSpPr>
            <p:cNvPr id="59" name="Rectangle 90"/>
            <p:cNvSpPr>
              <a:spLocks noChangeArrowheads="1"/>
            </p:cNvSpPr>
            <p:nvPr/>
          </p:nvSpPr>
          <p:spPr bwMode="auto">
            <a:xfrm>
              <a:off x="6702354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60" name="Rectangle 91"/>
            <p:cNvSpPr>
              <a:spLocks noChangeArrowheads="1"/>
            </p:cNvSpPr>
            <p:nvPr/>
          </p:nvSpPr>
          <p:spPr bwMode="auto">
            <a:xfrm>
              <a:off x="6727281" y="4724400"/>
              <a:ext cx="852883" cy="263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 dirty="0"/>
                <a:t>接保修</a:t>
              </a:r>
              <a:endParaRPr lang="zh-CN" altLang="en-US" sz="900" dirty="0"/>
            </a:p>
          </p:txBody>
        </p:sp>
        <p:sp>
          <p:nvSpPr>
            <p:cNvPr id="61" name="Rectangle 92"/>
            <p:cNvSpPr>
              <a:spLocks noChangeArrowheads="1"/>
            </p:cNvSpPr>
            <p:nvPr/>
          </p:nvSpPr>
          <p:spPr bwMode="auto">
            <a:xfrm>
              <a:off x="6727281" y="5013325"/>
              <a:ext cx="852883" cy="2651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查勘定损</a:t>
              </a:r>
              <a:endParaRPr lang="zh-CN" altLang="en-US" sz="900"/>
            </a:p>
          </p:txBody>
        </p:sp>
        <p:sp>
          <p:nvSpPr>
            <p:cNvPr id="62" name="Rectangle 93"/>
            <p:cNvSpPr>
              <a:spLocks noChangeArrowheads="1"/>
            </p:cNvSpPr>
            <p:nvPr/>
          </p:nvSpPr>
          <p:spPr bwMode="auto">
            <a:xfrm>
              <a:off x="6727281" y="5303838"/>
              <a:ext cx="852883" cy="263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赔案后台处理</a:t>
              </a:r>
              <a:endParaRPr lang="zh-CN" altLang="en-US" sz="900"/>
            </a:p>
          </p:txBody>
        </p:sp>
        <p:sp>
          <p:nvSpPr>
            <p:cNvPr id="63" name="Rectangle 94"/>
            <p:cNvSpPr>
              <a:spLocks noChangeArrowheads="1"/>
            </p:cNvSpPr>
            <p:nvPr/>
          </p:nvSpPr>
          <p:spPr bwMode="auto">
            <a:xfrm>
              <a:off x="6727281" y="5592763"/>
              <a:ext cx="852883" cy="2651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残值和代位求偿</a:t>
              </a:r>
              <a:endParaRPr lang="zh-CN" altLang="en-US" sz="900"/>
            </a:p>
          </p:txBody>
        </p:sp>
        <p:sp>
          <p:nvSpPr>
            <p:cNvPr id="64" name="Rectangle 95"/>
            <p:cNvSpPr>
              <a:spLocks noChangeArrowheads="1"/>
            </p:cNvSpPr>
            <p:nvPr/>
          </p:nvSpPr>
          <p:spPr bwMode="auto">
            <a:xfrm>
              <a:off x="6727281" y="5883275"/>
              <a:ext cx="852883" cy="263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欺诈调查</a:t>
              </a:r>
              <a:endParaRPr lang="zh-CN" altLang="en-US" sz="900"/>
            </a:p>
          </p:txBody>
        </p:sp>
        <p:sp>
          <p:nvSpPr>
            <p:cNvPr id="65" name="Rectangle 105"/>
            <p:cNvSpPr>
              <a:spLocks noChangeArrowheads="1"/>
            </p:cNvSpPr>
            <p:nvPr/>
          </p:nvSpPr>
          <p:spPr bwMode="auto">
            <a:xfrm>
              <a:off x="7630020" y="5548313"/>
              <a:ext cx="851102" cy="2857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催收</a:t>
              </a:r>
              <a:endParaRPr lang="zh-CN" altLang="en-US" sz="900"/>
            </a:p>
          </p:txBody>
        </p:sp>
        <p:sp>
          <p:nvSpPr>
            <p:cNvPr id="66" name="Rectangle 106"/>
            <p:cNvSpPr>
              <a:spLocks noChangeArrowheads="1"/>
            </p:cNvSpPr>
            <p:nvPr/>
          </p:nvSpPr>
          <p:spPr bwMode="auto">
            <a:xfrm>
              <a:off x="7630020" y="3900488"/>
              <a:ext cx="851102" cy="24288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现金管理</a:t>
              </a:r>
              <a:endParaRPr lang="zh-CN" altLang="en-US" sz="900"/>
            </a:p>
          </p:txBody>
        </p:sp>
        <p:sp>
          <p:nvSpPr>
            <p:cNvPr id="67" name="Rectangle 107"/>
            <p:cNvSpPr>
              <a:spLocks noChangeArrowheads="1"/>
            </p:cNvSpPr>
            <p:nvPr/>
          </p:nvSpPr>
          <p:spPr bwMode="auto">
            <a:xfrm>
              <a:off x="7606872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财务管理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68" name="Rectangle 108"/>
            <p:cNvSpPr>
              <a:spLocks noChangeArrowheads="1"/>
            </p:cNvSpPr>
            <p:nvPr/>
          </p:nvSpPr>
          <p:spPr bwMode="auto">
            <a:xfrm>
              <a:off x="7606872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69" name="Rectangle 109"/>
            <p:cNvSpPr>
              <a:spLocks noChangeArrowheads="1"/>
            </p:cNvSpPr>
            <p:nvPr/>
          </p:nvSpPr>
          <p:spPr bwMode="auto">
            <a:xfrm>
              <a:off x="7630020" y="1778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财务规定</a:t>
              </a:r>
              <a:endParaRPr lang="zh-CN" altLang="en-US" sz="900"/>
            </a:p>
          </p:txBody>
        </p:sp>
        <p:sp>
          <p:nvSpPr>
            <p:cNvPr id="70" name="Rectangle 110"/>
            <p:cNvSpPr>
              <a:spLocks noChangeArrowheads="1"/>
            </p:cNvSpPr>
            <p:nvPr/>
          </p:nvSpPr>
          <p:spPr bwMode="auto">
            <a:xfrm>
              <a:off x="7630020" y="22606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投资策略</a:t>
              </a:r>
              <a:endParaRPr lang="zh-CN" altLang="en-US" sz="900"/>
            </a:p>
          </p:txBody>
        </p:sp>
        <p:sp>
          <p:nvSpPr>
            <p:cNvPr id="71" name="Rectangle 111"/>
            <p:cNvSpPr>
              <a:spLocks noChangeArrowheads="1"/>
            </p:cNvSpPr>
            <p:nvPr/>
          </p:nvSpPr>
          <p:spPr bwMode="auto">
            <a:xfrm>
              <a:off x="7630020" y="27432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财务计划和预算</a:t>
              </a:r>
              <a:endParaRPr lang="zh-CN" altLang="en-US" sz="900"/>
            </a:p>
          </p:txBody>
        </p:sp>
        <p:sp>
          <p:nvSpPr>
            <p:cNvPr id="72" name="Rectangle 113"/>
            <p:cNvSpPr>
              <a:spLocks noChangeArrowheads="1"/>
            </p:cNvSpPr>
            <p:nvPr/>
          </p:nvSpPr>
          <p:spPr bwMode="auto">
            <a:xfrm>
              <a:off x="7630020" y="3251200"/>
              <a:ext cx="851102" cy="2682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资金准备金管理</a:t>
              </a:r>
              <a:endParaRPr lang="zh-CN" altLang="en-US" sz="900"/>
            </a:p>
          </p:txBody>
        </p:sp>
        <p:sp>
          <p:nvSpPr>
            <p:cNvPr id="73" name="Rectangle 114"/>
            <p:cNvSpPr>
              <a:spLocks noChangeArrowheads="1"/>
            </p:cNvSpPr>
            <p:nvPr/>
          </p:nvSpPr>
          <p:spPr bwMode="auto">
            <a:xfrm>
              <a:off x="7630020" y="3544888"/>
              <a:ext cx="851102" cy="327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监管合规监控</a:t>
              </a:r>
              <a:endParaRPr lang="zh-CN" altLang="en-US" sz="900"/>
            </a:p>
          </p:txBody>
        </p:sp>
        <p:sp>
          <p:nvSpPr>
            <p:cNvPr id="74" name="Rectangle 115"/>
            <p:cNvSpPr>
              <a:spLocks noChangeArrowheads="1"/>
            </p:cNvSpPr>
            <p:nvPr/>
          </p:nvSpPr>
          <p:spPr bwMode="auto">
            <a:xfrm>
              <a:off x="7630020" y="4171950"/>
              <a:ext cx="851102" cy="2333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资产组合</a:t>
              </a:r>
              <a:r>
                <a:rPr lang="en-US" altLang="zh-CN" sz="900"/>
                <a:t>/</a:t>
              </a:r>
              <a:endParaRPr lang="en-US" altLang="zh-CN" sz="900"/>
            </a:p>
            <a:p>
              <a:pPr algn="ctr">
                <a:buFontTx/>
                <a:buNone/>
              </a:pPr>
              <a:r>
                <a:rPr lang="zh-CN" altLang="en-US" sz="900"/>
                <a:t>投资管理</a:t>
              </a:r>
              <a:endParaRPr lang="zh-CN" altLang="en-US" sz="900"/>
            </a:p>
          </p:txBody>
        </p:sp>
        <p:sp>
          <p:nvSpPr>
            <p:cNvPr id="75" name="Rectangle 116"/>
            <p:cNvSpPr>
              <a:spLocks noChangeArrowheads="1"/>
            </p:cNvSpPr>
            <p:nvPr/>
          </p:nvSpPr>
          <p:spPr bwMode="auto">
            <a:xfrm>
              <a:off x="7630020" y="4435475"/>
              <a:ext cx="851102" cy="2381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资本管理</a:t>
              </a:r>
              <a:endParaRPr lang="zh-CN" altLang="en-US" sz="900"/>
            </a:p>
          </p:txBody>
        </p:sp>
        <p:sp>
          <p:nvSpPr>
            <p:cNvPr id="76" name="Rectangle 118"/>
            <p:cNvSpPr>
              <a:spLocks noChangeArrowheads="1"/>
            </p:cNvSpPr>
            <p:nvPr/>
          </p:nvSpPr>
          <p:spPr bwMode="auto">
            <a:xfrm>
              <a:off x="7630020" y="4724400"/>
              <a:ext cx="851102" cy="2825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财务报告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和指标</a:t>
              </a:r>
              <a:endParaRPr lang="zh-CN" altLang="en-US" sz="900"/>
            </a:p>
          </p:txBody>
        </p:sp>
        <p:sp>
          <p:nvSpPr>
            <p:cNvPr id="77" name="Rectangle 119"/>
            <p:cNvSpPr>
              <a:spLocks noChangeArrowheads="1"/>
            </p:cNvSpPr>
            <p:nvPr/>
          </p:nvSpPr>
          <p:spPr bwMode="auto">
            <a:xfrm>
              <a:off x="7630020" y="5864225"/>
              <a:ext cx="851102" cy="2825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投资交易</a:t>
              </a:r>
              <a:endParaRPr lang="zh-CN" altLang="en-US" sz="900"/>
            </a:p>
          </p:txBody>
        </p:sp>
        <p:sp>
          <p:nvSpPr>
            <p:cNvPr id="78" name="Rectangle 120"/>
            <p:cNvSpPr>
              <a:spLocks noChangeArrowheads="1"/>
            </p:cNvSpPr>
            <p:nvPr/>
          </p:nvSpPr>
          <p:spPr bwMode="auto">
            <a:xfrm>
              <a:off x="8511390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企业职能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79" name="Rectangle 121"/>
            <p:cNvSpPr>
              <a:spLocks noChangeArrowheads="1"/>
            </p:cNvSpPr>
            <p:nvPr/>
          </p:nvSpPr>
          <p:spPr bwMode="auto">
            <a:xfrm>
              <a:off x="8511390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80" name="Rectangle 122"/>
            <p:cNvSpPr>
              <a:spLocks noChangeArrowheads="1"/>
            </p:cNvSpPr>
            <p:nvPr/>
          </p:nvSpPr>
          <p:spPr bwMode="auto">
            <a:xfrm>
              <a:off x="8538099" y="1778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业务战略</a:t>
              </a:r>
              <a:endParaRPr lang="zh-CN" altLang="en-US" sz="900"/>
            </a:p>
          </p:txBody>
        </p:sp>
        <p:sp>
          <p:nvSpPr>
            <p:cNvPr id="81" name="Rectangle 123"/>
            <p:cNvSpPr>
              <a:spLocks noChangeArrowheads="1"/>
            </p:cNvSpPr>
            <p:nvPr/>
          </p:nvSpPr>
          <p:spPr bwMode="auto">
            <a:xfrm>
              <a:off x="8538099" y="22606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业务规划和预算</a:t>
              </a:r>
              <a:endParaRPr lang="zh-CN" altLang="en-US" sz="900"/>
            </a:p>
          </p:txBody>
        </p:sp>
        <p:sp>
          <p:nvSpPr>
            <p:cNvPr id="82" name="Rectangle 124"/>
            <p:cNvSpPr>
              <a:spLocks noChangeArrowheads="1"/>
            </p:cNvSpPr>
            <p:nvPr/>
          </p:nvSpPr>
          <p:spPr bwMode="auto">
            <a:xfrm>
              <a:off x="8538099" y="27432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业务规定和程序</a:t>
              </a:r>
              <a:endParaRPr lang="zh-CN" altLang="en-US" sz="900"/>
            </a:p>
          </p:txBody>
        </p:sp>
        <p:sp>
          <p:nvSpPr>
            <p:cNvPr id="83" name="Rectangle 125"/>
            <p:cNvSpPr>
              <a:spLocks noChangeArrowheads="1"/>
            </p:cNvSpPr>
            <p:nvPr/>
          </p:nvSpPr>
          <p:spPr bwMode="auto">
            <a:xfrm>
              <a:off x="8511390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84" name="Rectangle 126"/>
            <p:cNvSpPr>
              <a:spLocks noChangeArrowheads="1"/>
            </p:cNvSpPr>
            <p:nvPr/>
          </p:nvSpPr>
          <p:spPr bwMode="auto">
            <a:xfrm>
              <a:off x="8538099" y="3251200"/>
              <a:ext cx="851102" cy="3286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采购</a:t>
              </a:r>
              <a:r>
                <a:rPr lang="en-US" altLang="zh-CN" sz="900"/>
                <a:t>/</a:t>
              </a:r>
              <a:r>
                <a:rPr lang="zh-CN" altLang="en-US" sz="900"/>
                <a:t>厂商管理</a:t>
              </a:r>
              <a:endParaRPr lang="zh-CN" altLang="en-US" sz="900"/>
            </a:p>
          </p:txBody>
        </p:sp>
        <p:sp>
          <p:nvSpPr>
            <p:cNvPr id="85" name="Rectangle 129"/>
            <p:cNvSpPr>
              <a:spLocks noChangeArrowheads="1"/>
            </p:cNvSpPr>
            <p:nvPr/>
          </p:nvSpPr>
          <p:spPr bwMode="auto">
            <a:xfrm>
              <a:off x="8538099" y="5045075"/>
              <a:ext cx="851102" cy="171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固定资产管理</a:t>
              </a:r>
              <a:endParaRPr lang="zh-CN" altLang="en-US" sz="900"/>
            </a:p>
          </p:txBody>
        </p:sp>
        <p:sp>
          <p:nvSpPr>
            <p:cNvPr id="86" name="Rectangle 131"/>
            <p:cNvSpPr>
              <a:spLocks noChangeArrowheads="1"/>
            </p:cNvSpPr>
            <p:nvPr/>
          </p:nvSpPr>
          <p:spPr bwMode="auto">
            <a:xfrm>
              <a:off x="8538099" y="3603625"/>
              <a:ext cx="851102" cy="4270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审计</a:t>
              </a:r>
              <a:r>
                <a:rPr lang="en-US" altLang="zh-CN" sz="900"/>
                <a:t>/</a:t>
              </a:r>
              <a:endParaRPr lang="en-US" altLang="zh-CN" sz="900"/>
            </a:p>
            <a:p>
              <a:pPr algn="ctr">
                <a:buFontTx/>
                <a:buNone/>
              </a:pPr>
              <a:r>
                <a:rPr lang="zh-CN" altLang="en-US" sz="900"/>
                <a:t>法律合规</a:t>
              </a:r>
              <a:endParaRPr lang="zh-CN" altLang="en-US" sz="900"/>
            </a:p>
          </p:txBody>
        </p:sp>
        <p:sp>
          <p:nvSpPr>
            <p:cNvPr id="87" name="Rectangle 133"/>
            <p:cNvSpPr>
              <a:spLocks noChangeArrowheads="1"/>
            </p:cNvSpPr>
            <p:nvPr/>
          </p:nvSpPr>
          <p:spPr bwMode="auto">
            <a:xfrm>
              <a:off x="8538099" y="4727575"/>
              <a:ext cx="851102" cy="2936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财务</a:t>
              </a:r>
              <a:r>
                <a:rPr lang="en-US" altLang="zh-CN" sz="900"/>
                <a:t>(</a:t>
              </a:r>
              <a:r>
                <a:rPr lang="zh-CN" altLang="en-US" sz="900"/>
                <a:t>应收</a:t>
              </a:r>
              <a:r>
                <a:rPr lang="en-US" altLang="zh-CN" sz="900"/>
                <a:t>/</a:t>
              </a:r>
              <a:r>
                <a:rPr lang="zh-CN" altLang="en-US" sz="900"/>
                <a:t>应付</a:t>
              </a:r>
              <a:r>
                <a:rPr lang="en-US" altLang="zh-CN" sz="900"/>
                <a:t>/</a:t>
              </a:r>
              <a:r>
                <a:rPr lang="zh-CN" altLang="en-US" sz="900"/>
                <a:t>总帐</a:t>
              </a:r>
              <a:r>
                <a:rPr lang="en-US" altLang="zh-CN" sz="900"/>
                <a:t>/</a:t>
              </a:r>
              <a:r>
                <a:rPr lang="zh-CN" altLang="en-US" sz="900"/>
                <a:t>税务</a:t>
              </a:r>
              <a:r>
                <a:rPr lang="en-US" altLang="zh-CN" sz="900"/>
                <a:t>)</a:t>
              </a:r>
              <a:endParaRPr lang="en-US" altLang="zh-CN" sz="900"/>
            </a:p>
          </p:txBody>
        </p:sp>
        <p:sp>
          <p:nvSpPr>
            <p:cNvPr id="88" name="Rectangle 136"/>
            <p:cNvSpPr>
              <a:spLocks noChangeArrowheads="1"/>
            </p:cNvSpPr>
            <p:nvPr/>
          </p:nvSpPr>
          <p:spPr bwMode="auto">
            <a:xfrm>
              <a:off x="8538099" y="5241925"/>
              <a:ext cx="851102" cy="2365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应用系统开发和维护</a:t>
              </a:r>
              <a:endParaRPr lang="zh-CN" altLang="en-US" sz="900"/>
            </a:p>
          </p:txBody>
        </p:sp>
        <p:sp>
          <p:nvSpPr>
            <p:cNvPr id="89" name="Rectangle 137"/>
            <p:cNvSpPr>
              <a:spLocks noChangeArrowheads="1"/>
            </p:cNvSpPr>
            <p:nvPr/>
          </p:nvSpPr>
          <p:spPr bwMode="auto">
            <a:xfrm>
              <a:off x="8538099" y="5778500"/>
              <a:ext cx="851102" cy="2079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700"/>
                <a:t>人力资源（薪酬、福利、招聘、绩效）</a:t>
              </a:r>
              <a:endParaRPr lang="zh-CN" altLang="en-US" sz="700"/>
            </a:p>
          </p:txBody>
        </p:sp>
        <p:sp>
          <p:nvSpPr>
            <p:cNvPr id="90" name="Rectangle 138"/>
            <p:cNvSpPr>
              <a:spLocks noChangeArrowheads="1"/>
            </p:cNvSpPr>
            <p:nvPr/>
          </p:nvSpPr>
          <p:spPr bwMode="auto">
            <a:xfrm>
              <a:off x="8538099" y="5497513"/>
              <a:ext cx="851102" cy="2619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900"/>
                <a:t>IT</a:t>
              </a:r>
              <a:r>
                <a:rPr lang="zh-CN" altLang="en-US" sz="900"/>
                <a:t>设施维护和运行</a:t>
              </a:r>
              <a:endParaRPr lang="zh-CN" altLang="en-US" sz="900"/>
            </a:p>
          </p:txBody>
        </p:sp>
        <p:sp>
          <p:nvSpPr>
            <p:cNvPr id="91" name="Rectangle 139"/>
            <p:cNvSpPr>
              <a:spLocks noChangeArrowheads="1"/>
            </p:cNvSpPr>
            <p:nvPr/>
          </p:nvSpPr>
          <p:spPr bwMode="auto">
            <a:xfrm>
              <a:off x="8538099" y="4056063"/>
              <a:ext cx="851102" cy="330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公共关系</a:t>
              </a:r>
              <a:endParaRPr lang="zh-CN" altLang="en-US" sz="900"/>
            </a:p>
          </p:txBody>
        </p:sp>
        <p:sp>
          <p:nvSpPr>
            <p:cNvPr id="92" name="Rectangle 140"/>
            <p:cNvSpPr>
              <a:spLocks noChangeArrowheads="1"/>
            </p:cNvSpPr>
            <p:nvPr/>
          </p:nvSpPr>
          <p:spPr bwMode="auto">
            <a:xfrm>
              <a:off x="8538099" y="4413250"/>
              <a:ext cx="851102" cy="2698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安全管理</a:t>
              </a:r>
              <a:endParaRPr lang="zh-CN" altLang="en-US" sz="900"/>
            </a:p>
          </p:txBody>
        </p:sp>
        <p:sp>
          <p:nvSpPr>
            <p:cNvPr id="93" name="Rectangle 141"/>
            <p:cNvSpPr>
              <a:spLocks noChangeArrowheads="1"/>
            </p:cNvSpPr>
            <p:nvPr/>
          </p:nvSpPr>
          <p:spPr bwMode="auto">
            <a:xfrm>
              <a:off x="8538099" y="6011863"/>
              <a:ext cx="851102" cy="1349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700"/>
                <a:t>培训和知识管理</a:t>
              </a:r>
              <a:endParaRPr lang="zh-CN" altLang="en-US" sz="700"/>
            </a:p>
          </p:txBody>
        </p:sp>
        <p:sp>
          <p:nvSpPr>
            <p:cNvPr id="94" name="Rectangle 67"/>
            <p:cNvSpPr>
              <a:spLocks noChangeArrowheads="1"/>
            </p:cNvSpPr>
            <p:nvPr/>
          </p:nvSpPr>
          <p:spPr bwMode="auto">
            <a:xfrm>
              <a:off x="4895099" y="1435100"/>
              <a:ext cx="90629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客户</a:t>
              </a:r>
              <a:r>
                <a:rPr lang="en-US" altLang="zh-CN" sz="1050" b="1">
                  <a:solidFill>
                    <a:srgbClr val="FFFFFF"/>
                  </a:solidFill>
                </a:rPr>
                <a:t>/</a:t>
              </a:r>
              <a:r>
                <a:rPr lang="zh-CN" altLang="en-US" sz="1050" b="1">
                  <a:solidFill>
                    <a:srgbClr val="FFFFFF"/>
                  </a:solidFill>
                </a:rPr>
                <a:t>伙伴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95" name="Rectangle 68"/>
            <p:cNvSpPr>
              <a:spLocks noChangeArrowheads="1"/>
            </p:cNvSpPr>
            <p:nvPr/>
          </p:nvSpPr>
          <p:spPr bwMode="auto">
            <a:xfrm>
              <a:off x="4895099" y="1752600"/>
              <a:ext cx="90629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96" name="Rectangle 69"/>
            <p:cNvSpPr>
              <a:spLocks noChangeArrowheads="1"/>
            </p:cNvSpPr>
            <p:nvPr/>
          </p:nvSpPr>
          <p:spPr bwMode="auto">
            <a:xfrm>
              <a:off x="4936051" y="1778000"/>
              <a:ext cx="838638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客户关系管理战略</a:t>
              </a:r>
              <a:endParaRPr lang="zh-CN" altLang="en-US" sz="900"/>
            </a:p>
          </p:txBody>
        </p:sp>
        <p:sp>
          <p:nvSpPr>
            <p:cNvPr id="97" name="Rectangle 70"/>
            <p:cNvSpPr>
              <a:spLocks noChangeArrowheads="1"/>
            </p:cNvSpPr>
            <p:nvPr/>
          </p:nvSpPr>
          <p:spPr bwMode="auto">
            <a:xfrm>
              <a:off x="4936051" y="2501900"/>
              <a:ext cx="838638" cy="698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客户细分战略和规划</a:t>
              </a:r>
              <a:endParaRPr lang="zh-CN" altLang="en-US" sz="900"/>
            </a:p>
          </p:txBody>
        </p:sp>
        <p:sp>
          <p:nvSpPr>
            <p:cNvPr id="98" name="Rectangle 71"/>
            <p:cNvSpPr>
              <a:spLocks noChangeArrowheads="1"/>
            </p:cNvSpPr>
            <p:nvPr/>
          </p:nvSpPr>
          <p:spPr bwMode="auto">
            <a:xfrm>
              <a:off x="4895099" y="3225800"/>
              <a:ext cx="90629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99" name="Rectangle 72"/>
            <p:cNvSpPr>
              <a:spLocks noChangeArrowheads="1"/>
            </p:cNvSpPr>
            <p:nvPr/>
          </p:nvSpPr>
          <p:spPr bwMode="auto">
            <a:xfrm>
              <a:off x="4936051" y="3251200"/>
              <a:ext cx="838638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客户满意度</a:t>
              </a:r>
              <a:endParaRPr lang="zh-CN" altLang="en-US" sz="900"/>
            </a:p>
            <a:p>
              <a:pPr algn="ctr"/>
              <a:r>
                <a:rPr lang="zh-CN" altLang="en-US" sz="900"/>
                <a:t>管理</a:t>
              </a:r>
              <a:endParaRPr lang="zh-CN" altLang="en-US" sz="900"/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4946734" y="3613150"/>
              <a:ext cx="827955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客户利润</a:t>
              </a:r>
              <a:endParaRPr lang="zh-CN" altLang="en-US" sz="900"/>
            </a:p>
            <a:p>
              <a:pPr algn="ctr"/>
              <a:r>
                <a:rPr lang="zh-CN" altLang="en-US" sz="900"/>
                <a:t>分析</a:t>
              </a:r>
              <a:endParaRPr lang="zh-CN" altLang="en-US" sz="900"/>
            </a:p>
          </p:txBody>
        </p:sp>
        <p:sp>
          <p:nvSpPr>
            <p:cNvPr id="101" name="Rectangle 74"/>
            <p:cNvSpPr>
              <a:spLocks noChangeArrowheads="1"/>
            </p:cNvSpPr>
            <p:nvPr/>
          </p:nvSpPr>
          <p:spPr bwMode="auto">
            <a:xfrm>
              <a:off x="4946734" y="3975100"/>
              <a:ext cx="827955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客户接触管理</a:t>
              </a:r>
              <a:r>
                <a:rPr lang="fr-FR" altLang="zh-CN" sz="900"/>
                <a:t>(</a:t>
              </a:r>
              <a:r>
                <a:rPr lang="zh-CN" altLang="en-US" sz="900"/>
                <a:t>沟通管理</a:t>
              </a:r>
              <a:r>
                <a:rPr lang="fr-FR" altLang="zh-CN" sz="900"/>
                <a:t>)</a:t>
              </a:r>
              <a:endParaRPr lang="en-US" altLang="zh-CN" sz="900"/>
            </a:p>
          </p:txBody>
        </p:sp>
        <p:sp>
          <p:nvSpPr>
            <p:cNvPr id="102" name="Rectangle 75"/>
            <p:cNvSpPr>
              <a:spLocks noChangeArrowheads="1"/>
            </p:cNvSpPr>
            <p:nvPr/>
          </p:nvSpPr>
          <p:spPr bwMode="auto">
            <a:xfrm>
              <a:off x="4946734" y="4337050"/>
              <a:ext cx="827955" cy="3365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服务效能管理</a:t>
              </a:r>
              <a:endParaRPr lang="zh-CN" altLang="en-US" sz="900"/>
            </a:p>
          </p:txBody>
        </p:sp>
        <p:sp>
          <p:nvSpPr>
            <p:cNvPr id="103" name="Rectangle 76"/>
            <p:cNvSpPr>
              <a:spLocks noChangeArrowheads="1"/>
            </p:cNvSpPr>
            <p:nvPr/>
          </p:nvSpPr>
          <p:spPr bwMode="auto">
            <a:xfrm>
              <a:off x="4895099" y="4699000"/>
              <a:ext cx="90629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04" name="Rectangle 77"/>
            <p:cNvSpPr>
              <a:spLocks noChangeArrowheads="1"/>
            </p:cNvSpPr>
            <p:nvPr/>
          </p:nvSpPr>
          <p:spPr bwMode="auto">
            <a:xfrm>
              <a:off x="4936051" y="4724400"/>
              <a:ext cx="838638" cy="3476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客户 </a:t>
              </a:r>
              <a:r>
                <a:rPr lang="en-US" altLang="zh-CN" sz="900"/>
                <a:t>/ </a:t>
              </a:r>
              <a:r>
                <a:rPr lang="zh-CN" altLang="en-US" sz="900"/>
                <a:t>伙伴</a:t>
              </a:r>
              <a:endParaRPr lang="zh-CN" altLang="en-US" sz="900"/>
            </a:p>
            <a:p>
              <a:pPr algn="ctr"/>
              <a:r>
                <a:rPr lang="zh-CN" altLang="en-US" sz="900"/>
                <a:t>信息操作</a:t>
              </a:r>
              <a:endParaRPr lang="zh-CN" altLang="en-US" sz="900"/>
            </a:p>
          </p:txBody>
        </p:sp>
        <p:sp>
          <p:nvSpPr>
            <p:cNvPr id="105" name="Rectangle 80"/>
            <p:cNvSpPr>
              <a:spLocks noChangeArrowheads="1"/>
            </p:cNvSpPr>
            <p:nvPr/>
          </p:nvSpPr>
          <p:spPr bwMode="auto">
            <a:xfrm>
              <a:off x="4936051" y="5111750"/>
              <a:ext cx="838638" cy="5175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客户接触点服务 </a:t>
              </a:r>
              <a:endParaRPr lang="zh-CN" altLang="en-US" sz="900"/>
            </a:p>
            <a:p>
              <a:pPr algn="ctr"/>
              <a:r>
                <a:rPr lang="en-US" altLang="zh-CN" sz="900"/>
                <a:t>(</a:t>
              </a:r>
              <a:r>
                <a:rPr lang="zh-CN" altLang="en-US" sz="900"/>
                <a:t>柜台、电话、</a:t>
              </a:r>
              <a:r>
                <a:rPr lang="en-US" altLang="zh-CN" sz="900"/>
                <a:t>fax</a:t>
              </a:r>
              <a:r>
                <a:rPr lang="zh-CN" altLang="en-US" sz="900"/>
                <a:t>、</a:t>
              </a:r>
              <a:r>
                <a:rPr lang="en-US" altLang="zh-CN" sz="900"/>
                <a:t>web)</a:t>
              </a:r>
              <a:endParaRPr lang="en-US" altLang="zh-CN" sz="900"/>
            </a:p>
          </p:txBody>
        </p:sp>
        <p:sp>
          <p:nvSpPr>
            <p:cNvPr id="106" name="Rectangle 81"/>
            <p:cNvSpPr>
              <a:spLocks noChangeArrowheads="1"/>
            </p:cNvSpPr>
            <p:nvPr/>
          </p:nvSpPr>
          <p:spPr bwMode="auto">
            <a:xfrm>
              <a:off x="4936051" y="5664200"/>
              <a:ext cx="838638" cy="4826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邮件管理</a:t>
              </a:r>
              <a:endParaRPr lang="zh-CN" altLang="en-US" sz="900"/>
            </a:p>
            <a:p>
              <a:pPr algn="ctr"/>
              <a:r>
                <a:rPr lang="en-US" altLang="zh-CN" sz="900"/>
                <a:t>(</a:t>
              </a:r>
              <a:r>
                <a:rPr lang="zh-CN" altLang="en-US" sz="900"/>
                <a:t>纸质、电子等</a:t>
              </a:r>
              <a:r>
                <a:rPr lang="en-US" altLang="zh-CN" sz="900"/>
                <a:t>)</a:t>
              </a:r>
              <a:endParaRPr lang="en-US" altLang="zh-CN" sz="900"/>
            </a:p>
          </p:txBody>
        </p:sp>
        <p:sp>
          <p:nvSpPr>
            <p:cNvPr id="107" name="Rectangle 21"/>
            <p:cNvSpPr>
              <a:spLocks noChangeArrowheads="1"/>
            </p:cNvSpPr>
            <p:nvPr/>
          </p:nvSpPr>
          <p:spPr bwMode="auto">
            <a:xfrm>
              <a:off x="3112770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风险管理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108" name="Rectangle 22"/>
            <p:cNvSpPr>
              <a:spLocks noChangeArrowheads="1"/>
            </p:cNvSpPr>
            <p:nvPr/>
          </p:nvSpPr>
          <p:spPr bwMode="auto">
            <a:xfrm>
              <a:off x="3112770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09" name="Rectangle 23"/>
            <p:cNvSpPr>
              <a:spLocks noChangeArrowheads="1"/>
            </p:cNvSpPr>
            <p:nvPr/>
          </p:nvSpPr>
          <p:spPr bwMode="auto">
            <a:xfrm>
              <a:off x="3132357" y="1778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风险、合规、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法律战略</a:t>
              </a:r>
              <a:endParaRPr lang="zh-CN" altLang="en-US" sz="900"/>
            </a:p>
          </p:txBody>
        </p:sp>
        <p:sp>
          <p:nvSpPr>
            <p:cNvPr id="110" name="Rectangle 24"/>
            <p:cNvSpPr>
              <a:spLocks noChangeArrowheads="1"/>
            </p:cNvSpPr>
            <p:nvPr/>
          </p:nvSpPr>
          <p:spPr bwMode="auto">
            <a:xfrm>
              <a:off x="3132357" y="22606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再保战略</a:t>
              </a:r>
              <a:endParaRPr lang="zh-CN" altLang="en-US" sz="900"/>
            </a:p>
          </p:txBody>
        </p:sp>
        <p:sp>
          <p:nvSpPr>
            <p:cNvPr id="111" name="Rectangle 25"/>
            <p:cNvSpPr>
              <a:spLocks noChangeArrowheads="1"/>
            </p:cNvSpPr>
            <p:nvPr/>
          </p:nvSpPr>
          <p:spPr bwMode="auto">
            <a:xfrm>
              <a:off x="3132357" y="27432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巨灾风险</a:t>
              </a:r>
              <a:endParaRPr lang="zh-CN" altLang="en-US" sz="900"/>
            </a:p>
            <a:p>
              <a:pPr algn="ctr">
                <a:buFontTx/>
                <a:buNone/>
              </a:pPr>
              <a:r>
                <a:rPr lang="zh-CN" altLang="en-US" sz="900"/>
                <a:t>应对规划</a:t>
              </a:r>
              <a:endParaRPr lang="zh-CN" altLang="en-US" sz="900"/>
            </a:p>
          </p:txBody>
        </p:sp>
        <p:sp>
          <p:nvSpPr>
            <p:cNvPr id="112" name="Rectangle 26"/>
            <p:cNvSpPr>
              <a:spLocks noChangeArrowheads="1"/>
            </p:cNvSpPr>
            <p:nvPr/>
          </p:nvSpPr>
          <p:spPr bwMode="auto">
            <a:xfrm>
              <a:off x="3112770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13" name="Rectangle 31"/>
            <p:cNvSpPr>
              <a:spLocks noChangeArrowheads="1"/>
            </p:cNvSpPr>
            <p:nvPr/>
          </p:nvSpPr>
          <p:spPr bwMode="auto">
            <a:xfrm>
              <a:off x="3112770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14" name="Rectangle 32"/>
            <p:cNvSpPr>
              <a:spLocks noChangeArrowheads="1"/>
            </p:cNvSpPr>
            <p:nvPr/>
          </p:nvSpPr>
          <p:spPr bwMode="auto">
            <a:xfrm>
              <a:off x="3144820" y="4722813"/>
              <a:ext cx="836857" cy="3683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风险评级</a:t>
              </a:r>
              <a:endParaRPr lang="zh-CN" altLang="en-US" sz="900"/>
            </a:p>
          </p:txBody>
        </p:sp>
        <p:sp>
          <p:nvSpPr>
            <p:cNvPr id="115" name="Rectangle 34"/>
            <p:cNvSpPr>
              <a:spLocks noChangeArrowheads="1"/>
            </p:cNvSpPr>
            <p:nvPr/>
          </p:nvSpPr>
          <p:spPr bwMode="auto">
            <a:xfrm>
              <a:off x="3144820" y="5111750"/>
              <a:ext cx="836857" cy="5651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风险防控</a:t>
              </a:r>
              <a:r>
                <a:rPr lang="en-US" altLang="zh-CN" sz="900"/>
                <a:t>/</a:t>
              </a:r>
              <a:r>
                <a:rPr lang="zh-CN" altLang="en-US" sz="900"/>
                <a:t>服务</a:t>
              </a:r>
              <a:endParaRPr lang="zh-CN" altLang="en-US" sz="900"/>
            </a:p>
          </p:txBody>
        </p:sp>
        <p:sp>
          <p:nvSpPr>
            <p:cNvPr id="116" name="Rectangle 35"/>
            <p:cNvSpPr>
              <a:spLocks noChangeArrowheads="1"/>
            </p:cNvSpPr>
            <p:nvPr/>
          </p:nvSpPr>
          <p:spPr bwMode="auto">
            <a:xfrm>
              <a:off x="3144820" y="5705475"/>
              <a:ext cx="836857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合约和临分</a:t>
              </a:r>
              <a:endParaRPr lang="zh-CN" altLang="en-US" sz="900"/>
            </a:p>
            <a:p>
              <a:pPr algn="ctr"/>
              <a:r>
                <a:rPr lang="zh-CN" altLang="en-US" sz="900"/>
                <a:t>再保</a:t>
              </a:r>
              <a:endParaRPr lang="zh-CN" altLang="en-US" sz="900"/>
            </a:p>
          </p:txBody>
        </p:sp>
        <p:sp>
          <p:nvSpPr>
            <p:cNvPr id="117" name="Rectangle 21"/>
            <p:cNvSpPr>
              <a:spLocks noChangeArrowheads="1"/>
            </p:cNvSpPr>
            <p:nvPr/>
          </p:nvSpPr>
          <p:spPr bwMode="auto">
            <a:xfrm>
              <a:off x="4013727" y="1435100"/>
              <a:ext cx="904518" cy="3175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050" b="1">
                  <a:solidFill>
                    <a:srgbClr val="FFFFFF"/>
                  </a:solidFill>
                </a:rPr>
                <a:t>承保</a:t>
              </a:r>
              <a:endParaRPr lang="zh-CN" altLang="en-US" sz="1050" b="1">
                <a:solidFill>
                  <a:srgbClr val="FFFFFF"/>
                </a:solidFill>
              </a:endParaRPr>
            </a:p>
          </p:txBody>
        </p:sp>
        <p:sp>
          <p:nvSpPr>
            <p:cNvPr id="118" name="Rectangle 22"/>
            <p:cNvSpPr>
              <a:spLocks noChangeArrowheads="1"/>
            </p:cNvSpPr>
            <p:nvPr/>
          </p:nvSpPr>
          <p:spPr bwMode="auto">
            <a:xfrm>
              <a:off x="4013727" y="17526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19" name="Rectangle 23"/>
            <p:cNvSpPr>
              <a:spLocks noChangeArrowheads="1"/>
            </p:cNvSpPr>
            <p:nvPr/>
          </p:nvSpPr>
          <p:spPr bwMode="auto">
            <a:xfrm>
              <a:off x="4040436" y="17780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承保策略</a:t>
              </a:r>
              <a:endParaRPr lang="zh-CN" altLang="en-US" sz="900"/>
            </a:p>
          </p:txBody>
        </p:sp>
        <p:sp>
          <p:nvSpPr>
            <p:cNvPr id="120" name="Rectangle 24"/>
            <p:cNvSpPr>
              <a:spLocks noChangeArrowheads="1"/>
            </p:cNvSpPr>
            <p:nvPr/>
          </p:nvSpPr>
          <p:spPr bwMode="auto">
            <a:xfrm>
              <a:off x="4040436" y="2260600"/>
              <a:ext cx="851102" cy="9334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承保规划</a:t>
              </a:r>
              <a:endParaRPr lang="zh-CN" altLang="en-US" sz="900"/>
            </a:p>
          </p:txBody>
        </p:sp>
        <p:sp>
          <p:nvSpPr>
            <p:cNvPr id="121" name="Rectangle 26"/>
            <p:cNvSpPr>
              <a:spLocks noChangeArrowheads="1"/>
            </p:cNvSpPr>
            <p:nvPr/>
          </p:nvSpPr>
          <p:spPr bwMode="auto">
            <a:xfrm>
              <a:off x="4013727" y="32258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22" name="Rectangle 30"/>
            <p:cNvSpPr>
              <a:spLocks noChangeArrowheads="1"/>
            </p:cNvSpPr>
            <p:nvPr/>
          </p:nvSpPr>
          <p:spPr bwMode="auto">
            <a:xfrm>
              <a:off x="4040436" y="3259138"/>
              <a:ext cx="851102" cy="14176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核保管理</a:t>
              </a:r>
              <a:endParaRPr lang="zh-CN" altLang="en-US" sz="900"/>
            </a:p>
          </p:txBody>
        </p:sp>
        <p:sp>
          <p:nvSpPr>
            <p:cNvPr id="123" name="Rectangle 31"/>
            <p:cNvSpPr>
              <a:spLocks noChangeArrowheads="1"/>
            </p:cNvSpPr>
            <p:nvPr/>
          </p:nvSpPr>
          <p:spPr bwMode="auto">
            <a:xfrm>
              <a:off x="4013727" y="4699000"/>
              <a:ext cx="904518" cy="1473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3600"/>
            </a:p>
          </p:txBody>
        </p:sp>
        <p:sp>
          <p:nvSpPr>
            <p:cNvPr id="124" name="Rectangle 36"/>
            <p:cNvSpPr>
              <a:spLocks noChangeArrowheads="1"/>
            </p:cNvSpPr>
            <p:nvPr/>
          </p:nvSpPr>
          <p:spPr bwMode="auto">
            <a:xfrm>
              <a:off x="4033314" y="5319713"/>
              <a:ext cx="851102" cy="38735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核保决定</a:t>
              </a:r>
              <a:endParaRPr lang="zh-CN" altLang="en-US" sz="900"/>
            </a:p>
          </p:txBody>
        </p:sp>
        <p:sp>
          <p:nvSpPr>
            <p:cNvPr id="125" name="Rectangle 36"/>
            <p:cNvSpPr>
              <a:spLocks noChangeArrowheads="1"/>
            </p:cNvSpPr>
            <p:nvPr/>
          </p:nvSpPr>
          <p:spPr bwMode="auto">
            <a:xfrm>
              <a:off x="4036875" y="4721225"/>
              <a:ext cx="847541" cy="2667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承保业务支持</a:t>
              </a:r>
              <a:endParaRPr lang="zh-CN" altLang="en-US" sz="900"/>
            </a:p>
          </p:txBody>
        </p:sp>
        <p:sp>
          <p:nvSpPr>
            <p:cNvPr id="126" name="Rectangle 118"/>
            <p:cNvSpPr>
              <a:spLocks noChangeArrowheads="1"/>
            </p:cNvSpPr>
            <p:nvPr/>
          </p:nvSpPr>
          <p:spPr bwMode="auto">
            <a:xfrm>
              <a:off x="7630020" y="5030788"/>
              <a:ext cx="851102" cy="21748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付款通知</a:t>
              </a:r>
              <a:endParaRPr lang="zh-CN" altLang="en-US" sz="900"/>
            </a:p>
          </p:txBody>
        </p:sp>
        <p:sp>
          <p:nvSpPr>
            <p:cNvPr id="127" name="Rectangle 105"/>
            <p:cNvSpPr>
              <a:spLocks noChangeArrowheads="1"/>
            </p:cNvSpPr>
            <p:nvPr/>
          </p:nvSpPr>
          <p:spPr bwMode="auto">
            <a:xfrm>
              <a:off x="7630020" y="5284788"/>
              <a:ext cx="851102" cy="2397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对外支付</a:t>
              </a:r>
              <a:endParaRPr lang="zh-CN" altLang="en-US" sz="900"/>
            </a:p>
          </p:txBody>
        </p:sp>
        <p:sp>
          <p:nvSpPr>
            <p:cNvPr id="128" name="Rectangle 43"/>
            <p:cNvSpPr>
              <a:spLocks noChangeArrowheads="1"/>
            </p:cNvSpPr>
            <p:nvPr/>
          </p:nvSpPr>
          <p:spPr bwMode="auto">
            <a:xfrm>
              <a:off x="3132357" y="3251200"/>
              <a:ext cx="851102" cy="4699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精算控制</a:t>
              </a:r>
              <a:endParaRPr lang="zh-CN" altLang="en-US" sz="900"/>
            </a:p>
            <a:p>
              <a:pPr algn="ctr">
                <a:buFontTx/>
                <a:buNone/>
              </a:pPr>
              <a:endParaRPr lang="zh-CN" altLang="en-US" sz="900"/>
            </a:p>
          </p:txBody>
        </p:sp>
        <p:sp>
          <p:nvSpPr>
            <p:cNvPr id="129" name="Rectangle 44"/>
            <p:cNvSpPr>
              <a:spLocks noChangeArrowheads="1"/>
            </p:cNvSpPr>
            <p:nvPr/>
          </p:nvSpPr>
          <p:spPr bwMode="auto">
            <a:xfrm>
              <a:off x="3132357" y="3746500"/>
              <a:ext cx="851102" cy="4572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风险和暴露</a:t>
              </a:r>
              <a:endParaRPr lang="zh-CN" altLang="en-US" sz="900"/>
            </a:p>
            <a:p>
              <a:pPr algn="ctr"/>
              <a:r>
                <a:rPr lang="zh-CN" altLang="en-US" sz="900"/>
                <a:t>管理</a:t>
              </a:r>
              <a:endParaRPr lang="zh-CN" altLang="en-US" sz="900"/>
            </a:p>
          </p:txBody>
        </p:sp>
        <p:sp>
          <p:nvSpPr>
            <p:cNvPr id="130" name="Rectangle 45"/>
            <p:cNvSpPr>
              <a:spLocks noChangeArrowheads="1"/>
            </p:cNvSpPr>
            <p:nvPr/>
          </p:nvSpPr>
          <p:spPr bwMode="auto">
            <a:xfrm>
              <a:off x="3132357" y="4232275"/>
              <a:ext cx="851102" cy="4445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900"/>
                <a:t>再保管理</a:t>
              </a:r>
              <a:endParaRPr lang="zh-CN" altLang="en-US" sz="900"/>
            </a:p>
          </p:txBody>
        </p:sp>
        <p:sp>
          <p:nvSpPr>
            <p:cNvPr id="131" name="Rectangle 34"/>
            <p:cNvSpPr>
              <a:spLocks noChangeArrowheads="1"/>
            </p:cNvSpPr>
            <p:nvPr/>
          </p:nvSpPr>
          <p:spPr bwMode="auto">
            <a:xfrm>
              <a:off x="4036875" y="5008563"/>
              <a:ext cx="847541" cy="2873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新单处理</a:t>
              </a:r>
              <a:r>
                <a:rPr lang="en-US" altLang="zh-CN" sz="900"/>
                <a:t>(NB)</a:t>
              </a:r>
              <a:endParaRPr lang="en-US" altLang="zh-CN" sz="900"/>
            </a:p>
          </p:txBody>
        </p:sp>
        <p:sp>
          <p:nvSpPr>
            <p:cNvPr id="132" name="Rectangle 66"/>
            <p:cNvSpPr>
              <a:spLocks noChangeArrowheads="1"/>
            </p:cNvSpPr>
            <p:nvPr/>
          </p:nvSpPr>
          <p:spPr bwMode="auto">
            <a:xfrm>
              <a:off x="4031533" y="5734050"/>
              <a:ext cx="851102" cy="4095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900"/>
                <a:t>文档、打印、影像</a:t>
              </a:r>
              <a:endParaRPr lang="zh-CN" altLang="en-US" sz="9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业务能力图（</a:t>
            </a:r>
            <a:r>
              <a:rPr lang="en-US" altLang="zh-CN" dirty="0"/>
              <a:t>CBM</a:t>
            </a:r>
            <a:r>
              <a:rPr lang="zh-CN" altLang="en-US" dirty="0"/>
              <a:t>）示例</a:t>
            </a:r>
            <a:r>
              <a:rPr lang="en-US" altLang="zh-CN" dirty="0"/>
              <a:t>2</a:t>
            </a:r>
            <a:r>
              <a:rPr lang="zh-CN" altLang="en-US" dirty="0"/>
              <a:t>：电力能源行业</a:t>
            </a: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671512" y="1206500"/>
            <a:ext cx="8851900" cy="5461000"/>
            <a:chOff x="519112" y="914400"/>
            <a:chExt cx="8851900" cy="54610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519112" y="914400"/>
              <a:ext cx="317500" cy="317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519112" y="1231900"/>
              <a:ext cx="317500" cy="1714500"/>
            </a:xfrm>
            <a:prstGeom prst="rect">
              <a:avLst/>
            </a:prstGeom>
            <a:solidFill>
              <a:srgbClr val="C8C8C8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战略规划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19112" y="2946400"/>
              <a:ext cx="317500" cy="1714500"/>
            </a:xfrm>
            <a:prstGeom prst="rect">
              <a:avLst/>
            </a:prstGeom>
            <a:solidFill>
              <a:srgbClr val="C8C8C8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管理控制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519112" y="4660900"/>
              <a:ext cx="317500" cy="1714500"/>
            </a:xfrm>
            <a:prstGeom prst="rect">
              <a:avLst/>
            </a:prstGeom>
            <a:solidFill>
              <a:srgbClr val="C8C8C8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操作执行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8366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电力系统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运营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8366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862012" y="1257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电力系统规划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8366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862012" y="2971800"/>
              <a:ext cx="1016000" cy="25558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市场表现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862012" y="3252789"/>
              <a:ext cx="1016000" cy="2571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市场监控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862012" y="3535364"/>
              <a:ext cx="1016000" cy="25558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调度计划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862012" y="3816350"/>
              <a:ext cx="1016000" cy="25558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电网运行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862012" y="4097339"/>
              <a:ext cx="1016000" cy="2571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电价设定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862012" y="4379914"/>
              <a:ext cx="1016000" cy="25558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供应网络安全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8366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862012" y="468630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市场安全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862012" y="510857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862012" y="553085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电网运行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862012" y="595312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用电量预测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9034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电力市场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9034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928812" y="1257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市场规则和策略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9034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928812" y="2971800"/>
              <a:ext cx="1016000" cy="25558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竞价管理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1928812" y="3252789"/>
              <a:ext cx="1016000" cy="2571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调度协调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928812" y="3535364"/>
              <a:ext cx="1016000" cy="25558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交易管理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1928812" y="3816350"/>
              <a:ext cx="1016000" cy="25558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市场调配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928812" y="4097339"/>
              <a:ext cx="1016000" cy="2571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1928812" y="4379914"/>
              <a:ext cx="1016000" cy="25558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排放和清洁能源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19034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1928812" y="4686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交易结算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29702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电力期权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29702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>
              <a:off x="2995612" y="1257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期权规则和策略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8" name="Rectangle 38"/>
            <p:cNvSpPr>
              <a:spLocks noChangeArrowheads="1"/>
            </p:cNvSpPr>
            <p:nvPr/>
          </p:nvSpPr>
          <p:spPr bwMode="auto">
            <a:xfrm>
              <a:off x="29702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39" name="Rectangle 39"/>
            <p:cNvSpPr>
              <a:spLocks noChangeArrowheads="1"/>
            </p:cNvSpPr>
            <p:nvPr/>
          </p:nvSpPr>
          <p:spPr bwMode="auto">
            <a:xfrm>
              <a:off x="2995612" y="2971801"/>
              <a:ext cx="1016000" cy="538163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投标流程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0" name="Rectangle 40"/>
            <p:cNvSpPr>
              <a:spLocks noChangeArrowheads="1"/>
            </p:cNvSpPr>
            <p:nvPr/>
          </p:nvSpPr>
          <p:spPr bwMode="auto">
            <a:xfrm>
              <a:off x="2995612" y="3535364"/>
              <a:ext cx="1016000" cy="5365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期权交易管理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2995612" y="4097338"/>
              <a:ext cx="1016000" cy="538162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期权市场管理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2" name="Rectangle 42"/>
            <p:cNvSpPr>
              <a:spLocks noChangeArrowheads="1"/>
            </p:cNvSpPr>
            <p:nvPr/>
          </p:nvSpPr>
          <p:spPr bwMode="auto">
            <a:xfrm>
              <a:off x="29702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2995612" y="468630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执行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4" name="Rectangle 44"/>
            <p:cNvSpPr>
              <a:spLocks noChangeArrowheads="1"/>
            </p:cNvSpPr>
            <p:nvPr/>
          </p:nvSpPr>
          <p:spPr bwMode="auto">
            <a:xfrm>
              <a:off x="2995612" y="553085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结算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5" name="Rectangle 45"/>
            <p:cNvSpPr>
              <a:spLocks noChangeArrowheads="1"/>
            </p:cNvSpPr>
            <p:nvPr/>
          </p:nvSpPr>
          <p:spPr bwMode="auto">
            <a:xfrm>
              <a:off x="40370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用电数据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40370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47" name="Rectangle 47"/>
            <p:cNvSpPr>
              <a:spLocks noChangeArrowheads="1"/>
            </p:cNvSpPr>
            <p:nvPr/>
          </p:nvSpPr>
          <p:spPr bwMode="auto">
            <a:xfrm>
              <a:off x="4062412" y="1257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计费数据规则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8" name="Rectangle 48"/>
            <p:cNvSpPr>
              <a:spLocks noChangeArrowheads="1"/>
            </p:cNvSpPr>
            <p:nvPr/>
          </p:nvSpPr>
          <p:spPr bwMode="auto">
            <a:xfrm>
              <a:off x="40370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49" name="Rectangle 49"/>
            <p:cNvSpPr>
              <a:spLocks noChangeArrowheads="1"/>
            </p:cNvSpPr>
            <p:nvPr/>
          </p:nvSpPr>
          <p:spPr bwMode="auto">
            <a:xfrm>
              <a:off x="4062412" y="2971801"/>
              <a:ext cx="1016000" cy="538163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电表数据监控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0" name="Rectangle 50"/>
            <p:cNvSpPr>
              <a:spLocks noChangeArrowheads="1"/>
            </p:cNvSpPr>
            <p:nvPr/>
          </p:nvSpPr>
          <p:spPr bwMode="auto">
            <a:xfrm>
              <a:off x="4062412" y="3535364"/>
              <a:ext cx="1016000" cy="5365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预测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1" name="Rectangle 51"/>
            <p:cNvSpPr>
              <a:spLocks noChangeArrowheads="1"/>
            </p:cNvSpPr>
            <p:nvPr/>
          </p:nvSpPr>
          <p:spPr bwMode="auto">
            <a:xfrm>
              <a:off x="4062412" y="4097338"/>
              <a:ext cx="1016000" cy="538162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数据管理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2" name="Rectangle 52"/>
            <p:cNvSpPr>
              <a:spLocks noChangeArrowheads="1"/>
            </p:cNvSpPr>
            <p:nvPr/>
          </p:nvSpPr>
          <p:spPr bwMode="auto">
            <a:xfrm>
              <a:off x="40370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53" name="Rectangle 53"/>
            <p:cNvSpPr>
              <a:spLocks noChangeArrowheads="1"/>
            </p:cNvSpPr>
            <p:nvPr/>
          </p:nvSpPr>
          <p:spPr bwMode="auto">
            <a:xfrm>
              <a:off x="4062412" y="468630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电费计算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4" name="Rectangle 54"/>
            <p:cNvSpPr>
              <a:spLocks noChangeArrowheads="1"/>
            </p:cNvSpPr>
            <p:nvPr/>
          </p:nvSpPr>
          <p:spPr bwMode="auto">
            <a:xfrm>
              <a:off x="4062412" y="510857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问题数据处理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5" name="Rectangle 55"/>
            <p:cNvSpPr>
              <a:spLocks noChangeArrowheads="1"/>
            </p:cNvSpPr>
            <p:nvPr/>
          </p:nvSpPr>
          <p:spPr bwMode="auto">
            <a:xfrm>
              <a:off x="4062412" y="553085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用电量数据采集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6" name="Rectangle 56"/>
            <p:cNvSpPr>
              <a:spLocks noChangeArrowheads="1"/>
            </p:cNvSpPr>
            <p:nvPr/>
          </p:nvSpPr>
          <p:spPr bwMode="auto">
            <a:xfrm>
              <a:off x="4062412" y="595312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对公客户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7" name="Rectangle 57"/>
            <p:cNvSpPr>
              <a:spLocks noChangeArrowheads="1"/>
            </p:cNvSpPr>
            <p:nvPr/>
          </p:nvSpPr>
          <p:spPr bwMode="auto">
            <a:xfrm>
              <a:off x="51038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市场管理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58" name="Rectangle 58"/>
            <p:cNvSpPr>
              <a:spLocks noChangeArrowheads="1"/>
            </p:cNvSpPr>
            <p:nvPr/>
          </p:nvSpPr>
          <p:spPr bwMode="auto">
            <a:xfrm>
              <a:off x="51038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59" name="Rectangle 59"/>
            <p:cNvSpPr>
              <a:spLocks noChangeArrowheads="1"/>
            </p:cNvSpPr>
            <p:nvPr/>
          </p:nvSpPr>
          <p:spPr bwMode="auto">
            <a:xfrm>
              <a:off x="5129212" y="125730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市场规划和策略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0" name="Rectangle 60"/>
            <p:cNvSpPr>
              <a:spLocks noChangeArrowheads="1"/>
            </p:cNvSpPr>
            <p:nvPr/>
          </p:nvSpPr>
          <p:spPr bwMode="auto">
            <a:xfrm>
              <a:off x="5129212" y="210185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市场开发策略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1" name="Rectangle 61"/>
            <p:cNvSpPr>
              <a:spLocks noChangeArrowheads="1"/>
            </p:cNvSpPr>
            <p:nvPr/>
          </p:nvSpPr>
          <p:spPr bwMode="auto">
            <a:xfrm>
              <a:off x="51038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62" name="Rectangle 62"/>
            <p:cNvSpPr>
              <a:spLocks noChangeArrowheads="1"/>
            </p:cNvSpPr>
            <p:nvPr/>
          </p:nvSpPr>
          <p:spPr bwMode="auto">
            <a:xfrm>
              <a:off x="5129212" y="29718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市场表现管理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5129212" y="32131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市场机会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4" name="Rectangle 64"/>
            <p:cNvSpPr>
              <a:spLocks noChangeArrowheads="1"/>
            </p:cNvSpPr>
            <p:nvPr/>
          </p:nvSpPr>
          <p:spPr bwMode="auto">
            <a:xfrm>
              <a:off x="5129212" y="34544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损耗管理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5" name="Rectangle 65"/>
            <p:cNvSpPr>
              <a:spLocks noChangeArrowheads="1"/>
            </p:cNvSpPr>
            <p:nvPr/>
          </p:nvSpPr>
          <p:spPr bwMode="auto">
            <a:xfrm>
              <a:off x="5129212" y="36957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客户管理管理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6" name="Rectangle 66"/>
            <p:cNvSpPr>
              <a:spLocks noChangeArrowheads="1"/>
            </p:cNvSpPr>
            <p:nvPr/>
          </p:nvSpPr>
          <p:spPr bwMode="auto">
            <a:xfrm>
              <a:off x="5129212" y="39370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争议解决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7" name="Rectangle 67"/>
            <p:cNvSpPr>
              <a:spLocks noChangeArrowheads="1"/>
            </p:cNvSpPr>
            <p:nvPr/>
          </p:nvSpPr>
          <p:spPr bwMode="auto">
            <a:xfrm>
              <a:off x="5129212" y="41783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市场效率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8" name="Rectangle 68"/>
            <p:cNvSpPr>
              <a:spLocks noChangeArrowheads="1"/>
            </p:cNvSpPr>
            <p:nvPr/>
          </p:nvSpPr>
          <p:spPr bwMode="auto">
            <a:xfrm>
              <a:off x="5129212" y="4419600"/>
              <a:ext cx="1016000" cy="2159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信用额度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9" name="Rectangle 69"/>
            <p:cNvSpPr>
              <a:spLocks noChangeArrowheads="1"/>
            </p:cNvSpPr>
            <p:nvPr/>
          </p:nvSpPr>
          <p:spPr bwMode="auto">
            <a:xfrm>
              <a:off x="51038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70" name="Rectangle 70"/>
            <p:cNvSpPr>
              <a:spLocks noChangeArrowheads="1"/>
            </p:cNvSpPr>
            <p:nvPr/>
          </p:nvSpPr>
          <p:spPr bwMode="auto">
            <a:xfrm>
              <a:off x="5129212" y="468630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市场优惠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促销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1" name="Rectangle 71"/>
            <p:cNvSpPr>
              <a:spLocks noChangeArrowheads="1"/>
            </p:cNvSpPr>
            <p:nvPr/>
          </p:nvSpPr>
          <p:spPr bwMode="auto">
            <a:xfrm>
              <a:off x="5129212" y="510857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市场调查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2" name="Rectangle 72"/>
            <p:cNvSpPr>
              <a:spLocks noChangeArrowheads="1"/>
            </p:cNvSpPr>
            <p:nvPr/>
          </p:nvSpPr>
          <p:spPr bwMode="auto">
            <a:xfrm>
              <a:off x="5129212" y="553085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客户登记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5129212" y="595312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客户账单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付款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4" name="Rectangle 74"/>
            <p:cNvSpPr>
              <a:spLocks noChangeArrowheads="1"/>
            </p:cNvSpPr>
            <p:nvPr/>
          </p:nvSpPr>
          <p:spPr bwMode="auto">
            <a:xfrm>
              <a:off x="61706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战略和规划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75" name="Rectangle 75"/>
            <p:cNvSpPr>
              <a:spLocks noChangeArrowheads="1"/>
            </p:cNvSpPr>
            <p:nvPr/>
          </p:nvSpPr>
          <p:spPr bwMode="auto">
            <a:xfrm>
              <a:off x="61706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76" name="Rectangle 76"/>
            <p:cNvSpPr>
              <a:spLocks noChangeArrowheads="1"/>
            </p:cNvSpPr>
            <p:nvPr/>
          </p:nvSpPr>
          <p:spPr bwMode="auto">
            <a:xfrm>
              <a:off x="6196012" y="1257301"/>
              <a:ext cx="1016000" cy="538163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业务战略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7" name="Rectangle 77"/>
            <p:cNvSpPr>
              <a:spLocks noChangeArrowheads="1"/>
            </p:cNvSpPr>
            <p:nvPr/>
          </p:nvSpPr>
          <p:spPr bwMode="auto">
            <a:xfrm>
              <a:off x="6196012" y="1820864"/>
              <a:ext cx="1016000" cy="5365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管理策略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8" name="Rectangle 78"/>
            <p:cNvSpPr>
              <a:spLocks noChangeArrowheads="1"/>
            </p:cNvSpPr>
            <p:nvPr/>
          </p:nvSpPr>
          <p:spPr bwMode="auto">
            <a:xfrm>
              <a:off x="6196012" y="2382838"/>
              <a:ext cx="1016000" cy="538162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运营策略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9" name="Rectangle 79"/>
            <p:cNvSpPr>
              <a:spLocks noChangeArrowheads="1"/>
            </p:cNvSpPr>
            <p:nvPr/>
          </p:nvSpPr>
          <p:spPr bwMode="auto">
            <a:xfrm>
              <a:off x="61706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80" name="Rectangle 80"/>
            <p:cNvSpPr>
              <a:spLocks noChangeArrowheads="1"/>
            </p:cNvSpPr>
            <p:nvPr/>
          </p:nvSpPr>
          <p:spPr bwMode="auto">
            <a:xfrm>
              <a:off x="6196012" y="2971800"/>
              <a:ext cx="1016000" cy="31273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业务线管理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1" name="Rectangle 81"/>
            <p:cNvSpPr>
              <a:spLocks noChangeArrowheads="1"/>
            </p:cNvSpPr>
            <p:nvPr/>
          </p:nvSpPr>
          <p:spPr bwMode="auto">
            <a:xfrm>
              <a:off x="6196012" y="3309939"/>
              <a:ext cx="1016000" cy="31273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业务表现管理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2" name="Rectangle 82"/>
            <p:cNvSpPr>
              <a:spLocks noChangeArrowheads="1"/>
            </p:cNvSpPr>
            <p:nvPr/>
          </p:nvSpPr>
          <p:spPr bwMode="auto">
            <a:xfrm>
              <a:off x="6196012" y="3648075"/>
              <a:ext cx="1016000" cy="311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监管合规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3" name="Rectangle 83"/>
            <p:cNvSpPr>
              <a:spLocks noChangeArrowheads="1"/>
            </p:cNvSpPr>
            <p:nvPr/>
          </p:nvSpPr>
          <p:spPr bwMode="auto">
            <a:xfrm>
              <a:off x="6196012" y="3984625"/>
              <a:ext cx="1016000" cy="31273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市场合规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4" name="Rectangle 84"/>
            <p:cNvSpPr>
              <a:spLocks noChangeArrowheads="1"/>
            </p:cNvSpPr>
            <p:nvPr/>
          </p:nvSpPr>
          <p:spPr bwMode="auto">
            <a:xfrm>
              <a:off x="6196012" y="4322764"/>
              <a:ext cx="1016000" cy="31273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风险管理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5" name="Rectangle 85"/>
            <p:cNvSpPr>
              <a:spLocks noChangeArrowheads="1"/>
            </p:cNvSpPr>
            <p:nvPr/>
          </p:nvSpPr>
          <p:spPr bwMode="auto">
            <a:xfrm>
              <a:off x="61706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86" name="Rectangle 86"/>
            <p:cNvSpPr>
              <a:spLocks noChangeArrowheads="1"/>
            </p:cNvSpPr>
            <p:nvPr/>
          </p:nvSpPr>
          <p:spPr bwMode="auto">
            <a:xfrm>
              <a:off x="6196012" y="4686300"/>
              <a:ext cx="1016000" cy="166370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监管上报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交互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7" name="Rectangle 87"/>
            <p:cNvSpPr>
              <a:spLocks noChangeArrowheads="1"/>
            </p:cNvSpPr>
            <p:nvPr/>
          </p:nvSpPr>
          <p:spPr bwMode="auto">
            <a:xfrm>
              <a:off x="72374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财务</a:t>
              </a:r>
              <a:r>
                <a:rPr lang="en-US" altLang="zh-CN" sz="1400" b="1" i="0" dirty="0">
                  <a:ea typeface="宋体" panose="02010600030101010101" pitchFamily="2" charset="-122"/>
                </a:rPr>
                <a:t>/</a:t>
              </a:r>
              <a:r>
                <a:rPr lang="zh-CN" altLang="en-US" sz="1400" b="1" i="0" dirty="0">
                  <a:ea typeface="宋体" panose="02010600030101010101" pitchFamily="2" charset="-122"/>
                </a:rPr>
                <a:t>人力</a:t>
              </a:r>
              <a:r>
                <a:rPr lang="en-US" altLang="zh-CN" sz="1400" b="1" i="0" dirty="0">
                  <a:ea typeface="宋体" panose="02010600030101010101" pitchFamily="2" charset="-122"/>
                </a:rPr>
                <a:t>/</a:t>
              </a:r>
              <a:r>
                <a:rPr lang="zh-CN" altLang="en-US" sz="1400" b="1" i="0" dirty="0">
                  <a:ea typeface="宋体" panose="02010600030101010101" pitchFamily="2" charset="-122"/>
                </a:rPr>
                <a:t>行政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88" name="Rectangle 88"/>
            <p:cNvSpPr>
              <a:spLocks noChangeArrowheads="1"/>
            </p:cNvSpPr>
            <p:nvPr/>
          </p:nvSpPr>
          <p:spPr bwMode="auto">
            <a:xfrm>
              <a:off x="72374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89" name="Rectangle 89"/>
            <p:cNvSpPr>
              <a:spLocks noChangeArrowheads="1"/>
            </p:cNvSpPr>
            <p:nvPr/>
          </p:nvSpPr>
          <p:spPr bwMode="auto">
            <a:xfrm>
              <a:off x="7262812" y="125730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企业治理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0" name="Rectangle 90"/>
            <p:cNvSpPr>
              <a:spLocks noChangeArrowheads="1"/>
            </p:cNvSpPr>
            <p:nvPr/>
          </p:nvSpPr>
          <p:spPr bwMode="auto">
            <a:xfrm>
              <a:off x="7262812" y="210185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规则和流程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1" name="Rectangle 91"/>
            <p:cNvSpPr>
              <a:spLocks noChangeArrowheads="1"/>
            </p:cNvSpPr>
            <p:nvPr/>
          </p:nvSpPr>
          <p:spPr bwMode="auto">
            <a:xfrm>
              <a:off x="72374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7262812" y="2971800"/>
              <a:ext cx="1016000" cy="31273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绩效管理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3" name="Rectangle 93"/>
            <p:cNvSpPr>
              <a:spLocks noChangeArrowheads="1"/>
            </p:cNvSpPr>
            <p:nvPr/>
          </p:nvSpPr>
          <p:spPr bwMode="auto">
            <a:xfrm>
              <a:off x="7262812" y="3309939"/>
              <a:ext cx="1016000" cy="31273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管理会计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4" name="Rectangle 94"/>
            <p:cNvSpPr>
              <a:spLocks noChangeArrowheads="1"/>
            </p:cNvSpPr>
            <p:nvPr/>
          </p:nvSpPr>
          <p:spPr bwMode="auto">
            <a:xfrm>
              <a:off x="7262812" y="3648075"/>
              <a:ext cx="1016000" cy="311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人力分析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5" name="Rectangle 95"/>
            <p:cNvSpPr>
              <a:spLocks noChangeArrowheads="1"/>
            </p:cNvSpPr>
            <p:nvPr/>
          </p:nvSpPr>
          <p:spPr bwMode="auto">
            <a:xfrm>
              <a:off x="7262812" y="3984625"/>
              <a:ext cx="1016000" cy="312738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营收预测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7262812" y="4322764"/>
              <a:ext cx="1016000" cy="312737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厂房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设备管理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7" name="Rectangle 97"/>
            <p:cNvSpPr>
              <a:spLocks noChangeArrowheads="1"/>
            </p:cNvSpPr>
            <p:nvPr/>
          </p:nvSpPr>
          <p:spPr bwMode="auto">
            <a:xfrm>
              <a:off x="72374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98" name="Rectangle 98"/>
            <p:cNvSpPr>
              <a:spLocks noChangeArrowheads="1"/>
            </p:cNvSpPr>
            <p:nvPr/>
          </p:nvSpPr>
          <p:spPr bwMode="auto">
            <a:xfrm>
              <a:off x="7262812" y="468630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财务会计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99" name="Rectangle 99"/>
            <p:cNvSpPr>
              <a:spLocks noChangeArrowheads="1"/>
            </p:cNvSpPr>
            <p:nvPr/>
          </p:nvSpPr>
          <p:spPr bwMode="auto">
            <a:xfrm>
              <a:off x="7262812" y="510857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采购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0" name="Rectangle 100"/>
            <p:cNvSpPr>
              <a:spLocks noChangeArrowheads="1"/>
            </p:cNvSpPr>
            <p:nvPr/>
          </p:nvSpPr>
          <p:spPr bwMode="auto">
            <a:xfrm>
              <a:off x="7262812" y="5530851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行政管理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1" name="Rectangle 101"/>
            <p:cNvSpPr>
              <a:spLocks noChangeArrowheads="1"/>
            </p:cNvSpPr>
            <p:nvPr/>
          </p:nvSpPr>
          <p:spPr bwMode="auto">
            <a:xfrm>
              <a:off x="7262812" y="5953126"/>
              <a:ext cx="1016000" cy="3968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人力服务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2" name="Rectangle 102"/>
            <p:cNvSpPr>
              <a:spLocks noChangeArrowheads="1"/>
            </p:cNvSpPr>
            <p:nvPr/>
          </p:nvSpPr>
          <p:spPr bwMode="auto">
            <a:xfrm>
              <a:off x="8304212" y="914400"/>
              <a:ext cx="1066800" cy="317500"/>
            </a:xfrm>
            <a:prstGeom prst="rect">
              <a:avLst/>
            </a:prstGeom>
            <a:solidFill>
              <a:srgbClr val="F0F0F0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>
                  <a:ea typeface="宋体" panose="02010600030101010101" pitchFamily="2" charset="-122"/>
                </a:rPr>
                <a:t>信息规划</a:t>
              </a:r>
              <a:endParaRPr lang="en-US" altLang="zh-CN" sz="1400" b="1" i="0" dirty="0">
                <a:ea typeface="宋体" panose="02010600030101010101" pitchFamily="2" charset="-122"/>
              </a:endParaRPr>
            </a:p>
          </p:txBody>
        </p:sp>
        <p:sp>
          <p:nvSpPr>
            <p:cNvPr id="103" name="Rectangle 103"/>
            <p:cNvSpPr>
              <a:spLocks noChangeArrowheads="1"/>
            </p:cNvSpPr>
            <p:nvPr/>
          </p:nvSpPr>
          <p:spPr bwMode="auto">
            <a:xfrm>
              <a:off x="8304212" y="1231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04" name="Rectangle 104"/>
            <p:cNvSpPr>
              <a:spLocks noChangeArrowheads="1"/>
            </p:cNvSpPr>
            <p:nvPr/>
          </p:nvSpPr>
          <p:spPr bwMode="auto">
            <a:xfrm>
              <a:off x="8329612" y="125730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US" altLang="zh-CN" sz="1100" i="0" dirty="0">
                  <a:ea typeface="宋体" panose="02010600030101010101" pitchFamily="2" charset="-122"/>
                </a:rPr>
                <a:t>IT</a:t>
              </a:r>
              <a:r>
                <a:rPr lang="zh-CN" altLang="en-US" sz="1100" i="0" dirty="0">
                  <a:ea typeface="宋体" panose="02010600030101010101" pitchFamily="2" charset="-122"/>
                </a:rPr>
                <a:t>信息战略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5" name="Rectangle 105"/>
            <p:cNvSpPr>
              <a:spLocks noChangeArrowheads="1"/>
            </p:cNvSpPr>
            <p:nvPr/>
          </p:nvSpPr>
          <p:spPr bwMode="auto">
            <a:xfrm>
              <a:off x="8329612" y="2101850"/>
              <a:ext cx="1016000" cy="819150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US" altLang="zh-CN" sz="1100" i="0" dirty="0">
                  <a:ea typeface="宋体" panose="02010600030101010101" pitchFamily="2" charset="-122"/>
                </a:rPr>
                <a:t>IT </a:t>
              </a:r>
              <a:r>
                <a:rPr lang="zh-CN" altLang="en-US" sz="1100" i="0" dirty="0">
                  <a:ea typeface="宋体" panose="02010600030101010101" pitchFamily="2" charset="-122"/>
                </a:rPr>
                <a:t>架构规划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6" name="Rectangle 106"/>
            <p:cNvSpPr>
              <a:spLocks noChangeArrowheads="1"/>
            </p:cNvSpPr>
            <p:nvPr/>
          </p:nvSpPr>
          <p:spPr bwMode="auto">
            <a:xfrm>
              <a:off x="8304212" y="29464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07" name="Rectangle 107"/>
            <p:cNvSpPr>
              <a:spLocks noChangeArrowheads="1"/>
            </p:cNvSpPr>
            <p:nvPr/>
          </p:nvSpPr>
          <p:spPr bwMode="auto">
            <a:xfrm>
              <a:off x="8329612" y="2971801"/>
              <a:ext cx="1016000" cy="538163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US" altLang="zh-CN" sz="1100" i="0" dirty="0">
                  <a:ea typeface="宋体" panose="02010600030101010101" pitchFamily="2" charset="-122"/>
                </a:rPr>
                <a:t>IT</a:t>
              </a:r>
              <a:r>
                <a:rPr lang="zh-CN" altLang="en-US" sz="1100" i="0" dirty="0">
                  <a:ea typeface="宋体" panose="02010600030101010101" pitchFamily="2" charset="-122"/>
                </a:rPr>
                <a:t>系统性能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8" name="Rectangle 108"/>
            <p:cNvSpPr>
              <a:spLocks noChangeArrowheads="1"/>
            </p:cNvSpPr>
            <p:nvPr/>
          </p:nvSpPr>
          <p:spPr bwMode="auto">
            <a:xfrm>
              <a:off x="8329612" y="3535364"/>
              <a:ext cx="1016000" cy="5365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项目管理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09" name="Rectangle 109"/>
            <p:cNvSpPr>
              <a:spLocks noChangeArrowheads="1"/>
            </p:cNvSpPr>
            <p:nvPr/>
          </p:nvSpPr>
          <p:spPr bwMode="auto">
            <a:xfrm>
              <a:off x="8329612" y="4097338"/>
              <a:ext cx="1016000" cy="538162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架构审批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10" name="Rectangle 110"/>
            <p:cNvSpPr>
              <a:spLocks noChangeArrowheads="1"/>
            </p:cNvSpPr>
            <p:nvPr/>
          </p:nvSpPr>
          <p:spPr bwMode="auto">
            <a:xfrm>
              <a:off x="8304212" y="4660900"/>
              <a:ext cx="1066800" cy="1714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400"/>
            </a:p>
          </p:txBody>
        </p:sp>
        <p:sp>
          <p:nvSpPr>
            <p:cNvPr id="111" name="Rectangle 111"/>
            <p:cNvSpPr>
              <a:spLocks noChangeArrowheads="1"/>
            </p:cNvSpPr>
            <p:nvPr/>
          </p:nvSpPr>
          <p:spPr bwMode="auto">
            <a:xfrm>
              <a:off x="8329612" y="4686301"/>
              <a:ext cx="1016000" cy="538163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系统维护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12" name="Rectangle 112"/>
            <p:cNvSpPr>
              <a:spLocks noChangeArrowheads="1"/>
            </p:cNvSpPr>
            <p:nvPr/>
          </p:nvSpPr>
          <p:spPr bwMode="auto">
            <a:xfrm>
              <a:off x="8329612" y="5249864"/>
              <a:ext cx="1016000" cy="536575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项目交付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113" name="Rectangle 113"/>
            <p:cNvSpPr>
              <a:spLocks noChangeArrowheads="1"/>
            </p:cNvSpPr>
            <p:nvPr/>
          </p:nvSpPr>
          <p:spPr bwMode="auto">
            <a:xfrm>
              <a:off x="8329612" y="5811838"/>
              <a:ext cx="1016000" cy="538162"/>
            </a:xfrm>
            <a:prstGeom prst="rect">
              <a:avLst/>
            </a:prstGeom>
            <a:solidFill>
              <a:srgbClr val="F1F1F1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b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100" i="0" dirty="0">
                  <a:ea typeface="宋体" panose="02010600030101010101" pitchFamily="2" charset="-122"/>
                </a:rPr>
                <a:t>数据维护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业务能力图（</a:t>
            </a:r>
            <a:r>
              <a:rPr lang="en-US" altLang="zh-CN" dirty="0"/>
              <a:t>CBM</a:t>
            </a:r>
            <a:r>
              <a:rPr lang="zh-CN" altLang="en-US" dirty="0"/>
              <a:t>）示例：能源行业</a:t>
            </a: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457200" y="1020763"/>
            <a:ext cx="9445625" cy="5411688"/>
            <a:chOff x="457200" y="1524000"/>
            <a:chExt cx="8229600" cy="4724400"/>
          </a:xfrm>
        </p:grpSpPr>
        <p:sp>
          <p:nvSpPr>
            <p:cNvPr id="4" name="Text Box 3"/>
            <p:cNvSpPr txBox="1">
              <a:spLocks noChangeArrowheads="1"/>
            </p:cNvSpPr>
            <p:nvPr/>
          </p:nvSpPr>
          <p:spPr bwMode="gray">
            <a:xfrm rot="16200000">
              <a:off x="571500" y="1790700"/>
              <a:ext cx="381000" cy="609600"/>
            </a:xfrm>
            <a:prstGeom prst="rect">
              <a:avLst/>
            </a:prstGeom>
            <a:solidFill>
              <a:srgbClr val="D9D9D9"/>
            </a:solidFill>
            <a:ln w="6350" algn="ctr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90000" tIns="46800" rIns="90000" b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endParaRPr lang="en-GB" altLang="zh-CN" sz="1600" b="1" i="0"/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gray">
            <a:xfrm rot="16200000">
              <a:off x="0" y="4876800"/>
              <a:ext cx="1524000" cy="609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ea typeface="宋体" panose="02010600030101010101" pitchFamily="2" charset="-122"/>
                </a:rPr>
                <a:t>执行操作</a:t>
              </a:r>
              <a:endParaRPr lang="en-US" altLang="zh-CN" sz="1600" b="1" i="0" dirty="0">
                <a:ea typeface="宋体" panose="02010600030101010101" pitchFamily="2" charset="-122"/>
              </a:endParaRP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gray">
            <a:xfrm rot="16200000">
              <a:off x="228600" y="3581400"/>
              <a:ext cx="1066800" cy="609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ea typeface="宋体" panose="02010600030101010101" pitchFamily="2" charset="-122"/>
                </a:rPr>
                <a:t>管理控制</a:t>
              </a:r>
              <a:endParaRPr lang="en-US" altLang="zh-CN" sz="1600" b="1" i="0" dirty="0">
                <a:ea typeface="宋体" panose="02010600030101010101" pitchFamily="2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gray">
            <a:xfrm rot="16200000">
              <a:off x="228600" y="2514600"/>
              <a:ext cx="1066800" cy="609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ea typeface="宋体" panose="02010600030101010101" pitchFamily="2" charset="-122"/>
                </a:rPr>
                <a:t>战略规划</a:t>
              </a:r>
              <a:endParaRPr lang="en-US" altLang="zh-CN" sz="1600" b="1" i="0" dirty="0">
                <a:ea typeface="宋体" panose="02010600030101010101" pitchFamily="2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gray">
            <a:xfrm>
              <a:off x="1066800" y="1524000"/>
              <a:ext cx="22860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D9D9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 anchor="b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solidFill>
                    <a:schemeClr val="accent1"/>
                  </a:solidFill>
                  <a:ea typeface="宋体" panose="02010600030101010101" pitchFamily="2" charset="-122"/>
                </a:rPr>
                <a:t>业务管理</a:t>
              </a:r>
              <a:endParaRPr lang="en-US" altLang="zh-CN" sz="1600" b="1" i="0" dirty="0">
                <a:solidFill>
                  <a:schemeClr val="accen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gray">
            <a:xfrm>
              <a:off x="3352800" y="1524000"/>
              <a:ext cx="39624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D9D9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 anchor="b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solidFill>
                    <a:schemeClr val="accent1"/>
                  </a:solidFill>
                  <a:ea typeface="宋体" panose="02010600030101010101" pitchFamily="2" charset="-122"/>
                </a:rPr>
                <a:t>配送运营</a:t>
              </a:r>
              <a:endParaRPr lang="en-US" altLang="zh-CN" sz="1600" b="1" i="0" dirty="0">
                <a:solidFill>
                  <a:schemeClr val="accen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gray">
            <a:xfrm>
              <a:off x="7162800" y="1524000"/>
              <a:ext cx="15240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D9D9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 anchor="b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"/>
                </a:spcBef>
                <a:spcAft>
                  <a:spcPct val="5000"/>
                </a:spcAft>
                <a:buClr>
                  <a:schemeClr val="tx2"/>
                </a:buClr>
                <a:buSzPct val="120000"/>
              </a:pPr>
              <a:r>
                <a:rPr lang="zh-CN" altLang="en-US" sz="1600" b="1" i="0" dirty="0">
                  <a:solidFill>
                    <a:schemeClr val="accent1"/>
                  </a:solidFill>
                  <a:ea typeface="宋体" panose="02010600030101010101" pitchFamily="2" charset="-122"/>
                </a:rPr>
                <a:t>服务</a:t>
              </a:r>
              <a:endParaRPr lang="en-US" altLang="zh-CN" sz="1600" b="1" i="0" dirty="0">
                <a:solidFill>
                  <a:schemeClr val="accen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gray">
            <a:xfrm>
              <a:off x="457200" y="3352800"/>
              <a:ext cx="822960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6000" tIns="46800" anchor="ctr"/>
            <a:lstStyle/>
            <a:p>
              <a:endParaRPr lang="en-GB" sz="3600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gray">
            <a:xfrm>
              <a:off x="457200" y="4419600"/>
              <a:ext cx="822960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6000" tIns="46800" anchor="ctr"/>
            <a:lstStyle/>
            <a:p>
              <a:endParaRPr lang="en-GB" sz="3600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gray">
            <a:xfrm>
              <a:off x="457200" y="5943600"/>
              <a:ext cx="82296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6000" tIns="46800" anchor="ctr"/>
            <a:lstStyle/>
            <a:p>
              <a:endParaRPr lang="en-GB" sz="36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gray">
            <a:xfrm>
              <a:off x="1066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业务线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gray">
            <a:xfrm>
              <a:off x="1828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人力</a:t>
              </a:r>
              <a:r>
                <a:rPr lang="en-US" altLang="zh-CN" sz="1200" b="1" i="0" dirty="0">
                  <a:ea typeface="宋体" panose="02010600030101010101" pitchFamily="2" charset="-122"/>
                </a:rPr>
                <a:t>/</a:t>
              </a:r>
              <a:r>
                <a:rPr lang="zh-CN" altLang="en-US" sz="1200" b="1" i="0" dirty="0">
                  <a:ea typeface="宋体" panose="02010600030101010101" pitchFamily="2" charset="-122"/>
                </a:rPr>
                <a:t>外包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gray">
            <a:xfrm>
              <a:off x="2590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厂房</a:t>
              </a:r>
              <a:r>
                <a:rPr lang="en-US" altLang="zh-CN" sz="1200" b="1" i="0" dirty="0">
                  <a:ea typeface="宋体" panose="02010600030101010101" pitchFamily="2" charset="-122"/>
                </a:rPr>
                <a:t>/</a:t>
              </a:r>
              <a:r>
                <a:rPr lang="zh-CN" altLang="en-US" sz="1200" b="1" i="0" dirty="0">
                  <a:ea typeface="宋体" panose="02010600030101010101" pitchFamily="2" charset="-122"/>
                </a:rPr>
                <a:t>设备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gray">
            <a:xfrm>
              <a:off x="3352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资产管理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gray">
            <a:xfrm>
              <a:off x="4114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大宗商品采购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gray">
            <a:xfrm>
              <a:off x="4876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供应链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gray">
            <a:xfrm>
              <a:off x="5638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配送网络管理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gray">
            <a:xfrm>
              <a:off x="6400800" y="1905000"/>
              <a:ext cx="762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项目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gray">
            <a:xfrm>
              <a:off x="7162800" y="1905000"/>
              <a:ext cx="1524000" cy="381000"/>
            </a:xfrm>
            <a:prstGeom prst="rect">
              <a:avLst/>
            </a:prstGeom>
            <a:solidFill>
              <a:srgbClr val="D9D9D9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zh-CN" altLang="en-US" sz="1200" b="1" i="0" dirty="0">
                  <a:ea typeface="宋体" panose="02010600030101010101" pitchFamily="2" charset="-122"/>
                </a:rPr>
                <a:t>服务</a:t>
              </a:r>
              <a:endParaRPr lang="en-US" altLang="zh-CN" sz="1200" b="1" i="0" dirty="0">
                <a:ea typeface="宋体" panose="02010600030101010101" pitchFamily="2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gray">
            <a:xfrm>
              <a:off x="457200" y="2286000"/>
              <a:ext cx="8229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/>
            <a:p>
              <a:endParaRPr lang="en-GB" sz="36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gray">
            <a:xfrm>
              <a:off x="457200" y="6096000"/>
              <a:ext cx="152400" cy="1524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4000" t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400" i="0" dirty="0">
                  <a:ea typeface="宋体" panose="02010600030101010101" pitchFamily="2" charset="-122"/>
                </a:rPr>
                <a:t>战略重点</a:t>
              </a:r>
              <a:endParaRPr lang="en-US" altLang="zh-CN" sz="1400" i="0" dirty="0">
                <a:ea typeface="宋体" panose="02010600030101010101" pitchFamily="2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gray">
            <a:xfrm>
              <a:off x="3200400" y="6096000"/>
              <a:ext cx="152400" cy="1524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4000" t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400" i="0" dirty="0">
                  <a:ea typeface="宋体" panose="02010600030101010101" pitchFamily="2" charset="-122"/>
                </a:rPr>
                <a:t>高成本</a:t>
              </a:r>
              <a:r>
                <a:rPr lang="en-US" altLang="zh-CN" sz="1400" i="0" dirty="0">
                  <a:ea typeface="宋体" panose="02010600030101010101" pitchFamily="2" charset="-122"/>
                </a:rPr>
                <a:t>/</a:t>
              </a:r>
              <a:r>
                <a:rPr lang="zh-CN" altLang="en-US" sz="1400" i="0" dirty="0">
                  <a:ea typeface="宋体" panose="02010600030101010101" pitchFamily="2" charset="-122"/>
                </a:rPr>
                <a:t>高投资</a:t>
              </a:r>
              <a:endParaRPr lang="en-US" altLang="zh-CN" sz="1400" i="0" dirty="0">
                <a:ea typeface="宋体" panose="02010600030101010101" pitchFamily="2" charset="-122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gray">
            <a:xfrm>
              <a:off x="6096000" y="6096000"/>
              <a:ext cx="152400" cy="1524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4000" tIns="468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400" i="0" dirty="0">
                  <a:ea typeface="宋体" panose="02010600030101010101" pitchFamily="2" charset="-122"/>
                </a:rPr>
                <a:t>转型重点</a:t>
              </a:r>
              <a:endParaRPr lang="en-US" altLang="zh-CN" sz="1400" i="0" dirty="0">
                <a:ea typeface="宋体" panose="02010600030101010101" pitchFamily="2" charset="-122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gray">
            <a:xfrm flipV="1">
              <a:off x="3352800" y="1905000"/>
              <a:ext cx="0" cy="403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6000" tIns="46800" anchor="ctr"/>
            <a:lstStyle/>
            <a:p>
              <a:endParaRPr lang="en-GB" sz="3600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gray">
            <a:xfrm flipV="1">
              <a:off x="7162800" y="1905000"/>
              <a:ext cx="0" cy="403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6000" tIns="46800" anchor="ctr"/>
            <a:lstStyle/>
            <a:p>
              <a:endParaRPr lang="en-GB" sz="3600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gray">
            <a:xfrm>
              <a:off x="1104900" y="23622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业务线规划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gray">
            <a:xfrm>
              <a:off x="1104900" y="28575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业务线评估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gray">
            <a:xfrm>
              <a:off x="1866900" y="23622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人力规划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gray">
            <a:xfrm>
              <a:off x="1866900" y="28575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人力规范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gray">
            <a:xfrm>
              <a:off x="2628900" y="23622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厂房</a:t>
              </a:r>
              <a:r>
                <a:rPr lang="en-US" altLang="zh-CN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设备规划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gray">
            <a:xfrm>
              <a:off x="2628900" y="28575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建筑群评估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gray">
            <a:xfrm>
              <a:off x="3390900" y="23622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资产规划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gray">
            <a:xfrm>
              <a:off x="3390900" y="28575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资产标准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gray">
            <a:xfrm>
              <a:off x="4152900" y="23622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大宗商品规划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gray">
            <a:xfrm>
              <a:off x="4152900" y="28575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大宗商品</a:t>
              </a:r>
              <a:endParaRPr lang="en-US" altLang="zh-CN" sz="1100" i="0" dirty="0">
                <a:ea typeface="宋体" panose="02010600030101010101" pitchFamily="2" charset="-122"/>
              </a:endParaRPr>
            </a:p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采购规范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gray">
            <a:xfrm>
              <a:off x="4914900" y="23622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供应链规划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gray">
            <a:xfrm>
              <a:off x="4914900" y="28575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供应链规则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gray">
            <a:xfrm>
              <a:off x="5676900" y="23622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配送网络规划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gray">
            <a:xfrm>
              <a:off x="5676900" y="2857500"/>
              <a:ext cx="6858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网络规范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gray">
            <a:xfrm>
              <a:off x="6438900" y="23622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项目资源规划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gray">
            <a:xfrm>
              <a:off x="6438900" y="2857500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项目治理体系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gray">
            <a:xfrm>
              <a:off x="7200900" y="2362200"/>
              <a:ext cx="14859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客户服务规划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gray">
            <a:xfrm>
              <a:off x="7200900" y="2857500"/>
              <a:ext cx="148590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客户服务政策</a:t>
              </a:r>
              <a:r>
                <a:rPr lang="en-US" altLang="zh-CN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资源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gray">
            <a:xfrm>
              <a:off x="1104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业务架构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gray">
            <a:xfrm>
              <a:off x="1104900" y="39147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管理规章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gray">
            <a:xfrm>
              <a:off x="1866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人力管理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gray">
            <a:xfrm>
              <a:off x="1866900" y="39147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人力评估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认证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gray">
            <a:xfrm>
              <a:off x="2628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使用率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gray">
            <a:xfrm>
              <a:off x="2628900" y="39147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设备监管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gray">
            <a:xfrm>
              <a:off x="3390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资产设计流程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gray">
            <a:xfrm>
              <a:off x="3390900" y="39147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资产设计审核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gray">
            <a:xfrm>
              <a:off x="4152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采购监控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gray">
            <a:xfrm>
              <a:off x="4914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供应链调整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gray">
            <a:xfrm>
              <a:off x="5676900" y="3419475"/>
              <a:ext cx="685800" cy="4572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网络使用率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gray">
            <a:xfrm>
              <a:off x="6438900" y="34194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项目管理办公室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gray">
            <a:xfrm>
              <a:off x="6438900" y="3914775"/>
              <a:ext cx="6858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项目风险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gray">
            <a:xfrm>
              <a:off x="7200900" y="3419475"/>
              <a:ext cx="14859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服务监管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gray">
            <a:xfrm>
              <a:off x="7200900" y="3914775"/>
              <a:ext cx="14859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服务问题处理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gray">
            <a:xfrm>
              <a:off x="1104900" y="4495800"/>
              <a:ext cx="685800" cy="647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业务线运行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gray">
            <a:xfrm>
              <a:off x="1104900" y="5219700"/>
              <a:ext cx="685800" cy="647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业务线合并</a:t>
              </a:r>
              <a:endParaRPr lang="en-US" altLang="zh-CN" sz="1100" i="0" dirty="0">
                <a:ea typeface="宋体" panose="02010600030101010101" pitchFamily="2" charset="-122"/>
              </a:endParaRPr>
            </a:p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和协作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gray">
            <a:xfrm>
              <a:off x="1866900" y="4495800"/>
              <a:ext cx="685800" cy="228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工资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gray">
            <a:xfrm>
              <a:off x="1866900" y="4781550"/>
              <a:ext cx="685800" cy="228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福利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gray">
            <a:xfrm>
              <a:off x="1866900" y="5067300"/>
              <a:ext cx="685800" cy="228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培训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gray">
            <a:xfrm>
              <a:off x="1866900" y="5353050"/>
              <a:ext cx="685800" cy="228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聘用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gray">
            <a:xfrm>
              <a:off x="1866900" y="5638800"/>
              <a:ext cx="685800" cy="228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调配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使用率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gray">
            <a:xfrm>
              <a:off x="2628900" y="4495800"/>
              <a:ext cx="685800" cy="41433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厂房设备维护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gray">
            <a:xfrm>
              <a:off x="2628900" y="4973638"/>
              <a:ext cx="685800" cy="4143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运行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维修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gray">
            <a:xfrm>
              <a:off x="2628900" y="5453063"/>
              <a:ext cx="685800" cy="4143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特殊环境运营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grpSp>
          <p:nvGrpSpPr>
            <p:cNvPr id="72" name="Group 71"/>
            <p:cNvGrpSpPr/>
            <p:nvPr/>
          </p:nvGrpSpPr>
          <p:grpSpPr bwMode="auto">
            <a:xfrm>
              <a:off x="3390900" y="4495800"/>
              <a:ext cx="685800" cy="1371600"/>
              <a:chOff x="2136" y="2832"/>
              <a:chExt cx="432" cy="864"/>
            </a:xfrm>
          </p:grpSpPr>
          <p:sp>
            <p:nvSpPr>
              <p:cNvPr id="85" name="Rectangle 72"/>
              <p:cNvSpPr>
                <a:spLocks noChangeArrowheads="1"/>
              </p:cNvSpPr>
              <p:nvPr/>
            </p:nvSpPr>
            <p:spPr bwMode="gray">
              <a:xfrm>
                <a:off x="2136" y="2832"/>
                <a:ext cx="432" cy="4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99999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46800" rIns="18000" anchor="ctr"/>
              <a:lstStyle>
                <a:lvl1pPr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rtl="1" eaLnBrk="1" hangingPunct="1"/>
                <a:r>
                  <a:rPr lang="zh-CN" altLang="en-US" sz="1100" i="0" dirty="0">
                    <a:ea typeface="宋体" panose="02010600030101010101" pitchFamily="2" charset="-122"/>
                  </a:rPr>
                  <a:t>资产设计</a:t>
                </a:r>
                <a:endParaRPr lang="en-US" altLang="zh-CN" sz="1100" i="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86" name="Rectangle 73"/>
              <p:cNvSpPr>
                <a:spLocks noChangeArrowheads="1"/>
              </p:cNvSpPr>
              <p:nvPr/>
            </p:nvSpPr>
            <p:spPr bwMode="gray">
              <a:xfrm>
                <a:off x="2136" y="3288"/>
                <a:ext cx="432" cy="4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99999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46800" rIns="18000" anchor="ctr"/>
              <a:lstStyle>
                <a:lvl1pPr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defRPr sz="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rtl="1" eaLnBrk="1" hangingPunct="1"/>
                <a:r>
                  <a:rPr lang="zh-CN" altLang="en-US" sz="1100" i="0" dirty="0">
                    <a:ea typeface="宋体" panose="02010600030101010101" pitchFamily="2" charset="-122"/>
                  </a:rPr>
                  <a:t>原型</a:t>
                </a:r>
                <a:r>
                  <a:rPr lang="en-US" altLang="zh-CN" sz="1100" i="0" dirty="0">
                    <a:ea typeface="宋体" panose="02010600030101010101" pitchFamily="2" charset="-122"/>
                  </a:rPr>
                  <a:t>/</a:t>
                </a:r>
                <a:r>
                  <a:rPr lang="zh-CN" altLang="en-US" sz="1100" i="0" dirty="0">
                    <a:ea typeface="宋体" panose="02010600030101010101" pitchFamily="2" charset="-122"/>
                  </a:rPr>
                  <a:t>实验</a:t>
                </a:r>
                <a:endParaRPr lang="en-US" altLang="zh-CN" sz="1100" i="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3" name="Rectangle 74"/>
            <p:cNvSpPr>
              <a:spLocks noChangeArrowheads="1"/>
            </p:cNvSpPr>
            <p:nvPr/>
          </p:nvSpPr>
          <p:spPr bwMode="gray">
            <a:xfrm>
              <a:off x="4152900" y="4495800"/>
              <a:ext cx="685800" cy="6477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采购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gray">
            <a:xfrm>
              <a:off x="4914900" y="4495800"/>
              <a:ext cx="685800" cy="6477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供应链运行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gray">
            <a:xfrm>
              <a:off x="5676900" y="4495800"/>
              <a:ext cx="685800" cy="41433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en-US" altLang="zh-CN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Build</a:t>
              </a:r>
              <a:r>
                <a:rPr lang="zh-CN" altLang="en-US" sz="1100" i="0" dirty="0">
                  <a:solidFill>
                    <a:schemeClr val="bg1"/>
                  </a:solidFill>
                  <a:ea typeface="宋体" panose="02010600030101010101" pitchFamily="2" charset="-122"/>
                </a:rPr>
                <a:t>建立网络和设施</a:t>
              </a:r>
              <a:endParaRPr lang="en-US" altLang="zh-CN" sz="1100" i="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77"/>
            <p:cNvSpPr>
              <a:spLocks noChangeArrowheads="1"/>
            </p:cNvSpPr>
            <p:nvPr/>
          </p:nvSpPr>
          <p:spPr bwMode="gray">
            <a:xfrm>
              <a:off x="5676900" y="4973638"/>
              <a:ext cx="685800" cy="4143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网络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设施运行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gray">
            <a:xfrm>
              <a:off x="5676900" y="5453063"/>
              <a:ext cx="685800" cy="4143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网络</a:t>
              </a:r>
              <a:r>
                <a:rPr lang="en-US" altLang="zh-CN" sz="1100" i="0" dirty="0">
                  <a:ea typeface="宋体" panose="02010600030101010101" pitchFamily="2" charset="-122"/>
                </a:rPr>
                <a:t>/</a:t>
              </a:r>
              <a:r>
                <a:rPr lang="zh-CN" altLang="en-US" sz="1100" i="0" dirty="0">
                  <a:ea typeface="宋体" panose="02010600030101010101" pitchFamily="2" charset="-122"/>
                </a:rPr>
                <a:t>设施维护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8" name="Rectangle 79"/>
            <p:cNvSpPr>
              <a:spLocks noChangeArrowheads="1"/>
            </p:cNvSpPr>
            <p:nvPr/>
          </p:nvSpPr>
          <p:spPr bwMode="gray">
            <a:xfrm>
              <a:off x="6438900" y="4495800"/>
              <a:ext cx="685800" cy="647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项目日常管理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79" name="Rectangle 80"/>
            <p:cNvSpPr>
              <a:spLocks noChangeArrowheads="1"/>
            </p:cNvSpPr>
            <p:nvPr/>
          </p:nvSpPr>
          <p:spPr bwMode="gray">
            <a:xfrm>
              <a:off x="6438900" y="5219700"/>
              <a:ext cx="685800" cy="647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项目管理支持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0" name="Rectangle 81"/>
            <p:cNvSpPr>
              <a:spLocks noChangeArrowheads="1"/>
            </p:cNvSpPr>
            <p:nvPr/>
          </p:nvSpPr>
          <p:spPr bwMode="gray">
            <a:xfrm>
              <a:off x="7200900" y="4495800"/>
              <a:ext cx="1485900" cy="3048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服务工单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1" name="Rectangle 82"/>
            <p:cNvSpPr>
              <a:spLocks noChangeArrowheads="1"/>
            </p:cNvSpPr>
            <p:nvPr/>
          </p:nvSpPr>
          <p:spPr bwMode="gray">
            <a:xfrm>
              <a:off x="7200900" y="4851400"/>
              <a:ext cx="1485900" cy="3048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提供客户服务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2" name="Rectangle 83"/>
            <p:cNvSpPr>
              <a:spLocks noChangeArrowheads="1"/>
            </p:cNvSpPr>
            <p:nvPr/>
          </p:nvSpPr>
          <p:spPr bwMode="gray">
            <a:xfrm>
              <a:off x="7200900" y="5207000"/>
              <a:ext cx="1485900" cy="3048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客户服务历史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3" name="Rectangle 84"/>
            <p:cNvSpPr>
              <a:spLocks noChangeArrowheads="1"/>
            </p:cNvSpPr>
            <p:nvPr/>
          </p:nvSpPr>
          <p:spPr bwMode="gray">
            <a:xfrm>
              <a:off x="7200900" y="5562600"/>
              <a:ext cx="1485900" cy="3048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9999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zh-CN" altLang="en-US" sz="1100" i="0" dirty="0">
                  <a:ea typeface="宋体" panose="02010600030101010101" pitchFamily="2" charset="-122"/>
                </a:rPr>
                <a:t>服务转接</a:t>
              </a:r>
              <a:endParaRPr lang="en-US" altLang="zh-CN" sz="1100" i="0" dirty="0">
                <a:ea typeface="宋体" panose="02010600030101010101" pitchFamily="2" charset="-122"/>
              </a:endParaRPr>
            </a:p>
          </p:txBody>
        </p:sp>
        <p:sp>
          <p:nvSpPr>
            <p:cNvPr id="84" name="Line 85"/>
            <p:cNvSpPr>
              <a:spLocks noChangeShapeType="1"/>
            </p:cNvSpPr>
            <p:nvPr/>
          </p:nvSpPr>
          <p:spPr bwMode="gray">
            <a:xfrm>
              <a:off x="457200" y="1905000"/>
              <a:ext cx="8229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46800" rIns="18000" anchor="ctr"/>
            <a:lstStyle/>
            <a:p>
              <a:endParaRPr lang="en-GB" sz="36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业务能力图（</a:t>
            </a:r>
            <a:r>
              <a:rPr lang="en-US" altLang="zh-CN" dirty="0"/>
              <a:t>CBM</a:t>
            </a:r>
            <a:r>
              <a:rPr lang="zh-CN" altLang="en-US" dirty="0"/>
              <a:t>）示例：制造业</a:t>
            </a:r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333775" y="1312950"/>
            <a:ext cx="9337675" cy="5125938"/>
            <a:chOff x="317500" y="1225550"/>
            <a:chExt cx="8420100" cy="4737100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317500" y="1225550"/>
              <a:ext cx="698500" cy="3175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17500" y="1543050"/>
              <a:ext cx="698500" cy="1473200"/>
            </a:xfrm>
            <a:prstGeom prst="rect">
              <a:avLst/>
            </a:prstGeom>
            <a:gradFill rotWithShape="0">
              <a:gsLst>
                <a:gs pos="0">
                  <a:srgbClr val="646464"/>
                </a:gs>
                <a:gs pos="100000">
                  <a:srgbClr val="C8C8C8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2000" b="1" i="0" dirty="0"/>
                <a:t>战略规划</a:t>
              </a:r>
              <a:endParaRPr lang="en-GB" altLang="zh-CN" sz="2000" b="1" i="0" dirty="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17500" y="3016250"/>
              <a:ext cx="698500" cy="1473200"/>
            </a:xfrm>
            <a:prstGeom prst="rect">
              <a:avLst/>
            </a:prstGeom>
            <a:gradFill rotWithShape="0">
              <a:gsLst>
                <a:gs pos="0">
                  <a:srgbClr val="646464"/>
                </a:gs>
                <a:gs pos="100000">
                  <a:srgbClr val="C8C8C8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2000" b="1" i="0" dirty="0"/>
                <a:t>管理控制</a:t>
              </a:r>
              <a:endParaRPr lang="en-GB" altLang="zh-CN" sz="2000" b="1" i="0" dirty="0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17500" y="4489450"/>
              <a:ext cx="698500" cy="1473200"/>
            </a:xfrm>
            <a:prstGeom prst="rect">
              <a:avLst/>
            </a:prstGeom>
            <a:gradFill rotWithShape="0">
              <a:gsLst>
                <a:gs pos="0">
                  <a:srgbClr val="646464"/>
                </a:gs>
                <a:gs pos="100000">
                  <a:srgbClr val="C8C8C8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2000" b="1" i="0" dirty="0"/>
                <a:t>操作执行</a:t>
              </a:r>
              <a:endParaRPr lang="en-GB" altLang="zh-CN" sz="2000" b="1" i="0" dirty="0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0160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27272"/>
                </a:gs>
                <a:gs pos="100000">
                  <a:srgbClr val="E4E4E4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市场</a:t>
              </a:r>
              <a:r>
                <a:rPr lang="en-US" altLang="zh-CN" sz="1400" b="1" i="0" dirty="0"/>
                <a:t>/</a:t>
              </a:r>
              <a:r>
                <a:rPr lang="zh-CN" altLang="en-US" sz="1400" b="1" i="0" dirty="0"/>
                <a:t>销售</a:t>
              </a:r>
              <a:endParaRPr lang="en-GB" altLang="zh-CN" sz="1400" b="1" i="0" dirty="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0160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12" name="Rectangle 10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1568450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市场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销售策略</a:t>
              </a:r>
              <a:endParaRPr lang="en-GB" altLang="zh-CN" sz="1200" i="0" dirty="0"/>
            </a:p>
          </p:txBody>
        </p:sp>
        <p:sp>
          <p:nvSpPr>
            <p:cNvPr id="13" name="Rectangle 11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1857375"/>
              <a:ext cx="914400" cy="265113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客户管理管理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大客户</a:t>
              </a:r>
              <a:endParaRPr lang="en-GB" altLang="zh-CN" sz="1200" i="0" dirty="0"/>
            </a:p>
          </p:txBody>
        </p:sp>
        <p:sp>
          <p:nvSpPr>
            <p:cNvPr id="14" name="Rectangle 1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2147888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产品线管理</a:t>
              </a:r>
              <a:endParaRPr lang="en-GB" altLang="zh-CN" sz="1200" i="0" dirty="0"/>
            </a:p>
          </p:txBody>
        </p:sp>
        <p:sp>
          <p:nvSpPr>
            <p:cNvPr id="15" name="Rectangle 1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2436813"/>
              <a:ext cx="914400" cy="265112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销售渠道建设</a:t>
              </a:r>
              <a:endParaRPr lang="en-GB" altLang="zh-CN" sz="1200" i="0" dirty="0"/>
            </a:p>
          </p:txBody>
        </p:sp>
        <p:sp>
          <p:nvSpPr>
            <p:cNvPr id="16" name="Rectangle 1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2727325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销售定价</a:t>
              </a:r>
              <a:endParaRPr lang="en-GB" altLang="zh-CN" sz="1200" i="0" dirty="0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0160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18" name="Rectangle 16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30416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市场调查</a:t>
              </a:r>
              <a:endParaRPr lang="en-GB" altLang="zh-CN" sz="1200" i="0" dirty="0"/>
            </a:p>
          </p:txBody>
        </p:sp>
        <p:sp>
          <p:nvSpPr>
            <p:cNvPr id="19" name="Rectangle 1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34036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市场和客户传播</a:t>
              </a:r>
              <a:endParaRPr lang="en-GB" altLang="zh-CN" sz="1200" i="0" dirty="0"/>
            </a:p>
          </p:txBody>
        </p:sp>
        <p:sp>
          <p:nvSpPr>
            <p:cNvPr id="20" name="Rectangle 18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37655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投诉管理和反馈</a:t>
              </a:r>
              <a:endParaRPr lang="en-GB" altLang="zh-CN" sz="1200" i="0" dirty="0"/>
            </a:p>
          </p:txBody>
        </p:sp>
        <p:sp>
          <p:nvSpPr>
            <p:cNvPr id="21" name="Rectangle 1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41275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合同管理</a:t>
              </a:r>
              <a:endParaRPr lang="en-GB" altLang="zh-CN" sz="1200" i="0" dirty="0"/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10160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23" name="Rectangle 21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4514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GB" altLang="zh-CN" sz="1200" i="0"/>
                <a:t>Sales and Pricing Execution</a:t>
              </a:r>
              <a:endParaRPr lang="en-GB" altLang="zh-CN" sz="1200" i="0"/>
            </a:p>
          </p:txBody>
        </p:sp>
        <p:sp>
          <p:nvSpPr>
            <p:cNvPr id="24" name="Rectangle 2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49974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订单管理</a:t>
              </a:r>
              <a:endParaRPr lang="en-GB" altLang="zh-CN" sz="1200" i="0" dirty="0"/>
            </a:p>
          </p:txBody>
        </p:sp>
        <p:sp>
          <p:nvSpPr>
            <p:cNvPr id="25" name="Rectangle 2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41400" y="54800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客户账单</a:t>
              </a:r>
              <a:endParaRPr lang="en-GB" altLang="zh-CN" sz="1200" i="0" dirty="0"/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9812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27272"/>
                </a:gs>
                <a:gs pos="100000">
                  <a:srgbClr val="E4E4E4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产品研发</a:t>
              </a:r>
              <a:endParaRPr lang="en-GB" altLang="zh-CN" sz="1400" b="1" i="0" dirty="0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19812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28" name="Rectangle 26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15684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产品战略</a:t>
              </a:r>
              <a:endParaRPr lang="en-GB" altLang="zh-CN" sz="1200" i="0" dirty="0"/>
            </a:p>
          </p:txBody>
        </p:sp>
        <p:sp>
          <p:nvSpPr>
            <p:cNvPr id="29" name="Rectangle 2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22923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研发管理</a:t>
              </a:r>
              <a:endParaRPr lang="en-GB" altLang="zh-CN" sz="1200" i="0" dirty="0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19812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31" name="Rectangle 2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30416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技术和工艺管理</a:t>
              </a:r>
              <a:endParaRPr lang="en-GB" altLang="zh-CN" sz="1200" i="0" dirty="0"/>
            </a:p>
          </p:txBody>
        </p:sp>
        <p:sp>
          <p:nvSpPr>
            <p:cNvPr id="32" name="Rectangle 30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37655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产品周期管理</a:t>
              </a:r>
              <a:endParaRPr lang="en-GB" altLang="zh-CN" sz="1200" i="0" dirty="0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19812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34" name="Rectangle 32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4514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生产工艺</a:t>
              </a:r>
              <a:endParaRPr lang="en-GB" altLang="zh-CN" sz="1200" i="0" dirty="0"/>
            </a:p>
          </p:txBody>
        </p:sp>
        <p:sp>
          <p:nvSpPr>
            <p:cNvPr id="35" name="Rectangle 3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49974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产品开发</a:t>
              </a:r>
              <a:endParaRPr lang="en-GB" altLang="zh-CN" sz="1200" i="0" dirty="0"/>
            </a:p>
          </p:txBody>
        </p:sp>
        <p:sp>
          <p:nvSpPr>
            <p:cNvPr id="36" name="Rectangle 3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006600" y="54800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产品数据管理</a:t>
              </a:r>
              <a:endParaRPr lang="en-GB" altLang="zh-CN" sz="1200" i="0" dirty="0"/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29464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27272"/>
                </a:gs>
                <a:gs pos="100000">
                  <a:srgbClr val="E4E4E4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b="1" i="0" dirty="0"/>
                <a:t>生产材料管理</a:t>
              </a:r>
              <a:endParaRPr lang="en-GB" altLang="zh-CN" sz="1200" b="1" i="0" dirty="0"/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29464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39" name="Rectangle 37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15684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采购策略</a:t>
              </a:r>
              <a:endParaRPr lang="en-GB" altLang="zh-CN" sz="1200" i="0" dirty="0"/>
            </a:p>
          </p:txBody>
        </p:sp>
        <p:sp>
          <p:nvSpPr>
            <p:cNvPr id="40" name="Rectangle 38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22923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需求管理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预测</a:t>
              </a:r>
              <a:endParaRPr lang="en-GB" altLang="zh-CN" sz="1200" i="0" dirty="0"/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29464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42" name="Rectangle 40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30416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供应商管理</a:t>
              </a:r>
              <a:endParaRPr lang="en-GB" altLang="zh-CN" sz="1200" i="0" dirty="0"/>
            </a:p>
          </p:txBody>
        </p:sp>
        <p:sp>
          <p:nvSpPr>
            <p:cNvPr id="43" name="Rectangle 41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37655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供应链能力管理</a:t>
              </a:r>
              <a:endParaRPr lang="en-GB" altLang="zh-CN" sz="1200" i="0" dirty="0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9464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45" name="Rectangle 43">
              <a:hlinkClick r:id="rId6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4514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采购</a:t>
              </a:r>
              <a:endParaRPr lang="en-GB" altLang="zh-CN" sz="1200" i="0" dirty="0"/>
            </a:p>
          </p:txBody>
        </p:sp>
        <p:sp>
          <p:nvSpPr>
            <p:cNvPr id="46" name="Rectangle 44">
              <a:hlinkClick r:id="rId7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49974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库存管理</a:t>
              </a:r>
              <a:endParaRPr lang="en-GB" altLang="zh-CN" sz="1200" i="0" dirty="0"/>
            </a:p>
          </p:txBody>
        </p:sp>
        <p:sp>
          <p:nvSpPr>
            <p:cNvPr id="47" name="Rectangle 45">
              <a:hlinkClick r:id="rId8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971800" y="54800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配送安排</a:t>
              </a:r>
              <a:endParaRPr lang="en-GB" altLang="zh-CN" sz="1200" i="0" dirty="0"/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39116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27272"/>
                </a:gs>
                <a:gs pos="100000">
                  <a:srgbClr val="E4E4E4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生产</a:t>
              </a:r>
              <a:r>
                <a:rPr lang="en-US" altLang="zh-CN" sz="1400" b="1" i="0" dirty="0"/>
                <a:t>/</a:t>
              </a:r>
              <a:r>
                <a:rPr lang="zh-CN" altLang="en-US" sz="1400" b="1" i="0" dirty="0"/>
                <a:t>外采</a:t>
              </a:r>
              <a:endParaRPr lang="en-GB" altLang="zh-CN" sz="1400" b="1" i="0" dirty="0"/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9116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50" name="Rectangle 48">
              <a:hlinkClick r:id="rId9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15684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内部生产</a:t>
              </a:r>
              <a:r>
                <a:rPr lang="en-GB" altLang="zh-CN" sz="1200" i="0" dirty="0"/>
                <a:t> /</a:t>
              </a:r>
              <a:r>
                <a:rPr lang="zh-CN" altLang="en-US" sz="1200" i="0" dirty="0"/>
                <a:t>外采</a:t>
              </a:r>
              <a:r>
                <a:rPr lang="en-GB" altLang="zh-CN" sz="1200" i="0" dirty="0"/>
                <a:t> </a:t>
              </a:r>
              <a:r>
                <a:rPr lang="zh-CN" altLang="en-US" sz="1200" i="0" dirty="0"/>
                <a:t>策略</a:t>
              </a:r>
              <a:endParaRPr lang="en-GB" altLang="zh-CN" sz="1200" i="0" dirty="0"/>
            </a:p>
          </p:txBody>
        </p:sp>
        <p:sp>
          <p:nvSpPr>
            <p:cNvPr id="51" name="Rectangle 4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22923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外采网络优化</a:t>
              </a:r>
              <a:endParaRPr lang="en-GB" altLang="zh-CN" sz="1200" i="0" dirty="0"/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39116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53" name="Rectangle 51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30416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生产</a:t>
              </a:r>
              <a:r>
                <a:rPr lang="en-GB" altLang="zh-CN" sz="1200" i="0" dirty="0"/>
                <a:t>/</a:t>
              </a:r>
              <a:r>
                <a:rPr lang="zh-CN" altLang="en-US" sz="1200" i="0" dirty="0"/>
                <a:t>外采活动管理</a:t>
              </a:r>
              <a:endParaRPr lang="en-GB" altLang="zh-CN" sz="1200" i="0" dirty="0"/>
            </a:p>
          </p:txBody>
        </p:sp>
        <p:sp>
          <p:nvSpPr>
            <p:cNvPr id="54" name="Rectangle 5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35242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生产</a:t>
              </a:r>
              <a:r>
                <a:rPr lang="en-GB" altLang="zh-CN" sz="1200" i="0" dirty="0"/>
                <a:t>/</a:t>
              </a:r>
              <a:r>
                <a:rPr lang="zh-CN" altLang="en-US" sz="1200" i="0" dirty="0"/>
                <a:t>外采表现</a:t>
              </a:r>
              <a:endParaRPr lang="en-GB" altLang="zh-CN" sz="1200" i="0" dirty="0"/>
            </a:p>
          </p:txBody>
        </p:sp>
        <p:sp>
          <p:nvSpPr>
            <p:cNvPr id="55" name="Rectangle 5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4006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产品质量管理</a:t>
              </a:r>
              <a:endParaRPr lang="en-GB" altLang="zh-CN" sz="1200" i="0" dirty="0"/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39116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57" name="Rectangle 55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4514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生产制造</a:t>
              </a:r>
              <a:endParaRPr lang="en-GB" altLang="zh-CN" sz="1200" i="0" dirty="0"/>
            </a:p>
          </p:txBody>
        </p:sp>
        <p:sp>
          <p:nvSpPr>
            <p:cNvPr id="58" name="Rectangle 56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49974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外采制造</a:t>
              </a:r>
              <a:endParaRPr lang="en-GB" altLang="zh-CN" sz="1200" i="0" dirty="0"/>
            </a:p>
          </p:txBody>
        </p:sp>
        <p:sp>
          <p:nvSpPr>
            <p:cNvPr id="59" name="Rectangle 5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3937000" y="54800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工厂维护</a:t>
              </a:r>
              <a:endParaRPr lang="en-GB" altLang="zh-CN" sz="1200" i="0" dirty="0"/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48768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87878"/>
                </a:gs>
                <a:gs pos="100000">
                  <a:srgbClr val="F0F0F0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交付</a:t>
              </a:r>
              <a:endParaRPr lang="en-GB" altLang="zh-CN" sz="1400" b="1" i="0" dirty="0"/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48768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62" name="Rectangle 60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1568450"/>
              <a:ext cx="914400" cy="14224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交付策略</a:t>
              </a:r>
              <a:endParaRPr lang="en-GB" altLang="zh-CN" sz="1200" i="0" dirty="0"/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48768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64" name="Rectangle 6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30416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交付和项目</a:t>
              </a:r>
              <a:endParaRPr lang="en-GB" altLang="zh-CN" sz="1200" i="0" dirty="0"/>
            </a:p>
          </p:txBody>
        </p:sp>
        <p:sp>
          <p:nvSpPr>
            <p:cNvPr id="65" name="Rectangle 6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34036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交付成本控制</a:t>
              </a:r>
              <a:endParaRPr lang="en-GB" altLang="zh-CN" sz="1200" i="0" dirty="0"/>
            </a:p>
          </p:txBody>
        </p:sp>
        <p:sp>
          <p:nvSpPr>
            <p:cNvPr id="66" name="Rectangle 6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37655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交付风险</a:t>
              </a:r>
              <a:endParaRPr lang="en-GB" altLang="zh-CN" sz="1200" i="0" dirty="0"/>
            </a:p>
          </p:txBody>
        </p:sp>
        <p:sp>
          <p:nvSpPr>
            <p:cNvPr id="67" name="Rectangle 65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41275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交付质量</a:t>
              </a:r>
              <a:endParaRPr lang="en-GB" altLang="zh-CN" sz="1200" i="0" dirty="0"/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48768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69" name="Rectangle 6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4514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产品交付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项目执行</a:t>
              </a:r>
              <a:endParaRPr lang="en-GB" altLang="zh-CN" sz="1200" i="0" dirty="0"/>
            </a:p>
          </p:txBody>
        </p:sp>
        <p:sp>
          <p:nvSpPr>
            <p:cNvPr id="70" name="Rectangle 68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49974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交付支持和后勤</a:t>
              </a:r>
              <a:endParaRPr lang="en-GB" altLang="zh-CN" sz="1200" i="0" dirty="0"/>
            </a:p>
          </p:txBody>
        </p:sp>
        <p:sp>
          <p:nvSpPr>
            <p:cNvPr id="71" name="Rectangle 6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902200" y="54800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安装</a:t>
              </a:r>
              <a:endParaRPr lang="en-GB" altLang="zh-CN" sz="1200" i="0" dirty="0"/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58420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87878"/>
                </a:gs>
                <a:gs pos="100000">
                  <a:srgbClr val="F0F0F0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服务</a:t>
              </a:r>
              <a:endParaRPr lang="en-GB" altLang="zh-CN" sz="1400" b="1" i="0" dirty="0"/>
            </a:p>
          </p:txBody>
        </p:sp>
        <p:sp>
          <p:nvSpPr>
            <p:cNvPr id="73" name="Rectangle 71"/>
            <p:cNvSpPr>
              <a:spLocks noChangeArrowheads="1"/>
            </p:cNvSpPr>
            <p:nvPr/>
          </p:nvSpPr>
          <p:spPr bwMode="auto">
            <a:xfrm>
              <a:off x="58420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74" name="Rectangle 7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15684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服务策略</a:t>
              </a:r>
              <a:endParaRPr lang="en-GB" altLang="zh-CN" sz="1200" i="0" dirty="0"/>
            </a:p>
          </p:txBody>
        </p:sp>
        <p:sp>
          <p:nvSpPr>
            <p:cNvPr id="75" name="Rectangle 7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22923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服务内容规划</a:t>
              </a:r>
              <a:endParaRPr lang="en-GB" altLang="zh-CN" sz="1200" i="0" dirty="0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58420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77" name="Rectangle 75">
              <a:hlinkClick r:id="rId10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30416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服务能力配备</a:t>
              </a:r>
              <a:endParaRPr lang="en-GB" altLang="zh-CN" sz="1200" i="0" dirty="0"/>
            </a:p>
          </p:txBody>
        </p:sp>
        <p:sp>
          <p:nvSpPr>
            <p:cNvPr id="78" name="Rectangle 76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35242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服务水平监控</a:t>
              </a:r>
              <a:endParaRPr lang="en-GB" altLang="zh-CN" sz="1200" i="0" dirty="0"/>
            </a:p>
          </p:txBody>
        </p:sp>
        <p:sp>
          <p:nvSpPr>
            <p:cNvPr id="79" name="Rectangle 7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4006850"/>
              <a:ext cx="914400" cy="4572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服务质量</a:t>
              </a:r>
              <a:endParaRPr lang="en-GB" altLang="zh-CN" sz="1200" i="0" dirty="0"/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58420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81" name="Rectangle 7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45148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外派服务人员</a:t>
              </a:r>
              <a:endParaRPr lang="en-GB" altLang="zh-CN" sz="1200" i="0" dirty="0"/>
            </a:p>
          </p:txBody>
        </p:sp>
        <p:sp>
          <p:nvSpPr>
            <p:cNvPr id="82" name="Rectangle 80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867400" y="52387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咨询和培训</a:t>
              </a:r>
              <a:endParaRPr lang="en-GB" altLang="zh-CN" sz="1200" i="0" dirty="0"/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68072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87878"/>
                </a:gs>
                <a:gs pos="100000">
                  <a:srgbClr val="F0F0F0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财务管理</a:t>
              </a:r>
              <a:endParaRPr lang="en-GB" altLang="zh-CN" sz="1400" b="1" i="0" dirty="0"/>
            </a:p>
          </p:txBody>
        </p:sp>
        <p:sp>
          <p:nvSpPr>
            <p:cNvPr id="84" name="Rectangle 82"/>
            <p:cNvSpPr>
              <a:spLocks noChangeArrowheads="1"/>
            </p:cNvSpPr>
            <p:nvPr/>
          </p:nvSpPr>
          <p:spPr bwMode="auto">
            <a:xfrm>
              <a:off x="68072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85" name="Rectangle 8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1568450"/>
              <a:ext cx="914400" cy="14224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财务规划</a:t>
              </a:r>
              <a:endParaRPr lang="en-GB" altLang="zh-CN" sz="1200" i="0" dirty="0"/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68072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87" name="Rectangle 85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3041650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财务预测</a:t>
              </a:r>
              <a:endParaRPr lang="en-GB" altLang="zh-CN" sz="1200" i="0" dirty="0"/>
            </a:p>
          </p:txBody>
        </p:sp>
        <p:sp>
          <p:nvSpPr>
            <p:cNvPr id="88" name="Rectangle 86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3330575"/>
              <a:ext cx="914400" cy="265113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财务汇总和报告</a:t>
              </a:r>
              <a:endParaRPr lang="en-GB" altLang="zh-CN" sz="1200" i="0" dirty="0"/>
            </a:p>
          </p:txBody>
        </p:sp>
        <p:sp>
          <p:nvSpPr>
            <p:cNvPr id="89" name="Rectangle 8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3621088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业绩管理</a:t>
              </a:r>
              <a:endParaRPr lang="en-GB" altLang="zh-CN" sz="1200" i="0" dirty="0"/>
            </a:p>
          </p:txBody>
        </p:sp>
        <p:sp>
          <p:nvSpPr>
            <p:cNvPr id="90" name="Rectangle 88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3910013"/>
              <a:ext cx="914400" cy="265112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税务管理</a:t>
              </a:r>
              <a:endParaRPr lang="en-GB" altLang="zh-CN" sz="1200" i="0" dirty="0"/>
            </a:p>
          </p:txBody>
        </p:sp>
        <p:sp>
          <p:nvSpPr>
            <p:cNvPr id="91" name="Rectangle 8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4200525"/>
              <a:ext cx="914400" cy="263525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资金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现金管理</a:t>
              </a:r>
              <a:endParaRPr lang="en-GB" altLang="zh-CN" sz="1200" i="0" dirty="0"/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68072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93" name="Rectangle 91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6832600" y="4514850"/>
              <a:ext cx="914400" cy="14224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财务和记账</a:t>
              </a:r>
              <a:endParaRPr lang="en-GB" altLang="zh-CN" sz="1200" i="0" dirty="0"/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7772400" y="1225550"/>
              <a:ext cx="965200" cy="317500"/>
            </a:xfrm>
            <a:prstGeom prst="rect">
              <a:avLst/>
            </a:prstGeom>
            <a:gradFill rotWithShape="0">
              <a:gsLst>
                <a:gs pos="0">
                  <a:srgbClr val="787878"/>
                </a:gs>
                <a:gs pos="100000">
                  <a:srgbClr val="F0F0F0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400" b="1" i="0" dirty="0"/>
                <a:t>企业后台</a:t>
              </a:r>
              <a:endParaRPr lang="en-GB" altLang="zh-CN" sz="1400" b="1" i="0" dirty="0"/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7772400" y="15430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96" name="Rectangle 9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15684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企业战略和规划</a:t>
              </a:r>
              <a:endParaRPr lang="en-GB" altLang="zh-CN" sz="1200" i="0" dirty="0"/>
            </a:p>
          </p:txBody>
        </p:sp>
        <p:sp>
          <p:nvSpPr>
            <p:cNvPr id="97" name="Rectangle 95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22923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收购和联盟</a:t>
              </a:r>
              <a:endParaRPr lang="en-GB" altLang="zh-CN" sz="1200" i="0" dirty="0"/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7772400" y="30162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99" name="Rectangle 97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30416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组织架构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企业治理</a:t>
              </a:r>
              <a:endParaRPr lang="en-GB" altLang="zh-CN" sz="1200" i="0" dirty="0"/>
            </a:p>
          </p:txBody>
        </p:sp>
        <p:sp>
          <p:nvSpPr>
            <p:cNvPr id="100" name="Rectangle 98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34036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法务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合规</a:t>
              </a:r>
              <a:endParaRPr lang="en-GB" altLang="zh-CN" sz="1200" i="0" dirty="0"/>
            </a:p>
          </p:txBody>
        </p:sp>
        <p:sp>
          <p:nvSpPr>
            <p:cNvPr id="101" name="Rectangle 99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376555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风险管理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审计</a:t>
              </a:r>
              <a:endParaRPr lang="en-GB" altLang="zh-CN" sz="1200" i="0" dirty="0"/>
            </a:p>
          </p:txBody>
        </p:sp>
        <p:sp>
          <p:nvSpPr>
            <p:cNvPr id="102" name="Rectangle 100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4127500"/>
              <a:ext cx="914400" cy="33655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US" altLang="zh-CN" sz="1200" i="0" dirty="0"/>
                <a:t>IT</a:t>
              </a:r>
              <a:r>
                <a:rPr lang="zh-CN" altLang="en-US" sz="1200" i="0" dirty="0"/>
                <a:t>设计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规划</a:t>
              </a:r>
              <a:endParaRPr lang="en-GB" altLang="zh-CN" sz="1200" i="0" dirty="0"/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7772400" y="4489450"/>
              <a:ext cx="965200" cy="14732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1600"/>
            </a:p>
          </p:txBody>
        </p:sp>
        <p:sp>
          <p:nvSpPr>
            <p:cNvPr id="104" name="Rectangle 102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45148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zh-CN" altLang="en-US" sz="1200" i="0" dirty="0"/>
                <a:t>人力资源</a:t>
              </a:r>
              <a:r>
                <a:rPr lang="en-US" altLang="zh-CN" sz="1200" i="0" dirty="0"/>
                <a:t>/</a:t>
              </a:r>
              <a:r>
                <a:rPr lang="zh-CN" altLang="en-US" sz="1200" i="0" dirty="0"/>
                <a:t>薪酬</a:t>
              </a:r>
              <a:endParaRPr lang="en-GB" altLang="zh-CN" sz="1200" i="0" dirty="0"/>
            </a:p>
          </p:txBody>
        </p:sp>
        <p:sp>
          <p:nvSpPr>
            <p:cNvPr id="105" name="Rectangle 103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797800" y="5238750"/>
              <a:ext cx="914400" cy="698500"/>
            </a:xfrm>
            <a:prstGeom prst="rect">
              <a:avLst/>
            </a:prstGeom>
            <a:gradFill rotWithShape="0">
              <a:gsLst>
                <a:gs pos="0">
                  <a:srgbClr val="FEFEFE"/>
                </a:gs>
                <a:gs pos="100000">
                  <a:srgbClr val="F1F1F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defRPr sz="800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buClr>
                  <a:schemeClr val="accent2"/>
                </a:buClr>
              </a:pPr>
              <a:r>
                <a:rPr lang="en-US" altLang="zh-CN" sz="1200" i="0" dirty="0"/>
                <a:t>IT</a:t>
              </a:r>
              <a:r>
                <a:rPr lang="zh-CN" altLang="en-US" sz="1200" i="0" dirty="0"/>
                <a:t>系统开发和维护</a:t>
              </a:r>
              <a:endParaRPr lang="en-GB" altLang="zh-CN" sz="1200" i="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77813"/>
            <a:ext cx="8491611" cy="685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400" dirty="0"/>
              <a:t>业务能力和组件模型可以用于制定企业战略、运营战略、组织转型和</a:t>
            </a:r>
            <a:r>
              <a:rPr lang="en-US" altLang="zh-CN" sz="2400" dirty="0"/>
              <a:t>IT</a:t>
            </a:r>
            <a:r>
              <a:rPr lang="zh-CN" altLang="en-US" sz="2400" dirty="0"/>
              <a:t>规划等多个方面，是企业架构设计的基础</a:t>
            </a:r>
            <a:endParaRPr lang="zh-CN" altLang="en-US" sz="2400" dirty="0"/>
          </a:p>
        </p:txBody>
      </p:sp>
      <p:sp>
        <p:nvSpPr>
          <p:cNvPr id="77827" name="Rectangle 5"/>
          <p:cNvSpPr>
            <a:spLocks noChangeArrowheads="1"/>
          </p:cNvSpPr>
          <p:nvPr/>
        </p:nvSpPr>
        <p:spPr bwMode="auto">
          <a:xfrm>
            <a:off x="288925" y="1435100"/>
            <a:ext cx="6902450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grpSp>
        <p:nvGrpSpPr>
          <p:cNvPr id="77828" name="Group 7"/>
          <p:cNvGrpSpPr/>
          <p:nvPr/>
        </p:nvGrpSpPr>
        <p:grpSpPr bwMode="auto">
          <a:xfrm>
            <a:off x="998538" y="2060575"/>
            <a:ext cx="7985125" cy="4268788"/>
            <a:chOff x="1771" y="1468"/>
            <a:chExt cx="4052" cy="2212"/>
          </a:xfrm>
        </p:grpSpPr>
        <p:sp>
          <p:nvSpPr>
            <p:cNvPr id="77830" name="Rectangle 8"/>
            <p:cNvSpPr>
              <a:spLocks noChangeArrowheads="1"/>
            </p:cNvSpPr>
            <p:nvPr/>
          </p:nvSpPr>
          <p:spPr bwMode="auto">
            <a:xfrm>
              <a:off x="3790" y="1646"/>
              <a:ext cx="2033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/>
            <a:lstStyle>
              <a:lvl1pPr marL="285750" indent="-285750"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确定三级活动</a:t>
              </a:r>
              <a:endParaRPr lang="zh-CN" altLang="en-US" sz="160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组合快速生成流程</a:t>
              </a:r>
              <a:endParaRPr lang="zh-CN" altLang="en-US" sz="160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企业级的流程优化设计 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77831" name="Rectangle 9"/>
            <p:cNvSpPr>
              <a:spLocks noChangeArrowheads="1"/>
            </p:cNvSpPr>
            <p:nvPr/>
          </p:nvSpPr>
          <p:spPr bwMode="auto">
            <a:xfrm>
              <a:off x="1807" y="2766"/>
              <a:ext cx="1678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/>
            <a:lstStyle>
              <a:lvl1pPr marL="285750" indent="-285750"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匹配业务能力和组织单元，决策机制。从“以职能为中心”转向“以价值和能力为中心”</a:t>
              </a:r>
              <a:endParaRPr lang="en-US" altLang="zh-CN" sz="1600" dirty="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推动组织向敏捷化、平台化和生态化演进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77832" name="Rectangle 10"/>
            <p:cNvSpPr>
              <a:spLocks noChangeArrowheads="1"/>
            </p:cNvSpPr>
            <p:nvPr/>
          </p:nvSpPr>
          <p:spPr bwMode="auto">
            <a:xfrm>
              <a:off x="3781" y="2757"/>
              <a:ext cx="2016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/>
            <a:lstStyle>
              <a:lvl1pPr marL="285750" indent="-285750"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从业务角度提出业务需求</a:t>
              </a:r>
              <a:endParaRPr lang="zh-CN" altLang="en-US" sz="1600" dirty="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支持</a:t>
              </a:r>
              <a:r>
                <a:rPr lang="en-US" altLang="zh-CN" sz="1600" dirty="0">
                  <a:ea typeface="宋体" panose="02010600030101010101" pitchFamily="2" charset="-122"/>
                </a:rPr>
                <a:t>IT</a:t>
              </a:r>
              <a:r>
                <a:rPr lang="zh-CN" altLang="en-US" sz="1600" dirty="0">
                  <a:ea typeface="宋体" panose="02010600030101010101" pitchFamily="2" charset="-122"/>
                </a:rPr>
                <a:t>组件化</a:t>
              </a:r>
              <a:endParaRPr lang="zh-CN" altLang="en-US" sz="1600" dirty="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充分利于现有的</a:t>
              </a:r>
              <a:r>
                <a:rPr lang="en-US" altLang="zh-CN" sz="1600" dirty="0">
                  <a:ea typeface="宋体" panose="02010600030101010101" pitchFamily="2" charset="-122"/>
                </a:rPr>
                <a:t>IT</a:t>
              </a:r>
              <a:r>
                <a:rPr lang="zh-CN" altLang="en-US" sz="1600" dirty="0">
                  <a:ea typeface="宋体" panose="02010600030101010101" pitchFamily="2" charset="-122"/>
                </a:rPr>
                <a:t>投资</a:t>
              </a:r>
              <a:endParaRPr lang="zh-CN" altLang="en-US" sz="1600" dirty="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ea typeface="宋体" panose="02010600030101010101" pitchFamily="2" charset="-122"/>
                </a:rPr>
                <a:t>建立灵活并具有扩展性的</a:t>
              </a:r>
              <a:r>
                <a:rPr lang="en-US" altLang="zh-CN" sz="1600" dirty="0">
                  <a:ea typeface="宋体" panose="02010600030101010101" pitchFamily="2" charset="-122"/>
                </a:rPr>
                <a:t>IT</a:t>
              </a:r>
              <a:r>
                <a:rPr lang="zh-CN" altLang="en-US" sz="1600" dirty="0">
                  <a:ea typeface="宋体" panose="02010600030101010101" pitchFamily="2" charset="-122"/>
                </a:rPr>
                <a:t>系统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77833" name="AutoShape 11"/>
            <p:cNvSpPr>
              <a:spLocks noChangeArrowheads="1"/>
            </p:cNvSpPr>
            <p:nvPr/>
          </p:nvSpPr>
          <p:spPr bwMode="auto">
            <a:xfrm>
              <a:off x="1771" y="1477"/>
              <a:ext cx="1839" cy="1048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2000" b="0">
                <a:ea typeface="宋体" panose="02010600030101010101" pitchFamily="2" charset="-122"/>
              </a:endParaRPr>
            </a:p>
          </p:txBody>
        </p:sp>
        <p:sp>
          <p:nvSpPr>
            <p:cNvPr id="77834" name="Rectangle 12"/>
            <p:cNvSpPr>
              <a:spLocks noChangeArrowheads="1"/>
            </p:cNvSpPr>
            <p:nvPr/>
          </p:nvSpPr>
          <p:spPr bwMode="auto">
            <a:xfrm>
              <a:off x="1776" y="1474"/>
              <a:ext cx="1846" cy="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ea typeface="宋体" panose="02010600030101010101" pitchFamily="2" charset="-122"/>
                  <a:cs typeface="Arial" panose="020B0604020202020204" pitchFamily="34" charset="0"/>
                </a:rPr>
                <a:t>战略分析</a:t>
              </a:r>
              <a:endParaRPr lang="zh-CN" altLang="en-US" sz="160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835" name="AutoShape 13"/>
            <p:cNvSpPr>
              <a:spLocks noChangeArrowheads="1"/>
            </p:cNvSpPr>
            <p:nvPr/>
          </p:nvSpPr>
          <p:spPr bwMode="auto">
            <a:xfrm>
              <a:off x="3762" y="1471"/>
              <a:ext cx="1839" cy="1048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77836" name="Rectangle 14"/>
            <p:cNvSpPr>
              <a:spLocks noChangeArrowheads="1"/>
            </p:cNvSpPr>
            <p:nvPr/>
          </p:nvSpPr>
          <p:spPr bwMode="auto">
            <a:xfrm>
              <a:off x="3762" y="1468"/>
              <a:ext cx="1846" cy="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/>
              <a:r>
                <a:rPr lang="zh-CN" altLang="en-AU" sz="1600" b="1">
                  <a:ea typeface="宋体" panose="02010600030101010101" pitchFamily="2" charset="-122"/>
                  <a:cs typeface="Arial" panose="020B0604020202020204" pitchFamily="34" charset="0"/>
                </a:rPr>
                <a:t>流程设计</a:t>
              </a:r>
              <a:r>
                <a:rPr lang="zh-CN" altLang="en-US" sz="1600" b="1"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endParaRPr lang="en-US" altLang="zh-CN" sz="1600" b="1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837" name="AutoShape 15"/>
            <p:cNvSpPr>
              <a:spLocks noChangeArrowheads="1"/>
            </p:cNvSpPr>
            <p:nvPr/>
          </p:nvSpPr>
          <p:spPr bwMode="auto">
            <a:xfrm>
              <a:off x="1774" y="2595"/>
              <a:ext cx="1839" cy="1048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77838" name="Rectangle 16"/>
            <p:cNvSpPr>
              <a:spLocks noChangeArrowheads="1"/>
            </p:cNvSpPr>
            <p:nvPr/>
          </p:nvSpPr>
          <p:spPr bwMode="auto">
            <a:xfrm>
              <a:off x="1775" y="2592"/>
              <a:ext cx="1846" cy="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/>
              <a:r>
                <a:rPr lang="zh-CN" altLang="en-US" sz="1600" b="1" dirty="0">
                  <a:ea typeface="宋体" panose="02010600030101010101" pitchFamily="2" charset="-122"/>
                  <a:cs typeface="Arial" panose="020B0604020202020204" pitchFamily="34" charset="0"/>
                </a:rPr>
                <a:t>组织模式转型</a:t>
              </a:r>
              <a:endParaRPr lang="en-US" altLang="zh-CN" sz="1600" b="1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839" name="AutoShape 17"/>
            <p:cNvSpPr>
              <a:spLocks noChangeArrowheads="1"/>
            </p:cNvSpPr>
            <p:nvPr/>
          </p:nvSpPr>
          <p:spPr bwMode="auto">
            <a:xfrm>
              <a:off x="3762" y="2589"/>
              <a:ext cx="1839" cy="1048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77840" name="Rectangle 18"/>
            <p:cNvSpPr>
              <a:spLocks noChangeArrowheads="1"/>
            </p:cNvSpPr>
            <p:nvPr/>
          </p:nvSpPr>
          <p:spPr bwMode="auto">
            <a:xfrm>
              <a:off x="3762" y="2586"/>
              <a:ext cx="1846" cy="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/>
              <a:r>
                <a:rPr lang="zh-CN" altLang="en-US" sz="1600" b="1" dirty="0">
                  <a:ea typeface="宋体" panose="02010600030101010101" pitchFamily="2" charset="-122"/>
                  <a:cs typeface="Arial" panose="020B0604020202020204" pitchFamily="34" charset="0"/>
                </a:rPr>
                <a:t>数字化转型</a:t>
              </a:r>
              <a:endParaRPr lang="zh-CN" altLang="en-US" sz="1600" b="1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841" name="Rectangle 19"/>
            <p:cNvSpPr>
              <a:spLocks noChangeArrowheads="1"/>
            </p:cNvSpPr>
            <p:nvPr/>
          </p:nvSpPr>
          <p:spPr bwMode="auto">
            <a:xfrm>
              <a:off x="1807" y="1646"/>
              <a:ext cx="2033" cy="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/>
            <a:lstStyle>
              <a:lvl1pPr marL="285750" indent="-285750"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分析竞争力、灵活性、成本等条件</a:t>
              </a:r>
              <a:endParaRPr lang="zh-CN" altLang="en-US" sz="160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发现“热点”业务能力组件</a:t>
              </a:r>
              <a:endParaRPr lang="zh-CN" altLang="en-US" sz="1600">
                <a:ea typeface="宋体" panose="02010600030101010101" pitchFamily="2" charset="-122"/>
              </a:endParaRPr>
            </a:p>
            <a:p>
              <a:pPr>
                <a:buFont typeface="Wingdings" panose="05000000000000000000" pitchFamily="2" charset="2"/>
                <a:buChar char="§"/>
              </a:pPr>
              <a:r>
                <a:rPr lang="zh-CN" altLang="en-US" sz="1600">
                  <a:ea typeface="宋体" panose="02010600030101010101" pitchFamily="2" charset="-122"/>
                </a:rPr>
                <a:t>企业发展的方面和资源的投入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77829" name="Text Box 20"/>
          <p:cNvSpPr txBox="1">
            <a:spLocks noChangeArrowheads="1"/>
          </p:cNvSpPr>
          <p:nvPr/>
        </p:nvSpPr>
        <p:spPr bwMode="auto">
          <a:xfrm>
            <a:off x="495300" y="1335088"/>
            <a:ext cx="869315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167005" indent="-1670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企业的能力和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组件模型有很多使用的方法，作为企业自我改进的工具，容易发现问题所在，和明确发展的重点。可以在业务和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IT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领域中使用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7161213" cy="939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normAutofit/>
          </a:bodyPr>
          <a:lstStyle/>
          <a:p>
            <a:pPr eaLnBrk="1" hangingPunct="1"/>
            <a:r>
              <a:rPr lang="zh-CN" altLang="en-US" dirty="0"/>
              <a:t>业务能力定义和解释（</a:t>
            </a:r>
            <a:r>
              <a:rPr lang="en-US" altLang="zh-CN" dirty="0"/>
              <a:t>1-3</a:t>
            </a:r>
            <a:r>
              <a:rPr lang="zh-CN" altLang="en-US" dirty="0"/>
              <a:t>级）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44" y="1412776"/>
            <a:ext cx="9401175" cy="4606575"/>
          </a:xfrm>
          <a:prstGeom prst="rect">
            <a:avLst/>
          </a:prstGeom>
          <a:noFill/>
        </p:spPr>
      </p:pic>
      <p:sp>
        <p:nvSpPr>
          <p:cNvPr id="8" name="Text Box 240"/>
          <p:cNvSpPr txBox="1">
            <a:spLocks noChangeArrowheads="1"/>
          </p:cNvSpPr>
          <p:nvPr/>
        </p:nvSpPr>
        <p:spPr bwMode="auto">
          <a:xfrm rot="1324605">
            <a:off x="2721597" y="3516008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15888"/>
            <a:ext cx="8664575" cy="8683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业务能力图的应用场景</a:t>
            </a:r>
            <a:r>
              <a:rPr lang="en-US" altLang="zh-CN" dirty="0"/>
              <a:t>1</a:t>
            </a:r>
            <a:r>
              <a:rPr lang="zh-CN" altLang="en-US" dirty="0"/>
              <a:t>：战略分析 </a:t>
            </a:r>
            <a:br>
              <a:rPr lang="en-US" altLang="zh-CN" dirty="0"/>
            </a:br>
            <a:r>
              <a:rPr lang="en-US" altLang="zh-CN" sz="2000" b="0" dirty="0"/>
              <a:t>- </a:t>
            </a:r>
            <a:r>
              <a:rPr lang="zh-CN" altLang="en-US" sz="2000" b="0" dirty="0"/>
              <a:t>对公司的业务能力，结合卓越绩效进行竞争力水平评估</a:t>
            </a:r>
            <a:endParaRPr lang="zh-CN" altLang="en-US" b="0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0" y="1912938"/>
            <a:ext cx="3490913" cy="4008437"/>
          </a:xfrm>
          <a:noFill/>
          <a:ln>
            <a:solidFill>
              <a:schemeClr val="tx1"/>
            </a:solidFill>
            <a:miter lim="800000"/>
          </a:ln>
        </p:spPr>
        <p:txBody>
          <a:bodyPr lIns="45720" rIns="45720"/>
          <a:lstStyle/>
          <a:p>
            <a:pPr marL="192405" indent="-192405">
              <a:lnSpc>
                <a:spcPct val="90000"/>
              </a:lnSpc>
            </a:pP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92405" indent="-192405">
              <a:lnSpc>
                <a:spcPct val="90000"/>
              </a:lnSpc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基础水平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(B):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该业务功能处于行业平均水平 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(“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门槛级水平”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92405" indent="-192405">
              <a:lnSpc>
                <a:spcPct val="90000"/>
              </a:lnSpc>
            </a:pP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92405" indent="-192405">
              <a:lnSpc>
                <a:spcPct val="90000"/>
              </a:lnSpc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有竞争力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(C):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该业务功能处于行业第一集团，能力排列行业前三至四名。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92405" indent="-192405">
              <a:lnSpc>
                <a:spcPct val="90000"/>
              </a:lnSpc>
            </a:pP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92405" indent="-192405">
              <a:lnSpc>
                <a:spcPct val="90000"/>
              </a:lnSpc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差异化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(D):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国内领先，符合国际行业趋势，具有世界级的能力，实现了差异化的竞争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209550" y="1447800"/>
            <a:ext cx="3878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业务能力的竞争力水平的标准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5672138" y="1828800"/>
            <a:ext cx="3405187" cy="4092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 marL="192405" indent="-192405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调研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对总部各部门领导，机构的主要负责人调研获取的信息。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收集的问题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对总部领导访谈所收集的问题。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集体打分评估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项目组成员及相关业务部门的评分汇总。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5446713" y="1447800"/>
            <a:ext cx="38782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业务能力的竞争力水平的评估依据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5303" name="AutoShape 7"/>
          <p:cNvSpPr>
            <a:spLocks noChangeArrowheads="1"/>
          </p:cNvSpPr>
          <p:nvPr/>
        </p:nvSpPr>
        <p:spPr bwMode="auto">
          <a:xfrm>
            <a:off x="4538663" y="3429000"/>
            <a:ext cx="660400" cy="609600"/>
          </a:xfrm>
          <a:prstGeom prst="plus">
            <a:avLst>
              <a:gd name="adj" fmla="val 36537"/>
            </a:avLst>
          </a:prstGeom>
          <a:solidFill>
            <a:srgbClr val="3366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8816898" cy="939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评估公司战略重点，得到公司“热点能力”</a:t>
            </a:r>
            <a:br>
              <a:rPr lang="en-US" altLang="zh-CN" dirty="0"/>
            </a:br>
            <a:r>
              <a:rPr lang="en-US" altLang="zh-CN" dirty="0"/>
              <a:t>- </a:t>
            </a:r>
            <a:r>
              <a:rPr lang="zh-CN" altLang="en-US" dirty="0"/>
              <a:t>也是卓越绩效重点提升的业务环节</a:t>
            </a:r>
            <a:endParaRPr lang="zh-CN" alt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8878810" y="1546225"/>
            <a:ext cx="908050" cy="682625"/>
            <a:chOff x="8778875" y="304800"/>
            <a:chExt cx="908050" cy="682625"/>
          </a:xfrm>
        </p:grpSpPr>
        <p:sp>
          <p:nvSpPr>
            <p:cNvPr id="59395" name="Rectangle 3"/>
            <p:cNvSpPr>
              <a:spLocks noChangeArrowheads="1"/>
            </p:cNvSpPr>
            <p:nvPr/>
          </p:nvSpPr>
          <p:spPr bwMode="auto">
            <a:xfrm>
              <a:off x="8778875" y="844550"/>
              <a:ext cx="185738" cy="142875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59396" name="Rectangle 4"/>
            <p:cNvSpPr>
              <a:spLocks noChangeArrowheads="1"/>
            </p:cNvSpPr>
            <p:nvPr/>
          </p:nvSpPr>
          <p:spPr bwMode="auto">
            <a:xfrm>
              <a:off x="8778875" y="568325"/>
              <a:ext cx="185738" cy="14287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8778875" y="304800"/>
              <a:ext cx="185738" cy="14287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59398" name="Text Box 6"/>
            <p:cNvSpPr txBox="1">
              <a:spLocks noChangeArrowheads="1"/>
            </p:cNvSpPr>
            <p:nvPr/>
          </p:nvSpPr>
          <p:spPr bwMode="auto">
            <a:xfrm>
              <a:off x="9115425" y="304800"/>
              <a:ext cx="2794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b="0" dirty="0">
                  <a:ea typeface="黑体" panose="02010609060101010101" pitchFamily="49" charset="-122"/>
                  <a:cs typeface="Arial" panose="020B0604020202020204" pitchFamily="34" charset="0"/>
                </a:rPr>
                <a:t>基础</a:t>
              </a:r>
              <a:endParaRPr lang="zh-CN" altLang="en-US" sz="1100" b="0" dirty="0"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9399" name="Text Box 7"/>
            <p:cNvSpPr txBox="1">
              <a:spLocks noChangeArrowheads="1"/>
            </p:cNvSpPr>
            <p:nvPr/>
          </p:nvSpPr>
          <p:spPr bwMode="auto">
            <a:xfrm>
              <a:off x="9128125" y="541338"/>
              <a:ext cx="5588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b="0">
                  <a:ea typeface="黑体" panose="02010609060101010101" pitchFamily="49" charset="-122"/>
                  <a:cs typeface="Arial" panose="020B0604020202020204" pitchFamily="34" charset="0"/>
                </a:rPr>
                <a:t>有竞争力</a:t>
              </a:r>
              <a:endParaRPr lang="zh-CN" altLang="en-US" sz="1100" b="0"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9400" name="Text Box 8"/>
            <p:cNvSpPr txBox="1">
              <a:spLocks noChangeArrowheads="1"/>
            </p:cNvSpPr>
            <p:nvPr/>
          </p:nvSpPr>
          <p:spPr bwMode="auto">
            <a:xfrm>
              <a:off x="9115425" y="817563"/>
              <a:ext cx="4191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b="0">
                  <a:ea typeface="黑体" panose="02010609060101010101" pitchFamily="49" charset="-122"/>
                  <a:cs typeface="Arial" panose="020B0604020202020204" pitchFamily="34" charset="0"/>
                </a:rPr>
                <a:t>差异化</a:t>
              </a:r>
              <a:endParaRPr lang="zh-CN" altLang="en-US" sz="1100" b="0"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47650" y="1714500"/>
            <a:ext cx="8448178" cy="4571577"/>
            <a:chOff x="247650" y="1714500"/>
            <a:chExt cx="8448178" cy="4571577"/>
          </a:xfrm>
        </p:grpSpPr>
        <p:sp>
          <p:nvSpPr>
            <p:cNvPr id="59401" name="Rectangle 132"/>
            <p:cNvSpPr>
              <a:spLocks noChangeArrowheads="1"/>
            </p:cNvSpPr>
            <p:nvPr/>
          </p:nvSpPr>
          <p:spPr bwMode="auto">
            <a:xfrm>
              <a:off x="7448092" y="4864353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2" name="Rectangle 3"/>
            <p:cNvSpPr>
              <a:spLocks noChangeArrowheads="1"/>
            </p:cNvSpPr>
            <p:nvPr/>
          </p:nvSpPr>
          <p:spPr bwMode="auto">
            <a:xfrm>
              <a:off x="247650" y="1714500"/>
              <a:ext cx="1009929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6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pic>
          <p:nvPicPr>
            <p:cNvPr id="59403" name="Picture 4" descr="ibmlogoc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50" y="1714500"/>
              <a:ext cx="1009929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59404" name="Rectangle 5"/>
            <p:cNvSpPr>
              <a:spLocks noChangeArrowheads="1"/>
            </p:cNvSpPr>
            <p:nvPr/>
          </p:nvSpPr>
          <p:spPr bwMode="auto">
            <a:xfrm>
              <a:off x="247650" y="2020906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800" b="0">
                  <a:ea typeface="宋体" panose="02010600030101010101" pitchFamily="2" charset="-122"/>
                  <a:cs typeface="Arial" panose="020B0604020202020204" pitchFamily="34" charset="0"/>
                </a:rPr>
                <a:t>战略规划</a:t>
              </a:r>
              <a:endParaRPr lang="zh-CN" altLang="en-US" sz="8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5" name="Rectangle 6"/>
            <p:cNvSpPr>
              <a:spLocks noChangeArrowheads="1"/>
            </p:cNvSpPr>
            <p:nvPr/>
          </p:nvSpPr>
          <p:spPr bwMode="auto">
            <a:xfrm>
              <a:off x="247650" y="3442630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800" b="0">
                  <a:ea typeface="宋体" panose="02010600030101010101" pitchFamily="2" charset="-122"/>
                  <a:cs typeface="Arial" panose="020B0604020202020204" pitchFamily="34" charset="0"/>
                </a:rPr>
                <a:t>管理控制</a:t>
              </a:r>
              <a:endParaRPr lang="zh-CN" altLang="en-US" sz="8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6" name="Rectangle 7"/>
            <p:cNvSpPr>
              <a:spLocks noChangeArrowheads="1"/>
            </p:cNvSpPr>
            <p:nvPr/>
          </p:nvSpPr>
          <p:spPr bwMode="auto">
            <a:xfrm>
              <a:off x="247650" y="4864353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800" b="0">
                  <a:ea typeface="宋体" panose="02010600030101010101" pitchFamily="2" charset="-122"/>
                  <a:cs typeface="Arial" panose="020B0604020202020204" pitchFamily="34" charset="0"/>
                </a:rPr>
                <a:t>操作执行</a:t>
              </a:r>
              <a:endParaRPr lang="zh-CN" altLang="en-US" sz="8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7" name="Rectangle 37"/>
            <p:cNvSpPr>
              <a:spLocks noChangeArrowheads="1"/>
            </p:cNvSpPr>
            <p:nvPr/>
          </p:nvSpPr>
          <p:spPr bwMode="auto">
            <a:xfrm>
              <a:off x="1248548" y="1714500"/>
              <a:ext cx="1247735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营销 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8" name="Rectangle 38"/>
            <p:cNvSpPr>
              <a:spLocks noChangeArrowheads="1"/>
            </p:cNvSpPr>
            <p:nvPr/>
          </p:nvSpPr>
          <p:spPr bwMode="auto">
            <a:xfrm>
              <a:off x="1248548" y="2020906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09" name="Rectangle 39"/>
            <p:cNvSpPr>
              <a:spLocks noChangeArrowheads="1"/>
            </p:cNvSpPr>
            <p:nvPr/>
          </p:nvSpPr>
          <p:spPr bwMode="auto">
            <a:xfrm>
              <a:off x="1284671" y="2045418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渠道关系管理策略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0" name="Rectangle 40"/>
            <p:cNvSpPr>
              <a:spLocks noChangeArrowheads="1"/>
            </p:cNvSpPr>
            <p:nvPr/>
          </p:nvSpPr>
          <p:spPr bwMode="auto">
            <a:xfrm>
              <a:off x="1284671" y="2511155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渠道细分战略和规划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1" name="Rectangle 41"/>
            <p:cNvSpPr>
              <a:spLocks noChangeArrowheads="1"/>
            </p:cNvSpPr>
            <p:nvPr/>
          </p:nvSpPr>
          <p:spPr bwMode="auto">
            <a:xfrm>
              <a:off x="1284671" y="2976893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营销活动规划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2" name="Rectangle 42"/>
            <p:cNvSpPr>
              <a:spLocks noChangeArrowheads="1"/>
            </p:cNvSpPr>
            <p:nvPr/>
          </p:nvSpPr>
          <p:spPr bwMode="auto">
            <a:xfrm>
              <a:off x="1248548" y="3442630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3" name="Rectangle 43"/>
            <p:cNvSpPr>
              <a:spLocks noChangeArrowheads="1"/>
            </p:cNvSpPr>
            <p:nvPr/>
          </p:nvSpPr>
          <p:spPr bwMode="auto">
            <a:xfrm>
              <a:off x="1277145" y="3474803"/>
              <a:ext cx="1175491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计划和考核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4" name="Rectangle 44"/>
            <p:cNvSpPr>
              <a:spLocks noChangeArrowheads="1"/>
            </p:cNvSpPr>
            <p:nvPr/>
          </p:nvSpPr>
          <p:spPr bwMode="auto">
            <a:xfrm>
              <a:off x="1284671" y="3942071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营销活动管理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5" name="Rectangle 45"/>
            <p:cNvSpPr>
              <a:spLocks noChangeArrowheads="1"/>
            </p:cNvSpPr>
            <p:nvPr/>
          </p:nvSpPr>
          <p:spPr bwMode="auto">
            <a:xfrm>
              <a:off x="1284671" y="4398616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协商费率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6" name="Rectangle 46"/>
            <p:cNvSpPr>
              <a:spLocks noChangeArrowheads="1"/>
            </p:cNvSpPr>
            <p:nvPr/>
          </p:nvSpPr>
          <p:spPr bwMode="auto">
            <a:xfrm>
              <a:off x="1248548" y="4864353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7" name="Rectangle 47"/>
            <p:cNvSpPr>
              <a:spLocks noChangeArrowheads="1"/>
            </p:cNvSpPr>
            <p:nvPr/>
          </p:nvSpPr>
          <p:spPr bwMode="auto">
            <a:xfrm>
              <a:off x="1284671" y="4888866"/>
              <a:ext cx="1175490" cy="1746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8" name="Rectangle 48"/>
            <p:cNvSpPr>
              <a:spLocks noChangeArrowheads="1"/>
            </p:cNvSpPr>
            <p:nvPr/>
          </p:nvSpPr>
          <p:spPr bwMode="auto">
            <a:xfrm>
              <a:off x="1284671" y="5088030"/>
              <a:ext cx="1175490" cy="17618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渠道信息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19" name="Rectangle 49"/>
            <p:cNvSpPr>
              <a:spLocks noChangeArrowheads="1"/>
            </p:cNvSpPr>
            <p:nvPr/>
          </p:nvSpPr>
          <p:spPr bwMode="auto">
            <a:xfrm>
              <a:off x="1284671" y="5288726"/>
              <a:ext cx="1175490" cy="1746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营销活动执行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0" name="Rectangle 50"/>
            <p:cNvSpPr>
              <a:spLocks noChangeArrowheads="1"/>
            </p:cNvSpPr>
            <p:nvPr/>
          </p:nvSpPr>
          <p:spPr bwMode="auto">
            <a:xfrm>
              <a:off x="1284671" y="5487890"/>
              <a:ext cx="1175490" cy="36309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业务推动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和支持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1" name="Rectangle 52"/>
            <p:cNvSpPr>
              <a:spLocks noChangeArrowheads="1"/>
            </p:cNvSpPr>
            <p:nvPr/>
          </p:nvSpPr>
          <p:spPr bwMode="auto">
            <a:xfrm>
              <a:off x="1284671" y="5867833"/>
              <a:ext cx="1175490" cy="20069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代理佣金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2" name="Rectangle 53"/>
            <p:cNvSpPr>
              <a:spLocks noChangeArrowheads="1"/>
            </p:cNvSpPr>
            <p:nvPr/>
          </p:nvSpPr>
          <p:spPr bwMode="auto">
            <a:xfrm>
              <a:off x="1284671" y="6086913"/>
              <a:ext cx="1175490" cy="1746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渠道培训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3" name="Rectangle 54"/>
            <p:cNvSpPr>
              <a:spLocks noChangeArrowheads="1"/>
            </p:cNvSpPr>
            <p:nvPr/>
          </p:nvSpPr>
          <p:spPr bwMode="auto">
            <a:xfrm>
              <a:off x="6191326" y="1714500"/>
              <a:ext cx="1247735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保单服务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4" name="Rectangle 55"/>
            <p:cNvSpPr>
              <a:spLocks noChangeArrowheads="1"/>
            </p:cNvSpPr>
            <p:nvPr/>
          </p:nvSpPr>
          <p:spPr bwMode="auto">
            <a:xfrm>
              <a:off x="6191326" y="2020906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5" name="Rectangle 57"/>
            <p:cNvSpPr>
              <a:spLocks noChangeArrowheads="1"/>
            </p:cNvSpPr>
            <p:nvPr/>
          </p:nvSpPr>
          <p:spPr bwMode="auto">
            <a:xfrm>
              <a:off x="6191326" y="3442630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6" name="Rectangle 58"/>
            <p:cNvSpPr>
              <a:spLocks noChangeArrowheads="1"/>
            </p:cNvSpPr>
            <p:nvPr/>
          </p:nvSpPr>
          <p:spPr bwMode="auto">
            <a:xfrm>
              <a:off x="6227449" y="3467142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超权限业务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7" name="Rectangle 59"/>
            <p:cNvSpPr>
              <a:spLocks noChangeArrowheads="1"/>
            </p:cNvSpPr>
            <p:nvPr/>
          </p:nvSpPr>
          <p:spPr bwMode="auto">
            <a:xfrm>
              <a:off x="6227449" y="3932879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保单服务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水平管理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8" name="Rectangle 60"/>
            <p:cNvSpPr>
              <a:spLocks noChangeArrowheads="1"/>
            </p:cNvSpPr>
            <p:nvPr/>
          </p:nvSpPr>
          <p:spPr bwMode="auto">
            <a:xfrm>
              <a:off x="6227449" y="4398616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增值服务管理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29" name="Rectangle 61"/>
            <p:cNvSpPr>
              <a:spLocks noChangeArrowheads="1"/>
            </p:cNvSpPr>
            <p:nvPr/>
          </p:nvSpPr>
          <p:spPr bwMode="auto">
            <a:xfrm>
              <a:off x="6191326" y="4864353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0" name="Rectangle 62"/>
            <p:cNvSpPr>
              <a:spLocks noChangeArrowheads="1"/>
            </p:cNvSpPr>
            <p:nvPr/>
          </p:nvSpPr>
          <p:spPr bwMode="auto">
            <a:xfrm>
              <a:off x="6227449" y="4888866"/>
              <a:ext cx="1175490" cy="24359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批改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1" name="Rectangle 63"/>
            <p:cNvSpPr>
              <a:spLocks noChangeArrowheads="1"/>
            </p:cNvSpPr>
            <p:nvPr/>
          </p:nvSpPr>
          <p:spPr bwMode="auto">
            <a:xfrm>
              <a:off x="6227449" y="5388307"/>
              <a:ext cx="1175490" cy="2206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增值服务提供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2" name="Rectangle 64"/>
            <p:cNvSpPr>
              <a:spLocks noChangeArrowheads="1"/>
            </p:cNvSpPr>
            <p:nvPr/>
          </p:nvSpPr>
          <p:spPr bwMode="auto">
            <a:xfrm>
              <a:off x="6227449" y="5631901"/>
              <a:ext cx="1175490" cy="20375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产品终止处理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3" name="Rectangle 65"/>
            <p:cNvSpPr>
              <a:spLocks noChangeArrowheads="1"/>
            </p:cNvSpPr>
            <p:nvPr/>
          </p:nvSpPr>
          <p:spPr bwMode="auto">
            <a:xfrm>
              <a:off x="6227449" y="5850980"/>
              <a:ext cx="1175490" cy="18997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内容管理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4" name="Rectangle 66"/>
            <p:cNvSpPr>
              <a:spLocks noChangeArrowheads="1"/>
            </p:cNvSpPr>
            <p:nvPr/>
          </p:nvSpPr>
          <p:spPr bwMode="auto">
            <a:xfrm>
              <a:off x="6227449" y="6068529"/>
              <a:ext cx="1175490" cy="19303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文档、影像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5" name="Rectangle 120"/>
            <p:cNvSpPr>
              <a:spLocks noChangeArrowheads="1"/>
            </p:cNvSpPr>
            <p:nvPr/>
          </p:nvSpPr>
          <p:spPr bwMode="auto">
            <a:xfrm>
              <a:off x="7448092" y="1714500"/>
              <a:ext cx="1247736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企业职能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6" name="Rectangle 121"/>
            <p:cNvSpPr>
              <a:spLocks noChangeArrowheads="1"/>
            </p:cNvSpPr>
            <p:nvPr/>
          </p:nvSpPr>
          <p:spPr bwMode="auto">
            <a:xfrm>
              <a:off x="7448092" y="2020906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7" name="Rectangle 122"/>
            <p:cNvSpPr>
              <a:spLocks noChangeArrowheads="1"/>
            </p:cNvSpPr>
            <p:nvPr/>
          </p:nvSpPr>
          <p:spPr bwMode="auto">
            <a:xfrm>
              <a:off x="7484215" y="2045418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8" name="Rectangle 123"/>
            <p:cNvSpPr>
              <a:spLocks noChangeArrowheads="1"/>
            </p:cNvSpPr>
            <p:nvPr/>
          </p:nvSpPr>
          <p:spPr bwMode="auto">
            <a:xfrm>
              <a:off x="7484215" y="2511155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39" name="Rectangle 124"/>
            <p:cNvSpPr>
              <a:spLocks noChangeArrowheads="1"/>
            </p:cNvSpPr>
            <p:nvPr/>
          </p:nvSpPr>
          <p:spPr bwMode="auto">
            <a:xfrm>
              <a:off x="7484215" y="2976893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业务规定和程序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0" name="Rectangle 125"/>
            <p:cNvSpPr>
              <a:spLocks noChangeArrowheads="1"/>
            </p:cNvSpPr>
            <p:nvPr/>
          </p:nvSpPr>
          <p:spPr bwMode="auto">
            <a:xfrm>
              <a:off x="7448092" y="3442630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1" name="Rectangle 126"/>
            <p:cNvSpPr>
              <a:spLocks noChangeArrowheads="1"/>
            </p:cNvSpPr>
            <p:nvPr/>
          </p:nvSpPr>
          <p:spPr bwMode="auto">
            <a:xfrm>
              <a:off x="7484215" y="3467142"/>
              <a:ext cx="1173985" cy="31713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采购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厂商管理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2" name="Rectangle 129"/>
            <p:cNvSpPr>
              <a:spLocks noChangeArrowheads="1"/>
            </p:cNvSpPr>
            <p:nvPr/>
          </p:nvSpPr>
          <p:spPr bwMode="auto">
            <a:xfrm>
              <a:off x="7484215" y="5198336"/>
              <a:ext cx="1173985" cy="16545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3" name="Rectangle 131"/>
            <p:cNvSpPr>
              <a:spLocks noChangeArrowheads="1"/>
            </p:cNvSpPr>
            <p:nvPr/>
          </p:nvSpPr>
          <p:spPr bwMode="auto">
            <a:xfrm>
              <a:off x="7484215" y="3807253"/>
              <a:ext cx="1173985" cy="41211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审计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4" name="Rectangle 133"/>
            <p:cNvSpPr>
              <a:spLocks noChangeArrowheads="1"/>
            </p:cNvSpPr>
            <p:nvPr/>
          </p:nvSpPr>
          <p:spPr bwMode="auto">
            <a:xfrm>
              <a:off x="7484215" y="4891930"/>
              <a:ext cx="1173985" cy="28342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5" name="Rectangle 136"/>
            <p:cNvSpPr>
              <a:spLocks noChangeArrowheads="1"/>
            </p:cNvSpPr>
            <p:nvPr/>
          </p:nvSpPr>
          <p:spPr bwMode="auto">
            <a:xfrm>
              <a:off x="7484215" y="5388307"/>
              <a:ext cx="1173985" cy="22827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应用系统开发和维护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6" name="Rectangle 137"/>
            <p:cNvSpPr>
              <a:spLocks noChangeArrowheads="1"/>
            </p:cNvSpPr>
            <p:nvPr/>
          </p:nvSpPr>
          <p:spPr bwMode="auto">
            <a:xfrm>
              <a:off x="7484215" y="5906133"/>
              <a:ext cx="1173985" cy="20069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7" name="Rectangle 138"/>
            <p:cNvSpPr>
              <a:spLocks noChangeArrowheads="1"/>
            </p:cNvSpPr>
            <p:nvPr/>
          </p:nvSpPr>
          <p:spPr bwMode="auto">
            <a:xfrm>
              <a:off x="7484215" y="5634965"/>
              <a:ext cx="1173985" cy="25278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8" name="Rectangle 139"/>
            <p:cNvSpPr>
              <a:spLocks noChangeArrowheads="1"/>
            </p:cNvSpPr>
            <p:nvPr/>
          </p:nvSpPr>
          <p:spPr bwMode="auto">
            <a:xfrm>
              <a:off x="7484215" y="4243882"/>
              <a:ext cx="1173985" cy="3186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公共关系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49" name="Rectangle 140"/>
            <p:cNvSpPr>
              <a:spLocks noChangeArrowheads="1"/>
            </p:cNvSpPr>
            <p:nvPr/>
          </p:nvSpPr>
          <p:spPr bwMode="auto">
            <a:xfrm>
              <a:off x="7484215" y="4588588"/>
              <a:ext cx="1173985" cy="26044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0" name="Rectangle 141"/>
            <p:cNvSpPr>
              <a:spLocks noChangeArrowheads="1"/>
            </p:cNvSpPr>
            <p:nvPr/>
          </p:nvSpPr>
          <p:spPr bwMode="auto">
            <a:xfrm>
              <a:off x="7484215" y="6131342"/>
              <a:ext cx="1173985" cy="13022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1" name="Rectangle 67"/>
            <p:cNvSpPr>
              <a:spLocks noChangeArrowheads="1"/>
            </p:cNvSpPr>
            <p:nvPr/>
          </p:nvSpPr>
          <p:spPr bwMode="auto">
            <a:xfrm>
              <a:off x="4946601" y="1714500"/>
              <a:ext cx="125225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客户关系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2" name="Rectangle 68"/>
            <p:cNvSpPr>
              <a:spLocks noChangeArrowheads="1"/>
            </p:cNvSpPr>
            <p:nvPr/>
          </p:nvSpPr>
          <p:spPr bwMode="auto">
            <a:xfrm>
              <a:off x="4946601" y="2020906"/>
              <a:ext cx="125225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3" name="Rectangle 69"/>
            <p:cNvSpPr>
              <a:spLocks noChangeArrowheads="1"/>
            </p:cNvSpPr>
            <p:nvPr/>
          </p:nvSpPr>
          <p:spPr bwMode="auto">
            <a:xfrm>
              <a:off x="5003795" y="2045418"/>
              <a:ext cx="1157429" cy="67409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客户关系管理战略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4" name="Rectangle 70"/>
            <p:cNvSpPr>
              <a:spLocks noChangeArrowheads="1"/>
            </p:cNvSpPr>
            <p:nvPr/>
          </p:nvSpPr>
          <p:spPr bwMode="auto">
            <a:xfrm>
              <a:off x="5003795" y="2744024"/>
              <a:ext cx="1157429" cy="67409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客户细分战略和规划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5" name="Rectangle 71"/>
            <p:cNvSpPr>
              <a:spLocks noChangeArrowheads="1"/>
            </p:cNvSpPr>
            <p:nvPr/>
          </p:nvSpPr>
          <p:spPr bwMode="auto">
            <a:xfrm>
              <a:off x="4946601" y="3442630"/>
              <a:ext cx="125225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6" name="Rectangle 72"/>
            <p:cNvSpPr>
              <a:spLocks noChangeArrowheads="1"/>
            </p:cNvSpPr>
            <p:nvPr/>
          </p:nvSpPr>
          <p:spPr bwMode="auto">
            <a:xfrm>
              <a:off x="5003795" y="3467142"/>
              <a:ext cx="1157429" cy="32479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客户满意度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7" name="Rectangle 73"/>
            <p:cNvSpPr>
              <a:spLocks noChangeArrowheads="1"/>
            </p:cNvSpPr>
            <p:nvPr/>
          </p:nvSpPr>
          <p:spPr bwMode="auto">
            <a:xfrm>
              <a:off x="5018846" y="3816445"/>
              <a:ext cx="1142378" cy="32479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/>
            <a:p>
              <a:pPr algn="ctr" eaLnBrk="1" hangingPunct="1"/>
              <a:endParaRPr lang="zh-CN" altLang="en-US" sz="105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8" name="Rectangle 74"/>
            <p:cNvSpPr>
              <a:spLocks noChangeArrowheads="1"/>
            </p:cNvSpPr>
            <p:nvPr/>
          </p:nvSpPr>
          <p:spPr bwMode="auto">
            <a:xfrm>
              <a:off x="5018846" y="4165748"/>
              <a:ext cx="1142378" cy="32479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客户接触管理</a:t>
              </a:r>
              <a:r>
                <a:rPr lang="fr-FR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沟通管理</a:t>
              </a:r>
              <a:r>
                <a:rPr lang="fr-FR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59" name="Rectangle 75"/>
            <p:cNvSpPr>
              <a:spLocks noChangeArrowheads="1"/>
            </p:cNvSpPr>
            <p:nvPr/>
          </p:nvSpPr>
          <p:spPr bwMode="auto">
            <a:xfrm>
              <a:off x="5018846" y="4515050"/>
              <a:ext cx="1142378" cy="324790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客户服务水平管理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0" name="Rectangle 76"/>
            <p:cNvSpPr>
              <a:spLocks noChangeArrowheads="1"/>
            </p:cNvSpPr>
            <p:nvPr/>
          </p:nvSpPr>
          <p:spPr bwMode="auto">
            <a:xfrm>
              <a:off x="4946601" y="4864353"/>
              <a:ext cx="125225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1" name="Rectangle 77"/>
            <p:cNvSpPr>
              <a:spLocks noChangeArrowheads="1"/>
            </p:cNvSpPr>
            <p:nvPr/>
          </p:nvSpPr>
          <p:spPr bwMode="auto">
            <a:xfrm>
              <a:off x="5003795" y="4888866"/>
              <a:ext cx="1157429" cy="33551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 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 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伙伴信息收集、维护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2" name="Rectangle 80"/>
            <p:cNvSpPr>
              <a:spLocks noChangeArrowheads="1"/>
            </p:cNvSpPr>
            <p:nvPr/>
          </p:nvSpPr>
          <p:spPr bwMode="auto">
            <a:xfrm>
              <a:off x="5003795" y="5262681"/>
              <a:ext cx="1157429" cy="49944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客户接触 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柜台、电话、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fax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、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web)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3" name="Rectangle 81"/>
            <p:cNvSpPr>
              <a:spLocks noChangeArrowheads="1"/>
            </p:cNvSpPr>
            <p:nvPr/>
          </p:nvSpPr>
          <p:spPr bwMode="auto">
            <a:xfrm>
              <a:off x="5003795" y="5795827"/>
              <a:ext cx="1157429" cy="4657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邮件管理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纸质、电子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4" name="Rectangle 21"/>
            <p:cNvSpPr>
              <a:spLocks noChangeArrowheads="1"/>
            </p:cNvSpPr>
            <p:nvPr/>
          </p:nvSpPr>
          <p:spPr bwMode="auto">
            <a:xfrm>
              <a:off x="2487252" y="1714500"/>
              <a:ext cx="124924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风险管理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5" name="Rectangle 22"/>
            <p:cNvSpPr>
              <a:spLocks noChangeArrowheads="1"/>
            </p:cNvSpPr>
            <p:nvPr/>
          </p:nvSpPr>
          <p:spPr bwMode="auto">
            <a:xfrm>
              <a:off x="2487252" y="2020906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6" name="Rectangle 23"/>
            <p:cNvSpPr>
              <a:spLocks noChangeArrowheads="1"/>
            </p:cNvSpPr>
            <p:nvPr/>
          </p:nvSpPr>
          <p:spPr bwMode="auto">
            <a:xfrm>
              <a:off x="2512840" y="2045418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风险、合规、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法律战略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7" name="Rectangle 24"/>
            <p:cNvSpPr>
              <a:spLocks noChangeArrowheads="1"/>
            </p:cNvSpPr>
            <p:nvPr/>
          </p:nvSpPr>
          <p:spPr bwMode="auto">
            <a:xfrm>
              <a:off x="2512840" y="2511155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再保战略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8" name="Rectangle 25"/>
            <p:cNvSpPr>
              <a:spLocks noChangeArrowheads="1"/>
            </p:cNvSpPr>
            <p:nvPr/>
          </p:nvSpPr>
          <p:spPr bwMode="auto">
            <a:xfrm>
              <a:off x="2512840" y="2976893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巨灾风险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应对规划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69" name="Rectangle 26"/>
            <p:cNvSpPr>
              <a:spLocks noChangeArrowheads="1"/>
            </p:cNvSpPr>
            <p:nvPr/>
          </p:nvSpPr>
          <p:spPr bwMode="auto">
            <a:xfrm>
              <a:off x="2487252" y="3442630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0" name="Rectangle 31"/>
            <p:cNvSpPr>
              <a:spLocks noChangeArrowheads="1"/>
            </p:cNvSpPr>
            <p:nvPr/>
          </p:nvSpPr>
          <p:spPr bwMode="auto">
            <a:xfrm>
              <a:off x="2487252" y="4864353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1" name="Rectangle 32"/>
            <p:cNvSpPr>
              <a:spLocks noChangeArrowheads="1"/>
            </p:cNvSpPr>
            <p:nvPr/>
          </p:nvSpPr>
          <p:spPr bwMode="auto">
            <a:xfrm>
              <a:off x="2530901" y="4887334"/>
              <a:ext cx="1155924" cy="35543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客户风险评级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2" name="Rectangle 34"/>
            <p:cNvSpPr>
              <a:spLocks noChangeArrowheads="1"/>
            </p:cNvSpPr>
            <p:nvPr/>
          </p:nvSpPr>
          <p:spPr bwMode="auto">
            <a:xfrm>
              <a:off x="2530901" y="5262681"/>
              <a:ext cx="1155924" cy="54540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风险预警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3" name="Rectangle 35"/>
            <p:cNvSpPr>
              <a:spLocks noChangeArrowheads="1"/>
            </p:cNvSpPr>
            <p:nvPr/>
          </p:nvSpPr>
          <p:spPr bwMode="auto">
            <a:xfrm>
              <a:off x="2530901" y="5835660"/>
              <a:ext cx="1155924" cy="4289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合约和临分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再保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4" name="Rectangle 21"/>
            <p:cNvSpPr>
              <a:spLocks noChangeArrowheads="1"/>
            </p:cNvSpPr>
            <p:nvPr/>
          </p:nvSpPr>
          <p:spPr bwMode="auto">
            <a:xfrm>
              <a:off x="3730473" y="1714500"/>
              <a:ext cx="124924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承保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5" name="Rectangle 22"/>
            <p:cNvSpPr>
              <a:spLocks noChangeArrowheads="1"/>
            </p:cNvSpPr>
            <p:nvPr/>
          </p:nvSpPr>
          <p:spPr bwMode="auto">
            <a:xfrm>
              <a:off x="3730473" y="2020906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6" name="Rectangle 23"/>
            <p:cNvSpPr>
              <a:spLocks noChangeArrowheads="1"/>
            </p:cNvSpPr>
            <p:nvPr/>
          </p:nvSpPr>
          <p:spPr bwMode="auto">
            <a:xfrm>
              <a:off x="3766595" y="2045418"/>
              <a:ext cx="1175491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承保策略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7" name="Rectangle 24"/>
            <p:cNvSpPr>
              <a:spLocks noChangeArrowheads="1"/>
            </p:cNvSpPr>
            <p:nvPr/>
          </p:nvSpPr>
          <p:spPr bwMode="auto">
            <a:xfrm>
              <a:off x="3766595" y="2511155"/>
              <a:ext cx="1175491" cy="90083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承保规划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8" name="Rectangle 26"/>
            <p:cNvSpPr>
              <a:spLocks noChangeArrowheads="1"/>
            </p:cNvSpPr>
            <p:nvPr/>
          </p:nvSpPr>
          <p:spPr bwMode="auto">
            <a:xfrm>
              <a:off x="3730473" y="3442630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79" name="Rectangle 31"/>
            <p:cNvSpPr>
              <a:spLocks noChangeArrowheads="1"/>
            </p:cNvSpPr>
            <p:nvPr/>
          </p:nvSpPr>
          <p:spPr bwMode="auto">
            <a:xfrm>
              <a:off x="3730473" y="4864353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0" name="Rectangle 34"/>
            <p:cNvSpPr>
              <a:spLocks noChangeArrowheads="1"/>
            </p:cNvSpPr>
            <p:nvPr/>
          </p:nvSpPr>
          <p:spPr bwMode="auto">
            <a:xfrm>
              <a:off x="3766595" y="5968947"/>
              <a:ext cx="1175491" cy="29261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归档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1" name="Rectangle 36"/>
            <p:cNvSpPr>
              <a:spLocks noChangeArrowheads="1"/>
            </p:cNvSpPr>
            <p:nvPr/>
          </p:nvSpPr>
          <p:spPr bwMode="auto">
            <a:xfrm>
              <a:off x="3766595" y="5167695"/>
              <a:ext cx="1175491" cy="22674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核保决定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2" name="Rectangle 36"/>
            <p:cNvSpPr>
              <a:spLocks noChangeArrowheads="1"/>
            </p:cNvSpPr>
            <p:nvPr/>
          </p:nvSpPr>
          <p:spPr bwMode="auto">
            <a:xfrm>
              <a:off x="3762080" y="4885802"/>
              <a:ext cx="1184520" cy="2573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报价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3" name="Rectangle 34"/>
            <p:cNvSpPr>
              <a:spLocks noChangeArrowheads="1"/>
            </p:cNvSpPr>
            <p:nvPr/>
          </p:nvSpPr>
          <p:spPr bwMode="auto">
            <a:xfrm>
              <a:off x="3762080" y="5700841"/>
              <a:ext cx="1184520" cy="24052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打单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4" name="Rectangle 43"/>
            <p:cNvSpPr>
              <a:spLocks noChangeArrowheads="1"/>
            </p:cNvSpPr>
            <p:nvPr/>
          </p:nvSpPr>
          <p:spPr bwMode="auto">
            <a:xfrm>
              <a:off x="2512840" y="3467142"/>
              <a:ext cx="1175490" cy="4534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精算控制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5" name="Rectangle 44"/>
            <p:cNvSpPr>
              <a:spLocks noChangeArrowheads="1"/>
            </p:cNvSpPr>
            <p:nvPr/>
          </p:nvSpPr>
          <p:spPr bwMode="auto">
            <a:xfrm>
              <a:off x="2512840" y="3945135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风险和暴露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6" name="Rectangle 45"/>
            <p:cNvSpPr>
              <a:spLocks noChangeArrowheads="1"/>
            </p:cNvSpPr>
            <p:nvPr/>
          </p:nvSpPr>
          <p:spPr bwMode="auto">
            <a:xfrm>
              <a:off x="2512840" y="4413936"/>
              <a:ext cx="1175490" cy="4289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再保管理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7" name="Rectangle 34"/>
            <p:cNvSpPr>
              <a:spLocks noChangeArrowheads="1"/>
            </p:cNvSpPr>
            <p:nvPr/>
          </p:nvSpPr>
          <p:spPr bwMode="auto">
            <a:xfrm>
              <a:off x="3762080" y="5426609"/>
              <a:ext cx="1184520" cy="24052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入单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8" name="Rectangle 63"/>
            <p:cNvSpPr>
              <a:spLocks noChangeArrowheads="1"/>
            </p:cNvSpPr>
            <p:nvPr/>
          </p:nvSpPr>
          <p:spPr bwMode="auto">
            <a:xfrm>
              <a:off x="6227449" y="5161567"/>
              <a:ext cx="1175490" cy="20222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续保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89" name="Rectangle 132"/>
            <p:cNvSpPr>
              <a:spLocks noChangeArrowheads="1"/>
            </p:cNvSpPr>
            <p:nvPr/>
          </p:nvSpPr>
          <p:spPr bwMode="auto">
            <a:xfrm>
              <a:off x="7448092" y="4864353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0" name="Rectangle 3"/>
            <p:cNvSpPr>
              <a:spLocks noChangeArrowheads="1"/>
            </p:cNvSpPr>
            <p:nvPr/>
          </p:nvSpPr>
          <p:spPr bwMode="auto">
            <a:xfrm>
              <a:off x="247650" y="1714500"/>
              <a:ext cx="1009929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1" name="Rectangle 5"/>
            <p:cNvSpPr>
              <a:spLocks noChangeArrowheads="1"/>
            </p:cNvSpPr>
            <p:nvPr/>
          </p:nvSpPr>
          <p:spPr bwMode="auto">
            <a:xfrm>
              <a:off x="247650" y="2020906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战略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2" name="Rectangle 6"/>
            <p:cNvSpPr>
              <a:spLocks noChangeArrowheads="1"/>
            </p:cNvSpPr>
            <p:nvPr/>
          </p:nvSpPr>
          <p:spPr bwMode="auto">
            <a:xfrm>
              <a:off x="247650" y="3442630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控制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3" name="Rectangle 7"/>
            <p:cNvSpPr>
              <a:spLocks noChangeArrowheads="1"/>
            </p:cNvSpPr>
            <p:nvPr/>
          </p:nvSpPr>
          <p:spPr bwMode="auto">
            <a:xfrm>
              <a:off x="247650" y="4864353"/>
              <a:ext cx="1009929" cy="142172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操作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执行</a:t>
              </a:r>
              <a:endParaRPr lang="zh-CN" altLang="en-US" sz="14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4" name="Rectangle 37"/>
            <p:cNvSpPr>
              <a:spLocks noChangeArrowheads="1"/>
            </p:cNvSpPr>
            <p:nvPr/>
          </p:nvSpPr>
          <p:spPr bwMode="auto">
            <a:xfrm>
              <a:off x="1248548" y="1714500"/>
              <a:ext cx="1247735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销售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5" name="Rectangle 38"/>
            <p:cNvSpPr>
              <a:spLocks noChangeArrowheads="1"/>
            </p:cNvSpPr>
            <p:nvPr/>
          </p:nvSpPr>
          <p:spPr bwMode="auto">
            <a:xfrm>
              <a:off x="1248548" y="2020906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6" name="Rectangle 39"/>
            <p:cNvSpPr>
              <a:spLocks noChangeArrowheads="1"/>
            </p:cNvSpPr>
            <p:nvPr/>
          </p:nvSpPr>
          <p:spPr bwMode="auto">
            <a:xfrm>
              <a:off x="1284671" y="2045418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销售和市场策略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7" name="Rectangle 40"/>
            <p:cNvSpPr>
              <a:spLocks noChangeArrowheads="1"/>
            </p:cNvSpPr>
            <p:nvPr/>
          </p:nvSpPr>
          <p:spPr bwMode="auto">
            <a:xfrm>
              <a:off x="1284671" y="2511155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客户管理规划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8" name="Rectangle 42"/>
            <p:cNvSpPr>
              <a:spLocks noChangeArrowheads="1"/>
            </p:cNvSpPr>
            <p:nvPr/>
          </p:nvSpPr>
          <p:spPr bwMode="auto">
            <a:xfrm>
              <a:off x="1248548" y="3442630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499" name="Rectangle 43"/>
            <p:cNvSpPr>
              <a:spLocks noChangeArrowheads="1"/>
            </p:cNvSpPr>
            <p:nvPr/>
          </p:nvSpPr>
          <p:spPr bwMode="auto">
            <a:xfrm>
              <a:off x="1277145" y="3474803"/>
              <a:ext cx="1175491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渠道伙伴管理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0" name="Rectangle 44"/>
            <p:cNvSpPr>
              <a:spLocks noChangeArrowheads="1"/>
            </p:cNvSpPr>
            <p:nvPr/>
          </p:nvSpPr>
          <p:spPr bwMode="auto">
            <a:xfrm>
              <a:off x="1284671" y="3942071"/>
              <a:ext cx="1175490" cy="4412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1" name="Rectangle 46"/>
            <p:cNvSpPr>
              <a:spLocks noChangeArrowheads="1"/>
            </p:cNvSpPr>
            <p:nvPr/>
          </p:nvSpPr>
          <p:spPr bwMode="auto">
            <a:xfrm>
              <a:off x="1248548" y="4864353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2" name="Rectangle 47"/>
            <p:cNvSpPr>
              <a:spLocks noChangeArrowheads="1"/>
            </p:cNvSpPr>
            <p:nvPr/>
          </p:nvSpPr>
          <p:spPr bwMode="auto">
            <a:xfrm>
              <a:off x="1284671" y="4888866"/>
              <a:ext cx="1175490" cy="1746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3" name="Rectangle 48"/>
            <p:cNvSpPr>
              <a:spLocks noChangeArrowheads="1"/>
            </p:cNvSpPr>
            <p:nvPr/>
          </p:nvSpPr>
          <p:spPr bwMode="auto">
            <a:xfrm>
              <a:off x="1284671" y="5088030"/>
              <a:ext cx="1175490" cy="17618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市场调查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4" name="Rectangle 49"/>
            <p:cNvSpPr>
              <a:spLocks noChangeArrowheads="1"/>
            </p:cNvSpPr>
            <p:nvPr/>
          </p:nvSpPr>
          <p:spPr bwMode="auto">
            <a:xfrm>
              <a:off x="1284671" y="5288726"/>
              <a:ext cx="1175490" cy="1746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销售活动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5" name="Rectangle 50"/>
            <p:cNvSpPr>
              <a:spLocks noChangeArrowheads="1"/>
            </p:cNvSpPr>
            <p:nvPr/>
          </p:nvSpPr>
          <p:spPr bwMode="auto">
            <a:xfrm>
              <a:off x="1284671" y="5487890"/>
              <a:ext cx="1175490" cy="36309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市场推广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6" name="Rectangle 52"/>
            <p:cNvSpPr>
              <a:spLocks noChangeArrowheads="1"/>
            </p:cNvSpPr>
            <p:nvPr/>
          </p:nvSpPr>
          <p:spPr bwMode="auto">
            <a:xfrm>
              <a:off x="1284671" y="5867833"/>
              <a:ext cx="1175490" cy="20069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客户服务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7" name="Rectangle 54"/>
            <p:cNvSpPr>
              <a:spLocks noChangeArrowheads="1"/>
            </p:cNvSpPr>
            <p:nvPr/>
          </p:nvSpPr>
          <p:spPr bwMode="auto">
            <a:xfrm>
              <a:off x="6191326" y="1714500"/>
              <a:ext cx="1247735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支持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8" name="Rectangle 57"/>
            <p:cNvSpPr>
              <a:spLocks noChangeArrowheads="1"/>
            </p:cNvSpPr>
            <p:nvPr/>
          </p:nvSpPr>
          <p:spPr bwMode="auto">
            <a:xfrm>
              <a:off x="6191326" y="3442630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09" name="Rectangle 58"/>
            <p:cNvSpPr>
              <a:spLocks noChangeArrowheads="1"/>
            </p:cNvSpPr>
            <p:nvPr/>
          </p:nvSpPr>
          <p:spPr bwMode="auto">
            <a:xfrm>
              <a:off x="6227449" y="3467142"/>
              <a:ext cx="1175490" cy="43662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b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资产管理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0" name="Rectangle 59"/>
            <p:cNvSpPr>
              <a:spLocks noChangeArrowheads="1"/>
            </p:cNvSpPr>
            <p:nvPr/>
          </p:nvSpPr>
          <p:spPr bwMode="auto">
            <a:xfrm>
              <a:off x="6227449" y="3932879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性能管理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1" name="Rectangle 60"/>
            <p:cNvSpPr>
              <a:spLocks noChangeArrowheads="1"/>
            </p:cNvSpPr>
            <p:nvPr/>
          </p:nvSpPr>
          <p:spPr bwMode="auto">
            <a:xfrm>
              <a:off x="6227449" y="4398616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50" b="0" dirty="0"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endParaRPr lang="zh-CN" altLang="en-US" sz="1050" b="0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2" name="Rectangle 61"/>
            <p:cNvSpPr>
              <a:spLocks noChangeArrowheads="1"/>
            </p:cNvSpPr>
            <p:nvPr/>
          </p:nvSpPr>
          <p:spPr bwMode="auto">
            <a:xfrm>
              <a:off x="6191326" y="4864353"/>
              <a:ext cx="1247735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3" name="Rectangle 62"/>
            <p:cNvSpPr>
              <a:spLocks noChangeArrowheads="1"/>
            </p:cNvSpPr>
            <p:nvPr/>
          </p:nvSpPr>
          <p:spPr bwMode="auto">
            <a:xfrm>
              <a:off x="6227449" y="4888866"/>
              <a:ext cx="1175490" cy="45501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4" name="Rectangle 63"/>
            <p:cNvSpPr>
              <a:spLocks noChangeArrowheads="1"/>
            </p:cNvSpPr>
            <p:nvPr/>
          </p:nvSpPr>
          <p:spPr bwMode="auto">
            <a:xfrm>
              <a:off x="6227449" y="5380648"/>
              <a:ext cx="1175490" cy="444289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5" name="Rectangle 65"/>
            <p:cNvSpPr>
              <a:spLocks noChangeArrowheads="1"/>
            </p:cNvSpPr>
            <p:nvPr/>
          </p:nvSpPr>
          <p:spPr bwMode="auto">
            <a:xfrm>
              <a:off x="6227449" y="5863237"/>
              <a:ext cx="1175490" cy="398328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6" name="Rectangle 120"/>
            <p:cNvSpPr>
              <a:spLocks noChangeArrowheads="1"/>
            </p:cNvSpPr>
            <p:nvPr/>
          </p:nvSpPr>
          <p:spPr bwMode="auto">
            <a:xfrm>
              <a:off x="7448092" y="1714500"/>
              <a:ext cx="1247736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企业职能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7" name="Rectangle 121"/>
            <p:cNvSpPr>
              <a:spLocks noChangeArrowheads="1"/>
            </p:cNvSpPr>
            <p:nvPr/>
          </p:nvSpPr>
          <p:spPr bwMode="auto">
            <a:xfrm>
              <a:off x="7448092" y="2020906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8" name="Rectangle 122"/>
            <p:cNvSpPr>
              <a:spLocks noChangeArrowheads="1"/>
            </p:cNvSpPr>
            <p:nvPr/>
          </p:nvSpPr>
          <p:spPr bwMode="auto">
            <a:xfrm>
              <a:off x="7484215" y="2045418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19" name="Rectangle 123"/>
            <p:cNvSpPr>
              <a:spLocks noChangeArrowheads="1"/>
            </p:cNvSpPr>
            <p:nvPr/>
          </p:nvSpPr>
          <p:spPr bwMode="auto">
            <a:xfrm>
              <a:off x="7484215" y="2511155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0" name="Rectangle 124"/>
            <p:cNvSpPr>
              <a:spLocks noChangeArrowheads="1"/>
            </p:cNvSpPr>
            <p:nvPr/>
          </p:nvSpPr>
          <p:spPr bwMode="auto">
            <a:xfrm>
              <a:off x="7484215" y="2976893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业务规定和制度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1" name="Rectangle 125"/>
            <p:cNvSpPr>
              <a:spLocks noChangeArrowheads="1"/>
            </p:cNvSpPr>
            <p:nvPr/>
          </p:nvSpPr>
          <p:spPr bwMode="auto">
            <a:xfrm>
              <a:off x="7448092" y="3442630"/>
              <a:ext cx="1247736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2" name="Rectangle 126"/>
            <p:cNvSpPr>
              <a:spLocks noChangeArrowheads="1"/>
            </p:cNvSpPr>
            <p:nvPr/>
          </p:nvSpPr>
          <p:spPr bwMode="auto">
            <a:xfrm>
              <a:off x="7484215" y="3467142"/>
              <a:ext cx="1173985" cy="22827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采购厂商管理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3" name="Rectangle 129"/>
            <p:cNvSpPr>
              <a:spLocks noChangeArrowheads="1"/>
            </p:cNvSpPr>
            <p:nvPr/>
          </p:nvSpPr>
          <p:spPr bwMode="auto">
            <a:xfrm>
              <a:off x="7484215" y="5198336"/>
              <a:ext cx="1173985" cy="16545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4" name="Rectangle 131"/>
            <p:cNvSpPr>
              <a:spLocks noChangeArrowheads="1"/>
            </p:cNvSpPr>
            <p:nvPr/>
          </p:nvSpPr>
          <p:spPr bwMode="auto">
            <a:xfrm>
              <a:off x="7484215" y="3960456"/>
              <a:ext cx="1173985" cy="25891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审计管理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5" name="Rectangle 133"/>
            <p:cNvSpPr>
              <a:spLocks noChangeArrowheads="1"/>
            </p:cNvSpPr>
            <p:nvPr/>
          </p:nvSpPr>
          <p:spPr bwMode="auto">
            <a:xfrm>
              <a:off x="7484215" y="4891930"/>
              <a:ext cx="1173985" cy="283426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6" name="Rectangle 137"/>
            <p:cNvSpPr>
              <a:spLocks noChangeArrowheads="1"/>
            </p:cNvSpPr>
            <p:nvPr/>
          </p:nvSpPr>
          <p:spPr bwMode="auto">
            <a:xfrm>
              <a:off x="7484215" y="5391371"/>
              <a:ext cx="1173985" cy="43969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7" name="Rectangle 139"/>
            <p:cNvSpPr>
              <a:spLocks noChangeArrowheads="1"/>
            </p:cNvSpPr>
            <p:nvPr/>
          </p:nvSpPr>
          <p:spPr bwMode="auto">
            <a:xfrm>
              <a:off x="7484215" y="4320483"/>
              <a:ext cx="1173985" cy="163927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公共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投资关系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8" name="Rectangle 140"/>
            <p:cNvSpPr>
              <a:spLocks noChangeArrowheads="1"/>
            </p:cNvSpPr>
            <p:nvPr/>
          </p:nvSpPr>
          <p:spPr bwMode="auto">
            <a:xfrm>
              <a:off x="7484215" y="4590120"/>
              <a:ext cx="1173985" cy="194567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29" name="Rectangle 141"/>
            <p:cNvSpPr>
              <a:spLocks noChangeArrowheads="1"/>
            </p:cNvSpPr>
            <p:nvPr/>
          </p:nvSpPr>
          <p:spPr bwMode="auto">
            <a:xfrm>
              <a:off x="7484215" y="5873961"/>
              <a:ext cx="1173985" cy="38760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0" name="Rectangle 67"/>
            <p:cNvSpPr>
              <a:spLocks noChangeArrowheads="1"/>
            </p:cNvSpPr>
            <p:nvPr/>
          </p:nvSpPr>
          <p:spPr bwMode="auto">
            <a:xfrm>
              <a:off x="4946601" y="1714500"/>
              <a:ext cx="125225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1" name="Rectangle 68"/>
            <p:cNvSpPr>
              <a:spLocks noChangeArrowheads="1"/>
            </p:cNvSpPr>
            <p:nvPr/>
          </p:nvSpPr>
          <p:spPr bwMode="auto">
            <a:xfrm>
              <a:off x="4946601" y="2020906"/>
              <a:ext cx="125225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2" name="Rectangle 69"/>
            <p:cNvSpPr>
              <a:spLocks noChangeArrowheads="1"/>
            </p:cNvSpPr>
            <p:nvPr/>
          </p:nvSpPr>
          <p:spPr bwMode="auto">
            <a:xfrm>
              <a:off x="5003795" y="2045418"/>
              <a:ext cx="1157429" cy="67409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系统维护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3" name="Rectangle 76"/>
            <p:cNvSpPr>
              <a:spLocks noChangeArrowheads="1"/>
            </p:cNvSpPr>
            <p:nvPr/>
          </p:nvSpPr>
          <p:spPr bwMode="auto">
            <a:xfrm>
              <a:off x="4946601" y="4864353"/>
              <a:ext cx="125225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4" name="Rectangle 77"/>
            <p:cNvSpPr>
              <a:spLocks noChangeArrowheads="1"/>
            </p:cNvSpPr>
            <p:nvPr/>
          </p:nvSpPr>
          <p:spPr bwMode="auto">
            <a:xfrm>
              <a:off x="5003795" y="4888866"/>
              <a:ext cx="1157429" cy="33551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用户反馈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5" name="Rectangle 80"/>
            <p:cNvSpPr>
              <a:spLocks noChangeArrowheads="1"/>
            </p:cNvSpPr>
            <p:nvPr/>
          </p:nvSpPr>
          <p:spPr bwMode="auto">
            <a:xfrm>
              <a:off x="5003795" y="5262681"/>
              <a:ext cx="1157429" cy="49944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6" name="Rectangle 81"/>
            <p:cNvSpPr>
              <a:spLocks noChangeArrowheads="1"/>
            </p:cNvSpPr>
            <p:nvPr/>
          </p:nvSpPr>
          <p:spPr bwMode="auto">
            <a:xfrm>
              <a:off x="5003795" y="5795827"/>
              <a:ext cx="1157429" cy="465737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系统支持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7" name="Rectangle 21"/>
            <p:cNvSpPr>
              <a:spLocks noChangeArrowheads="1"/>
            </p:cNvSpPr>
            <p:nvPr/>
          </p:nvSpPr>
          <p:spPr bwMode="auto">
            <a:xfrm>
              <a:off x="2487252" y="1714500"/>
              <a:ext cx="124924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服务管理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8" name="Rectangle 22"/>
            <p:cNvSpPr>
              <a:spLocks noChangeArrowheads="1"/>
            </p:cNvSpPr>
            <p:nvPr/>
          </p:nvSpPr>
          <p:spPr bwMode="auto">
            <a:xfrm>
              <a:off x="2487252" y="2020906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39" name="Rectangle 23"/>
            <p:cNvSpPr>
              <a:spLocks noChangeArrowheads="1"/>
            </p:cNvSpPr>
            <p:nvPr/>
          </p:nvSpPr>
          <p:spPr bwMode="auto">
            <a:xfrm>
              <a:off x="2512840" y="2045418"/>
              <a:ext cx="1175490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0" name="Rectangle 26"/>
            <p:cNvSpPr>
              <a:spLocks noChangeArrowheads="1"/>
            </p:cNvSpPr>
            <p:nvPr/>
          </p:nvSpPr>
          <p:spPr bwMode="auto">
            <a:xfrm>
              <a:off x="2487252" y="3442630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1" name="Rectangle 31"/>
            <p:cNvSpPr>
              <a:spLocks noChangeArrowheads="1"/>
            </p:cNvSpPr>
            <p:nvPr/>
          </p:nvSpPr>
          <p:spPr bwMode="auto">
            <a:xfrm>
              <a:off x="2487252" y="4864353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2" name="Rectangle 32"/>
            <p:cNvSpPr>
              <a:spLocks noChangeArrowheads="1"/>
            </p:cNvSpPr>
            <p:nvPr/>
          </p:nvSpPr>
          <p:spPr bwMode="auto">
            <a:xfrm>
              <a:off x="2530901" y="4887334"/>
              <a:ext cx="1155924" cy="35543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订单处理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3" name="Rectangle 34"/>
            <p:cNvSpPr>
              <a:spLocks noChangeArrowheads="1"/>
            </p:cNvSpPr>
            <p:nvPr/>
          </p:nvSpPr>
          <p:spPr bwMode="auto">
            <a:xfrm>
              <a:off x="2530901" y="5262681"/>
              <a:ext cx="1155924" cy="545403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安装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4" name="Rectangle 35"/>
            <p:cNvSpPr>
              <a:spLocks noChangeArrowheads="1"/>
            </p:cNvSpPr>
            <p:nvPr/>
          </p:nvSpPr>
          <p:spPr bwMode="auto">
            <a:xfrm>
              <a:off x="2530901" y="5835660"/>
              <a:ext cx="1155924" cy="4289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问题处理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5" name="Rectangle 21"/>
            <p:cNvSpPr>
              <a:spLocks noChangeArrowheads="1"/>
            </p:cNvSpPr>
            <p:nvPr/>
          </p:nvSpPr>
          <p:spPr bwMode="auto">
            <a:xfrm>
              <a:off x="3730473" y="1714500"/>
              <a:ext cx="1249241" cy="30640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开发</a:t>
              </a:r>
              <a:endParaRPr lang="zh-CN" altLang="en-US" sz="1600">
                <a:solidFill>
                  <a:srgbClr val="FFFFFF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6" name="Rectangle 22"/>
            <p:cNvSpPr>
              <a:spLocks noChangeArrowheads="1"/>
            </p:cNvSpPr>
            <p:nvPr/>
          </p:nvSpPr>
          <p:spPr bwMode="auto">
            <a:xfrm>
              <a:off x="3730473" y="2020906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7" name="Rectangle 23"/>
            <p:cNvSpPr>
              <a:spLocks noChangeArrowheads="1"/>
            </p:cNvSpPr>
            <p:nvPr/>
          </p:nvSpPr>
          <p:spPr bwMode="auto">
            <a:xfrm>
              <a:off x="3766595" y="2164917"/>
              <a:ext cx="1175491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产品策略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8" name="Rectangle 24"/>
            <p:cNvSpPr>
              <a:spLocks noChangeArrowheads="1"/>
            </p:cNvSpPr>
            <p:nvPr/>
          </p:nvSpPr>
          <p:spPr bwMode="auto">
            <a:xfrm>
              <a:off x="6231964" y="2722576"/>
              <a:ext cx="1173985" cy="53314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应用组合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49" name="Rectangle 31"/>
            <p:cNvSpPr>
              <a:spLocks noChangeArrowheads="1"/>
            </p:cNvSpPr>
            <p:nvPr/>
          </p:nvSpPr>
          <p:spPr bwMode="auto">
            <a:xfrm>
              <a:off x="3730473" y="4864353"/>
              <a:ext cx="1249241" cy="14217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0" name="Rectangle 36"/>
            <p:cNvSpPr>
              <a:spLocks noChangeArrowheads="1"/>
            </p:cNvSpPr>
            <p:nvPr/>
          </p:nvSpPr>
          <p:spPr bwMode="auto">
            <a:xfrm>
              <a:off x="3757564" y="5775911"/>
              <a:ext cx="1173985" cy="37381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变更</a:t>
              </a: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版本实施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1" name="Rectangle 36"/>
            <p:cNvSpPr>
              <a:spLocks noChangeArrowheads="1"/>
            </p:cNvSpPr>
            <p:nvPr/>
          </p:nvSpPr>
          <p:spPr bwMode="auto">
            <a:xfrm>
              <a:off x="3762080" y="5198336"/>
              <a:ext cx="1169469" cy="2573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2" name="Rectangle 43"/>
            <p:cNvSpPr>
              <a:spLocks noChangeArrowheads="1"/>
            </p:cNvSpPr>
            <p:nvPr/>
          </p:nvSpPr>
          <p:spPr bwMode="auto">
            <a:xfrm>
              <a:off x="2512840" y="3467142"/>
              <a:ext cx="1175490" cy="45348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服务请求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3" name="Rectangle 44"/>
            <p:cNvSpPr>
              <a:spLocks noChangeArrowheads="1"/>
            </p:cNvSpPr>
            <p:nvPr/>
          </p:nvSpPr>
          <p:spPr bwMode="auto">
            <a:xfrm>
              <a:off x="2512840" y="3945135"/>
              <a:ext cx="1175490" cy="441225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服务水平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协议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4" name="Rectangle 45"/>
            <p:cNvSpPr>
              <a:spLocks noChangeArrowheads="1"/>
            </p:cNvSpPr>
            <p:nvPr/>
          </p:nvSpPr>
          <p:spPr bwMode="auto">
            <a:xfrm>
              <a:off x="2512840" y="4413936"/>
              <a:ext cx="1175490" cy="4289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服务厂商管理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5" name="Rectangle 34"/>
            <p:cNvSpPr>
              <a:spLocks noChangeArrowheads="1"/>
            </p:cNvSpPr>
            <p:nvPr/>
          </p:nvSpPr>
          <p:spPr bwMode="auto">
            <a:xfrm>
              <a:off x="3762080" y="5475634"/>
              <a:ext cx="1169469" cy="27729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系统测试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6" name="Rectangle 126"/>
            <p:cNvSpPr>
              <a:spLocks noChangeArrowheads="1"/>
            </p:cNvSpPr>
            <p:nvPr/>
          </p:nvSpPr>
          <p:spPr bwMode="auto">
            <a:xfrm>
              <a:off x="7496256" y="3724523"/>
              <a:ext cx="1140873" cy="19150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流程管理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7" name="Rectangle 84"/>
            <p:cNvSpPr>
              <a:spLocks noChangeArrowheads="1"/>
            </p:cNvSpPr>
            <p:nvPr/>
          </p:nvSpPr>
          <p:spPr bwMode="auto">
            <a:xfrm>
              <a:off x="6237984" y="2045418"/>
              <a:ext cx="1164954" cy="572979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5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8" name="Rectangle 80"/>
            <p:cNvSpPr>
              <a:spLocks noChangeArrowheads="1"/>
            </p:cNvSpPr>
            <p:nvPr/>
          </p:nvSpPr>
          <p:spPr bwMode="auto">
            <a:xfrm>
              <a:off x="3765091" y="3847085"/>
              <a:ext cx="1146893" cy="306406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开发工具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59" name="Rectangle 81"/>
            <p:cNvSpPr>
              <a:spLocks noChangeArrowheads="1"/>
            </p:cNvSpPr>
            <p:nvPr/>
          </p:nvSpPr>
          <p:spPr bwMode="auto">
            <a:xfrm>
              <a:off x="3765091" y="4196388"/>
              <a:ext cx="1149903" cy="29108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版本管理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60" name="Rectangle 77"/>
            <p:cNvSpPr>
              <a:spLocks noChangeArrowheads="1"/>
            </p:cNvSpPr>
            <p:nvPr/>
          </p:nvSpPr>
          <p:spPr bwMode="auto">
            <a:xfrm>
              <a:off x="3765091" y="3473270"/>
              <a:ext cx="1146893" cy="33551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产品架构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61" name="Rectangle 23"/>
            <p:cNvSpPr>
              <a:spLocks noChangeArrowheads="1"/>
            </p:cNvSpPr>
            <p:nvPr/>
          </p:nvSpPr>
          <p:spPr bwMode="auto">
            <a:xfrm>
              <a:off x="3777131" y="2698063"/>
              <a:ext cx="1173985" cy="4412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开发策略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62" name="Rectangle 36"/>
            <p:cNvSpPr>
              <a:spLocks noChangeArrowheads="1"/>
            </p:cNvSpPr>
            <p:nvPr/>
          </p:nvSpPr>
          <p:spPr bwMode="auto">
            <a:xfrm>
              <a:off x="3762080" y="4904186"/>
              <a:ext cx="1169469" cy="257381"/>
            </a:xfrm>
            <a:prstGeom prst="rect">
              <a:avLst/>
            </a:prstGeom>
            <a:solidFill>
              <a:srgbClr val="FD1503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需求分析</a:t>
              </a: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63" name="Rectangle 81"/>
            <p:cNvSpPr>
              <a:spLocks noChangeArrowheads="1"/>
            </p:cNvSpPr>
            <p:nvPr/>
          </p:nvSpPr>
          <p:spPr bwMode="auto">
            <a:xfrm>
              <a:off x="3775626" y="4536499"/>
              <a:ext cx="1148399" cy="29108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50" b="0">
                  <a:ea typeface="宋体" panose="02010600030101010101" pitchFamily="2" charset="-122"/>
                  <a:cs typeface="Arial" panose="020B0604020202020204" pitchFamily="34" charset="0"/>
                </a:rPr>
                <a:t>项目管理</a:t>
              </a:r>
              <a:endParaRPr lang="en-US" altLang="zh-CN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564" name="Text Box 240"/>
            <p:cNvSpPr txBox="1">
              <a:spLocks noChangeArrowheads="1"/>
            </p:cNvSpPr>
            <p:nvPr/>
          </p:nvSpPr>
          <p:spPr bwMode="auto">
            <a:xfrm rot="1324605">
              <a:off x="2935743" y="3467114"/>
              <a:ext cx="3743996" cy="38612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  <a:defRPr kumimoji="1" sz="2000">
                  <a:solidFill>
                    <a:srgbClr val="FF0000"/>
                  </a:solidFill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400" dirty="0"/>
                <a:t>示意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21442" y="121040"/>
            <a:ext cx="7923038" cy="8683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公司管理层基于业务战略的需求，讨论和评估未来三年业务能力提升的程度</a:t>
            </a:r>
            <a:endParaRPr lang="zh-CN" altLang="en-US" dirty="0"/>
          </a:p>
        </p:txBody>
      </p:sp>
      <p:graphicFrame>
        <p:nvGraphicFramePr>
          <p:cNvPr id="1587284" name="Group 84"/>
          <p:cNvGraphicFramePr>
            <a:graphicFrameLocks noGrp="1"/>
          </p:cNvGraphicFramePr>
          <p:nvPr/>
        </p:nvGraphicFramePr>
        <p:xfrm>
          <a:off x="577850" y="1881188"/>
          <a:ext cx="2005013" cy="4068092"/>
        </p:xfrm>
        <a:graphic>
          <a:graphicData uri="http://schemas.openxmlformats.org/drawingml/2006/table">
            <a:tbl>
              <a:tblPr/>
              <a:tblGrid>
                <a:gridCol w="2005013"/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组件定义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1460875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数字化规划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级）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规划未来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年公司数字化发展方向和路线图，相关的预算、项目实施计划等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3740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资产管理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Wingdings" panose="05000000000000000000" pitchFamily="2" charset="2"/>
                        </a:rPr>
                        <a:t>级）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搜集公司各部门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软硬件设备需求，提出采购计划；管理现有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资产，分析使用情况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87287" name="Group 87"/>
          <p:cNvGraphicFramePr>
            <a:graphicFrameLocks noGrp="1"/>
          </p:cNvGraphicFramePr>
          <p:nvPr/>
        </p:nvGraphicFramePr>
        <p:xfrm>
          <a:off x="2776538" y="1881188"/>
          <a:ext cx="2663825" cy="4068092"/>
        </p:xfrm>
        <a:graphic>
          <a:graphicData uri="http://schemas.openxmlformats.org/drawingml/2006/table">
            <a:tbl>
              <a:tblPr/>
              <a:tblGrid>
                <a:gridCol w="806450"/>
                <a:gridCol w="936625"/>
                <a:gridCol w="920750"/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有竞争力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差异化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1670050"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b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2998"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77800" marR="0" lvl="0" indent="-1778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75" name="Text Box 31"/>
          <p:cNvSpPr txBox="1">
            <a:spLocks noChangeArrowheads="1"/>
          </p:cNvSpPr>
          <p:nvPr/>
        </p:nvSpPr>
        <p:spPr bwMode="auto">
          <a:xfrm>
            <a:off x="2835275" y="1433513"/>
            <a:ext cx="252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现状及与目标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1587275" name="Group 75"/>
          <p:cNvGraphicFramePr>
            <a:graphicFrameLocks noGrp="1"/>
          </p:cNvGraphicFramePr>
          <p:nvPr/>
        </p:nvGraphicFramePr>
        <p:xfrm>
          <a:off x="5672138" y="1884363"/>
          <a:ext cx="3817937" cy="4064917"/>
        </p:xfrm>
        <a:graphic>
          <a:graphicData uri="http://schemas.openxmlformats.org/drawingml/2006/table">
            <a:tbl>
              <a:tblPr/>
              <a:tblGrid>
                <a:gridCol w="3817937"/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解释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1671885">
                <a:tc>
                  <a:txBody>
                    <a:bodyPr/>
                    <a:lstStyle>
                      <a:lvl1pPr marL="174625" indent="-174625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Arial" panose="020B0604020202020204" pitchFamily="34" charset="0"/>
                        <a:buChar char="•"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参考国内外软件企业的最佳数字化规划的案例，把企业的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提升到国内的一流水平。每年制定数字化规划并审核执行结果。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8232">
                <a:tc>
                  <a:txBody>
                    <a:bodyPr/>
                    <a:lstStyle>
                      <a:lvl1pPr marL="186055" indent="-186055"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186055" marR="0" lvl="0" indent="-18605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Arial" panose="020B0604020202020204" pitchFamily="34" charset="0"/>
                        <a:buChar char="•"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建立资产管理系统，收集公司软件、硬件信息，实时管理使用情况。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6055" marR="0" lvl="0" indent="-18605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6055" marR="0" lvl="0" indent="-18605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6055" marR="0" lvl="0" indent="-18605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6286500" y="1433513"/>
            <a:ext cx="2955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目标能力说明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87" name="Line 43"/>
          <p:cNvSpPr>
            <a:spLocks noChangeShapeType="1"/>
          </p:cNvSpPr>
          <p:nvPr/>
        </p:nvSpPr>
        <p:spPr bwMode="auto">
          <a:xfrm>
            <a:off x="4059238" y="2895600"/>
            <a:ext cx="974725" cy="0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88" name="Line 44"/>
          <p:cNvSpPr>
            <a:spLocks noChangeShapeType="1"/>
          </p:cNvSpPr>
          <p:nvPr/>
        </p:nvSpPr>
        <p:spPr bwMode="auto">
          <a:xfrm>
            <a:off x="3255963" y="5257800"/>
            <a:ext cx="974725" cy="0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89" name="Text Box 45"/>
          <p:cNvSpPr txBox="1">
            <a:spLocks noChangeArrowheads="1"/>
          </p:cNvSpPr>
          <p:nvPr/>
        </p:nvSpPr>
        <p:spPr bwMode="auto">
          <a:xfrm>
            <a:off x="195263" y="1433513"/>
            <a:ext cx="252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数字化领域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 Box 240"/>
          <p:cNvSpPr txBox="1">
            <a:spLocks noChangeArrowheads="1"/>
          </p:cNvSpPr>
          <p:nvPr/>
        </p:nvSpPr>
        <p:spPr bwMode="auto">
          <a:xfrm rot="1324605">
            <a:off x="3297661" y="3932207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7367588" cy="939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之后针对热点业务能力需要提出改进原则</a:t>
            </a:r>
            <a:endParaRPr lang="zh-CN" altLang="en-US" dirty="0"/>
          </a:p>
        </p:txBody>
      </p:sp>
      <p:graphicFrame>
        <p:nvGraphicFramePr>
          <p:cNvPr id="1593381" name="Group 37"/>
          <p:cNvGraphicFramePr>
            <a:graphicFrameLocks noGrp="1"/>
          </p:cNvGraphicFramePr>
          <p:nvPr/>
        </p:nvGraphicFramePr>
        <p:xfrm>
          <a:off x="742950" y="1676400"/>
          <a:ext cx="8664575" cy="4572001"/>
        </p:xfrm>
        <a:graphic>
          <a:graphicData uri="http://schemas.openxmlformats.org/drawingml/2006/table">
            <a:tbl>
              <a:tblPr/>
              <a:tblGrid>
                <a:gridCol w="1916113"/>
                <a:gridCol w="2870200"/>
                <a:gridCol w="3878262"/>
              </a:tblGrid>
              <a:tr h="460375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提升目标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业务动作细分（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级）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改革原则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70013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竞争力水平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从现在有竞争力提升到未来的差异化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349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应用系统开发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需求搜集分析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优先级排期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开发、测试、上线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用户评估和反馈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Char char="n"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基础设施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制定私有云实施计划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验货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检测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3495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安装调试和上线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提高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数字化建设的重视程度，作为公司管理提升的主要手段。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加大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开发、实施的投入。未来三年投入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xxx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，建设和升级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CRM\ERP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等系统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引入敏捷开发流程和架构规划和管控流程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Char char="-"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Char char="-"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l"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Char char="-"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1370013">
                <a:tc>
                  <a:txBody>
                    <a:bodyPr/>
                    <a:lstStyle>
                      <a:lvl1pPr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5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7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 typeface="Monotype Sorts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61461" name="Text Box 21"/>
          <p:cNvSpPr txBox="1">
            <a:spLocks noChangeArrowheads="1"/>
          </p:cNvSpPr>
          <p:nvPr/>
        </p:nvSpPr>
        <p:spPr bwMode="auto">
          <a:xfrm>
            <a:off x="412750" y="1143000"/>
            <a:ext cx="5690790" cy="435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业务能力：数字化规划（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级）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62" name="AutoShape 23"/>
          <p:cNvSpPr>
            <a:spLocks noChangeArrowheads="1"/>
          </p:cNvSpPr>
          <p:nvPr/>
        </p:nvSpPr>
        <p:spPr bwMode="auto">
          <a:xfrm>
            <a:off x="7687716" y="1412154"/>
            <a:ext cx="249237" cy="16986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AU" altLang="zh-CN" sz="1000" b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endParaRPr lang="en-AU" altLang="zh-CN" sz="1000" b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1463" name="Text Box 25"/>
          <p:cNvSpPr txBox="1">
            <a:spLocks noChangeArrowheads="1"/>
          </p:cNvSpPr>
          <p:nvPr/>
        </p:nvSpPr>
        <p:spPr bwMode="auto">
          <a:xfrm>
            <a:off x="8016328" y="1108941"/>
            <a:ext cx="8493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GB" sz="1000" b="0">
                <a:ea typeface="宋体" panose="02010600030101010101" pitchFamily="2" charset="-122"/>
              </a:rPr>
              <a:t>保持</a:t>
            </a:r>
            <a:endParaRPr lang="zh-CN" altLang="en-GB" sz="1000" b="0">
              <a:ea typeface="宋体" panose="02010600030101010101" pitchFamily="2" charset="-122"/>
            </a:endParaRPr>
          </a:p>
        </p:txBody>
      </p:sp>
      <p:sp>
        <p:nvSpPr>
          <p:cNvPr id="61464" name="Text Box 26"/>
          <p:cNvSpPr txBox="1">
            <a:spLocks noChangeArrowheads="1"/>
          </p:cNvSpPr>
          <p:nvPr/>
        </p:nvSpPr>
        <p:spPr bwMode="auto">
          <a:xfrm>
            <a:off x="8016328" y="1413741"/>
            <a:ext cx="8493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GB" sz="1000" b="0">
                <a:ea typeface="宋体" panose="02010600030101010101" pitchFamily="2" charset="-122"/>
              </a:rPr>
              <a:t>提升</a:t>
            </a:r>
            <a:endParaRPr lang="zh-CN" altLang="en-GB" sz="1000" b="0">
              <a:ea typeface="宋体" panose="02010600030101010101" pitchFamily="2" charset="-122"/>
            </a:endParaRPr>
          </a:p>
        </p:txBody>
      </p:sp>
      <p:sp>
        <p:nvSpPr>
          <p:cNvPr id="61465" name="AutoShape 27"/>
          <p:cNvSpPr>
            <a:spLocks noChangeArrowheads="1"/>
          </p:cNvSpPr>
          <p:nvPr/>
        </p:nvSpPr>
        <p:spPr bwMode="auto">
          <a:xfrm>
            <a:off x="2146300" y="2209800"/>
            <a:ext cx="249238" cy="169863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AU" altLang="zh-CN" sz="1000" b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endParaRPr lang="en-AU" altLang="zh-CN" sz="1000" b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1466" name="Rectangle 28"/>
          <p:cNvSpPr>
            <a:spLocks noChangeArrowheads="1"/>
          </p:cNvSpPr>
          <p:nvPr/>
        </p:nvSpPr>
        <p:spPr bwMode="auto">
          <a:xfrm>
            <a:off x="2935288" y="3213100"/>
            <a:ext cx="1403350" cy="407988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61467" name="Text Box 29"/>
          <p:cNvSpPr txBox="1">
            <a:spLocks noChangeArrowheads="1"/>
          </p:cNvSpPr>
          <p:nvPr/>
        </p:nvSpPr>
        <p:spPr bwMode="auto">
          <a:xfrm>
            <a:off x="2935288" y="5826125"/>
            <a:ext cx="1814512" cy="339725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None/>
            </a:pPr>
            <a:r>
              <a:rPr lang="zh-CN" altLang="en-US" sz="1200" b="0">
                <a:latin typeface="宋体" panose="02010600030101010101" pitchFamily="2" charset="-122"/>
                <a:ea typeface="宋体" panose="02010600030101010101" pitchFamily="2" charset="-122"/>
              </a:rPr>
              <a:t>公司暂无此业务动作</a:t>
            </a:r>
            <a:endParaRPr lang="zh-CN" altLang="en-US" sz="12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68" name="Rectangle 31"/>
          <p:cNvSpPr>
            <a:spLocks noChangeArrowheads="1"/>
          </p:cNvSpPr>
          <p:nvPr/>
        </p:nvSpPr>
        <p:spPr bwMode="auto">
          <a:xfrm>
            <a:off x="7686128" y="1201016"/>
            <a:ext cx="330200" cy="762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12" name="Text Box 240"/>
          <p:cNvSpPr txBox="1">
            <a:spLocks noChangeArrowheads="1"/>
          </p:cNvSpPr>
          <p:nvPr/>
        </p:nvSpPr>
        <p:spPr bwMode="auto">
          <a:xfrm rot="1324605">
            <a:off x="3082891" y="3362296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>
          <a:xfrm>
            <a:off x="247651" y="80963"/>
            <a:ext cx="7152034" cy="939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业务能力图的应用场景</a:t>
            </a:r>
            <a:r>
              <a:rPr lang="en-US" altLang="zh-CN" sz="2800" dirty="0"/>
              <a:t>2</a:t>
            </a:r>
            <a:r>
              <a:rPr lang="zh-CN" altLang="en-US" sz="2800" dirty="0"/>
              <a:t>：根据业务能力设计前、中、后台</a:t>
            </a:r>
            <a:endParaRPr lang="zh-CN" altLang="en-US" sz="2800" dirty="0"/>
          </a:p>
        </p:txBody>
      </p:sp>
      <p:grpSp>
        <p:nvGrpSpPr>
          <p:cNvPr id="2" name="Group 1"/>
          <p:cNvGrpSpPr/>
          <p:nvPr/>
        </p:nvGrpSpPr>
        <p:grpSpPr>
          <a:xfrm>
            <a:off x="517508" y="1191871"/>
            <a:ext cx="8836025" cy="3322547"/>
            <a:chOff x="414908" y="1586608"/>
            <a:chExt cx="9023350" cy="4866728"/>
          </a:xfrm>
        </p:grpSpPr>
        <p:sp>
          <p:nvSpPr>
            <p:cNvPr id="3" name="AutoShape 75"/>
            <p:cNvSpPr>
              <a:spLocks noChangeAspect="1" noChangeArrowheads="1"/>
            </p:cNvSpPr>
            <p:nvPr/>
          </p:nvSpPr>
          <p:spPr bwMode="gray">
            <a:xfrm>
              <a:off x="1649983" y="1606103"/>
              <a:ext cx="5113338" cy="4836121"/>
            </a:xfrm>
            <a:prstGeom prst="roundRect">
              <a:avLst>
                <a:gd name="adj" fmla="val 770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 algn="ctr">
              <a:noFill/>
              <a:rou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zh-CN" sz="700" kern="0">
                <a:solidFill>
                  <a:srgbClr val="646464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" name="AutoShape 11"/>
            <p:cNvSpPr>
              <a:spLocks noChangeArrowheads="1"/>
            </p:cNvSpPr>
            <p:nvPr/>
          </p:nvSpPr>
          <p:spPr bwMode="gray">
            <a:xfrm>
              <a:off x="6849046" y="1586608"/>
              <a:ext cx="2589212" cy="4855616"/>
            </a:xfrm>
            <a:prstGeom prst="roundRect">
              <a:avLst>
                <a:gd name="adj" fmla="val 2169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 algn="ctr">
              <a:noFill/>
              <a:rou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de-DE" sz="700" kern="0">
                <a:solidFill>
                  <a:srgbClr val="646464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" name="AutoShape 11"/>
            <p:cNvSpPr>
              <a:spLocks noChangeAspect="1" noChangeArrowheads="1"/>
            </p:cNvSpPr>
            <p:nvPr/>
          </p:nvSpPr>
          <p:spPr bwMode="gray">
            <a:xfrm>
              <a:off x="414908" y="1597720"/>
              <a:ext cx="1152525" cy="4855616"/>
            </a:xfrm>
            <a:prstGeom prst="roundRect">
              <a:avLst>
                <a:gd name="adj" fmla="val 3305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 algn="ctr">
              <a:noFill/>
              <a:rou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/>
              </a:pPr>
              <a:endParaRPr lang="de-DE" sz="700" kern="0">
                <a:solidFill>
                  <a:srgbClr val="646464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210" name="Text Box 13"/>
            <p:cNvSpPr txBox="1">
              <a:spLocks noChangeAspect="1" noChangeArrowheads="1"/>
            </p:cNvSpPr>
            <p:nvPr/>
          </p:nvSpPr>
          <p:spPr bwMode="gray">
            <a:xfrm>
              <a:off x="629221" y="2992660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客户关系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1" name="Text Box 14"/>
            <p:cNvSpPr txBox="1">
              <a:spLocks noChangeAspect="1" noChangeArrowheads="1"/>
            </p:cNvSpPr>
            <p:nvPr/>
          </p:nvSpPr>
          <p:spPr bwMode="gray">
            <a:xfrm>
              <a:off x="629221" y="3302222"/>
              <a:ext cx="703262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客户分类策略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2" name="Text Box 15"/>
            <p:cNvSpPr txBox="1">
              <a:spLocks noChangeAspect="1" noChangeArrowheads="1"/>
            </p:cNvSpPr>
            <p:nvPr/>
          </p:nvSpPr>
          <p:spPr bwMode="gray">
            <a:xfrm>
              <a:off x="629221" y="4157935"/>
              <a:ext cx="703262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客户盈利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能力分析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4" name="Text Box 18"/>
            <p:cNvSpPr txBox="1">
              <a:spLocks noChangeAspect="1" noChangeArrowheads="1"/>
            </p:cNvSpPr>
            <p:nvPr/>
          </p:nvSpPr>
          <p:spPr bwMode="gray">
            <a:xfrm>
              <a:off x="629221" y="3856310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服务效能管理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5" name="Text Box 20"/>
            <p:cNvSpPr txBox="1">
              <a:spLocks noChangeAspect="1" noChangeArrowheads="1"/>
            </p:cNvSpPr>
            <p:nvPr/>
          </p:nvSpPr>
          <p:spPr bwMode="gray">
            <a:xfrm>
              <a:off x="629221" y="6013475"/>
              <a:ext cx="704850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客户账户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6" name="Text Box 21"/>
            <p:cNvSpPr txBox="1">
              <a:spLocks noChangeAspect="1" noChangeArrowheads="1"/>
            </p:cNvSpPr>
            <p:nvPr/>
          </p:nvSpPr>
          <p:spPr bwMode="gray">
            <a:xfrm>
              <a:off x="629221" y="4718075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客户事件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7" name="Text Box 22"/>
            <p:cNvSpPr txBox="1">
              <a:spLocks noChangeAspect="1" noChangeArrowheads="1"/>
            </p:cNvSpPr>
            <p:nvPr/>
          </p:nvSpPr>
          <p:spPr bwMode="gray">
            <a:xfrm>
              <a:off x="629221" y="5038750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接触处理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8" name="Text Box 23"/>
            <p:cNvSpPr txBox="1">
              <a:spLocks noChangeAspect="1" noChangeArrowheads="1"/>
            </p:cNvSpPr>
            <p:nvPr/>
          </p:nvSpPr>
          <p:spPr bwMode="gray">
            <a:xfrm>
              <a:off x="629221" y="5675337"/>
              <a:ext cx="704850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客户信息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9" name="Text Box 27"/>
            <p:cNvSpPr txBox="1">
              <a:spLocks noChangeAspect="1" noChangeArrowheads="1"/>
            </p:cNvSpPr>
            <p:nvPr/>
          </p:nvSpPr>
          <p:spPr bwMode="gray">
            <a:xfrm>
              <a:off x="629221" y="3557860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客户满意度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0" name="Text Box 28"/>
            <p:cNvSpPr txBox="1">
              <a:spLocks noChangeAspect="1" noChangeArrowheads="1"/>
            </p:cNvSpPr>
            <p:nvPr/>
          </p:nvSpPr>
          <p:spPr bwMode="gray">
            <a:xfrm>
              <a:off x="629221" y="4462735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接触管理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2" name="Text Box 22"/>
            <p:cNvSpPr txBox="1">
              <a:spLocks noChangeAspect="1" noChangeArrowheads="1"/>
            </p:cNvSpPr>
            <p:nvPr/>
          </p:nvSpPr>
          <p:spPr bwMode="gray">
            <a:xfrm>
              <a:off x="629221" y="5357837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通信处理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4" name="Text Box 59"/>
            <p:cNvSpPr txBox="1">
              <a:spLocks noChangeAspect="1" noChangeArrowheads="1"/>
            </p:cNvSpPr>
            <p:nvPr/>
          </p:nvSpPr>
          <p:spPr bwMode="gray">
            <a:xfrm>
              <a:off x="623136" y="2390997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渠道建设及推动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5" name="Text Box 60"/>
            <p:cNvSpPr txBox="1">
              <a:spLocks noChangeAspect="1" noChangeArrowheads="1"/>
            </p:cNvSpPr>
            <p:nvPr/>
          </p:nvSpPr>
          <p:spPr bwMode="gray">
            <a:xfrm>
              <a:off x="1772221" y="2510257"/>
              <a:ext cx="701675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渠道关系策略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6" name="Text Box 61"/>
            <p:cNvSpPr txBox="1">
              <a:spLocks noChangeAspect="1" noChangeArrowheads="1"/>
            </p:cNvSpPr>
            <p:nvPr/>
          </p:nvSpPr>
          <p:spPr bwMode="gray">
            <a:xfrm>
              <a:off x="1772221" y="2815057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营销活动规划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7" name="Text Box 62"/>
            <p:cNvSpPr txBox="1">
              <a:spLocks noChangeAspect="1" noChangeArrowheads="1"/>
            </p:cNvSpPr>
            <p:nvPr/>
          </p:nvSpPr>
          <p:spPr bwMode="gray">
            <a:xfrm>
              <a:off x="620754" y="2108515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营销活动管理</a:t>
              </a:r>
              <a:endParaRPr lang="en-US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8" name="Text Box 63"/>
            <p:cNvSpPr txBox="1">
              <a:spLocks noChangeAspect="1" noChangeArrowheads="1"/>
            </p:cNvSpPr>
            <p:nvPr/>
          </p:nvSpPr>
          <p:spPr bwMode="gray">
            <a:xfrm>
              <a:off x="2592958" y="2510257"/>
              <a:ext cx="701675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渠道分类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策略及规划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29" name="Text Box 64"/>
            <p:cNvSpPr txBox="1">
              <a:spLocks noChangeAspect="1" noChangeArrowheads="1"/>
            </p:cNvSpPr>
            <p:nvPr/>
          </p:nvSpPr>
          <p:spPr bwMode="gray">
            <a:xfrm>
              <a:off x="3432746" y="2510257"/>
              <a:ext cx="703262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渠道管理</a:t>
              </a:r>
              <a:r>
                <a:rPr lang="en-US" altLang="zh-CN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划与业绩</a:t>
              </a:r>
              <a:endParaRPr lang="zh-CN" altLang="en-US" sz="700" b="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0" name="Text Box 67"/>
            <p:cNvSpPr txBox="1">
              <a:spLocks noChangeAspect="1" noChangeArrowheads="1"/>
            </p:cNvSpPr>
            <p:nvPr/>
          </p:nvSpPr>
          <p:spPr bwMode="gray">
            <a:xfrm>
              <a:off x="5106765" y="2493852"/>
              <a:ext cx="703262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手续费管理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1" name="Text Box 68"/>
            <p:cNvSpPr txBox="1">
              <a:spLocks noChangeAspect="1" noChangeArrowheads="1"/>
            </p:cNvSpPr>
            <p:nvPr/>
          </p:nvSpPr>
          <p:spPr bwMode="gray">
            <a:xfrm>
              <a:off x="3432746" y="2818232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费率协商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2" name="Text Box 62"/>
            <p:cNvSpPr txBox="1">
              <a:spLocks noChangeAspect="1" noChangeArrowheads="1"/>
            </p:cNvSpPr>
            <p:nvPr/>
          </p:nvSpPr>
          <p:spPr bwMode="gray">
            <a:xfrm>
              <a:off x="623136" y="2692622"/>
              <a:ext cx="703262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营销活动执行</a:t>
              </a:r>
              <a:endParaRPr lang="en-US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3" name="Text Box 59"/>
            <p:cNvSpPr txBox="1">
              <a:spLocks noChangeAspect="1" noChangeArrowheads="1"/>
            </p:cNvSpPr>
            <p:nvPr/>
          </p:nvSpPr>
          <p:spPr bwMode="gray">
            <a:xfrm>
              <a:off x="5869558" y="2510257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渠道信息管理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4" name="Text Box 59"/>
            <p:cNvSpPr txBox="1">
              <a:spLocks noChangeAspect="1" noChangeArrowheads="1"/>
            </p:cNvSpPr>
            <p:nvPr/>
          </p:nvSpPr>
          <p:spPr bwMode="gray">
            <a:xfrm>
              <a:off x="5869558" y="2815057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销售开发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及支持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5" name="Text Box 5"/>
            <p:cNvSpPr txBox="1">
              <a:spLocks noChangeAspect="1" noChangeArrowheads="1"/>
            </p:cNvSpPr>
            <p:nvPr/>
          </p:nvSpPr>
          <p:spPr bwMode="gray">
            <a:xfrm rot="-5400000">
              <a:off x="8014535" y="5113100"/>
              <a:ext cx="795338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10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基础能力</a:t>
              </a:r>
              <a:endParaRPr lang="zh-CN" altLang="en-US" sz="10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6" name="Text Box 6"/>
            <p:cNvSpPr txBox="1">
              <a:spLocks noChangeAspect="1" noChangeArrowheads="1"/>
            </p:cNvSpPr>
            <p:nvPr/>
          </p:nvSpPr>
          <p:spPr bwMode="gray">
            <a:xfrm>
              <a:off x="8523858" y="4137259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内容管理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7" name="Text Box 7"/>
            <p:cNvSpPr txBox="1">
              <a:spLocks noChangeAspect="1" noChangeArrowheads="1"/>
            </p:cNvSpPr>
            <p:nvPr/>
          </p:nvSpPr>
          <p:spPr bwMode="gray">
            <a:xfrm>
              <a:off x="8517773" y="5254387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业务政策及程序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8" name="Text Box 8"/>
            <p:cNvSpPr txBox="1">
              <a:spLocks noChangeAspect="1" noChangeArrowheads="1"/>
            </p:cNvSpPr>
            <p:nvPr/>
          </p:nvSpPr>
          <p:spPr bwMode="gray">
            <a:xfrm>
              <a:off x="8520948" y="4701937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业务流程管理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39" name="Text Box 9"/>
            <p:cNvSpPr txBox="1">
              <a:spLocks noChangeAspect="1" noChangeArrowheads="1"/>
            </p:cNvSpPr>
            <p:nvPr/>
          </p:nvSpPr>
          <p:spPr bwMode="gray">
            <a:xfrm>
              <a:off x="8508513" y="3567875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资产管理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（非财务）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0" name="Text Box 10"/>
            <p:cNvSpPr txBox="1">
              <a:spLocks noChangeAspect="1" noChangeArrowheads="1"/>
            </p:cNvSpPr>
            <p:nvPr/>
          </p:nvSpPr>
          <p:spPr bwMode="gray">
            <a:xfrm>
              <a:off x="7012558" y="6106651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人力资源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1" name="Text Box 26"/>
            <p:cNvSpPr txBox="1">
              <a:spLocks noChangeAspect="1" noChangeArrowheads="1"/>
            </p:cNvSpPr>
            <p:nvPr/>
          </p:nvSpPr>
          <p:spPr bwMode="gray">
            <a:xfrm>
              <a:off x="8547671" y="6106651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培训</a:t>
              </a:r>
              <a:r>
                <a:rPr lang="en-US" altLang="zh-CN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2" name="Text Box 6"/>
            <p:cNvSpPr txBox="1">
              <a:spLocks noChangeAspect="1" noChangeArrowheads="1"/>
            </p:cNvSpPr>
            <p:nvPr/>
          </p:nvSpPr>
          <p:spPr bwMode="gray">
            <a:xfrm>
              <a:off x="8520683" y="3851509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技术管理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3" name="Text Box 7"/>
            <p:cNvSpPr txBox="1">
              <a:spLocks noChangeAspect="1" noChangeArrowheads="1"/>
            </p:cNvSpPr>
            <p:nvPr/>
          </p:nvSpPr>
          <p:spPr bwMode="gray">
            <a:xfrm>
              <a:off x="8517773" y="4968637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业务策略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4" name="Text Box 8"/>
            <p:cNvSpPr txBox="1">
              <a:spLocks noChangeAspect="1" noChangeArrowheads="1"/>
            </p:cNvSpPr>
            <p:nvPr/>
          </p:nvSpPr>
          <p:spPr bwMode="gray">
            <a:xfrm>
              <a:off x="8526503" y="2367919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采购</a:t>
              </a:r>
              <a:r>
                <a:rPr lang="en-US" altLang="zh-CN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供应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商管理</a:t>
              </a:r>
              <a:endParaRPr lang="zh-CN" altLang="en-US" sz="700" b="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5" name="Text Box 9"/>
            <p:cNvSpPr txBox="1">
              <a:spLocks noChangeAspect="1" noChangeArrowheads="1"/>
            </p:cNvSpPr>
            <p:nvPr/>
          </p:nvSpPr>
          <p:spPr bwMode="gray">
            <a:xfrm>
              <a:off x="8506925" y="3282125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设施管理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6" name="Text Box 10"/>
            <p:cNvSpPr txBox="1">
              <a:spLocks noChangeAspect="1" noChangeArrowheads="1"/>
            </p:cNvSpPr>
            <p:nvPr/>
          </p:nvSpPr>
          <p:spPr bwMode="gray">
            <a:xfrm>
              <a:off x="7007796" y="5820901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系统开发</a:t>
              </a:r>
              <a:b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及维护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7" name="Text Box 26"/>
            <p:cNvSpPr txBox="1">
              <a:spLocks noChangeAspect="1" noChangeArrowheads="1"/>
            </p:cNvSpPr>
            <p:nvPr/>
          </p:nvSpPr>
          <p:spPr bwMode="gray">
            <a:xfrm>
              <a:off x="8542908" y="5820901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安全服务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8" name="Text Box 26"/>
            <p:cNvSpPr txBox="1">
              <a:spLocks noChangeAspect="1" noChangeArrowheads="1"/>
            </p:cNvSpPr>
            <p:nvPr/>
          </p:nvSpPr>
          <p:spPr bwMode="gray">
            <a:xfrm>
              <a:off x="7779321" y="6106651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公共关系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49" name="Text Box 26"/>
            <p:cNvSpPr txBox="1">
              <a:spLocks noChangeAspect="1" noChangeArrowheads="1"/>
            </p:cNvSpPr>
            <p:nvPr/>
          </p:nvSpPr>
          <p:spPr bwMode="gray">
            <a:xfrm>
              <a:off x="7776146" y="5820901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设施维护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及运营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0" name="Text Box 7"/>
            <p:cNvSpPr txBox="1">
              <a:spLocks noChangeAspect="1" noChangeArrowheads="1"/>
            </p:cNvSpPr>
            <p:nvPr/>
          </p:nvSpPr>
          <p:spPr bwMode="gray">
            <a:xfrm>
              <a:off x="8519360" y="4416187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品牌推广管理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1" name="Text Box 77"/>
            <p:cNvSpPr txBox="1">
              <a:spLocks noChangeAspect="1" noChangeArrowheads="1"/>
            </p:cNvSpPr>
            <p:nvPr/>
          </p:nvSpPr>
          <p:spPr bwMode="gray">
            <a:xfrm>
              <a:off x="7003033" y="2648645"/>
              <a:ext cx="703263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潜在及实际损失准备金管理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2" name="Text Box 78"/>
            <p:cNvSpPr txBox="1">
              <a:spLocks noChangeAspect="1" noChangeArrowheads="1"/>
            </p:cNvSpPr>
            <p:nvPr/>
          </p:nvSpPr>
          <p:spPr bwMode="gray">
            <a:xfrm>
              <a:off x="7003033" y="2077145"/>
              <a:ext cx="703263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风险法律合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规管理策略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3" name="Text Box 80"/>
            <p:cNvSpPr txBox="1">
              <a:spLocks noChangeAspect="1" noChangeArrowheads="1"/>
            </p:cNvSpPr>
            <p:nvPr/>
          </p:nvSpPr>
          <p:spPr bwMode="gray">
            <a:xfrm>
              <a:off x="7003033" y="2361308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巨灾资源规划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4" name="Text Box 89"/>
            <p:cNvSpPr txBox="1">
              <a:spLocks noChangeAspect="1" noChangeArrowheads="1"/>
            </p:cNvSpPr>
            <p:nvPr/>
          </p:nvSpPr>
          <p:spPr bwMode="gray">
            <a:xfrm>
              <a:off x="7003033" y="2953445"/>
              <a:ext cx="703263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风险承担管理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5" name="Text Box 90"/>
            <p:cNvSpPr txBox="1">
              <a:spLocks noChangeAspect="1" noChangeArrowheads="1"/>
            </p:cNvSpPr>
            <p:nvPr/>
          </p:nvSpPr>
          <p:spPr bwMode="gray">
            <a:xfrm>
              <a:off x="7755508" y="2077145"/>
              <a:ext cx="703263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再保险策略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7" name="Text Box 99"/>
            <p:cNvSpPr txBox="1">
              <a:spLocks noChangeAspect="1" noChangeArrowheads="1"/>
            </p:cNvSpPr>
            <p:nvPr/>
          </p:nvSpPr>
          <p:spPr bwMode="gray">
            <a:xfrm>
              <a:off x="7755508" y="2643883"/>
              <a:ext cx="703263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再保险管理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8" name="Text Box 91"/>
            <p:cNvSpPr txBox="1">
              <a:spLocks noChangeAspect="1" noChangeArrowheads="1"/>
            </p:cNvSpPr>
            <p:nvPr/>
          </p:nvSpPr>
          <p:spPr bwMode="gray">
            <a:xfrm>
              <a:off x="7755508" y="2361308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精算控制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9" name="Text Box 92"/>
            <p:cNvSpPr txBox="1">
              <a:spLocks noChangeAspect="1" noChangeArrowheads="1"/>
            </p:cNvSpPr>
            <p:nvPr/>
          </p:nvSpPr>
          <p:spPr bwMode="gray">
            <a:xfrm>
              <a:off x="8509572" y="2058136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损失控制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0" name="Text Box 76"/>
            <p:cNvSpPr txBox="1">
              <a:spLocks noChangeAspect="1" noChangeArrowheads="1"/>
            </p:cNvSpPr>
            <p:nvPr/>
          </p:nvSpPr>
          <p:spPr bwMode="gray">
            <a:xfrm>
              <a:off x="7664526" y="1639526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1400" dirty="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后台</a:t>
              </a:r>
              <a:endParaRPr lang="zh-CN" altLang="en-US" sz="1400" dirty="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1" name="Text Box 95"/>
            <p:cNvSpPr txBox="1">
              <a:spLocks noChangeAspect="1" noChangeArrowheads="1"/>
            </p:cNvSpPr>
            <p:nvPr/>
          </p:nvSpPr>
          <p:spPr bwMode="gray">
            <a:xfrm>
              <a:off x="7003033" y="3245112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合规监控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2" name="Text Box 94"/>
            <p:cNvSpPr txBox="1">
              <a:spLocks noChangeAspect="1" noChangeArrowheads="1"/>
            </p:cNvSpPr>
            <p:nvPr/>
          </p:nvSpPr>
          <p:spPr bwMode="gray">
            <a:xfrm>
              <a:off x="7755508" y="3537212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保费审计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3" name="Text Box 95"/>
            <p:cNvSpPr txBox="1">
              <a:spLocks noChangeAspect="1" noChangeArrowheads="1"/>
            </p:cNvSpPr>
            <p:nvPr/>
          </p:nvSpPr>
          <p:spPr bwMode="gray">
            <a:xfrm>
              <a:off x="7755508" y="3245112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审计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5" name="Text Box 79"/>
            <p:cNvSpPr txBox="1">
              <a:spLocks noChangeAspect="1" noChangeArrowheads="1"/>
            </p:cNvSpPr>
            <p:nvPr/>
          </p:nvSpPr>
          <p:spPr bwMode="gray">
            <a:xfrm>
              <a:off x="7003033" y="3830400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财务政策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6" name="Text Box 82"/>
            <p:cNvSpPr txBox="1">
              <a:spLocks noChangeAspect="1" noChangeArrowheads="1"/>
            </p:cNvSpPr>
            <p:nvPr/>
          </p:nvSpPr>
          <p:spPr bwMode="gray">
            <a:xfrm>
              <a:off x="7003033" y="4114563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投资策略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7" name="Text Box 83"/>
            <p:cNvSpPr txBox="1">
              <a:spLocks noChangeAspect="1" noChangeArrowheads="1"/>
            </p:cNvSpPr>
            <p:nvPr/>
          </p:nvSpPr>
          <p:spPr bwMode="gray">
            <a:xfrm>
              <a:off x="7003033" y="4401900"/>
              <a:ext cx="701675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司库策略与规划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8" name="Text Box 84"/>
            <p:cNvSpPr txBox="1">
              <a:spLocks noChangeAspect="1" noChangeArrowheads="1"/>
            </p:cNvSpPr>
            <p:nvPr/>
          </p:nvSpPr>
          <p:spPr bwMode="gray">
            <a:xfrm>
              <a:off x="7755508" y="4401900"/>
              <a:ext cx="704850" cy="2301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会计职能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69" name="Text Box 85"/>
            <p:cNvSpPr txBox="1">
              <a:spLocks noChangeAspect="1" noChangeArrowheads="1"/>
            </p:cNvSpPr>
            <p:nvPr/>
          </p:nvSpPr>
          <p:spPr bwMode="gray">
            <a:xfrm>
              <a:off x="7003033" y="4687650"/>
              <a:ext cx="701675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投资管理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1" name="Text Box 97"/>
            <p:cNvSpPr txBox="1">
              <a:spLocks noChangeAspect="1" noChangeArrowheads="1"/>
            </p:cNvSpPr>
            <p:nvPr/>
          </p:nvSpPr>
          <p:spPr bwMode="gray">
            <a:xfrm>
              <a:off x="7755508" y="4687650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财务报表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及指标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2" name="Text Box 85"/>
            <p:cNvSpPr txBox="1">
              <a:spLocks noChangeAspect="1" noChangeArrowheads="1"/>
            </p:cNvSpPr>
            <p:nvPr/>
          </p:nvSpPr>
          <p:spPr bwMode="gray">
            <a:xfrm>
              <a:off x="7003033" y="5254388"/>
              <a:ext cx="701675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资本管理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3" name="Text Box 77"/>
            <p:cNvSpPr txBox="1">
              <a:spLocks noChangeAspect="1" noChangeArrowheads="1"/>
            </p:cNvSpPr>
            <p:nvPr/>
          </p:nvSpPr>
          <p:spPr bwMode="gray">
            <a:xfrm>
              <a:off x="2592958" y="4645496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核保管理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4" name="Text Box 78"/>
            <p:cNvSpPr txBox="1">
              <a:spLocks noChangeAspect="1" noChangeArrowheads="1"/>
            </p:cNvSpPr>
            <p:nvPr/>
          </p:nvSpPr>
          <p:spPr bwMode="gray">
            <a:xfrm>
              <a:off x="1772221" y="4645496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保单管理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策略及规划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5" name="Text Box 79"/>
            <p:cNvSpPr txBox="1">
              <a:spLocks noChangeAspect="1" noChangeArrowheads="1"/>
            </p:cNvSpPr>
            <p:nvPr/>
          </p:nvSpPr>
          <p:spPr bwMode="gray">
            <a:xfrm>
              <a:off x="5048821" y="4645496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理赔受理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6" name="Text Box 80"/>
            <p:cNvSpPr txBox="1">
              <a:spLocks noChangeAspect="1" noChangeArrowheads="1"/>
            </p:cNvSpPr>
            <p:nvPr/>
          </p:nvSpPr>
          <p:spPr bwMode="gray">
            <a:xfrm>
              <a:off x="1772221" y="5290021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承保策略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7" name="Text Box 81"/>
            <p:cNvSpPr txBox="1">
              <a:spLocks noChangeAspect="1" noChangeArrowheads="1"/>
            </p:cNvSpPr>
            <p:nvPr/>
          </p:nvSpPr>
          <p:spPr bwMode="gray">
            <a:xfrm>
              <a:off x="2592958" y="5290021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保单服务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水平管理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8" name="Text Box 82"/>
            <p:cNvSpPr txBox="1">
              <a:spLocks noChangeAspect="1" noChangeArrowheads="1"/>
            </p:cNvSpPr>
            <p:nvPr/>
          </p:nvSpPr>
          <p:spPr bwMode="gray">
            <a:xfrm>
              <a:off x="5048821" y="4964583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增加查勘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79" name="Text Box 84"/>
            <p:cNvSpPr txBox="1">
              <a:spLocks noChangeAspect="1" noChangeArrowheads="1"/>
            </p:cNvSpPr>
            <p:nvPr/>
          </p:nvSpPr>
          <p:spPr bwMode="gray">
            <a:xfrm>
              <a:off x="5869558" y="4645496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反渗漏和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反欺诈处理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0" name="Text Box 85"/>
            <p:cNvSpPr txBox="1">
              <a:spLocks noChangeAspect="1" noChangeArrowheads="1"/>
            </p:cNvSpPr>
            <p:nvPr/>
          </p:nvSpPr>
          <p:spPr bwMode="gray">
            <a:xfrm>
              <a:off x="5048821" y="5594821"/>
              <a:ext cx="701675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残值处理及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代位求偿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1" name="Text Box 87"/>
            <p:cNvSpPr txBox="1">
              <a:spLocks noChangeAspect="1" noChangeArrowheads="1"/>
            </p:cNvSpPr>
            <p:nvPr/>
          </p:nvSpPr>
          <p:spPr bwMode="gray">
            <a:xfrm>
              <a:off x="7755508" y="4973400"/>
              <a:ext cx="703263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收款管理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2" name="Text Box 88"/>
            <p:cNvSpPr txBox="1">
              <a:spLocks noChangeAspect="1" noChangeArrowheads="1"/>
            </p:cNvSpPr>
            <p:nvPr/>
          </p:nvSpPr>
          <p:spPr bwMode="gray">
            <a:xfrm>
              <a:off x="2592958" y="4964583"/>
              <a:ext cx="703263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增值服务管理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3" name="Text Box 90"/>
            <p:cNvSpPr txBox="1">
              <a:spLocks noChangeAspect="1" noChangeArrowheads="1"/>
            </p:cNvSpPr>
            <p:nvPr/>
          </p:nvSpPr>
          <p:spPr bwMode="gray">
            <a:xfrm>
              <a:off x="1772221" y="4964583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理赔策略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4" name="Text Box 97"/>
            <p:cNvSpPr txBox="1">
              <a:spLocks noChangeAspect="1" noChangeArrowheads="1"/>
            </p:cNvSpPr>
            <p:nvPr/>
          </p:nvSpPr>
          <p:spPr bwMode="gray">
            <a:xfrm>
              <a:off x="5869558" y="4964583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帐单处理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5" name="Text Box 91"/>
            <p:cNvSpPr txBox="1">
              <a:spLocks noChangeAspect="1" noChangeArrowheads="1"/>
            </p:cNvSpPr>
            <p:nvPr/>
          </p:nvSpPr>
          <p:spPr bwMode="gray">
            <a:xfrm>
              <a:off x="3432746" y="4645496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理赔管理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6" name="Text Box 92"/>
            <p:cNvSpPr txBox="1">
              <a:spLocks noChangeAspect="1" noChangeArrowheads="1"/>
            </p:cNvSpPr>
            <p:nvPr/>
          </p:nvSpPr>
          <p:spPr bwMode="gray">
            <a:xfrm>
              <a:off x="3432746" y="4964583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诉讼管理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7" name="Text Box 93"/>
            <p:cNvSpPr txBox="1">
              <a:spLocks noChangeAspect="1" noChangeArrowheads="1"/>
            </p:cNvSpPr>
            <p:nvPr/>
          </p:nvSpPr>
          <p:spPr bwMode="gray">
            <a:xfrm>
              <a:off x="3432746" y="5290021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渗漏和欺诈管理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8" name="Text Box 76"/>
            <p:cNvSpPr txBox="1">
              <a:spLocks noChangeAspect="1" noChangeArrowheads="1"/>
            </p:cNvSpPr>
            <p:nvPr/>
          </p:nvSpPr>
          <p:spPr bwMode="gray">
            <a:xfrm>
              <a:off x="1772221" y="4207346"/>
              <a:ext cx="44132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>
                <a:buClr>
                  <a:schemeClr val="accent1"/>
                </a:buClr>
                <a:buSzTx/>
                <a:buFont typeface="Wingdings" panose="05000000000000000000" pitchFamily="2" charset="2"/>
                <a:buNone/>
                <a:defRPr sz="1000" b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dirty="0"/>
                <a:t>运营</a:t>
              </a:r>
              <a:endParaRPr lang="zh-CN" altLang="en-US" dirty="0"/>
            </a:p>
          </p:txBody>
        </p:sp>
        <p:sp>
          <p:nvSpPr>
            <p:cNvPr id="51289" name="Text Box 95"/>
            <p:cNvSpPr txBox="1">
              <a:spLocks noChangeAspect="1" noChangeArrowheads="1"/>
            </p:cNvSpPr>
            <p:nvPr/>
          </p:nvSpPr>
          <p:spPr bwMode="gray">
            <a:xfrm>
              <a:off x="4224908" y="4645496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承保业务支持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0" name="Rectangle 89"/>
            <p:cNvSpPr>
              <a:spLocks noChangeAspect="1" noChangeArrowheads="1"/>
            </p:cNvSpPr>
            <p:nvPr/>
          </p:nvSpPr>
          <p:spPr bwMode="gray">
            <a:xfrm>
              <a:off x="1772221" y="4423246"/>
              <a:ext cx="703262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规划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1" name="Text Box 95"/>
            <p:cNvSpPr txBox="1">
              <a:spLocks noChangeAspect="1" noChangeArrowheads="1"/>
            </p:cNvSpPr>
            <p:nvPr/>
          </p:nvSpPr>
          <p:spPr bwMode="gray">
            <a:xfrm>
              <a:off x="4224908" y="4964583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新单处理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2" name="Text Box 94"/>
            <p:cNvSpPr txBox="1">
              <a:spLocks noChangeAspect="1" noChangeArrowheads="1"/>
            </p:cNvSpPr>
            <p:nvPr/>
          </p:nvSpPr>
          <p:spPr bwMode="gray">
            <a:xfrm>
              <a:off x="4224908" y="5290021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核保决定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3" name="Text Box 95"/>
            <p:cNvSpPr txBox="1">
              <a:spLocks noChangeAspect="1" noChangeArrowheads="1"/>
            </p:cNvSpPr>
            <p:nvPr/>
          </p:nvSpPr>
          <p:spPr bwMode="gray">
            <a:xfrm>
              <a:off x="4224908" y="5596408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保单服务操作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4" name="Text Box 87"/>
            <p:cNvSpPr txBox="1">
              <a:spLocks noChangeAspect="1" noChangeArrowheads="1"/>
            </p:cNvSpPr>
            <p:nvPr/>
          </p:nvSpPr>
          <p:spPr bwMode="gray">
            <a:xfrm>
              <a:off x="7755508" y="5254388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付款管理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5" name="Text Box 47"/>
            <p:cNvSpPr txBox="1">
              <a:spLocks noChangeAspect="1" noChangeArrowheads="1"/>
            </p:cNvSpPr>
            <p:nvPr/>
          </p:nvSpPr>
          <p:spPr bwMode="gray">
            <a:xfrm>
              <a:off x="4224908" y="3607271"/>
              <a:ext cx="703263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产品生命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周期管理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6" name="Text Box 48"/>
            <p:cNvSpPr txBox="1">
              <a:spLocks noChangeAspect="1" noChangeArrowheads="1"/>
            </p:cNvSpPr>
            <p:nvPr/>
          </p:nvSpPr>
          <p:spPr bwMode="gray">
            <a:xfrm>
              <a:off x="1772221" y="3612033"/>
              <a:ext cx="703262" cy="22383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产品规划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及分析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7" name="Text Box 50"/>
            <p:cNvSpPr txBox="1">
              <a:spLocks noChangeAspect="1" noChangeArrowheads="1"/>
            </p:cNvSpPr>
            <p:nvPr/>
          </p:nvSpPr>
          <p:spPr bwMode="gray">
            <a:xfrm>
              <a:off x="1772221" y="3915246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产品品牌策略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8" name="Text Box 52"/>
            <p:cNvSpPr txBox="1">
              <a:spLocks noChangeAspect="1" noChangeArrowheads="1"/>
            </p:cNvSpPr>
            <p:nvPr/>
          </p:nvSpPr>
          <p:spPr bwMode="gray">
            <a:xfrm>
              <a:off x="5869558" y="3607271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产品部署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9" name="Text Box 53"/>
            <p:cNvSpPr txBox="1">
              <a:spLocks noChangeAspect="1" noChangeArrowheads="1"/>
            </p:cNvSpPr>
            <p:nvPr/>
          </p:nvSpPr>
          <p:spPr bwMode="gray">
            <a:xfrm>
              <a:off x="5048821" y="3912071"/>
              <a:ext cx="703262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产品审批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0" name="Text Box 54"/>
            <p:cNvSpPr txBox="1">
              <a:spLocks noChangeAspect="1" noChangeArrowheads="1"/>
            </p:cNvSpPr>
            <p:nvPr/>
          </p:nvSpPr>
          <p:spPr bwMode="gray">
            <a:xfrm>
              <a:off x="5048821" y="3608858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产品设计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及定义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1" name="Text Box 55"/>
            <p:cNvSpPr txBox="1">
              <a:spLocks noChangeAspect="1" noChangeArrowheads="1"/>
            </p:cNvSpPr>
            <p:nvPr/>
          </p:nvSpPr>
          <p:spPr bwMode="gray">
            <a:xfrm>
              <a:off x="2592958" y="3608858"/>
              <a:ext cx="703263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市场调研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及分析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2" name="Text Box 74"/>
            <p:cNvSpPr txBox="1">
              <a:spLocks noChangeAspect="1" noChangeArrowheads="1"/>
            </p:cNvSpPr>
            <p:nvPr/>
          </p:nvSpPr>
          <p:spPr bwMode="gray">
            <a:xfrm>
              <a:off x="3432746" y="3607271"/>
              <a:ext cx="703262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产品效益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及业绩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3" name="Rectangle 102"/>
            <p:cNvSpPr>
              <a:spLocks noChangeAspect="1" noChangeArrowheads="1"/>
            </p:cNvSpPr>
            <p:nvPr/>
          </p:nvSpPr>
          <p:spPr bwMode="gray">
            <a:xfrm>
              <a:off x="1772221" y="3419946"/>
              <a:ext cx="151765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规划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4" name="Rectangle 103"/>
            <p:cNvSpPr>
              <a:spLocks noChangeAspect="1" noChangeArrowheads="1"/>
            </p:cNvSpPr>
            <p:nvPr/>
          </p:nvSpPr>
          <p:spPr bwMode="gray">
            <a:xfrm>
              <a:off x="3448621" y="3421533"/>
              <a:ext cx="1479550" cy="14763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管控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5" name="Text Box 76"/>
            <p:cNvSpPr txBox="1">
              <a:spLocks noChangeAspect="1" noChangeArrowheads="1"/>
            </p:cNvSpPr>
            <p:nvPr/>
          </p:nvSpPr>
          <p:spPr bwMode="gray">
            <a:xfrm>
              <a:off x="1772221" y="3161183"/>
              <a:ext cx="44132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>
                <a:buClr>
                  <a:schemeClr val="accent1"/>
                </a:buClr>
                <a:buSzTx/>
                <a:buFont typeface="Wingdings" panose="05000000000000000000" pitchFamily="2" charset="2"/>
                <a:buNone/>
                <a:defRPr sz="1000" b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dirty="0"/>
                <a:t>产品</a:t>
              </a:r>
              <a:endParaRPr lang="zh-CN" altLang="en-US" dirty="0"/>
            </a:p>
          </p:txBody>
        </p:sp>
        <p:sp>
          <p:nvSpPr>
            <p:cNvPr id="51306" name="Text Box 87"/>
            <p:cNvSpPr txBox="1">
              <a:spLocks noChangeAspect="1" noChangeArrowheads="1"/>
            </p:cNvSpPr>
            <p:nvPr/>
          </p:nvSpPr>
          <p:spPr bwMode="gray">
            <a:xfrm>
              <a:off x="8524916" y="2653669"/>
              <a:ext cx="703262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文档、打印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及影像管理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7" name="Text Box 89"/>
            <p:cNvSpPr txBox="1">
              <a:spLocks noChangeAspect="1" noChangeArrowheads="1"/>
            </p:cNvSpPr>
            <p:nvPr/>
          </p:nvSpPr>
          <p:spPr bwMode="gray">
            <a:xfrm>
              <a:off x="7755508" y="2948683"/>
              <a:ext cx="703263" cy="22383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风险评估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8" name="Text Box 95"/>
            <p:cNvSpPr txBox="1">
              <a:spLocks noChangeAspect="1" noChangeArrowheads="1"/>
            </p:cNvSpPr>
            <p:nvPr/>
          </p:nvSpPr>
          <p:spPr bwMode="gray">
            <a:xfrm>
              <a:off x="7003033" y="3537212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合规报告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9" name="Text Box 71"/>
            <p:cNvSpPr txBox="1">
              <a:spLocks noChangeAspect="1" noChangeArrowheads="1"/>
            </p:cNvSpPr>
            <p:nvPr/>
          </p:nvSpPr>
          <p:spPr bwMode="gray">
            <a:xfrm>
              <a:off x="5115496" y="2814528"/>
              <a:ext cx="703263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渠道培训</a:t>
              </a:r>
              <a:endParaRPr lang="zh-CN" altLang="en-US" sz="700" b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0" name="Text Box 87"/>
            <p:cNvSpPr txBox="1">
              <a:spLocks noChangeAspect="1" noChangeArrowheads="1"/>
            </p:cNvSpPr>
            <p:nvPr/>
          </p:nvSpPr>
          <p:spPr bwMode="gray">
            <a:xfrm>
              <a:off x="5869558" y="5290021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业务内容管理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1" name="Text Box 94"/>
            <p:cNvSpPr txBox="1">
              <a:spLocks noChangeAspect="1" noChangeArrowheads="1"/>
            </p:cNvSpPr>
            <p:nvPr/>
          </p:nvSpPr>
          <p:spPr bwMode="gray">
            <a:xfrm>
              <a:off x="5869558" y="5596408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增值服务提供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2" name="Text Box 83"/>
            <p:cNvSpPr txBox="1">
              <a:spLocks noChangeAspect="1" noChangeArrowheads="1"/>
            </p:cNvSpPr>
            <p:nvPr/>
          </p:nvSpPr>
          <p:spPr bwMode="gray">
            <a:xfrm>
              <a:off x="7003033" y="4973400"/>
              <a:ext cx="701675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司库管理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3" name="Text Box 87"/>
            <p:cNvSpPr txBox="1">
              <a:spLocks noChangeAspect="1" noChangeArrowheads="1"/>
            </p:cNvSpPr>
            <p:nvPr/>
          </p:nvSpPr>
          <p:spPr bwMode="gray">
            <a:xfrm>
              <a:off x="7755508" y="4116150"/>
              <a:ext cx="703263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财务绩效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管理和分析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4" name="Rectangle 113"/>
            <p:cNvSpPr>
              <a:spLocks noChangeArrowheads="1"/>
            </p:cNvSpPr>
            <p:nvPr/>
          </p:nvSpPr>
          <p:spPr bwMode="gray">
            <a:xfrm>
              <a:off x="5107558" y="2313407"/>
              <a:ext cx="1541463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执行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5" name="Rectangle 114"/>
            <p:cNvSpPr>
              <a:spLocks noChangeAspect="1" noChangeArrowheads="1"/>
            </p:cNvSpPr>
            <p:nvPr/>
          </p:nvSpPr>
          <p:spPr bwMode="gray">
            <a:xfrm>
              <a:off x="1772221" y="2313407"/>
              <a:ext cx="1539875" cy="1555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规划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6" name="Rectangle 115"/>
            <p:cNvSpPr>
              <a:spLocks noChangeArrowheads="1"/>
            </p:cNvSpPr>
            <p:nvPr/>
          </p:nvSpPr>
          <p:spPr bwMode="gray">
            <a:xfrm>
              <a:off x="3432746" y="2313407"/>
              <a:ext cx="1539875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管控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7" name="Rectangle 116"/>
            <p:cNvSpPr>
              <a:spLocks noChangeArrowheads="1"/>
            </p:cNvSpPr>
            <p:nvPr/>
          </p:nvSpPr>
          <p:spPr bwMode="gray">
            <a:xfrm>
              <a:off x="2651696" y="4421658"/>
              <a:ext cx="1490662" cy="1555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管控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8" name="Rectangle 117"/>
            <p:cNvSpPr>
              <a:spLocks noChangeArrowheads="1"/>
            </p:cNvSpPr>
            <p:nvPr/>
          </p:nvSpPr>
          <p:spPr bwMode="gray">
            <a:xfrm>
              <a:off x="4286821" y="4421658"/>
              <a:ext cx="2286000" cy="1555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执行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9" name="Rectangle 118"/>
            <p:cNvSpPr>
              <a:spLocks noChangeArrowheads="1"/>
            </p:cNvSpPr>
            <p:nvPr/>
          </p:nvSpPr>
          <p:spPr bwMode="gray">
            <a:xfrm>
              <a:off x="5091683" y="3423121"/>
              <a:ext cx="1463675" cy="14605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70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执行</a:t>
              </a:r>
              <a:endParaRPr lang="zh-CN" altLang="en-US" sz="70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0" name="Text Box 87"/>
            <p:cNvSpPr txBox="1">
              <a:spLocks noChangeAspect="1" noChangeArrowheads="1"/>
            </p:cNvSpPr>
            <p:nvPr/>
          </p:nvSpPr>
          <p:spPr bwMode="gray">
            <a:xfrm>
              <a:off x="7003033" y="5530613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投资运营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1" name="Text Box 82"/>
            <p:cNvSpPr txBox="1">
              <a:spLocks noChangeAspect="1" noChangeArrowheads="1"/>
            </p:cNvSpPr>
            <p:nvPr/>
          </p:nvSpPr>
          <p:spPr bwMode="gray">
            <a:xfrm>
              <a:off x="4224908" y="5864696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理赔处理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2" name="Text Box 83"/>
            <p:cNvSpPr txBox="1">
              <a:spLocks noChangeAspect="1" noChangeArrowheads="1"/>
            </p:cNvSpPr>
            <p:nvPr/>
          </p:nvSpPr>
          <p:spPr bwMode="gray">
            <a:xfrm>
              <a:off x="5048821" y="5332883"/>
              <a:ext cx="701675" cy="22701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账单处理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3" name="Text Box 87"/>
            <p:cNvSpPr txBox="1">
              <a:spLocks noChangeAspect="1" noChangeArrowheads="1"/>
            </p:cNvSpPr>
            <p:nvPr/>
          </p:nvSpPr>
          <p:spPr bwMode="gray">
            <a:xfrm>
              <a:off x="7755508" y="5549663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承保决策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4" name="Text Box 87"/>
            <p:cNvSpPr txBox="1">
              <a:spLocks noChangeAspect="1" noChangeArrowheads="1"/>
            </p:cNvSpPr>
            <p:nvPr/>
          </p:nvSpPr>
          <p:spPr bwMode="gray">
            <a:xfrm>
              <a:off x="7755508" y="3835163"/>
              <a:ext cx="703263" cy="2270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合约与临分再保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5" name="Text Box 10"/>
            <p:cNvSpPr txBox="1">
              <a:spLocks noChangeAspect="1" noChangeArrowheads="1"/>
            </p:cNvSpPr>
            <p:nvPr/>
          </p:nvSpPr>
          <p:spPr bwMode="gray">
            <a:xfrm>
              <a:off x="8517773" y="5548075"/>
              <a:ext cx="703262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业务规划及预算</a:t>
              </a:r>
              <a:endParaRPr lang="en-US" altLang="zh-CN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6" name="Text Box 94"/>
            <p:cNvSpPr txBox="1">
              <a:spLocks noChangeAspect="1" noChangeArrowheads="1"/>
            </p:cNvSpPr>
            <p:nvPr/>
          </p:nvSpPr>
          <p:spPr bwMode="gray">
            <a:xfrm>
              <a:off x="5048821" y="5867871"/>
              <a:ext cx="701675" cy="22542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C0C0C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7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增值服务管理</a:t>
              </a:r>
              <a:endParaRPr lang="zh-CN" altLang="en-US" sz="7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7" name="Rectangle 126"/>
            <p:cNvSpPr>
              <a:spLocks noChangeAspect="1" noChangeArrowheads="1"/>
            </p:cNvSpPr>
            <p:nvPr/>
          </p:nvSpPr>
          <p:spPr bwMode="gray">
            <a:xfrm>
              <a:off x="602233" y="2989485"/>
              <a:ext cx="155575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28" name="Rectangle 127"/>
            <p:cNvSpPr>
              <a:spLocks noChangeAspect="1" noChangeArrowheads="1"/>
            </p:cNvSpPr>
            <p:nvPr/>
          </p:nvSpPr>
          <p:spPr bwMode="gray">
            <a:xfrm>
              <a:off x="602233" y="3308572"/>
              <a:ext cx="155575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29" name="Rectangle 128"/>
            <p:cNvSpPr>
              <a:spLocks noChangeAspect="1" noChangeArrowheads="1"/>
            </p:cNvSpPr>
            <p:nvPr/>
          </p:nvSpPr>
          <p:spPr bwMode="gray">
            <a:xfrm>
              <a:off x="602233" y="3575322"/>
              <a:ext cx="155575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0" name="Rectangle 129"/>
            <p:cNvSpPr>
              <a:spLocks noChangeAspect="1" noChangeArrowheads="1"/>
            </p:cNvSpPr>
            <p:nvPr/>
          </p:nvSpPr>
          <p:spPr bwMode="gray">
            <a:xfrm>
              <a:off x="602233" y="4162697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1" name="Rectangle 130"/>
            <p:cNvSpPr>
              <a:spLocks noChangeAspect="1" noChangeArrowheads="1"/>
            </p:cNvSpPr>
            <p:nvPr/>
          </p:nvSpPr>
          <p:spPr bwMode="gray">
            <a:xfrm>
              <a:off x="602233" y="4478610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2" name="Rectangle 131"/>
            <p:cNvSpPr>
              <a:spLocks noChangeAspect="1" noChangeArrowheads="1"/>
            </p:cNvSpPr>
            <p:nvPr/>
          </p:nvSpPr>
          <p:spPr bwMode="gray">
            <a:xfrm>
              <a:off x="602233" y="4722837"/>
              <a:ext cx="155575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3" name="Rectangle 132"/>
            <p:cNvSpPr>
              <a:spLocks noChangeAspect="1" noChangeArrowheads="1"/>
            </p:cNvSpPr>
            <p:nvPr/>
          </p:nvSpPr>
          <p:spPr bwMode="gray">
            <a:xfrm>
              <a:off x="8490785" y="4949587"/>
              <a:ext cx="155575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4" name="Rectangle 133"/>
            <p:cNvSpPr>
              <a:spLocks noChangeAspect="1" noChangeArrowheads="1"/>
            </p:cNvSpPr>
            <p:nvPr/>
          </p:nvSpPr>
          <p:spPr bwMode="gray">
            <a:xfrm>
              <a:off x="8490785" y="5225812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5" name="Rectangle 134"/>
            <p:cNvSpPr>
              <a:spLocks noChangeAspect="1" noChangeArrowheads="1"/>
            </p:cNvSpPr>
            <p:nvPr/>
          </p:nvSpPr>
          <p:spPr bwMode="gray">
            <a:xfrm>
              <a:off x="602233" y="5043512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6" name="Rectangle 135"/>
            <p:cNvSpPr>
              <a:spLocks noChangeAspect="1" noChangeArrowheads="1"/>
            </p:cNvSpPr>
            <p:nvPr/>
          </p:nvSpPr>
          <p:spPr bwMode="gray">
            <a:xfrm>
              <a:off x="602233" y="5356250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7" name="Rectangle 136"/>
            <p:cNvSpPr>
              <a:spLocks noChangeAspect="1" noChangeArrowheads="1"/>
            </p:cNvSpPr>
            <p:nvPr/>
          </p:nvSpPr>
          <p:spPr bwMode="gray">
            <a:xfrm>
              <a:off x="602233" y="5632475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8" name="Rectangle 137"/>
            <p:cNvSpPr>
              <a:spLocks noChangeAspect="1" noChangeArrowheads="1"/>
            </p:cNvSpPr>
            <p:nvPr/>
          </p:nvSpPr>
          <p:spPr bwMode="gray">
            <a:xfrm>
              <a:off x="1708721" y="2519782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39" name="Rectangle 138"/>
            <p:cNvSpPr>
              <a:spLocks noChangeAspect="1" noChangeArrowheads="1"/>
            </p:cNvSpPr>
            <p:nvPr/>
          </p:nvSpPr>
          <p:spPr bwMode="gray">
            <a:xfrm>
              <a:off x="1708721" y="2815057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0" name="Rectangle 139"/>
            <p:cNvSpPr>
              <a:spLocks noChangeAspect="1" noChangeArrowheads="1"/>
            </p:cNvSpPr>
            <p:nvPr/>
          </p:nvSpPr>
          <p:spPr bwMode="gray">
            <a:xfrm>
              <a:off x="581861" y="2397347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1" name="Rectangle 140"/>
            <p:cNvSpPr>
              <a:spLocks noChangeAspect="1" noChangeArrowheads="1"/>
            </p:cNvSpPr>
            <p:nvPr/>
          </p:nvSpPr>
          <p:spPr bwMode="gray">
            <a:xfrm>
              <a:off x="581861" y="2673572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2" name="Rectangle 141"/>
            <p:cNvSpPr>
              <a:spLocks noChangeAspect="1" noChangeArrowheads="1"/>
            </p:cNvSpPr>
            <p:nvPr/>
          </p:nvSpPr>
          <p:spPr bwMode="gray">
            <a:xfrm>
              <a:off x="587417" y="2108515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3" name="Rectangle 142"/>
            <p:cNvSpPr>
              <a:spLocks noChangeAspect="1" noChangeArrowheads="1"/>
            </p:cNvSpPr>
            <p:nvPr/>
          </p:nvSpPr>
          <p:spPr bwMode="gray">
            <a:xfrm>
              <a:off x="2551683" y="2510257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4" name="Rectangle 143"/>
            <p:cNvSpPr>
              <a:spLocks noChangeAspect="1" noChangeArrowheads="1"/>
            </p:cNvSpPr>
            <p:nvPr/>
          </p:nvSpPr>
          <p:spPr bwMode="gray">
            <a:xfrm>
              <a:off x="5785421" y="2510257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5" name="Rectangle 144"/>
            <p:cNvSpPr>
              <a:spLocks noChangeAspect="1" noChangeArrowheads="1"/>
            </p:cNvSpPr>
            <p:nvPr/>
          </p:nvSpPr>
          <p:spPr bwMode="gray">
            <a:xfrm>
              <a:off x="5031359" y="281452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6" name="Rectangle 145"/>
            <p:cNvSpPr>
              <a:spLocks noChangeAspect="1" noChangeArrowheads="1"/>
            </p:cNvSpPr>
            <p:nvPr/>
          </p:nvSpPr>
          <p:spPr bwMode="gray">
            <a:xfrm>
              <a:off x="3364483" y="2513432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7" name="Rectangle 146"/>
            <p:cNvSpPr>
              <a:spLocks noChangeAspect="1" noChangeArrowheads="1"/>
            </p:cNvSpPr>
            <p:nvPr/>
          </p:nvSpPr>
          <p:spPr bwMode="gray">
            <a:xfrm>
              <a:off x="5065490" y="2516077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8" name="Rectangle 147"/>
            <p:cNvSpPr>
              <a:spLocks noChangeAspect="1" noChangeArrowheads="1"/>
            </p:cNvSpPr>
            <p:nvPr/>
          </p:nvSpPr>
          <p:spPr bwMode="gray">
            <a:xfrm>
              <a:off x="3364483" y="2822994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49" name="Rectangle 148"/>
            <p:cNvSpPr>
              <a:spLocks noChangeAspect="1" noChangeArrowheads="1"/>
            </p:cNvSpPr>
            <p:nvPr/>
          </p:nvSpPr>
          <p:spPr bwMode="gray">
            <a:xfrm>
              <a:off x="5785421" y="2799182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0" name="Rectangle 149"/>
            <p:cNvSpPr>
              <a:spLocks noChangeAspect="1" noChangeArrowheads="1"/>
            </p:cNvSpPr>
            <p:nvPr/>
          </p:nvSpPr>
          <p:spPr bwMode="gray">
            <a:xfrm>
              <a:off x="8495548" y="4673362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1" name="Rectangle 150"/>
            <p:cNvSpPr>
              <a:spLocks noChangeAspect="1" noChangeArrowheads="1"/>
            </p:cNvSpPr>
            <p:nvPr/>
          </p:nvSpPr>
          <p:spPr bwMode="gray">
            <a:xfrm>
              <a:off x="8476763" y="3539300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2" name="Rectangle 151"/>
            <p:cNvSpPr>
              <a:spLocks noChangeAspect="1" noChangeArrowheads="1"/>
            </p:cNvSpPr>
            <p:nvPr/>
          </p:nvSpPr>
          <p:spPr bwMode="gray">
            <a:xfrm>
              <a:off x="8474645" y="4108684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3" name="Rectangle 152"/>
            <p:cNvSpPr>
              <a:spLocks noChangeAspect="1" noChangeArrowheads="1"/>
            </p:cNvSpPr>
            <p:nvPr/>
          </p:nvSpPr>
          <p:spPr bwMode="gray">
            <a:xfrm>
              <a:off x="6983983" y="6078076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4" name="Rectangle 153"/>
            <p:cNvSpPr>
              <a:spLocks noChangeAspect="1" noChangeArrowheads="1"/>
            </p:cNvSpPr>
            <p:nvPr/>
          </p:nvSpPr>
          <p:spPr bwMode="gray">
            <a:xfrm>
              <a:off x="8504808" y="5801851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5" name="Rectangle 154"/>
            <p:cNvSpPr>
              <a:spLocks noChangeAspect="1" noChangeArrowheads="1"/>
            </p:cNvSpPr>
            <p:nvPr/>
          </p:nvSpPr>
          <p:spPr bwMode="gray">
            <a:xfrm>
              <a:off x="7704708" y="5521088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6" name="Rectangle 155"/>
            <p:cNvSpPr>
              <a:spLocks noChangeAspect="1" noChangeArrowheads="1"/>
            </p:cNvSpPr>
            <p:nvPr/>
          </p:nvSpPr>
          <p:spPr bwMode="gray">
            <a:xfrm>
              <a:off x="8501103" y="2348869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7" name="Rectangle 156"/>
            <p:cNvSpPr>
              <a:spLocks noChangeAspect="1" noChangeArrowheads="1"/>
            </p:cNvSpPr>
            <p:nvPr/>
          </p:nvSpPr>
          <p:spPr bwMode="gray">
            <a:xfrm>
              <a:off x="8479938" y="3263075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8" name="Rectangle 157"/>
            <p:cNvSpPr>
              <a:spLocks noChangeAspect="1" noChangeArrowheads="1"/>
            </p:cNvSpPr>
            <p:nvPr/>
          </p:nvSpPr>
          <p:spPr bwMode="gray">
            <a:xfrm>
              <a:off x="8479408" y="3832459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59" name="Rectangle 158"/>
            <p:cNvSpPr>
              <a:spLocks noChangeAspect="1" noChangeArrowheads="1"/>
            </p:cNvSpPr>
            <p:nvPr/>
          </p:nvSpPr>
          <p:spPr bwMode="gray">
            <a:xfrm>
              <a:off x="8486816" y="2625094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0" name="Rectangle 159"/>
            <p:cNvSpPr>
              <a:spLocks noChangeAspect="1" noChangeArrowheads="1"/>
            </p:cNvSpPr>
            <p:nvPr/>
          </p:nvSpPr>
          <p:spPr bwMode="gray">
            <a:xfrm>
              <a:off x="7742808" y="6078076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1" name="Rectangle 160"/>
            <p:cNvSpPr>
              <a:spLocks noChangeAspect="1" noChangeArrowheads="1"/>
            </p:cNvSpPr>
            <p:nvPr/>
          </p:nvSpPr>
          <p:spPr bwMode="gray">
            <a:xfrm>
              <a:off x="7704708" y="5243275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2" name="Rectangle 161"/>
            <p:cNvSpPr>
              <a:spLocks noChangeAspect="1" noChangeArrowheads="1"/>
            </p:cNvSpPr>
            <p:nvPr/>
          </p:nvSpPr>
          <p:spPr bwMode="gray">
            <a:xfrm>
              <a:off x="6906196" y="552108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3" name="Rectangle 162"/>
            <p:cNvSpPr>
              <a:spLocks noChangeAspect="1" noChangeArrowheads="1"/>
            </p:cNvSpPr>
            <p:nvPr/>
          </p:nvSpPr>
          <p:spPr bwMode="gray">
            <a:xfrm>
              <a:off x="6906196" y="5252800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4" name="Rectangle 163"/>
            <p:cNvSpPr>
              <a:spLocks noChangeAspect="1" noChangeArrowheads="1"/>
            </p:cNvSpPr>
            <p:nvPr/>
          </p:nvSpPr>
          <p:spPr bwMode="gray">
            <a:xfrm>
              <a:off x="8487081" y="4397931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5" name="Rectangle 164"/>
            <p:cNvSpPr>
              <a:spLocks noChangeAspect="1" noChangeArrowheads="1"/>
            </p:cNvSpPr>
            <p:nvPr/>
          </p:nvSpPr>
          <p:spPr bwMode="gray">
            <a:xfrm>
              <a:off x="6906196" y="2029520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6" name="Rectangle 165"/>
            <p:cNvSpPr>
              <a:spLocks noChangeAspect="1" noChangeArrowheads="1"/>
            </p:cNvSpPr>
            <p:nvPr/>
          </p:nvSpPr>
          <p:spPr bwMode="gray">
            <a:xfrm>
              <a:off x="6906196" y="2335908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7" name="Rectangle 166"/>
            <p:cNvSpPr>
              <a:spLocks noChangeAspect="1" noChangeArrowheads="1"/>
            </p:cNvSpPr>
            <p:nvPr/>
          </p:nvSpPr>
          <p:spPr bwMode="gray">
            <a:xfrm>
              <a:off x="6906196" y="2648645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8" name="Rectangle 167"/>
            <p:cNvSpPr>
              <a:spLocks noChangeAspect="1" noChangeArrowheads="1"/>
            </p:cNvSpPr>
            <p:nvPr/>
          </p:nvSpPr>
          <p:spPr bwMode="gray">
            <a:xfrm>
              <a:off x="6906196" y="2945508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69" name="Rectangle 168"/>
            <p:cNvSpPr>
              <a:spLocks noChangeAspect="1" noChangeArrowheads="1"/>
            </p:cNvSpPr>
            <p:nvPr/>
          </p:nvSpPr>
          <p:spPr bwMode="gray">
            <a:xfrm>
              <a:off x="7704708" y="2035870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0" name="Rectangle 169"/>
            <p:cNvSpPr>
              <a:spLocks noChangeAspect="1" noChangeArrowheads="1"/>
            </p:cNvSpPr>
            <p:nvPr/>
          </p:nvSpPr>
          <p:spPr bwMode="gray">
            <a:xfrm>
              <a:off x="7704708" y="2645470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1" name="Rectangle 170"/>
            <p:cNvSpPr>
              <a:spLocks noChangeAspect="1" noChangeArrowheads="1"/>
            </p:cNvSpPr>
            <p:nvPr/>
          </p:nvSpPr>
          <p:spPr bwMode="gray">
            <a:xfrm>
              <a:off x="7704708" y="2942333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2" name="Rectangle 171"/>
            <p:cNvSpPr>
              <a:spLocks noChangeAspect="1" noChangeArrowheads="1"/>
            </p:cNvSpPr>
            <p:nvPr/>
          </p:nvSpPr>
          <p:spPr bwMode="gray">
            <a:xfrm>
              <a:off x="7704708" y="2339083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3" name="Rectangle 172"/>
            <p:cNvSpPr>
              <a:spLocks noChangeAspect="1" noChangeArrowheads="1"/>
            </p:cNvSpPr>
            <p:nvPr/>
          </p:nvSpPr>
          <p:spPr bwMode="gray">
            <a:xfrm>
              <a:off x="8412735" y="2061311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4" name="Rectangle 173"/>
            <p:cNvSpPr>
              <a:spLocks noChangeAspect="1" noChangeArrowheads="1"/>
            </p:cNvSpPr>
            <p:nvPr/>
          </p:nvSpPr>
          <p:spPr bwMode="gray">
            <a:xfrm>
              <a:off x="6906196" y="3245112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5" name="Rectangle 174"/>
            <p:cNvSpPr>
              <a:spLocks noChangeAspect="1" noChangeArrowheads="1"/>
            </p:cNvSpPr>
            <p:nvPr/>
          </p:nvSpPr>
          <p:spPr bwMode="gray">
            <a:xfrm>
              <a:off x="6906196" y="3524512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6" name="Rectangle 175"/>
            <p:cNvSpPr>
              <a:spLocks noChangeAspect="1" noChangeArrowheads="1"/>
            </p:cNvSpPr>
            <p:nvPr/>
          </p:nvSpPr>
          <p:spPr bwMode="gray">
            <a:xfrm>
              <a:off x="7704708" y="3222887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7" name="Rectangle 176"/>
            <p:cNvSpPr>
              <a:spLocks noChangeAspect="1" noChangeArrowheads="1"/>
            </p:cNvSpPr>
            <p:nvPr/>
          </p:nvSpPr>
          <p:spPr bwMode="gray">
            <a:xfrm>
              <a:off x="7704708" y="3530862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8" name="Rectangle 177"/>
            <p:cNvSpPr>
              <a:spLocks noChangeAspect="1" noChangeArrowheads="1"/>
            </p:cNvSpPr>
            <p:nvPr/>
          </p:nvSpPr>
          <p:spPr bwMode="gray">
            <a:xfrm>
              <a:off x="6906196" y="3817700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79" name="Rectangle 178"/>
            <p:cNvSpPr>
              <a:spLocks noChangeAspect="1" noChangeArrowheads="1"/>
            </p:cNvSpPr>
            <p:nvPr/>
          </p:nvSpPr>
          <p:spPr bwMode="gray">
            <a:xfrm>
              <a:off x="6906196" y="411138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0" name="Rectangle 179"/>
            <p:cNvSpPr>
              <a:spLocks noChangeAspect="1" noChangeArrowheads="1"/>
            </p:cNvSpPr>
            <p:nvPr/>
          </p:nvSpPr>
          <p:spPr bwMode="gray">
            <a:xfrm>
              <a:off x="6906196" y="436538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1" name="Rectangle 180"/>
            <p:cNvSpPr>
              <a:spLocks noChangeAspect="1" noChangeArrowheads="1"/>
            </p:cNvSpPr>
            <p:nvPr/>
          </p:nvSpPr>
          <p:spPr bwMode="gray">
            <a:xfrm>
              <a:off x="6906196" y="4665425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2" name="Rectangle 181"/>
            <p:cNvSpPr>
              <a:spLocks noChangeAspect="1" noChangeArrowheads="1"/>
            </p:cNvSpPr>
            <p:nvPr/>
          </p:nvSpPr>
          <p:spPr bwMode="gray">
            <a:xfrm>
              <a:off x="7704708" y="4106625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3" name="Rectangle 182"/>
            <p:cNvSpPr>
              <a:spLocks noChangeAspect="1" noChangeArrowheads="1"/>
            </p:cNvSpPr>
            <p:nvPr/>
          </p:nvSpPr>
          <p:spPr bwMode="gray">
            <a:xfrm>
              <a:off x="7704708" y="4365388"/>
              <a:ext cx="157163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4" name="Rectangle 183"/>
            <p:cNvSpPr>
              <a:spLocks noChangeAspect="1" noChangeArrowheads="1"/>
            </p:cNvSpPr>
            <p:nvPr/>
          </p:nvSpPr>
          <p:spPr bwMode="gray">
            <a:xfrm>
              <a:off x="7704708" y="4665425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5" name="Rectangle 184"/>
            <p:cNvSpPr>
              <a:spLocks noChangeAspect="1" noChangeArrowheads="1"/>
            </p:cNvSpPr>
            <p:nvPr/>
          </p:nvSpPr>
          <p:spPr bwMode="gray">
            <a:xfrm>
              <a:off x="7704708" y="3817700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6" name="Rectangle 185"/>
            <p:cNvSpPr>
              <a:spLocks noChangeAspect="1" noChangeArrowheads="1"/>
            </p:cNvSpPr>
            <p:nvPr/>
          </p:nvSpPr>
          <p:spPr bwMode="gray">
            <a:xfrm>
              <a:off x="1708721" y="4635971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7" name="Rectangle 186"/>
            <p:cNvSpPr>
              <a:spLocks noChangeAspect="1" noChangeArrowheads="1"/>
            </p:cNvSpPr>
            <p:nvPr/>
          </p:nvSpPr>
          <p:spPr bwMode="gray">
            <a:xfrm>
              <a:off x="1708721" y="4970933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8" name="Rectangle 187"/>
            <p:cNvSpPr>
              <a:spLocks noChangeAspect="1" noChangeArrowheads="1"/>
            </p:cNvSpPr>
            <p:nvPr/>
          </p:nvSpPr>
          <p:spPr bwMode="gray">
            <a:xfrm>
              <a:off x="1708721" y="5301133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89" name="Rectangle 188"/>
            <p:cNvSpPr>
              <a:spLocks noChangeAspect="1" noChangeArrowheads="1"/>
            </p:cNvSpPr>
            <p:nvPr/>
          </p:nvSpPr>
          <p:spPr bwMode="gray">
            <a:xfrm>
              <a:off x="8490785" y="5521087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0" name="Rectangle 189"/>
            <p:cNvSpPr>
              <a:spLocks noChangeAspect="1" noChangeArrowheads="1"/>
            </p:cNvSpPr>
            <p:nvPr/>
          </p:nvSpPr>
          <p:spPr bwMode="gray">
            <a:xfrm>
              <a:off x="2551683" y="4651846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1" name="Rectangle 190"/>
            <p:cNvSpPr>
              <a:spLocks noChangeAspect="1" noChangeArrowheads="1"/>
            </p:cNvSpPr>
            <p:nvPr/>
          </p:nvSpPr>
          <p:spPr bwMode="gray">
            <a:xfrm>
              <a:off x="2551683" y="4986808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2" name="Rectangle 191"/>
            <p:cNvSpPr>
              <a:spLocks noChangeAspect="1" noChangeArrowheads="1"/>
            </p:cNvSpPr>
            <p:nvPr/>
          </p:nvSpPr>
          <p:spPr bwMode="gray">
            <a:xfrm>
              <a:off x="2551683" y="5297958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3" name="Rectangle 192"/>
            <p:cNvSpPr>
              <a:spLocks noChangeAspect="1" noChangeArrowheads="1"/>
            </p:cNvSpPr>
            <p:nvPr/>
          </p:nvSpPr>
          <p:spPr bwMode="gray">
            <a:xfrm>
              <a:off x="6906196" y="4970225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4" name="Rectangle 193"/>
            <p:cNvSpPr>
              <a:spLocks noChangeAspect="1" noChangeArrowheads="1"/>
            </p:cNvSpPr>
            <p:nvPr/>
          </p:nvSpPr>
          <p:spPr bwMode="gray">
            <a:xfrm>
              <a:off x="3364483" y="4655021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5" name="Rectangle 194"/>
            <p:cNvSpPr>
              <a:spLocks noChangeAspect="1" noChangeArrowheads="1"/>
            </p:cNvSpPr>
            <p:nvPr/>
          </p:nvSpPr>
          <p:spPr bwMode="gray">
            <a:xfrm>
              <a:off x="3364483" y="4982046"/>
              <a:ext cx="157163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6" name="Rectangle 195"/>
            <p:cNvSpPr>
              <a:spLocks noChangeAspect="1" noChangeArrowheads="1"/>
            </p:cNvSpPr>
            <p:nvPr/>
          </p:nvSpPr>
          <p:spPr bwMode="gray">
            <a:xfrm>
              <a:off x="3364483" y="5301133"/>
              <a:ext cx="157163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8" name="Rectangle 197"/>
            <p:cNvSpPr>
              <a:spLocks noChangeAspect="1" noChangeArrowheads="1"/>
            </p:cNvSpPr>
            <p:nvPr/>
          </p:nvSpPr>
          <p:spPr bwMode="gray">
            <a:xfrm>
              <a:off x="5007546" y="4642321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399" name="Rectangle 198"/>
            <p:cNvSpPr>
              <a:spLocks noChangeAspect="1" noChangeArrowheads="1"/>
            </p:cNvSpPr>
            <p:nvPr/>
          </p:nvSpPr>
          <p:spPr bwMode="gray">
            <a:xfrm>
              <a:off x="5007546" y="500585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0" name="Rectangle 199"/>
            <p:cNvSpPr>
              <a:spLocks noChangeAspect="1" noChangeArrowheads="1"/>
            </p:cNvSpPr>
            <p:nvPr/>
          </p:nvSpPr>
          <p:spPr bwMode="gray">
            <a:xfrm>
              <a:off x="5007546" y="531700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1" name="Rectangle 200"/>
            <p:cNvSpPr>
              <a:spLocks noChangeAspect="1" noChangeArrowheads="1"/>
            </p:cNvSpPr>
            <p:nvPr/>
          </p:nvSpPr>
          <p:spPr bwMode="gray">
            <a:xfrm>
              <a:off x="5007546" y="5615458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2" name="Rectangle 201"/>
            <p:cNvSpPr>
              <a:spLocks noChangeAspect="1" noChangeArrowheads="1"/>
            </p:cNvSpPr>
            <p:nvPr/>
          </p:nvSpPr>
          <p:spPr bwMode="gray">
            <a:xfrm>
              <a:off x="5785421" y="4629621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3" name="Rectangle 202"/>
            <p:cNvSpPr>
              <a:spLocks noChangeAspect="1" noChangeArrowheads="1"/>
            </p:cNvSpPr>
            <p:nvPr/>
          </p:nvSpPr>
          <p:spPr bwMode="gray">
            <a:xfrm>
              <a:off x="5785421" y="4983633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4" name="Rectangle 203"/>
            <p:cNvSpPr>
              <a:spLocks noChangeAspect="1" noChangeArrowheads="1"/>
            </p:cNvSpPr>
            <p:nvPr/>
          </p:nvSpPr>
          <p:spPr bwMode="gray">
            <a:xfrm>
              <a:off x="5785421" y="5294783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5" name="Rectangle 204"/>
            <p:cNvSpPr>
              <a:spLocks noChangeAspect="1" noChangeArrowheads="1"/>
            </p:cNvSpPr>
            <p:nvPr/>
          </p:nvSpPr>
          <p:spPr bwMode="gray">
            <a:xfrm>
              <a:off x="7704708" y="4970225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6" name="Rectangle 205"/>
            <p:cNvSpPr>
              <a:spLocks noChangeAspect="1" noChangeArrowheads="1"/>
            </p:cNvSpPr>
            <p:nvPr/>
          </p:nvSpPr>
          <p:spPr bwMode="gray">
            <a:xfrm>
              <a:off x="4191571" y="4653433"/>
              <a:ext cx="157162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7" name="Rectangle 206"/>
            <p:cNvSpPr>
              <a:spLocks noChangeAspect="1" noChangeArrowheads="1"/>
            </p:cNvSpPr>
            <p:nvPr/>
          </p:nvSpPr>
          <p:spPr bwMode="gray">
            <a:xfrm>
              <a:off x="4191571" y="4956646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8" name="Rectangle 207"/>
            <p:cNvSpPr>
              <a:spLocks noChangeAspect="1" noChangeArrowheads="1"/>
            </p:cNvSpPr>
            <p:nvPr/>
          </p:nvSpPr>
          <p:spPr bwMode="gray">
            <a:xfrm>
              <a:off x="4191571" y="5275733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09" name="Rectangle 208"/>
            <p:cNvSpPr>
              <a:spLocks noChangeAspect="1" noChangeArrowheads="1"/>
            </p:cNvSpPr>
            <p:nvPr/>
          </p:nvSpPr>
          <p:spPr bwMode="gray">
            <a:xfrm>
              <a:off x="4191571" y="5620221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0" name="Rectangle 209"/>
            <p:cNvSpPr>
              <a:spLocks noChangeAspect="1" noChangeArrowheads="1"/>
            </p:cNvSpPr>
            <p:nvPr/>
          </p:nvSpPr>
          <p:spPr bwMode="gray">
            <a:xfrm>
              <a:off x="5785421" y="5585296"/>
              <a:ext cx="157162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1" name="Rectangle 210"/>
            <p:cNvSpPr>
              <a:spLocks noChangeAspect="1" noChangeArrowheads="1"/>
            </p:cNvSpPr>
            <p:nvPr/>
          </p:nvSpPr>
          <p:spPr bwMode="gray">
            <a:xfrm>
              <a:off x="1708721" y="3610446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1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2" name="Rectangle 211"/>
            <p:cNvSpPr>
              <a:spLocks noChangeAspect="1" noChangeArrowheads="1"/>
            </p:cNvSpPr>
            <p:nvPr/>
          </p:nvSpPr>
          <p:spPr bwMode="gray">
            <a:xfrm>
              <a:off x="1708721" y="3900958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3" name="Rectangle 212"/>
            <p:cNvSpPr>
              <a:spLocks noChangeAspect="1" noChangeArrowheads="1"/>
            </p:cNvSpPr>
            <p:nvPr/>
          </p:nvSpPr>
          <p:spPr bwMode="gray">
            <a:xfrm>
              <a:off x="2551683" y="3600921"/>
              <a:ext cx="155575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3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4" name="Rectangle 213"/>
            <p:cNvSpPr>
              <a:spLocks noChangeAspect="1" noChangeArrowheads="1"/>
            </p:cNvSpPr>
            <p:nvPr/>
          </p:nvSpPr>
          <p:spPr bwMode="gray">
            <a:xfrm>
              <a:off x="3364483" y="3599333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5" name="Rectangle 214"/>
            <p:cNvSpPr>
              <a:spLocks noChangeAspect="1" noChangeArrowheads="1"/>
            </p:cNvSpPr>
            <p:nvPr/>
          </p:nvSpPr>
          <p:spPr bwMode="gray">
            <a:xfrm>
              <a:off x="5785421" y="3612033"/>
              <a:ext cx="155575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6" name="Rectangle 215"/>
            <p:cNvSpPr>
              <a:spLocks noChangeAspect="1" noChangeArrowheads="1"/>
            </p:cNvSpPr>
            <p:nvPr/>
          </p:nvSpPr>
          <p:spPr bwMode="gray">
            <a:xfrm>
              <a:off x="4191571" y="3604096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7" name="Rectangle 216"/>
            <p:cNvSpPr>
              <a:spLocks noChangeAspect="1" noChangeArrowheads="1"/>
            </p:cNvSpPr>
            <p:nvPr/>
          </p:nvSpPr>
          <p:spPr bwMode="gray">
            <a:xfrm>
              <a:off x="5007546" y="3904133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7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8" name="Rectangle 217"/>
            <p:cNvSpPr>
              <a:spLocks noChangeAspect="1" noChangeArrowheads="1"/>
            </p:cNvSpPr>
            <p:nvPr/>
          </p:nvSpPr>
          <p:spPr bwMode="gray">
            <a:xfrm>
              <a:off x="5007546" y="3613621"/>
              <a:ext cx="155575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19" name="Rectangle 218"/>
            <p:cNvSpPr>
              <a:spLocks noChangeAspect="1" noChangeArrowheads="1"/>
            </p:cNvSpPr>
            <p:nvPr/>
          </p:nvSpPr>
          <p:spPr bwMode="gray">
            <a:xfrm>
              <a:off x="4191571" y="5877396"/>
              <a:ext cx="157162" cy="11906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49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0" name="Rectangle 219"/>
            <p:cNvSpPr>
              <a:spLocks noChangeAspect="1" noChangeArrowheads="1"/>
            </p:cNvSpPr>
            <p:nvPr/>
          </p:nvSpPr>
          <p:spPr bwMode="gray">
            <a:xfrm>
              <a:off x="602233" y="3848372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26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1" name="Rectangle 220"/>
            <p:cNvSpPr>
              <a:spLocks noChangeAspect="1" noChangeArrowheads="1"/>
            </p:cNvSpPr>
            <p:nvPr/>
          </p:nvSpPr>
          <p:spPr bwMode="gray">
            <a:xfrm>
              <a:off x="602233" y="6003950"/>
              <a:ext cx="155575" cy="12065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28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2" name="Rectangle 221"/>
            <p:cNvSpPr>
              <a:spLocks noChangeAspect="1" noChangeArrowheads="1"/>
            </p:cNvSpPr>
            <p:nvPr/>
          </p:nvSpPr>
          <p:spPr bwMode="gray">
            <a:xfrm>
              <a:off x="6983983" y="5801851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90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3" name="Rectangle 222"/>
            <p:cNvSpPr>
              <a:spLocks noChangeAspect="1" noChangeArrowheads="1"/>
            </p:cNvSpPr>
            <p:nvPr/>
          </p:nvSpPr>
          <p:spPr bwMode="gray">
            <a:xfrm>
              <a:off x="7736458" y="5801851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92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4" name="Rectangle 223"/>
            <p:cNvSpPr>
              <a:spLocks noChangeAspect="1" noChangeArrowheads="1"/>
            </p:cNvSpPr>
            <p:nvPr/>
          </p:nvSpPr>
          <p:spPr bwMode="gray">
            <a:xfrm>
              <a:off x="8507983" y="6078076"/>
              <a:ext cx="157163" cy="11906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700">
                  <a:solidFill>
                    <a:srgbClr val="646464"/>
                  </a:solidFill>
                  <a:ea typeface="黑体" panose="02010609060101010101" pitchFamily="49" charset="-122"/>
                </a:rPr>
                <a:t>95</a:t>
              </a:r>
              <a:endParaRPr lang="en-US" altLang="zh-CN" sz="700">
                <a:solidFill>
                  <a:srgbClr val="646464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1425" name="Text Box 76"/>
            <p:cNvSpPr txBox="1">
              <a:spLocks noChangeAspect="1" noChangeArrowheads="1"/>
            </p:cNvSpPr>
            <p:nvPr/>
          </p:nvSpPr>
          <p:spPr bwMode="gray">
            <a:xfrm>
              <a:off x="1640458" y="2030810"/>
              <a:ext cx="82550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1000" b="0" dirty="0">
                  <a:solidFill>
                    <a:schemeClr val="bg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渠道和销售</a:t>
              </a:r>
              <a:endParaRPr lang="zh-CN" altLang="en-US" sz="1000" b="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6" name="Text Box 76"/>
            <p:cNvSpPr txBox="1">
              <a:spLocks noChangeAspect="1" noChangeArrowheads="1"/>
            </p:cNvSpPr>
            <p:nvPr/>
          </p:nvSpPr>
          <p:spPr bwMode="gray">
            <a:xfrm>
              <a:off x="713245" y="1631892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1400" dirty="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前台</a:t>
              </a:r>
              <a:endParaRPr lang="zh-CN" altLang="en-US" sz="1400" dirty="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7" name="Text Box 76"/>
            <p:cNvSpPr txBox="1">
              <a:spLocks noChangeAspect="1" noChangeArrowheads="1"/>
            </p:cNvSpPr>
            <p:nvPr/>
          </p:nvSpPr>
          <p:spPr bwMode="gray">
            <a:xfrm>
              <a:off x="3997488" y="1668260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1400" dirty="0">
                  <a:solidFill>
                    <a:srgbClr val="64646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中台</a:t>
              </a:r>
              <a:endParaRPr lang="zh-CN" altLang="en-US" sz="1400" dirty="0">
                <a:solidFill>
                  <a:srgbClr val="646464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7" name="Text Box 240"/>
            <p:cNvSpPr txBox="1">
              <a:spLocks noChangeArrowheads="1"/>
            </p:cNvSpPr>
            <p:nvPr/>
          </p:nvSpPr>
          <p:spPr bwMode="auto">
            <a:xfrm rot="1324605">
              <a:off x="2879532" y="3979865"/>
              <a:ext cx="3948945" cy="400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  <a:defRPr kumimoji="1" sz="2000">
                  <a:solidFill>
                    <a:srgbClr val="FF0000"/>
                  </a:solidFill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dirty="0"/>
                <a:t>示意</a:t>
              </a:r>
              <a:endParaRPr lang="zh-CN" altLang="en-US" dirty="0"/>
            </a:p>
          </p:txBody>
        </p:sp>
      </p:grpSp>
      <p:sp>
        <p:nvSpPr>
          <p:cNvPr id="5" name="Isosceles Triangle 4"/>
          <p:cNvSpPr/>
          <p:nvPr/>
        </p:nvSpPr>
        <p:spPr bwMode="auto">
          <a:xfrm rot="10800000">
            <a:off x="3332787" y="4544125"/>
            <a:ext cx="3024336" cy="237739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dist="35921" dir="2700000" algn="ctr" rotWithShape="0">
              <a:schemeClr val="folHlink"/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740" y="4847662"/>
            <a:ext cx="5681726" cy="17456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50690" y="447832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组织架构优化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395288"/>
            <a:ext cx="7600950" cy="7302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业务能力图的应用场景</a:t>
            </a:r>
            <a:r>
              <a:rPr lang="en-US" altLang="zh-CN" sz="2800" dirty="0"/>
              <a:t>3</a:t>
            </a:r>
            <a:r>
              <a:rPr lang="zh-CN" altLang="en-US" sz="2800" dirty="0"/>
              <a:t>：人力消耗分析：</a:t>
            </a:r>
            <a:br>
              <a:rPr lang="en-US" altLang="zh-CN" dirty="0"/>
            </a:br>
            <a:r>
              <a:rPr lang="zh-CN" altLang="en-US" sz="1800" b="0" dirty="0"/>
              <a:t>揭示了公司在各个业务能力方面的资源消耗现状，并为未来成本优化、</a:t>
            </a:r>
            <a:r>
              <a:rPr lang="en-US" altLang="zh-CN" sz="1800" b="0" dirty="0"/>
              <a:t>IT</a:t>
            </a:r>
            <a:r>
              <a:rPr lang="zh-CN" altLang="en-US" sz="1800" b="0" dirty="0"/>
              <a:t>自动化的应用领域提供了指导</a:t>
            </a:r>
            <a:endParaRPr lang="en-US" altLang="en-US" b="0" dirty="0"/>
          </a:p>
        </p:txBody>
      </p:sp>
      <p:sp>
        <p:nvSpPr>
          <p:cNvPr id="75996" name="矩形 219"/>
          <p:cNvSpPr>
            <a:spLocks noChangeArrowheads="1"/>
          </p:cNvSpPr>
          <p:nvPr/>
        </p:nvSpPr>
        <p:spPr bwMode="auto">
          <a:xfrm>
            <a:off x="4278585" y="5971629"/>
            <a:ext cx="185737" cy="173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en-US" sz="9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5997" name="矩形 220"/>
          <p:cNvSpPr>
            <a:spLocks noChangeArrowheads="1"/>
          </p:cNvSpPr>
          <p:nvPr/>
        </p:nvSpPr>
        <p:spPr bwMode="auto">
          <a:xfrm>
            <a:off x="5591447" y="5973216"/>
            <a:ext cx="163513" cy="163513"/>
          </a:xfrm>
          <a:prstGeom prst="rect">
            <a:avLst/>
          </a:prstGeom>
          <a:solidFill>
            <a:srgbClr val="FF6600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en-US" sz="9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5998" name="矩形 221"/>
          <p:cNvSpPr>
            <a:spLocks noChangeArrowheads="1"/>
          </p:cNvSpPr>
          <p:nvPr/>
        </p:nvSpPr>
        <p:spPr bwMode="auto">
          <a:xfrm>
            <a:off x="7293247" y="5974804"/>
            <a:ext cx="185738" cy="173037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en-US" sz="9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5999" name="Rectangle 223"/>
          <p:cNvSpPr>
            <a:spLocks noChangeArrowheads="1"/>
          </p:cNvSpPr>
          <p:nvPr/>
        </p:nvSpPr>
        <p:spPr bwMode="auto">
          <a:xfrm>
            <a:off x="4553222" y="5970041"/>
            <a:ext cx="944563" cy="163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大于等于</a:t>
            </a:r>
            <a:r>
              <a:rPr lang="en-US" altLang="zh-CN" sz="900" b="0">
                <a:solidFill>
                  <a:srgbClr val="646464"/>
                </a:solidFill>
                <a:ea typeface="宋体" panose="02010600030101010101" pitchFamily="2" charset="-122"/>
              </a:rPr>
              <a:t>600</a:t>
            </a:r>
            <a:endParaRPr lang="en-US" altLang="zh-CN" sz="900" b="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0" name="Rectangle 224"/>
          <p:cNvSpPr>
            <a:spLocks noChangeArrowheads="1"/>
          </p:cNvSpPr>
          <p:nvPr/>
        </p:nvSpPr>
        <p:spPr bwMode="auto">
          <a:xfrm>
            <a:off x="5840685" y="5966866"/>
            <a:ext cx="1406525" cy="198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大于等于</a:t>
            </a:r>
            <a:r>
              <a:rPr lang="en-US" altLang="zh-CN" sz="900" b="0">
                <a:solidFill>
                  <a:srgbClr val="646464"/>
                </a:solidFill>
                <a:ea typeface="宋体" panose="02010600030101010101" pitchFamily="2" charset="-122"/>
              </a:rPr>
              <a:t>200,</a:t>
            </a: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小于</a:t>
            </a:r>
            <a:r>
              <a:rPr lang="en-US" altLang="zh-CN" sz="900" b="0">
                <a:solidFill>
                  <a:srgbClr val="646464"/>
                </a:solidFill>
                <a:ea typeface="宋体" panose="02010600030101010101" pitchFamily="2" charset="-122"/>
              </a:rPr>
              <a:t>600</a:t>
            </a:r>
            <a:endParaRPr lang="en-US" altLang="zh-CN" sz="900" b="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1" name="Rectangle 226"/>
          <p:cNvSpPr>
            <a:spLocks noChangeArrowheads="1"/>
          </p:cNvSpPr>
          <p:nvPr/>
        </p:nvSpPr>
        <p:spPr bwMode="auto">
          <a:xfrm>
            <a:off x="7501210" y="5976391"/>
            <a:ext cx="690562" cy="16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小于</a:t>
            </a:r>
            <a:r>
              <a:rPr lang="en-US" altLang="zh-CN" sz="900" b="0">
                <a:solidFill>
                  <a:srgbClr val="646464"/>
                </a:solidFill>
                <a:ea typeface="宋体" panose="02010600030101010101" pitchFamily="2" charset="-122"/>
              </a:rPr>
              <a:t>200</a:t>
            </a:r>
            <a:endParaRPr lang="en-US" altLang="zh-CN" sz="900" b="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5" name="Rectangle 104"/>
          <p:cNvSpPr>
            <a:spLocks noChangeAspect="1" noChangeArrowheads="1"/>
          </p:cNvSpPr>
          <p:nvPr/>
        </p:nvSpPr>
        <p:spPr bwMode="gray">
          <a:xfrm>
            <a:off x="1943372" y="5979566"/>
            <a:ext cx="238125" cy="166688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6600"/>
            </a:solidFill>
            <a:miter lim="800000"/>
          </a:ln>
        </p:spPr>
        <p:txBody>
          <a:bodyPr wrap="none" lIns="46800" rIns="4680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zh-CN" sz="90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6" name="Rectangle 223"/>
          <p:cNvSpPr>
            <a:spLocks noChangeArrowheads="1"/>
          </p:cNvSpPr>
          <p:nvPr/>
        </p:nvSpPr>
        <p:spPr bwMode="auto">
          <a:xfrm>
            <a:off x="2340247" y="5965279"/>
            <a:ext cx="715963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能力序号</a:t>
            </a:r>
            <a:endParaRPr lang="en-US" altLang="zh-CN" sz="900" b="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7" name="Rectangle 104"/>
          <p:cNvSpPr>
            <a:spLocks noChangeAspect="1" noChangeArrowheads="1"/>
          </p:cNvSpPr>
          <p:nvPr/>
        </p:nvSpPr>
        <p:spPr bwMode="gray">
          <a:xfrm>
            <a:off x="3116535" y="5973216"/>
            <a:ext cx="238125" cy="168275"/>
          </a:xfrm>
          <a:prstGeom prst="rect">
            <a:avLst/>
          </a:prstGeom>
          <a:solidFill>
            <a:srgbClr val="66FFFF"/>
          </a:solidFill>
          <a:ln w="9525" algn="ctr">
            <a:solidFill>
              <a:srgbClr val="0033CC"/>
            </a:solidFill>
            <a:miter lim="800000"/>
          </a:ln>
        </p:spPr>
        <p:txBody>
          <a:bodyPr wrap="none" lIns="46800" rIns="4680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zh-CN" sz="90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sp>
        <p:nvSpPr>
          <p:cNvPr id="76008" name="Rectangle 223"/>
          <p:cNvSpPr>
            <a:spLocks noChangeArrowheads="1"/>
          </p:cNvSpPr>
          <p:nvPr/>
        </p:nvSpPr>
        <p:spPr bwMode="auto">
          <a:xfrm>
            <a:off x="3440385" y="5955754"/>
            <a:ext cx="766762" cy="187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900" b="0">
                <a:solidFill>
                  <a:srgbClr val="646464"/>
                </a:solidFill>
                <a:ea typeface="宋体" panose="02010600030101010101" pitchFamily="2" charset="-122"/>
              </a:rPr>
              <a:t>具体人数</a:t>
            </a:r>
            <a:endParaRPr lang="en-US" altLang="zh-CN" sz="900" b="0">
              <a:solidFill>
                <a:srgbClr val="646464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96500" y="1374942"/>
            <a:ext cx="9015393" cy="4308295"/>
            <a:chOff x="497590" y="1196975"/>
            <a:chExt cx="8905173" cy="5146675"/>
          </a:xfrm>
        </p:grpSpPr>
        <p:sp>
          <p:nvSpPr>
            <p:cNvPr id="75778" name="AutoShape 75"/>
            <p:cNvSpPr>
              <a:spLocks noChangeAspect="1" noChangeArrowheads="1"/>
            </p:cNvSpPr>
            <p:nvPr/>
          </p:nvSpPr>
          <p:spPr bwMode="gray">
            <a:xfrm>
              <a:off x="1801813" y="2630488"/>
              <a:ext cx="5535612" cy="1030287"/>
            </a:xfrm>
            <a:prstGeom prst="roundRect">
              <a:avLst>
                <a:gd name="adj" fmla="val 83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79" name="AutoShape 11"/>
            <p:cNvSpPr>
              <a:spLocks noChangeAspect="1" noChangeArrowheads="1"/>
            </p:cNvSpPr>
            <p:nvPr/>
          </p:nvSpPr>
          <p:spPr bwMode="gray">
            <a:xfrm>
              <a:off x="7445375" y="1235075"/>
              <a:ext cx="1951038" cy="4391025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0" name="AutoShape 75"/>
            <p:cNvSpPr>
              <a:spLocks noChangeAspect="1" noChangeArrowheads="1"/>
            </p:cNvSpPr>
            <p:nvPr/>
          </p:nvSpPr>
          <p:spPr bwMode="gray">
            <a:xfrm>
              <a:off x="1803400" y="1211263"/>
              <a:ext cx="5535613" cy="1390650"/>
            </a:xfrm>
            <a:prstGeom prst="roundRect">
              <a:avLst>
                <a:gd name="adj" fmla="val 83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500" b="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2" name="AutoShape 11"/>
            <p:cNvSpPr>
              <a:spLocks noChangeAspect="1" noChangeArrowheads="1"/>
            </p:cNvSpPr>
            <p:nvPr/>
          </p:nvSpPr>
          <p:spPr bwMode="gray">
            <a:xfrm>
              <a:off x="542925" y="1196975"/>
              <a:ext cx="1133475" cy="5138738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3" name="Text Box 12"/>
            <p:cNvSpPr txBox="1">
              <a:spLocks noChangeAspect="1" noChangeArrowheads="1"/>
            </p:cNvSpPr>
            <p:nvPr/>
          </p:nvSpPr>
          <p:spPr bwMode="gray">
            <a:xfrm rot="16200000">
              <a:off x="288131" y="3076483"/>
              <a:ext cx="671513" cy="25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客户洞察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4" name="Text Box 13"/>
            <p:cNvSpPr txBox="1">
              <a:spLocks noChangeAspect="1" noChangeArrowheads="1"/>
            </p:cNvSpPr>
            <p:nvPr/>
          </p:nvSpPr>
          <p:spPr bwMode="gray">
            <a:xfrm>
              <a:off x="728663" y="1608138"/>
              <a:ext cx="762000" cy="2254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700" b="0">
                  <a:solidFill>
                    <a:srgbClr val="000000"/>
                  </a:solidFill>
                  <a:ea typeface="宋体" panose="02010600030101010101" pitchFamily="2" charset="-122"/>
                </a:rPr>
                <a:t>客户管理策略</a:t>
              </a:r>
              <a:endParaRPr lang="zh-CN" altLang="en-US" sz="7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5" name="Text Box 14"/>
            <p:cNvSpPr txBox="1">
              <a:spLocks noChangeAspect="1" noChangeArrowheads="1"/>
            </p:cNvSpPr>
            <p:nvPr/>
          </p:nvSpPr>
          <p:spPr bwMode="gray">
            <a:xfrm>
              <a:off x="728663" y="1928813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客户分类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策略及规划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6" name="Text Box 15"/>
            <p:cNvSpPr txBox="1">
              <a:spLocks noChangeAspect="1" noChangeArrowheads="1"/>
            </p:cNvSpPr>
            <p:nvPr/>
          </p:nvSpPr>
          <p:spPr bwMode="gray">
            <a:xfrm>
              <a:off x="728663" y="2252663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客户盈利能力分析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7" name="Rectangle 16"/>
            <p:cNvSpPr>
              <a:spLocks noChangeAspect="1" noChangeArrowheads="1"/>
            </p:cNvSpPr>
            <p:nvPr/>
          </p:nvSpPr>
          <p:spPr bwMode="gray">
            <a:xfrm>
              <a:off x="728663" y="1366838"/>
              <a:ext cx="762000" cy="15398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细分市场</a:t>
              </a: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机会评估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8" name="Text Box 18"/>
            <p:cNvSpPr txBox="1">
              <a:spLocks noChangeAspect="1" noChangeArrowheads="1"/>
            </p:cNvSpPr>
            <p:nvPr/>
          </p:nvSpPr>
          <p:spPr bwMode="gray">
            <a:xfrm>
              <a:off x="728663" y="3667125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服务效能管理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89" name="Text Box 20"/>
            <p:cNvSpPr txBox="1">
              <a:spLocks noChangeAspect="1" noChangeArrowheads="1"/>
            </p:cNvSpPr>
            <p:nvPr/>
          </p:nvSpPr>
          <p:spPr bwMode="gray">
            <a:xfrm>
              <a:off x="728663" y="5770563"/>
              <a:ext cx="762000" cy="22383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客户账户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790" name="Text Box 21"/>
            <p:cNvSpPr txBox="1">
              <a:spLocks noChangeAspect="1" noChangeArrowheads="1"/>
            </p:cNvSpPr>
            <p:nvPr/>
          </p:nvSpPr>
          <p:spPr bwMode="gray">
            <a:xfrm>
              <a:off x="728663" y="4008438"/>
              <a:ext cx="762000" cy="2254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客户交易事务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791" name="Text Box 22"/>
            <p:cNvSpPr txBox="1">
              <a:spLocks noChangeAspect="1" noChangeArrowheads="1"/>
            </p:cNvSpPr>
            <p:nvPr/>
          </p:nvSpPr>
          <p:spPr bwMode="gray">
            <a:xfrm>
              <a:off x="728663" y="4368800"/>
              <a:ext cx="762000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接触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处理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2" name="Text Box 23"/>
            <p:cNvSpPr txBox="1">
              <a:spLocks noChangeAspect="1" noChangeArrowheads="1"/>
            </p:cNvSpPr>
            <p:nvPr/>
          </p:nvSpPr>
          <p:spPr bwMode="gray">
            <a:xfrm>
              <a:off x="728663" y="5446713"/>
              <a:ext cx="762000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客户信息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3" name="Text Box 27"/>
            <p:cNvSpPr txBox="1">
              <a:spLocks noChangeAspect="1" noChangeArrowheads="1"/>
            </p:cNvSpPr>
            <p:nvPr/>
          </p:nvSpPr>
          <p:spPr bwMode="gray">
            <a:xfrm>
              <a:off x="728663" y="30019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客户满意度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4" name="Text Box 28"/>
            <p:cNvSpPr txBox="1">
              <a:spLocks noChangeAspect="1" noChangeArrowheads="1"/>
            </p:cNvSpPr>
            <p:nvPr/>
          </p:nvSpPr>
          <p:spPr bwMode="gray">
            <a:xfrm>
              <a:off x="728663" y="3321050"/>
              <a:ext cx="762000" cy="2254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接触管理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795" name="Rectangle 29"/>
            <p:cNvSpPr>
              <a:spLocks noChangeAspect="1" noChangeArrowheads="1"/>
            </p:cNvSpPr>
            <p:nvPr/>
          </p:nvSpPr>
          <p:spPr bwMode="gray">
            <a:xfrm>
              <a:off x="728663" y="2724150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客户接触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6" name="Rectangle 152"/>
            <p:cNvSpPr>
              <a:spLocks noChangeAspect="1" noChangeArrowheads="1"/>
            </p:cNvSpPr>
            <p:nvPr/>
          </p:nvSpPr>
          <p:spPr bwMode="gray">
            <a:xfrm>
              <a:off x="703263" y="1560513"/>
              <a:ext cx="168275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7" name="Rectangle 153"/>
            <p:cNvSpPr>
              <a:spLocks noChangeAspect="1" noChangeArrowheads="1"/>
            </p:cNvSpPr>
            <p:nvPr/>
          </p:nvSpPr>
          <p:spPr bwMode="gray">
            <a:xfrm>
              <a:off x="703263" y="1879600"/>
              <a:ext cx="168275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8" name="Rectangle 154"/>
            <p:cNvSpPr>
              <a:spLocks noChangeAspect="1" noChangeArrowheads="1"/>
            </p:cNvSpPr>
            <p:nvPr/>
          </p:nvSpPr>
          <p:spPr bwMode="gray">
            <a:xfrm>
              <a:off x="703263" y="2203450"/>
              <a:ext cx="168275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799" name="Rectangle 157"/>
            <p:cNvSpPr>
              <a:spLocks noChangeAspect="1" noChangeArrowheads="1"/>
            </p:cNvSpPr>
            <p:nvPr/>
          </p:nvSpPr>
          <p:spPr bwMode="gray">
            <a:xfrm>
              <a:off x="703263" y="2952750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0" name="Rectangle 158"/>
            <p:cNvSpPr>
              <a:spLocks noChangeAspect="1" noChangeArrowheads="1"/>
            </p:cNvSpPr>
            <p:nvPr/>
          </p:nvSpPr>
          <p:spPr bwMode="gray">
            <a:xfrm>
              <a:off x="703263" y="3278188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1" name="Rectangle 159"/>
            <p:cNvSpPr>
              <a:spLocks noChangeAspect="1" noChangeArrowheads="1"/>
            </p:cNvSpPr>
            <p:nvPr/>
          </p:nvSpPr>
          <p:spPr bwMode="gray">
            <a:xfrm>
              <a:off x="703263" y="3619500"/>
              <a:ext cx="168275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2" name="Rectangle 160"/>
            <p:cNvSpPr>
              <a:spLocks noChangeAspect="1" noChangeArrowheads="1"/>
            </p:cNvSpPr>
            <p:nvPr/>
          </p:nvSpPr>
          <p:spPr bwMode="gray">
            <a:xfrm>
              <a:off x="703263" y="5399088"/>
              <a:ext cx="168275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3" name="Rectangle 161"/>
            <p:cNvSpPr>
              <a:spLocks noChangeAspect="1" noChangeArrowheads="1"/>
            </p:cNvSpPr>
            <p:nvPr/>
          </p:nvSpPr>
          <p:spPr bwMode="gray">
            <a:xfrm>
              <a:off x="703263" y="5721350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4" name="Rectangle 162"/>
            <p:cNvSpPr>
              <a:spLocks noChangeAspect="1" noChangeArrowheads="1"/>
            </p:cNvSpPr>
            <p:nvPr/>
          </p:nvSpPr>
          <p:spPr bwMode="gray">
            <a:xfrm>
              <a:off x="703263" y="3959225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5" name="Rectangle 163"/>
            <p:cNvSpPr>
              <a:spLocks noChangeAspect="1" noChangeArrowheads="1"/>
            </p:cNvSpPr>
            <p:nvPr/>
          </p:nvSpPr>
          <p:spPr bwMode="gray">
            <a:xfrm>
              <a:off x="703263" y="4319588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6" name="Text Box 22"/>
            <p:cNvSpPr txBox="1">
              <a:spLocks noChangeAspect="1" noChangeArrowheads="1"/>
            </p:cNvSpPr>
            <p:nvPr/>
          </p:nvSpPr>
          <p:spPr bwMode="gray">
            <a:xfrm>
              <a:off x="742950" y="4730750"/>
              <a:ext cx="762000" cy="225425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通信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处理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7" name="Rectangle 163"/>
            <p:cNvSpPr>
              <a:spLocks noChangeAspect="1" noChangeArrowheads="1"/>
            </p:cNvSpPr>
            <p:nvPr/>
          </p:nvSpPr>
          <p:spPr bwMode="gray">
            <a:xfrm>
              <a:off x="717550" y="4681538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8" name="Rectangle 29"/>
            <p:cNvSpPr>
              <a:spLocks noChangeAspect="1" noChangeArrowheads="1"/>
            </p:cNvSpPr>
            <p:nvPr/>
          </p:nvSpPr>
          <p:spPr bwMode="gray">
            <a:xfrm>
              <a:off x="741363" y="5194300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信息管理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9" name="Text Box 58"/>
            <p:cNvSpPr txBox="1">
              <a:spLocks noChangeAspect="1" noChangeArrowheads="1"/>
            </p:cNvSpPr>
            <p:nvPr/>
          </p:nvSpPr>
          <p:spPr bwMode="gray">
            <a:xfrm>
              <a:off x="1763164" y="1211263"/>
              <a:ext cx="721825" cy="224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销售渠道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0" name="Text Box 59"/>
            <p:cNvSpPr txBox="1">
              <a:spLocks noChangeAspect="1" noChangeArrowheads="1"/>
            </p:cNvSpPr>
            <p:nvPr/>
          </p:nvSpPr>
          <p:spPr bwMode="gray">
            <a:xfrm>
              <a:off x="3649663" y="164941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1" name="Text Box 60"/>
            <p:cNvSpPr txBox="1">
              <a:spLocks noChangeAspect="1" noChangeArrowheads="1"/>
            </p:cNvSpPr>
            <p:nvPr/>
          </p:nvSpPr>
          <p:spPr bwMode="gray">
            <a:xfrm>
              <a:off x="2820988" y="1663700"/>
              <a:ext cx="760412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渠道关系策略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2" name="Text Box 61"/>
            <p:cNvSpPr txBox="1">
              <a:spLocks noChangeAspect="1" noChangeArrowheads="1"/>
            </p:cNvSpPr>
            <p:nvPr/>
          </p:nvSpPr>
          <p:spPr bwMode="gray">
            <a:xfrm>
              <a:off x="1885950" y="1660525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营销活动规划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3" name="Text Box 62"/>
            <p:cNvSpPr txBox="1">
              <a:spLocks noChangeAspect="1" noChangeArrowheads="1"/>
            </p:cNvSpPr>
            <p:nvPr/>
          </p:nvSpPr>
          <p:spPr bwMode="gray">
            <a:xfrm>
              <a:off x="1885950" y="1960563"/>
              <a:ext cx="762000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营销活动管理</a:t>
              </a:r>
              <a:endParaRPr lang="en-US" altLang="en-US" sz="500" b="0">
                <a:solidFill>
                  <a:srgbClr val="000000"/>
                </a:solidFill>
              </a:endParaRPr>
            </a:p>
          </p:txBody>
        </p:sp>
        <p:sp>
          <p:nvSpPr>
            <p:cNvPr id="75814" name="Text Box 63"/>
            <p:cNvSpPr txBox="1">
              <a:spLocks noChangeAspect="1" noChangeArrowheads="1"/>
            </p:cNvSpPr>
            <p:nvPr/>
          </p:nvSpPr>
          <p:spPr bwMode="gray">
            <a:xfrm>
              <a:off x="2820988" y="1960563"/>
              <a:ext cx="760412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渠道分类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策略及规划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5" name="Text Box 64"/>
            <p:cNvSpPr txBox="1">
              <a:spLocks noChangeAspect="1" noChangeArrowheads="1"/>
            </p:cNvSpPr>
            <p:nvPr/>
          </p:nvSpPr>
          <p:spPr bwMode="gray">
            <a:xfrm>
              <a:off x="2808288" y="2284413"/>
              <a:ext cx="760412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渠道管理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计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划与业绩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6" name="Rectangle 65"/>
            <p:cNvSpPr>
              <a:spLocks noChangeAspect="1" noChangeArrowheads="1"/>
            </p:cNvSpPr>
            <p:nvPr/>
          </p:nvSpPr>
          <p:spPr bwMode="gray">
            <a:xfrm>
              <a:off x="1885950" y="1441450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营销活动管理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7" name="Text Box 67"/>
            <p:cNvSpPr txBox="1">
              <a:spLocks noChangeAspect="1" noChangeArrowheads="1"/>
            </p:cNvSpPr>
            <p:nvPr/>
          </p:nvSpPr>
          <p:spPr bwMode="gray">
            <a:xfrm>
              <a:off x="5510213" y="1960563"/>
              <a:ext cx="762000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手续费管理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8" name="Text Box 68"/>
            <p:cNvSpPr txBox="1">
              <a:spLocks noChangeAspect="1" noChangeArrowheads="1"/>
            </p:cNvSpPr>
            <p:nvPr/>
          </p:nvSpPr>
          <p:spPr bwMode="gray">
            <a:xfrm>
              <a:off x="5510213" y="1663700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费率协商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9" name="Rectangle 69"/>
            <p:cNvSpPr>
              <a:spLocks noChangeAspect="1" noChangeArrowheads="1"/>
            </p:cNvSpPr>
            <p:nvPr/>
          </p:nvSpPr>
          <p:spPr bwMode="gray">
            <a:xfrm>
              <a:off x="5510213" y="1438275"/>
              <a:ext cx="773112" cy="1555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手续费和佣金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0" name="Text Box 71"/>
            <p:cNvSpPr txBox="1">
              <a:spLocks noChangeAspect="1" noChangeArrowheads="1"/>
            </p:cNvSpPr>
            <p:nvPr/>
          </p:nvSpPr>
          <p:spPr bwMode="gray">
            <a:xfrm>
              <a:off x="4595813" y="1663700"/>
              <a:ext cx="762000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渠道培训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1" name="Rectangle 72"/>
            <p:cNvSpPr>
              <a:spLocks noChangeAspect="1" noChangeArrowheads="1"/>
            </p:cNvSpPr>
            <p:nvPr/>
          </p:nvSpPr>
          <p:spPr bwMode="gray">
            <a:xfrm>
              <a:off x="4595813" y="1441450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培训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2" name="Rectangle 73"/>
            <p:cNvSpPr>
              <a:spLocks noChangeAspect="1" noChangeArrowheads="1"/>
            </p:cNvSpPr>
            <p:nvPr/>
          </p:nvSpPr>
          <p:spPr bwMode="gray">
            <a:xfrm>
              <a:off x="2820988" y="1441450"/>
              <a:ext cx="1598612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渠道盈利分析和绩效管理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3" name="Rectangle 111"/>
            <p:cNvSpPr>
              <a:spLocks noChangeAspect="1" noChangeArrowheads="1"/>
            </p:cNvSpPr>
            <p:nvPr/>
          </p:nvSpPr>
          <p:spPr bwMode="gray">
            <a:xfrm>
              <a:off x="1860550" y="1614488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4" name="Rectangle 112"/>
            <p:cNvSpPr>
              <a:spLocks noChangeAspect="1" noChangeArrowheads="1"/>
            </p:cNvSpPr>
            <p:nvPr/>
          </p:nvSpPr>
          <p:spPr bwMode="gray">
            <a:xfrm>
              <a:off x="1860550" y="1909763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5" name="Rectangle 113"/>
            <p:cNvSpPr>
              <a:spLocks noChangeAspect="1" noChangeArrowheads="1"/>
            </p:cNvSpPr>
            <p:nvPr/>
          </p:nvSpPr>
          <p:spPr bwMode="gray">
            <a:xfrm>
              <a:off x="5484813" y="1614488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6" name="Rectangle 114"/>
            <p:cNvSpPr>
              <a:spLocks noChangeAspect="1" noChangeArrowheads="1"/>
            </p:cNvSpPr>
            <p:nvPr/>
          </p:nvSpPr>
          <p:spPr bwMode="gray">
            <a:xfrm>
              <a:off x="5484813" y="1909763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7" name="Rectangle 115"/>
            <p:cNvSpPr>
              <a:spLocks noChangeAspect="1" noChangeArrowheads="1"/>
            </p:cNvSpPr>
            <p:nvPr/>
          </p:nvSpPr>
          <p:spPr bwMode="gray">
            <a:xfrm>
              <a:off x="4570413" y="161448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8" name="Rectangle 117"/>
            <p:cNvSpPr>
              <a:spLocks noChangeAspect="1" noChangeArrowheads="1"/>
            </p:cNvSpPr>
            <p:nvPr/>
          </p:nvSpPr>
          <p:spPr bwMode="gray">
            <a:xfrm>
              <a:off x="2794000" y="1614488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29" name="Rectangle 118"/>
            <p:cNvSpPr>
              <a:spLocks noChangeAspect="1" noChangeArrowheads="1"/>
            </p:cNvSpPr>
            <p:nvPr/>
          </p:nvSpPr>
          <p:spPr bwMode="gray">
            <a:xfrm>
              <a:off x="2794000" y="1909763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0" name="Rectangle 119"/>
            <p:cNvSpPr>
              <a:spLocks noChangeAspect="1" noChangeArrowheads="1"/>
            </p:cNvSpPr>
            <p:nvPr/>
          </p:nvSpPr>
          <p:spPr bwMode="gray">
            <a:xfrm>
              <a:off x="2779713" y="22352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1" name="Rectangle 120"/>
            <p:cNvSpPr>
              <a:spLocks noChangeAspect="1" noChangeArrowheads="1"/>
            </p:cNvSpPr>
            <p:nvPr/>
          </p:nvSpPr>
          <p:spPr bwMode="gray">
            <a:xfrm>
              <a:off x="3622675" y="1608138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2" name="Text Box 62"/>
            <p:cNvSpPr txBox="1">
              <a:spLocks noChangeAspect="1" noChangeArrowheads="1"/>
            </p:cNvSpPr>
            <p:nvPr/>
          </p:nvSpPr>
          <p:spPr bwMode="gray">
            <a:xfrm>
              <a:off x="1889125" y="2279650"/>
              <a:ext cx="762000" cy="227013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营销活动执行</a:t>
              </a:r>
              <a:endParaRPr lang="en-US" altLang="en-US" sz="500" b="0">
                <a:solidFill>
                  <a:srgbClr val="000000"/>
                </a:solidFill>
              </a:endParaRPr>
            </a:p>
          </p:txBody>
        </p:sp>
        <p:sp>
          <p:nvSpPr>
            <p:cNvPr id="75833" name="Rectangle 112"/>
            <p:cNvSpPr>
              <a:spLocks noChangeAspect="1" noChangeArrowheads="1"/>
            </p:cNvSpPr>
            <p:nvPr/>
          </p:nvSpPr>
          <p:spPr bwMode="gray">
            <a:xfrm>
              <a:off x="1863725" y="2228850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4" name="Text Box 59"/>
            <p:cNvSpPr txBox="1">
              <a:spLocks noChangeAspect="1" noChangeArrowheads="1"/>
            </p:cNvSpPr>
            <p:nvPr/>
          </p:nvSpPr>
          <p:spPr bwMode="gray">
            <a:xfrm>
              <a:off x="3652838" y="1958975"/>
              <a:ext cx="762000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渠道信息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5" name="Rectangle 120"/>
            <p:cNvSpPr>
              <a:spLocks noChangeAspect="1" noChangeArrowheads="1"/>
            </p:cNvSpPr>
            <p:nvPr/>
          </p:nvSpPr>
          <p:spPr bwMode="gray">
            <a:xfrm>
              <a:off x="3625850" y="1908175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6" name="Text Box 59"/>
            <p:cNvSpPr txBox="1">
              <a:spLocks noChangeAspect="1" noChangeArrowheads="1"/>
            </p:cNvSpPr>
            <p:nvPr/>
          </p:nvSpPr>
          <p:spPr bwMode="gray">
            <a:xfrm>
              <a:off x="3659188" y="2268538"/>
              <a:ext cx="760412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销售开发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及支持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7" name="Rectangle 120"/>
            <p:cNvSpPr>
              <a:spLocks noChangeAspect="1" noChangeArrowheads="1"/>
            </p:cNvSpPr>
            <p:nvPr/>
          </p:nvSpPr>
          <p:spPr bwMode="gray">
            <a:xfrm>
              <a:off x="3630613" y="221773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8" name="AutoShape 4"/>
            <p:cNvSpPr>
              <a:spLocks noChangeAspect="1" noChangeArrowheads="1"/>
            </p:cNvSpPr>
            <p:nvPr/>
          </p:nvSpPr>
          <p:spPr bwMode="gray">
            <a:xfrm>
              <a:off x="1801813" y="5676900"/>
              <a:ext cx="7600950" cy="647700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39" name="Text Box 5"/>
            <p:cNvSpPr txBox="1">
              <a:spLocks noChangeAspect="1" noChangeArrowheads="1"/>
            </p:cNvSpPr>
            <p:nvPr/>
          </p:nvSpPr>
          <p:spPr bwMode="gray">
            <a:xfrm>
              <a:off x="2132256" y="5699125"/>
              <a:ext cx="721825" cy="224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基础能力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0" name="Text Box 6"/>
            <p:cNvSpPr txBox="1">
              <a:spLocks noChangeAspect="1" noChangeArrowheads="1"/>
            </p:cNvSpPr>
            <p:nvPr/>
          </p:nvSpPr>
          <p:spPr bwMode="gray">
            <a:xfrm>
              <a:off x="5754688" y="6061075"/>
              <a:ext cx="758825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内容管理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1" name="Text Box 7"/>
            <p:cNvSpPr txBox="1">
              <a:spLocks noChangeAspect="1" noChangeArrowheads="1"/>
            </p:cNvSpPr>
            <p:nvPr/>
          </p:nvSpPr>
          <p:spPr bwMode="gray">
            <a:xfrm>
              <a:off x="3216275" y="6061075"/>
              <a:ext cx="762000" cy="225425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业务政策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及程序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2" name="Text Box 8"/>
            <p:cNvSpPr txBox="1">
              <a:spLocks noChangeAspect="1" noChangeArrowheads="1"/>
            </p:cNvSpPr>
            <p:nvPr/>
          </p:nvSpPr>
          <p:spPr bwMode="gray">
            <a:xfrm>
              <a:off x="4067175" y="6061075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业务流程管理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3" name="Text Box 9"/>
            <p:cNvSpPr txBox="1">
              <a:spLocks noChangeAspect="1" noChangeArrowheads="1"/>
            </p:cNvSpPr>
            <p:nvPr/>
          </p:nvSpPr>
          <p:spPr bwMode="gray">
            <a:xfrm>
              <a:off x="4903788" y="6061075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资产管理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（非财务）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4" name="Text Box 10"/>
            <p:cNvSpPr txBox="1">
              <a:spLocks noChangeAspect="1" noChangeArrowheads="1"/>
            </p:cNvSpPr>
            <p:nvPr/>
          </p:nvSpPr>
          <p:spPr bwMode="gray">
            <a:xfrm>
              <a:off x="6596063" y="6061075"/>
              <a:ext cx="762000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人力资源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5" name="Text Box 26"/>
            <p:cNvSpPr txBox="1">
              <a:spLocks noChangeAspect="1" noChangeArrowheads="1"/>
            </p:cNvSpPr>
            <p:nvPr/>
          </p:nvSpPr>
          <p:spPr bwMode="gray">
            <a:xfrm>
              <a:off x="8286750" y="6054725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培训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知识管理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6" name="Rectangle 164"/>
            <p:cNvSpPr>
              <a:spLocks noChangeAspect="1" noChangeArrowheads="1"/>
            </p:cNvSpPr>
            <p:nvPr/>
          </p:nvSpPr>
          <p:spPr bwMode="gray">
            <a:xfrm>
              <a:off x="3190875" y="60134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7" name="Rectangle 165"/>
            <p:cNvSpPr>
              <a:spLocks noChangeAspect="1" noChangeArrowheads="1"/>
            </p:cNvSpPr>
            <p:nvPr/>
          </p:nvSpPr>
          <p:spPr bwMode="gray">
            <a:xfrm>
              <a:off x="4040188" y="6013450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8" name="Rectangle 166"/>
            <p:cNvSpPr>
              <a:spLocks noChangeAspect="1" noChangeArrowheads="1"/>
            </p:cNvSpPr>
            <p:nvPr/>
          </p:nvSpPr>
          <p:spPr bwMode="gray">
            <a:xfrm>
              <a:off x="4864100" y="60134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49" name="Rectangle 167"/>
            <p:cNvSpPr>
              <a:spLocks noChangeAspect="1" noChangeArrowheads="1"/>
            </p:cNvSpPr>
            <p:nvPr/>
          </p:nvSpPr>
          <p:spPr bwMode="gray">
            <a:xfrm>
              <a:off x="5726113" y="6013450"/>
              <a:ext cx="171450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0" name="Rectangle 168"/>
            <p:cNvSpPr>
              <a:spLocks noChangeAspect="1" noChangeArrowheads="1"/>
            </p:cNvSpPr>
            <p:nvPr/>
          </p:nvSpPr>
          <p:spPr bwMode="gray">
            <a:xfrm>
              <a:off x="6569075" y="60134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1" name="Rectangle 169"/>
            <p:cNvSpPr>
              <a:spLocks noChangeAspect="1" noChangeArrowheads="1"/>
            </p:cNvSpPr>
            <p:nvPr/>
          </p:nvSpPr>
          <p:spPr bwMode="gray">
            <a:xfrm>
              <a:off x="8259763" y="6005513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2" name="Text Box 6"/>
            <p:cNvSpPr txBox="1">
              <a:spLocks noChangeAspect="1" noChangeArrowheads="1"/>
            </p:cNvSpPr>
            <p:nvPr/>
          </p:nvSpPr>
          <p:spPr bwMode="gray">
            <a:xfrm>
              <a:off x="5745163" y="5754688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技术管理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3" name="Text Box 7"/>
            <p:cNvSpPr txBox="1">
              <a:spLocks noChangeAspect="1" noChangeArrowheads="1"/>
            </p:cNvSpPr>
            <p:nvPr/>
          </p:nvSpPr>
          <p:spPr bwMode="gray">
            <a:xfrm>
              <a:off x="3232150" y="5754688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业务规划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及预算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4" name="Text Box 8"/>
            <p:cNvSpPr txBox="1">
              <a:spLocks noChangeAspect="1" noChangeArrowheads="1"/>
            </p:cNvSpPr>
            <p:nvPr/>
          </p:nvSpPr>
          <p:spPr bwMode="gray">
            <a:xfrm>
              <a:off x="4057650" y="5754688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采购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供应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商管理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5" name="Text Box 9"/>
            <p:cNvSpPr txBox="1">
              <a:spLocks noChangeAspect="1" noChangeArrowheads="1"/>
            </p:cNvSpPr>
            <p:nvPr/>
          </p:nvSpPr>
          <p:spPr bwMode="gray">
            <a:xfrm>
              <a:off x="4906963" y="5754688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设施管理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6" name="Text Box 10"/>
            <p:cNvSpPr txBox="1">
              <a:spLocks noChangeAspect="1" noChangeArrowheads="1"/>
            </p:cNvSpPr>
            <p:nvPr/>
          </p:nvSpPr>
          <p:spPr bwMode="gray">
            <a:xfrm>
              <a:off x="6586538" y="5754688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系统开发</a:t>
              </a:r>
              <a:b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</a:b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及维护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7" name="Text Box 26"/>
            <p:cNvSpPr txBox="1">
              <a:spLocks noChangeAspect="1" noChangeArrowheads="1"/>
            </p:cNvSpPr>
            <p:nvPr/>
          </p:nvSpPr>
          <p:spPr bwMode="gray">
            <a:xfrm>
              <a:off x="8278813" y="5748338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安全服务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8" name="Rectangle 164"/>
            <p:cNvSpPr>
              <a:spLocks noChangeAspect="1" noChangeArrowheads="1"/>
            </p:cNvSpPr>
            <p:nvPr/>
          </p:nvSpPr>
          <p:spPr bwMode="gray">
            <a:xfrm>
              <a:off x="3206750" y="5707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59" name="Rectangle 165"/>
            <p:cNvSpPr>
              <a:spLocks noChangeAspect="1" noChangeArrowheads="1"/>
            </p:cNvSpPr>
            <p:nvPr/>
          </p:nvSpPr>
          <p:spPr bwMode="gray">
            <a:xfrm>
              <a:off x="4054475" y="5707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0" name="Rectangle 166"/>
            <p:cNvSpPr>
              <a:spLocks noChangeAspect="1" noChangeArrowheads="1"/>
            </p:cNvSpPr>
            <p:nvPr/>
          </p:nvSpPr>
          <p:spPr bwMode="gray">
            <a:xfrm>
              <a:off x="4879975" y="5707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1" name="Rectangle 167"/>
            <p:cNvSpPr>
              <a:spLocks noChangeAspect="1" noChangeArrowheads="1"/>
            </p:cNvSpPr>
            <p:nvPr/>
          </p:nvSpPr>
          <p:spPr bwMode="gray">
            <a:xfrm>
              <a:off x="5718175" y="5707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2" name="Rectangle 168"/>
            <p:cNvSpPr>
              <a:spLocks noChangeAspect="1" noChangeArrowheads="1"/>
            </p:cNvSpPr>
            <p:nvPr/>
          </p:nvSpPr>
          <p:spPr bwMode="gray">
            <a:xfrm>
              <a:off x="6559550" y="5707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3" name="Rectangle 169"/>
            <p:cNvSpPr>
              <a:spLocks noChangeAspect="1" noChangeArrowheads="1"/>
            </p:cNvSpPr>
            <p:nvPr/>
          </p:nvSpPr>
          <p:spPr bwMode="gray">
            <a:xfrm>
              <a:off x="8250238" y="5699125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4" name="Text Box 26"/>
            <p:cNvSpPr txBox="1">
              <a:spLocks noChangeAspect="1" noChangeArrowheads="1"/>
            </p:cNvSpPr>
            <p:nvPr/>
          </p:nvSpPr>
          <p:spPr bwMode="gray">
            <a:xfrm>
              <a:off x="7429500" y="6054725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公共关系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5" name="Rectangle 169"/>
            <p:cNvSpPr>
              <a:spLocks noChangeAspect="1" noChangeArrowheads="1"/>
            </p:cNvSpPr>
            <p:nvPr/>
          </p:nvSpPr>
          <p:spPr bwMode="gray">
            <a:xfrm>
              <a:off x="7400925" y="6005513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6" name="Text Box 26"/>
            <p:cNvSpPr txBox="1">
              <a:spLocks noChangeAspect="1" noChangeArrowheads="1"/>
            </p:cNvSpPr>
            <p:nvPr/>
          </p:nvSpPr>
          <p:spPr bwMode="gray">
            <a:xfrm>
              <a:off x="7419975" y="5748338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设施维护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及运营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7" name="Rectangle 169"/>
            <p:cNvSpPr>
              <a:spLocks noChangeAspect="1" noChangeArrowheads="1"/>
            </p:cNvSpPr>
            <p:nvPr/>
          </p:nvSpPr>
          <p:spPr bwMode="gray">
            <a:xfrm>
              <a:off x="7392988" y="5699125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8" name="Text Box 7"/>
            <p:cNvSpPr txBox="1">
              <a:spLocks noChangeAspect="1" noChangeArrowheads="1"/>
            </p:cNvSpPr>
            <p:nvPr/>
          </p:nvSpPr>
          <p:spPr bwMode="gray">
            <a:xfrm>
              <a:off x="2157413" y="5956300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业务策略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69" name="Rectangle 164"/>
            <p:cNvSpPr>
              <a:spLocks noChangeAspect="1" noChangeArrowheads="1"/>
            </p:cNvSpPr>
            <p:nvPr/>
          </p:nvSpPr>
          <p:spPr bwMode="gray">
            <a:xfrm>
              <a:off x="2132013" y="5908675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0" name="Text Box 77"/>
            <p:cNvSpPr txBox="1">
              <a:spLocks noChangeAspect="1" noChangeArrowheads="1"/>
            </p:cNvSpPr>
            <p:nvPr/>
          </p:nvSpPr>
          <p:spPr bwMode="gray">
            <a:xfrm>
              <a:off x="8470900" y="1677988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准备金管理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1" name="Text Box 78"/>
            <p:cNvSpPr txBox="1">
              <a:spLocks noChangeAspect="1" noChangeArrowheads="1"/>
            </p:cNvSpPr>
            <p:nvPr/>
          </p:nvSpPr>
          <p:spPr bwMode="gray">
            <a:xfrm>
              <a:off x="7597775" y="1677988"/>
              <a:ext cx="760413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风险法律合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规管理策略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2" name="Text Box 80"/>
            <p:cNvSpPr txBox="1">
              <a:spLocks noChangeAspect="1" noChangeArrowheads="1"/>
            </p:cNvSpPr>
            <p:nvPr/>
          </p:nvSpPr>
          <p:spPr bwMode="gray">
            <a:xfrm>
              <a:off x="7597775" y="2295525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巨灾资源规划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3" name="Text Box 81"/>
            <p:cNvSpPr txBox="1">
              <a:spLocks noChangeAspect="1" noChangeArrowheads="1"/>
            </p:cNvSpPr>
            <p:nvPr/>
          </p:nvSpPr>
          <p:spPr bwMode="gray">
            <a:xfrm>
              <a:off x="8470900" y="2295525"/>
              <a:ext cx="762000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 dirty="0">
                  <a:solidFill>
                    <a:srgbClr val="000000"/>
                  </a:solidFill>
                  <a:ea typeface="宋体" panose="02010600030101010101" pitchFamily="2" charset="-122"/>
                </a:rPr>
                <a:t>承保决策</a:t>
              </a:r>
              <a:endParaRPr lang="zh-CN" altLang="en-US" sz="500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4" name="Text Box 89"/>
            <p:cNvSpPr txBox="1">
              <a:spLocks noChangeAspect="1" noChangeArrowheads="1"/>
            </p:cNvSpPr>
            <p:nvPr/>
          </p:nvSpPr>
          <p:spPr bwMode="gray">
            <a:xfrm>
              <a:off x="7597775" y="2593975"/>
              <a:ext cx="760413" cy="22383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风险承担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管理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评估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5" name="Text Box 90"/>
            <p:cNvSpPr txBox="1">
              <a:spLocks noChangeAspect="1" noChangeArrowheads="1"/>
            </p:cNvSpPr>
            <p:nvPr/>
          </p:nvSpPr>
          <p:spPr bwMode="gray">
            <a:xfrm>
              <a:off x="7597775" y="1984375"/>
              <a:ext cx="760413" cy="22383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再保险策略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6" name="Rectangle 98"/>
            <p:cNvSpPr>
              <a:spLocks noChangeArrowheads="1"/>
            </p:cNvSpPr>
            <p:nvPr/>
          </p:nvSpPr>
          <p:spPr bwMode="gray">
            <a:xfrm>
              <a:off x="7597775" y="1436688"/>
              <a:ext cx="1589088" cy="15081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风险管理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7" name="Text Box 99"/>
            <p:cNvSpPr txBox="1">
              <a:spLocks noChangeAspect="1" noChangeArrowheads="1"/>
            </p:cNvSpPr>
            <p:nvPr/>
          </p:nvSpPr>
          <p:spPr bwMode="gray">
            <a:xfrm>
              <a:off x="8470900" y="2593975"/>
              <a:ext cx="762000" cy="22383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再保险管理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8" name="Rectangle 131"/>
            <p:cNvSpPr>
              <a:spLocks noChangeAspect="1" noChangeArrowheads="1"/>
            </p:cNvSpPr>
            <p:nvPr/>
          </p:nvSpPr>
          <p:spPr bwMode="gray">
            <a:xfrm>
              <a:off x="7570788" y="1628775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79" name="Rectangle 132"/>
            <p:cNvSpPr>
              <a:spLocks noChangeAspect="1" noChangeArrowheads="1"/>
            </p:cNvSpPr>
            <p:nvPr/>
          </p:nvSpPr>
          <p:spPr bwMode="gray">
            <a:xfrm>
              <a:off x="7570788" y="1935163"/>
              <a:ext cx="171450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0" name="Rectangle 133"/>
            <p:cNvSpPr>
              <a:spLocks noChangeAspect="1" noChangeArrowheads="1"/>
            </p:cNvSpPr>
            <p:nvPr/>
          </p:nvSpPr>
          <p:spPr bwMode="gray">
            <a:xfrm>
              <a:off x="7570788" y="2247900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1" name="Rectangle 134"/>
            <p:cNvSpPr>
              <a:spLocks noChangeAspect="1" noChangeArrowheads="1"/>
            </p:cNvSpPr>
            <p:nvPr/>
          </p:nvSpPr>
          <p:spPr bwMode="gray">
            <a:xfrm>
              <a:off x="7570788" y="2544763"/>
              <a:ext cx="171450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2" name="Rectangle 135"/>
            <p:cNvSpPr>
              <a:spLocks noChangeAspect="1" noChangeArrowheads="1"/>
            </p:cNvSpPr>
            <p:nvPr/>
          </p:nvSpPr>
          <p:spPr bwMode="gray">
            <a:xfrm>
              <a:off x="8435975" y="1625600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3" name="Rectangle 137"/>
            <p:cNvSpPr>
              <a:spLocks noChangeAspect="1" noChangeArrowheads="1"/>
            </p:cNvSpPr>
            <p:nvPr/>
          </p:nvSpPr>
          <p:spPr bwMode="gray">
            <a:xfrm>
              <a:off x="8435975" y="2244725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4" name="Rectangle 138"/>
            <p:cNvSpPr>
              <a:spLocks noChangeAspect="1" noChangeArrowheads="1"/>
            </p:cNvSpPr>
            <p:nvPr/>
          </p:nvSpPr>
          <p:spPr bwMode="gray">
            <a:xfrm>
              <a:off x="8435975" y="2541588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5" name="Text Box 91"/>
            <p:cNvSpPr txBox="1">
              <a:spLocks noChangeAspect="1" noChangeArrowheads="1"/>
            </p:cNvSpPr>
            <p:nvPr/>
          </p:nvSpPr>
          <p:spPr bwMode="gray">
            <a:xfrm>
              <a:off x="8470900" y="1966913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精算控制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6" name="Text Box 92"/>
            <p:cNvSpPr txBox="1">
              <a:spLocks noChangeAspect="1" noChangeArrowheads="1"/>
            </p:cNvSpPr>
            <p:nvPr/>
          </p:nvSpPr>
          <p:spPr bwMode="gray">
            <a:xfrm>
              <a:off x="7586663" y="2903538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损失控制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7" name="Text Box 93"/>
            <p:cNvSpPr txBox="1">
              <a:spLocks noChangeAspect="1" noChangeArrowheads="1"/>
            </p:cNvSpPr>
            <p:nvPr/>
          </p:nvSpPr>
          <p:spPr bwMode="gray">
            <a:xfrm>
              <a:off x="8470900" y="2890838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合约与临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分再保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8" name="Rectangle 140"/>
            <p:cNvSpPr>
              <a:spLocks noChangeAspect="1" noChangeArrowheads="1"/>
            </p:cNvSpPr>
            <p:nvPr/>
          </p:nvSpPr>
          <p:spPr bwMode="gray">
            <a:xfrm>
              <a:off x="8453438" y="191928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89" name="Rectangle 141"/>
            <p:cNvSpPr>
              <a:spLocks noChangeAspect="1" noChangeArrowheads="1"/>
            </p:cNvSpPr>
            <p:nvPr/>
          </p:nvSpPr>
          <p:spPr bwMode="gray">
            <a:xfrm>
              <a:off x="7559675" y="285591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0" name="Rectangle 142"/>
            <p:cNvSpPr>
              <a:spLocks noChangeAspect="1" noChangeArrowheads="1"/>
            </p:cNvSpPr>
            <p:nvPr/>
          </p:nvSpPr>
          <p:spPr bwMode="gray">
            <a:xfrm>
              <a:off x="8432800" y="2843213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1" name="Text Box 76"/>
            <p:cNvSpPr txBox="1">
              <a:spLocks noChangeAspect="1" noChangeArrowheads="1"/>
            </p:cNvSpPr>
            <p:nvPr/>
          </p:nvSpPr>
          <p:spPr bwMode="gray">
            <a:xfrm>
              <a:off x="7500794" y="1225550"/>
              <a:ext cx="1248062" cy="224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风险合规及财务管理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2" name="Text Box 94"/>
            <p:cNvSpPr txBox="1">
              <a:spLocks noChangeAspect="1" noChangeArrowheads="1"/>
            </p:cNvSpPr>
            <p:nvPr/>
          </p:nvSpPr>
          <p:spPr bwMode="gray">
            <a:xfrm>
              <a:off x="7621588" y="3492500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审计与合规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3" name="Text Box 95"/>
            <p:cNvSpPr txBox="1">
              <a:spLocks noChangeAspect="1" noChangeArrowheads="1"/>
            </p:cNvSpPr>
            <p:nvPr/>
          </p:nvSpPr>
          <p:spPr bwMode="gray">
            <a:xfrm>
              <a:off x="7621588" y="3800475"/>
              <a:ext cx="760412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合规监控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报告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4" name="Rectangle 143"/>
            <p:cNvSpPr>
              <a:spLocks noChangeAspect="1" noChangeArrowheads="1"/>
            </p:cNvSpPr>
            <p:nvPr/>
          </p:nvSpPr>
          <p:spPr bwMode="gray">
            <a:xfrm>
              <a:off x="7594600" y="3444875"/>
              <a:ext cx="169863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5" name="Rectangle 144"/>
            <p:cNvSpPr>
              <a:spLocks noChangeAspect="1" noChangeArrowheads="1"/>
            </p:cNvSpPr>
            <p:nvPr/>
          </p:nvSpPr>
          <p:spPr bwMode="gray">
            <a:xfrm>
              <a:off x="7594600" y="37528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6" name="Text Box 94"/>
            <p:cNvSpPr txBox="1">
              <a:spLocks noChangeAspect="1" noChangeArrowheads="1"/>
            </p:cNvSpPr>
            <p:nvPr/>
          </p:nvSpPr>
          <p:spPr bwMode="gray">
            <a:xfrm>
              <a:off x="8474075" y="3489325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保费审计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7" name="Text Box 95"/>
            <p:cNvSpPr txBox="1">
              <a:spLocks noChangeAspect="1" noChangeArrowheads="1"/>
            </p:cNvSpPr>
            <p:nvPr/>
          </p:nvSpPr>
          <p:spPr bwMode="gray">
            <a:xfrm>
              <a:off x="8474075" y="3797300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审计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8" name="Rectangle 143"/>
            <p:cNvSpPr>
              <a:spLocks noChangeAspect="1" noChangeArrowheads="1"/>
            </p:cNvSpPr>
            <p:nvPr/>
          </p:nvSpPr>
          <p:spPr bwMode="gray">
            <a:xfrm>
              <a:off x="8434388" y="34417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99" name="Rectangle 144"/>
            <p:cNvSpPr>
              <a:spLocks noChangeAspect="1" noChangeArrowheads="1"/>
            </p:cNvSpPr>
            <p:nvPr/>
          </p:nvSpPr>
          <p:spPr bwMode="gray">
            <a:xfrm>
              <a:off x="8447088" y="3749675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0" name="Rectangle 72"/>
            <p:cNvSpPr>
              <a:spLocks noChangeAspect="1" noChangeArrowheads="1"/>
            </p:cNvSpPr>
            <p:nvPr/>
          </p:nvSpPr>
          <p:spPr bwMode="gray">
            <a:xfrm>
              <a:off x="7607300" y="3241675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合规管理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1" name="Text Box 79"/>
            <p:cNvSpPr txBox="1">
              <a:spLocks noChangeAspect="1" noChangeArrowheads="1"/>
            </p:cNvSpPr>
            <p:nvPr/>
          </p:nvSpPr>
          <p:spPr bwMode="gray">
            <a:xfrm>
              <a:off x="7599363" y="4349750"/>
              <a:ext cx="758825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财务政策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2" name="Text Box 82"/>
            <p:cNvSpPr txBox="1">
              <a:spLocks noChangeAspect="1" noChangeArrowheads="1"/>
            </p:cNvSpPr>
            <p:nvPr/>
          </p:nvSpPr>
          <p:spPr bwMode="gray">
            <a:xfrm>
              <a:off x="7599363" y="4656138"/>
              <a:ext cx="758825" cy="2254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投资策略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903" name="Text Box 83"/>
            <p:cNvSpPr txBox="1">
              <a:spLocks noChangeAspect="1" noChangeArrowheads="1"/>
            </p:cNvSpPr>
            <p:nvPr/>
          </p:nvSpPr>
          <p:spPr bwMode="gray">
            <a:xfrm>
              <a:off x="7599363" y="4965700"/>
              <a:ext cx="758825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司库策略</a:t>
              </a:r>
              <a:r>
                <a:rPr lang="en-US" altLang="zh-CN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4" name="Text Box 84"/>
            <p:cNvSpPr txBox="1">
              <a:spLocks noChangeAspect="1" noChangeArrowheads="1"/>
            </p:cNvSpPr>
            <p:nvPr/>
          </p:nvSpPr>
          <p:spPr bwMode="gray">
            <a:xfrm>
              <a:off x="8491538" y="4664075"/>
              <a:ext cx="762000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会计职能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5" name="Text Box 85"/>
            <p:cNvSpPr txBox="1">
              <a:spLocks noChangeAspect="1" noChangeArrowheads="1"/>
            </p:cNvSpPr>
            <p:nvPr/>
          </p:nvSpPr>
          <p:spPr bwMode="gray">
            <a:xfrm>
              <a:off x="7599363" y="5270500"/>
              <a:ext cx="758825" cy="22701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投资管理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906" name="Rectangle 86"/>
            <p:cNvSpPr>
              <a:spLocks noChangeAspect="1" noChangeArrowheads="1"/>
            </p:cNvSpPr>
            <p:nvPr/>
          </p:nvSpPr>
          <p:spPr bwMode="gray">
            <a:xfrm>
              <a:off x="7626350" y="4108450"/>
              <a:ext cx="1590675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财务管理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7" name="Text Box 87"/>
            <p:cNvSpPr txBox="1">
              <a:spLocks noChangeAspect="1" noChangeArrowheads="1"/>
            </p:cNvSpPr>
            <p:nvPr/>
          </p:nvSpPr>
          <p:spPr bwMode="gray">
            <a:xfrm>
              <a:off x="8491538" y="5268913"/>
              <a:ext cx="762000" cy="2270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投资运营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8" name="Text Box 97"/>
            <p:cNvSpPr txBox="1">
              <a:spLocks noChangeAspect="1" noChangeArrowheads="1"/>
            </p:cNvSpPr>
            <p:nvPr/>
          </p:nvSpPr>
          <p:spPr bwMode="gray">
            <a:xfrm>
              <a:off x="8491538" y="49704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财务报表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及指标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09" name="Rectangle 145"/>
            <p:cNvSpPr>
              <a:spLocks noChangeAspect="1" noChangeArrowheads="1"/>
            </p:cNvSpPr>
            <p:nvPr/>
          </p:nvSpPr>
          <p:spPr bwMode="gray">
            <a:xfrm>
              <a:off x="7570788" y="4298950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0" name="Rectangle 146"/>
            <p:cNvSpPr>
              <a:spLocks noChangeAspect="1" noChangeArrowheads="1"/>
            </p:cNvSpPr>
            <p:nvPr/>
          </p:nvSpPr>
          <p:spPr bwMode="gray">
            <a:xfrm>
              <a:off x="7570788" y="4605338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1" name="Rectangle 147"/>
            <p:cNvSpPr>
              <a:spLocks noChangeAspect="1" noChangeArrowheads="1"/>
            </p:cNvSpPr>
            <p:nvPr/>
          </p:nvSpPr>
          <p:spPr bwMode="gray">
            <a:xfrm>
              <a:off x="7570788" y="4916488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2" name="Rectangle 148"/>
            <p:cNvSpPr>
              <a:spLocks noChangeAspect="1" noChangeArrowheads="1"/>
            </p:cNvSpPr>
            <p:nvPr/>
          </p:nvSpPr>
          <p:spPr bwMode="gray">
            <a:xfrm>
              <a:off x="7570788" y="5214938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3" name="Rectangle 149"/>
            <p:cNvSpPr>
              <a:spLocks noChangeAspect="1" noChangeArrowheads="1"/>
            </p:cNvSpPr>
            <p:nvPr/>
          </p:nvSpPr>
          <p:spPr bwMode="gray">
            <a:xfrm>
              <a:off x="8464550" y="4619625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4" name="Rectangle 150"/>
            <p:cNvSpPr>
              <a:spLocks noChangeAspect="1" noChangeArrowheads="1"/>
            </p:cNvSpPr>
            <p:nvPr/>
          </p:nvSpPr>
          <p:spPr bwMode="gray">
            <a:xfrm>
              <a:off x="8464550" y="492601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5" name="Rectangle 151"/>
            <p:cNvSpPr>
              <a:spLocks noChangeAspect="1" noChangeArrowheads="1"/>
            </p:cNvSpPr>
            <p:nvPr/>
          </p:nvSpPr>
          <p:spPr bwMode="gray">
            <a:xfrm>
              <a:off x="8464550" y="52260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6" name="Text Box 85"/>
            <p:cNvSpPr txBox="1">
              <a:spLocks noChangeAspect="1" noChangeArrowheads="1"/>
            </p:cNvSpPr>
            <p:nvPr/>
          </p:nvSpPr>
          <p:spPr bwMode="gray">
            <a:xfrm>
              <a:off x="8488363" y="4349750"/>
              <a:ext cx="758825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资本管理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7" name="Rectangle 148"/>
            <p:cNvSpPr>
              <a:spLocks noChangeAspect="1" noChangeArrowheads="1"/>
            </p:cNvSpPr>
            <p:nvPr/>
          </p:nvSpPr>
          <p:spPr bwMode="gray">
            <a:xfrm>
              <a:off x="8459788" y="4294188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8" name="AutoShape 75"/>
            <p:cNvSpPr>
              <a:spLocks noChangeAspect="1" noChangeArrowheads="1"/>
            </p:cNvSpPr>
            <p:nvPr/>
          </p:nvSpPr>
          <p:spPr bwMode="gray">
            <a:xfrm>
              <a:off x="1801813" y="3689350"/>
              <a:ext cx="5537200" cy="1943100"/>
            </a:xfrm>
            <a:prstGeom prst="roundRect">
              <a:avLst>
                <a:gd name="adj" fmla="val 83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zh-CN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19" name="Text Box 77"/>
            <p:cNvSpPr txBox="1">
              <a:spLocks noChangeAspect="1" noChangeArrowheads="1"/>
            </p:cNvSpPr>
            <p:nvPr/>
          </p:nvSpPr>
          <p:spPr bwMode="gray">
            <a:xfrm>
              <a:off x="2787650" y="4100513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核保管理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0" name="Text Box 78"/>
            <p:cNvSpPr txBox="1">
              <a:spLocks noChangeAspect="1" noChangeArrowheads="1"/>
            </p:cNvSpPr>
            <p:nvPr/>
          </p:nvSpPr>
          <p:spPr bwMode="gray">
            <a:xfrm>
              <a:off x="1922463" y="4100513"/>
              <a:ext cx="762000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保单管理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策略及规划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1" name="Text Box 79"/>
            <p:cNvSpPr txBox="1">
              <a:spLocks noChangeAspect="1" noChangeArrowheads="1"/>
            </p:cNvSpPr>
            <p:nvPr/>
          </p:nvSpPr>
          <p:spPr bwMode="gray">
            <a:xfrm>
              <a:off x="5481638" y="4100513"/>
              <a:ext cx="758825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理赔受理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2" name="Text Box 80"/>
            <p:cNvSpPr txBox="1">
              <a:spLocks noChangeAspect="1" noChangeArrowheads="1"/>
            </p:cNvSpPr>
            <p:nvPr/>
          </p:nvSpPr>
          <p:spPr bwMode="gray">
            <a:xfrm>
              <a:off x="1922463" y="4718050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现金流规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划及预算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3" name="Text Box 81"/>
            <p:cNvSpPr txBox="1">
              <a:spLocks noChangeAspect="1" noChangeArrowheads="1"/>
            </p:cNvSpPr>
            <p:nvPr/>
          </p:nvSpPr>
          <p:spPr bwMode="gray">
            <a:xfrm>
              <a:off x="2787650" y="4718050"/>
              <a:ext cx="760413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保单服务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水平管理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4" name="Text Box 82"/>
            <p:cNvSpPr txBox="1">
              <a:spLocks noChangeAspect="1" noChangeArrowheads="1"/>
            </p:cNvSpPr>
            <p:nvPr/>
          </p:nvSpPr>
          <p:spPr bwMode="gray">
            <a:xfrm>
              <a:off x="5481638" y="4406900"/>
              <a:ext cx="758825" cy="225425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理赔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处理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5" name="Text Box 83"/>
            <p:cNvSpPr txBox="1">
              <a:spLocks noChangeAspect="1" noChangeArrowheads="1"/>
            </p:cNvSpPr>
            <p:nvPr/>
          </p:nvSpPr>
          <p:spPr bwMode="gray">
            <a:xfrm>
              <a:off x="5481638" y="4716463"/>
              <a:ext cx="758825" cy="22701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理算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6" name="Text Box 84"/>
            <p:cNvSpPr txBox="1">
              <a:spLocks noChangeAspect="1" noChangeArrowheads="1"/>
            </p:cNvSpPr>
            <p:nvPr/>
          </p:nvSpPr>
          <p:spPr bwMode="gray">
            <a:xfrm>
              <a:off x="6372225" y="4100513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欺诈调查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7" name="Text Box 85"/>
            <p:cNvSpPr txBox="1">
              <a:spLocks noChangeAspect="1" noChangeArrowheads="1"/>
            </p:cNvSpPr>
            <p:nvPr/>
          </p:nvSpPr>
          <p:spPr bwMode="gray">
            <a:xfrm>
              <a:off x="5481638" y="5021263"/>
              <a:ext cx="758825" cy="22701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残值处理及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代位求偿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8" name="Rectangle 86"/>
            <p:cNvSpPr>
              <a:spLocks noChangeAspect="1" noChangeArrowheads="1"/>
            </p:cNvSpPr>
            <p:nvPr/>
          </p:nvSpPr>
          <p:spPr bwMode="gray">
            <a:xfrm>
              <a:off x="4611688" y="3848100"/>
              <a:ext cx="1589087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运营执行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29" name="Text Box 87"/>
            <p:cNvSpPr txBox="1">
              <a:spLocks noChangeAspect="1" noChangeArrowheads="1"/>
            </p:cNvSpPr>
            <p:nvPr/>
          </p:nvSpPr>
          <p:spPr bwMode="gray">
            <a:xfrm>
              <a:off x="6372225" y="4716463"/>
              <a:ext cx="760413" cy="22701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收款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0" name="Text Box 88"/>
            <p:cNvSpPr txBox="1">
              <a:spLocks noChangeAspect="1" noChangeArrowheads="1"/>
            </p:cNvSpPr>
            <p:nvPr/>
          </p:nvSpPr>
          <p:spPr bwMode="gray">
            <a:xfrm>
              <a:off x="2787650" y="4406900"/>
              <a:ext cx="760413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异常保单管理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1" name="Text Box 89"/>
            <p:cNvSpPr txBox="1">
              <a:spLocks noChangeAspect="1" noChangeArrowheads="1"/>
            </p:cNvSpPr>
            <p:nvPr/>
          </p:nvSpPr>
          <p:spPr bwMode="gray">
            <a:xfrm>
              <a:off x="1922463" y="5016500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现金流政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策及程序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2" name="Text Box 90"/>
            <p:cNvSpPr txBox="1">
              <a:spLocks noChangeAspect="1" noChangeArrowheads="1"/>
            </p:cNvSpPr>
            <p:nvPr/>
          </p:nvSpPr>
          <p:spPr bwMode="gray">
            <a:xfrm>
              <a:off x="1922463" y="4406900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理赔策略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3" name="Text Box 97"/>
            <p:cNvSpPr txBox="1">
              <a:spLocks noChangeAspect="1" noChangeArrowheads="1"/>
            </p:cNvSpPr>
            <p:nvPr/>
          </p:nvSpPr>
          <p:spPr bwMode="gray">
            <a:xfrm>
              <a:off x="6372225" y="4406900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帐单处理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4" name="Text Box 99"/>
            <p:cNvSpPr txBox="1">
              <a:spLocks noChangeAspect="1" noChangeArrowheads="1"/>
            </p:cNvSpPr>
            <p:nvPr/>
          </p:nvSpPr>
          <p:spPr bwMode="gray">
            <a:xfrm>
              <a:off x="2787650" y="5016500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增值服务管理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5" name="Rectangle 131"/>
            <p:cNvSpPr>
              <a:spLocks noChangeAspect="1" noChangeArrowheads="1"/>
            </p:cNvSpPr>
            <p:nvPr/>
          </p:nvSpPr>
          <p:spPr bwMode="gray">
            <a:xfrm>
              <a:off x="1897063" y="405288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6" name="Rectangle 132"/>
            <p:cNvSpPr>
              <a:spLocks noChangeAspect="1" noChangeArrowheads="1"/>
            </p:cNvSpPr>
            <p:nvPr/>
          </p:nvSpPr>
          <p:spPr bwMode="gray">
            <a:xfrm>
              <a:off x="1897063" y="4359275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7" name="Rectangle 133"/>
            <p:cNvSpPr>
              <a:spLocks noChangeAspect="1" noChangeArrowheads="1"/>
            </p:cNvSpPr>
            <p:nvPr/>
          </p:nvSpPr>
          <p:spPr bwMode="gray">
            <a:xfrm>
              <a:off x="1897063" y="4670425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8" name="Rectangle 134"/>
            <p:cNvSpPr>
              <a:spLocks noChangeAspect="1" noChangeArrowheads="1"/>
            </p:cNvSpPr>
            <p:nvPr/>
          </p:nvSpPr>
          <p:spPr bwMode="gray">
            <a:xfrm>
              <a:off x="1897063" y="4968875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39" name="Rectangle 135"/>
            <p:cNvSpPr>
              <a:spLocks noChangeAspect="1" noChangeArrowheads="1"/>
            </p:cNvSpPr>
            <p:nvPr/>
          </p:nvSpPr>
          <p:spPr bwMode="gray">
            <a:xfrm>
              <a:off x="2760663" y="4049713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0" name="Rectangle 136"/>
            <p:cNvSpPr>
              <a:spLocks noChangeAspect="1" noChangeArrowheads="1"/>
            </p:cNvSpPr>
            <p:nvPr/>
          </p:nvSpPr>
          <p:spPr bwMode="gray">
            <a:xfrm>
              <a:off x="2760663" y="43561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1" name="Rectangle 137"/>
            <p:cNvSpPr>
              <a:spLocks noChangeAspect="1" noChangeArrowheads="1"/>
            </p:cNvSpPr>
            <p:nvPr/>
          </p:nvSpPr>
          <p:spPr bwMode="gray">
            <a:xfrm>
              <a:off x="2760663" y="466725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2" name="Rectangle 138"/>
            <p:cNvSpPr>
              <a:spLocks noChangeAspect="1" noChangeArrowheads="1"/>
            </p:cNvSpPr>
            <p:nvPr/>
          </p:nvSpPr>
          <p:spPr bwMode="gray">
            <a:xfrm>
              <a:off x="2760663" y="49657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3" name="Text Box 91"/>
            <p:cNvSpPr txBox="1">
              <a:spLocks noChangeAspect="1" noChangeArrowheads="1"/>
            </p:cNvSpPr>
            <p:nvPr/>
          </p:nvSpPr>
          <p:spPr bwMode="gray">
            <a:xfrm>
              <a:off x="3673475" y="4100513"/>
              <a:ext cx="760413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理赔管理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4" name="Text Box 92"/>
            <p:cNvSpPr txBox="1">
              <a:spLocks noChangeAspect="1" noChangeArrowheads="1"/>
            </p:cNvSpPr>
            <p:nvPr/>
          </p:nvSpPr>
          <p:spPr bwMode="gray">
            <a:xfrm>
              <a:off x="3673475" y="4408488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诉讼管理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5" name="Text Box 93"/>
            <p:cNvSpPr txBox="1">
              <a:spLocks noChangeAspect="1" noChangeArrowheads="1"/>
            </p:cNvSpPr>
            <p:nvPr/>
          </p:nvSpPr>
          <p:spPr bwMode="gray">
            <a:xfrm>
              <a:off x="3673475" y="4718050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欺诈管理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6" name="Text Box 94"/>
            <p:cNvSpPr txBox="1">
              <a:spLocks noChangeAspect="1" noChangeArrowheads="1"/>
            </p:cNvSpPr>
            <p:nvPr/>
          </p:nvSpPr>
          <p:spPr bwMode="gray">
            <a:xfrm>
              <a:off x="2792413" y="5327650"/>
              <a:ext cx="758825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现金交易管控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7" name="Rectangle 96"/>
            <p:cNvSpPr>
              <a:spLocks noChangeAspect="1" noChangeArrowheads="1"/>
            </p:cNvSpPr>
            <p:nvPr/>
          </p:nvSpPr>
          <p:spPr bwMode="gray">
            <a:xfrm>
              <a:off x="2816225" y="3848100"/>
              <a:ext cx="1589088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运营管控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8" name="Rectangle 140"/>
            <p:cNvSpPr>
              <a:spLocks noChangeAspect="1" noChangeArrowheads="1"/>
            </p:cNvSpPr>
            <p:nvPr/>
          </p:nvSpPr>
          <p:spPr bwMode="gray">
            <a:xfrm>
              <a:off x="3646488" y="405288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49" name="Rectangle 141"/>
            <p:cNvSpPr>
              <a:spLocks noChangeAspect="1" noChangeArrowheads="1"/>
            </p:cNvSpPr>
            <p:nvPr/>
          </p:nvSpPr>
          <p:spPr bwMode="gray">
            <a:xfrm>
              <a:off x="3646488" y="4360863"/>
              <a:ext cx="169862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0" name="Rectangle 142"/>
            <p:cNvSpPr>
              <a:spLocks noChangeAspect="1" noChangeArrowheads="1"/>
            </p:cNvSpPr>
            <p:nvPr/>
          </p:nvSpPr>
          <p:spPr bwMode="gray">
            <a:xfrm>
              <a:off x="3646488" y="4670425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1" name="Rectangle 143"/>
            <p:cNvSpPr>
              <a:spLocks noChangeAspect="1" noChangeArrowheads="1"/>
            </p:cNvSpPr>
            <p:nvPr/>
          </p:nvSpPr>
          <p:spPr bwMode="gray">
            <a:xfrm>
              <a:off x="2763838" y="5280025"/>
              <a:ext cx="171450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2" name="Rectangle 145"/>
            <p:cNvSpPr>
              <a:spLocks noChangeAspect="1" noChangeArrowheads="1"/>
            </p:cNvSpPr>
            <p:nvPr/>
          </p:nvSpPr>
          <p:spPr bwMode="gray">
            <a:xfrm>
              <a:off x="5453063" y="4049713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50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3" name="Rectangle 146"/>
            <p:cNvSpPr>
              <a:spLocks noChangeAspect="1" noChangeArrowheads="1"/>
            </p:cNvSpPr>
            <p:nvPr/>
          </p:nvSpPr>
          <p:spPr bwMode="gray">
            <a:xfrm>
              <a:off x="5453063" y="43561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4" name="Rectangle 147"/>
            <p:cNvSpPr>
              <a:spLocks noChangeAspect="1" noChangeArrowheads="1"/>
            </p:cNvSpPr>
            <p:nvPr/>
          </p:nvSpPr>
          <p:spPr bwMode="gray">
            <a:xfrm>
              <a:off x="5453063" y="466725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5" name="Rectangle 148"/>
            <p:cNvSpPr>
              <a:spLocks noChangeAspect="1" noChangeArrowheads="1"/>
            </p:cNvSpPr>
            <p:nvPr/>
          </p:nvSpPr>
          <p:spPr bwMode="gray">
            <a:xfrm>
              <a:off x="5453063" y="4965700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6" name="Rectangle 149"/>
            <p:cNvSpPr>
              <a:spLocks noChangeAspect="1" noChangeArrowheads="1"/>
            </p:cNvSpPr>
            <p:nvPr/>
          </p:nvSpPr>
          <p:spPr bwMode="gray">
            <a:xfrm>
              <a:off x="6343650" y="4056063"/>
              <a:ext cx="169863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7" name="Rectangle 150"/>
            <p:cNvSpPr>
              <a:spLocks noChangeAspect="1" noChangeArrowheads="1"/>
            </p:cNvSpPr>
            <p:nvPr/>
          </p:nvSpPr>
          <p:spPr bwMode="gray">
            <a:xfrm>
              <a:off x="6343650" y="436245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8" name="Rectangle 151"/>
            <p:cNvSpPr>
              <a:spLocks noChangeAspect="1" noChangeArrowheads="1"/>
            </p:cNvSpPr>
            <p:nvPr/>
          </p:nvSpPr>
          <p:spPr bwMode="gray">
            <a:xfrm>
              <a:off x="6343650" y="4673600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59" name="Text Box 76"/>
            <p:cNvSpPr txBox="1">
              <a:spLocks noChangeAspect="1" noChangeArrowheads="1"/>
            </p:cNvSpPr>
            <p:nvPr/>
          </p:nvSpPr>
          <p:spPr bwMode="gray">
            <a:xfrm>
              <a:off x="1809200" y="3649663"/>
              <a:ext cx="721825" cy="224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运营管理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0" name="Text Box 95"/>
            <p:cNvSpPr txBox="1">
              <a:spLocks noChangeAspect="1" noChangeArrowheads="1"/>
            </p:cNvSpPr>
            <p:nvPr/>
          </p:nvSpPr>
          <p:spPr bwMode="gray">
            <a:xfrm>
              <a:off x="3689350" y="5016500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核对现金交易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1" name="Rectangle 144"/>
            <p:cNvSpPr>
              <a:spLocks noChangeAspect="1" noChangeArrowheads="1"/>
            </p:cNvSpPr>
            <p:nvPr/>
          </p:nvSpPr>
          <p:spPr bwMode="gray">
            <a:xfrm>
              <a:off x="3662363" y="4968875"/>
              <a:ext cx="169862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2" name="Text Box 95"/>
            <p:cNvSpPr txBox="1">
              <a:spLocks noChangeAspect="1" noChangeArrowheads="1"/>
            </p:cNvSpPr>
            <p:nvPr/>
          </p:nvSpPr>
          <p:spPr bwMode="gray">
            <a:xfrm>
              <a:off x="4583113" y="4089400"/>
              <a:ext cx="760412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新单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处理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3" name="Rectangle 144"/>
            <p:cNvSpPr>
              <a:spLocks noChangeAspect="1" noChangeArrowheads="1"/>
            </p:cNvSpPr>
            <p:nvPr/>
          </p:nvSpPr>
          <p:spPr bwMode="gray">
            <a:xfrm>
              <a:off x="4556125" y="4041775"/>
              <a:ext cx="169863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4" name="Rectangle 72"/>
            <p:cNvSpPr>
              <a:spLocks noChangeAspect="1" noChangeArrowheads="1"/>
            </p:cNvSpPr>
            <p:nvPr/>
          </p:nvSpPr>
          <p:spPr bwMode="gray">
            <a:xfrm>
              <a:off x="1933575" y="3848100"/>
              <a:ext cx="762000" cy="1524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运营规划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5" name="Text Box 95"/>
            <p:cNvSpPr txBox="1">
              <a:spLocks noChangeAspect="1" noChangeArrowheads="1"/>
            </p:cNvSpPr>
            <p:nvPr/>
          </p:nvSpPr>
          <p:spPr bwMode="gray">
            <a:xfrm>
              <a:off x="4584700" y="4411663"/>
              <a:ext cx="760413" cy="225425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保单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6" name="Rectangle 144"/>
            <p:cNvSpPr>
              <a:spLocks noChangeAspect="1" noChangeArrowheads="1"/>
            </p:cNvSpPr>
            <p:nvPr/>
          </p:nvSpPr>
          <p:spPr bwMode="gray">
            <a:xfrm>
              <a:off x="4557713" y="4364038"/>
              <a:ext cx="169862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7" name="Text Box 94"/>
            <p:cNvSpPr txBox="1">
              <a:spLocks noChangeAspect="1" noChangeArrowheads="1"/>
            </p:cNvSpPr>
            <p:nvPr/>
          </p:nvSpPr>
          <p:spPr bwMode="gray">
            <a:xfrm>
              <a:off x="4597400" y="4711700"/>
              <a:ext cx="760413" cy="2254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增值服务</a:t>
              </a:r>
              <a:endParaRPr lang="en-US" altLang="zh-CN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提供</a:t>
              </a:r>
              <a:endParaRPr lang="zh-CN" altLang="en-US" sz="500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968" name="Text Box 95"/>
            <p:cNvSpPr txBox="1">
              <a:spLocks noChangeAspect="1" noChangeArrowheads="1"/>
            </p:cNvSpPr>
            <p:nvPr/>
          </p:nvSpPr>
          <p:spPr bwMode="gray">
            <a:xfrm>
              <a:off x="4597400" y="5019675"/>
              <a:ext cx="760413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终止保单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69" name="Rectangle 143"/>
            <p:cNvSpPr>
              <a:spLocks noChangeAspect="1" noChangeArrowheads="1"/>
            </p:cNvSpPr>
            <p:nvPr/>
          </p:nvSpPr>
          <p:spPr bwMode="gray">
            <a:xfrm>
              <a:off x="4557713" y="4664075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0" name="Rectangle 144"/>
            <p:cNvSpPr>
              <a:spLocks noChangeAspect="1" noChangeArrowheads="1"/>
            </p:cNvSpPr>
            <p:nvPr/>
          </p:nvSpPr>
          <p:spPr bwMode="gray">
            <a:xfrm>
              <a:off x="4570413" y="4970463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1" name="Text Box 87"/>
            <p:cNvSpPr txBox="1">
              <a:spLocks noChangeAspect="1" noChangeArrowheads="1"/>
            </p:cNvSpPr>
            <p:nvPr/>
          </p:nvSpPr>
          <p:spPr bwMode="gray">
            <a:xfrm>
              <a:off x="6384925" y="5018088"/>
              <a:ext cx="762000" cy="227012"/>
            </a:xfrm>
            <a:prstGeom prst="rect">
              <a:avLst/>
            </a:prstGeom>
            <a:solidFill>
              <a:srgbClr val="FF66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付款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2" name="Rectangle 151"/>
            <p:cNvSpPr>
              <a:spLocks noChangeAspect="1" noChangeArrowheads="1"/>
            </p:cNvSpPr>
            <p:nvPr/>
          </p:nvSpPr>
          <p:spPr bwMode="gray">
            <a:xfrm>
              <a:off x="6357938" y="4973638"/>
              <a:ext cx="169862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3" name="Text Box 47"/>
            <p:cNvSpPr txBox="1">
              <a:spLocks noChangeAspect="1" noChangeArrowheads="1"/>
            </p:cNvSpPr>
            <p:nvPr/>
          </p:nvSpPr>
          <p:spPr bwMode="gray">
            <a:xfrm>
              <a:off x="2771775" y="3078163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品牌策略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4" name="Text Box 48"/>
            <p:cNvSpPr txBox="1">
              <a:spLocks noChangeAspect="1" noChangeArrowheads="1"/>
            </p:cNvSpPr>
            <p:nvPr/>
          </p:nvSpPr>
          <p:spPr bwMode="gray">
            <a:xfrm>
              <a:off x="1906588" y="3386138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产品规划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及分析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5" name="Text Box 49"/>
            <p:cNvSpPr txBox="1">
              <a:spLocks noChangeAspect="1" noChangeArrowheads="1"/>
            </p:cNvSpPr>
            <p:nvPr/>
          </p:nvSpPr>
          <p:spPr bwMode="gray">
            <a:xfrm>
              <a:off x="2771775" y="3386138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品牌推广管理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6" name="Text Box 50"/>
            <p:cNvSpPr txBox="1">
              <a:spLocks noChangeAspect="1" noChangeArrowheads="1"/>
            </p:cNvSpPr>
            <p:nvPr/>
          </p:nvSpPr>
          <p:spPr bwMode="gray">
            <a:xfrm>
              <a:off x="1906588" y="30781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产品组合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策略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7" name="Text Box 52"/>
            <p:cNvSpPr txBox="1">
              <a:spLocks noChangeAspect="1" noChangeArrowheads="1"/>
            </p:cNvSpPr>
            <p:nvPr/>
          </p:nvSpPr>
          <p:spPr bwMode="gray">
            <a:xfrm>
              <a:off x="5432425" y="30781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产品部署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8" name="Text Box 53"/>
            <p:cNvSpPr txBox="1">
              <a:spLocks noChangeAspect="1" noChangeArrowheads="1"/>
            </p:cNvSpPr>
            <p:nvPr/>
          </p:nvSpPr>
          <p:spPr bwMode="gray">
            <a:xfrm>
              <a:off x="4575175" y="3386138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产品设计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79" name="Text Box 54"/>
            <p:cNvSpPr txBox="1">
              <a:spLocks noChangeAspect="1" noChangeArrowheads="1"/>
            </p:cNvSpPr>
            <p:nvPr/>
          </p:nvSpPr>
          <p:spPr bwMode="gray">
            <a:xfrm>
              <a:off x="4575175" y="30781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费率及规则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0" name="Text Box 55"/>
            <p:cNvSpPr txBox="1">
              <a:spLocks noChangeAspect="1" noChangeArrowheads="1"/>
            </p:cNvSpPr>
            <p:nvPr/>
          </p:nvSpPr>
          <p:spPr bwMode="gray">
            <a:xfrm>
              <a:off x="3708400" y="3078163"/>
              <a:ext cx="762000" cy="2254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市场调研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及分析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1" name="Text Box 74"/>
            <p:cNvSpPr txBox="1">
              <a:spLocks noChangeAspect="1" noChangeArrowheads="1"/>
            </p:cNvSpPr>
            <p:nvPr/>
          </p:nvSpPr>
          <p:spPr bwMode="gray">
            <a:xfrm>
              <a:off x="3708400" y="3386138"/>
              <a:ext cx="762000" cy="22383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产品效益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及业绩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2" name="Rectangle 101"/>
            <p:cNvSpPr>
              <a:spLocks noChangeAspect="1" noChangeArrowheads="1"/>
            </p:cNvSpPr>
            <p:nvPr/>
          </p:nvSpPr>
          <p:spPr bwMode="gray">
            <a:xfrm>
              <a:off x="1881188" y="3008313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3" name="Rectangle 102"/>
            <p:cNvSpPr>
              <a:spLocks noChangeAspect="1" noChangeArrowheads="1"/>
            </p:cNvSpPr>
            <p:nvPr/>
          </p:nvSpPr>
          <p:spPr bwMode="gray">
            <a:xfrm>
              <a:off x="1881188" y="3346450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4" name="Rectangle 103"/>
            <p:cNvSpPr>
              <a:spLocks noChangeAspect="1" noChangeArrowheads="1"/>
            </p:cNvSpPr>
            <p:nvPr/>
          </p:nvSpPr>
          <p:spPr bwMode="gray">
            <a:xfrm>
              <a:off x="2746375" y="3036888"/>
              <a:ext cx="168275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5" name="Rectangle 104"/>
            <p:cNvSpPr>
              <a:spLocks noChangeAspect="1" noChangeArrowheads="1"/>
            </p:cNvSpPr>
            <p:nvPr/>
          </p:nvSpPr>
          <p:spPr bwMode="gray">
            <a:xfrm>
              <a:off x="2746375" y="3336925"/>
              <a:ext cx="168275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6" name="Rectangle 106"/>
            <p:cNvSpPr>
              <a:spLocks noChangeAspect="1" noChangeArrowheads="1"/>
            </p:cNvSpPr>
            <p:nvPr/>
          </p:nvSpPr>
          <p:spPr bwMode="gray">
            <a:xfrm>
              <a:off x="3683000" y="3035300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7" name="Rectangle 107"/>
            <p:cNvSpPr>
              <a:spLocks noChangeAspect="1" noChangeArrowheads="1"/>
            </p:cNvSpPr>
            <p:nvPr/>
          </p:nvSpPr>
          <p:spPr bwMode="gray">
            <a:xfrm>
              <a:off x="3683000" y="3352800"/>
              <a:ext cx="168275" cy="11906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8" name="Rectangle 108"/>
            <p:cNvSpPr>
              <a:spLocks noChangeAspect="1" noChangeArrowheads="1"/>
            </p:cNvSpPr>
            <p:nvPr/>
          </p:nvSpPr>
          <p:spPr bwMode="gray">
            <a:xfrm>
              <a:off x="4549775" y="3049588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89" name="Rectangle 109"/>
            <p:cNvSpPr>
              <a:spLocks noChangeAspect="1" noChangeArrowheads="1"/>
            </p:cNvSpPr>
            <p:nvPr/>
          </p:nvSpPr>
          <p:spPr bwMode="gray">
            <a:xfrm>
              <a:off x="4549775" y="3349625"/>
              <a:ext cx="168275" cy="1206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0" name="Rectangle 110"/>
            <p:cNvSpPr>
              <a:spLocks noChangeAspect="1" noChangeArrowheads="1"/>
            </p:cNvSpPr>
            <p:nvPr/>
          </p:nvSpPr>
          <p:spPr bwMode="gray">
            <a:xfrm>
              <a:off x="5407025" y="3049588"/>
              <a:ext cx="168275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1" name="Rectangle 46"/>
            <p:cNvSpPr>
              <a:spLocks noChangeAspect="1" noChangeArrowheads="1"/>
            </p:cNvSpPr>
            <p:nvPr/>
          </p:nvSpPr>
          <p:spPr bwMode="gray">
            <a:xfrm>
              <a:off x="1900238" y="2781300"/>
              <a:ext cx="774700" cy="19208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战略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2" name="Rectangle 46"/>
            <p:cNvSpPr>
              <a:spLocks noChangeAspect="1" noChangeArrowheads="1"/>
            </p:cNvSpPr>
            <p:nvPr/>
          </p:nvSpPr>
          <p:spPr bwMode="gray">
            <a:xfrm>
              <a:off x="3703638" y="2781300"/>
              <a:ext cx="773112" cy="19208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>
                  <a:solidFill>
                    <a:srgbClr val="646464"/>
                  </a:solidFill>
                  <a:ea typeface="宋体" panose="02010600030101010101" pitchFamily="2" charset="-122"/>
                </a:rPr>
                <a:t>市场定价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3" name="Text Box 76"/>
            <p:cNvSpPr txBox="1">
              <a:spLocks noChangeAspect="1" noChangeArrowheads="1"/>
            </p:cNvSpPr>
            <p:nvPr/>
          </p:nvSpPr>
          <p:spPr bwMode="gray">
            <a:xfrm>
              <a:off x="1798089" y="2581276"/>
              <a:ext cx="721825" cy="224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600">
                  <a:solidFill>
                    <a:srgbClr val="646464"/>
                  </a:solidFill>
                  <a:ea typeface="宋体" panose="02010600030101010101" pitchFamily="2" charset="-122"/>
                </a:rPr>
                <a:t>产品管理</a:t>
              </a:r>
              <a:endParaRPr lang="zh-CN" altLang="en-US" sz="6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4" name="Text Box 87"/>
            <p:cNvSpPr txBox="1">
              <a:spLocks noChangeAspect="1" noChangeArrowheads="1"/>
            </p:cNvSpPr>
            <p:nvPr/>
          </p:nvSpPr>
          <p:spPr bwMode="gray">
            <a:xfrm>
              <a:off x="4581525" y="5327650"/>
              <a:ext cx="762000" cy="22701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</a:ln>
          </p:spPr>
          <p:txBody>
            <a:bodyPr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文档、打印</a:t>
              </a:r>
              <a:endParaRPr lang="en-US" altLang="zh-CN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zh-CN" altLang="en-US" sz="500" b="0">
                  <a:solidFill>
                    <a:srgbClr val="000000"/>
                  </a:solidFill>
                  <a:ea typeface="宋体" panose="02010600030101010101" pitchFamily="2" charset="-122"/>
                </a:rPr>
                <a:t>及影像管理</a:t>
              </a:r>
              <a:endParaRPr lang="zh-CN" altLang="en-US" sz="5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995" name="Rectangle 151"/>
            <p:cNvSpPr>
              <a:spLocks noChangeAspect="1" noChangeArrowheads="1"/>
            </p:cNvSpPr>
            <p:nvPr/>
          </p:nvSpPr>
          <p:spPr bwMode="gray">
            <a:xfrm>
              <a:off x="4554538" y="5284788"/>
              <a:ext cx="169862" cy="119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6600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92</a:t>
              </a:r>
              <a:endParaRPr lang="en-US" altLang="zh-CN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02" name="矩形 221"/>
            <p:cNvSpPr>
              <a:spLocks noChangeArrowheads="1"/>
            </p:cNvSpPr>
            <p:nvPr/>
          </p:nvSpPr>
          <p:spPr bwMode="auto">
            <a:xfrm>
              <a:off x="6000750" y="3186113"/>
              <a:ext cx="439738" cy="127000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138.63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03" name="矩形 221"/>
            <p:cNvSpPr>
              <a:spLocks noChangeArrowheads="1"/>
            </p:cNvSpPr>
            <p:nvPr/>
          </p:nvSpPr>
          <p:spPr bwMode="auto">
            <a:xfrm>
              <a:off x="5129213" y="3492500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04" name="矩形 221"/>
            <p:cNvSpPr>
              <a:spLocks noChangeArrowheads="1"/>
            </p:cNvSpPr>
            <p:nvPr/>
          </p:nvSpPr>
          <p:spPr bwMode="auto">
            <a:xfrm>
              <a:off x="2482850" y="3498850"/>
              <a:ext cx="211138" cy="12223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09" name="矩形 221"/>
            <p:cNvSpPr>
              <a:spLocks noChangeArrowheads="1"/>
            </p:cNvSpPr>
            <p:nvPr/>
          </p:nvSpPr>
          <p:spPr bwMode="auto">
            <a:xfrm>
              <a:off x="4294188" y="348297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0" name="矩形 221"/>
            <p:cNvSpPr>
              <a:spLocks noChangeArrowheads="1"/>
            </p:cNvSpPr>
            <p:nvPr/>
          </p:nvSpPr>
          <p:spPr bwMode="auto">
            <a:xfrm>
              <a:off x="2362200" y="3192463"/>
              <a:ext cx="439738" cy="127000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144.83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1" name="矩形 221"/>
            <p:cNvSpPr>
              <a:spLocks noChangeArrowheads="1"/>
            </p:cNvSpPr>
            <p:nvPr/>
          </p:nvSpPr>
          <p:spPr bwMode="auto">
            <a:xfrm>
              <a:off x="5140325" y="31829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2" name="矩形 221"/>
            <p:cNvSpPr>
              <a:spLocks noChangeArrowheads="1"/>
            </p:cNvSpPr>
            <p:nvPr/>
          </p:nvSpPr>
          <p:spPr bwMode="auto">
            <a:xfrm>
              <a:off x="3359150" y="31829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3" name="矩形 221"/>
            <p:cNvSpPr>
              <a:spLocks noChangeArrowheads="1"/>
            </p:cNvSpPr>
            <p:nvPr/>
          </p:nvSpPr>
          <p:spPr bwMode="auto">
            <a:xfrm>
              <a:off x="3351213" y="3489325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13.8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4" name="矩形 221"/>
            <p:cNvSpPr>
              <a:spLocks noChangeArrowheads="1"/>
            </p:cNvSpPr>
            <p:nvPr/>
          </p:nvSpPr>
          <p:spPr bwMode="auto">
            <a:xfrm>
              <a:off x="4286250" y="31829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34.5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5" name="矩形 221"/>
            <p:cNvSpPr>
              <a:spLocks noChangeArrowheads="1"/>
            </p:cNvSpPr>
            <p:nvPr/>
          </p:nvSpPr>
          <p:spPr bwMode="auto">
            <a:xfrm>
              <a:off x="9078913" y="3584575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6" name="矩形 221"/>
            <p:cNvSpPr>
              <a:spLocks noChangeArrowheads="1"/>
            </p:cNvSpPr>
            <p:nvPr/>
          </p:nvSpPr>
          <p:spPr bwMode="auto">
            <a:xfrm>
              <a:off x="9101138" y="50625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113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7" name="矩形 221"/>
            <p:cNvSpPr>
              <a:spLocks noChangeArrowheads="1"/>
            </p:cNvSpPr>
            <p:nvPr/>
          </p:nvSpPr>
          <p:spPr bwMode="auto">
            <a:xfrm>
              <a:off x="8199438" y="44402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56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8" name="矩形 221"/>
            <p:cNvSpPr>
              <a:spLocks noChangeArrowheads="1"/>
            </p:cNvSpPr>
            <p:nvPr/>
          </p:nvSpPr>
          <p:spPr bwMode="auto">
            <a:xfrm>
              <a:off x="8223250" y="5054600"/>
              <a:ext cx="242888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56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19" name="矩形 221"/>
            <p:cNvSpPr>
              <a:spLocks noChangeArrowheads="1"/>
            </p:cNvSpPr>
            <p:nvPr/>
          </p:nvSpPr>
          <p:spPr bwMode="auto">
            <a:xfrm>
              <a:off x="9086850" y="239236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92.83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0" name="矩形 221"/>
            <p:cNvSpPr>
              <a:spLocks noChangeArrowheads="1"/>
            </p:cNvSpPr>
            <p:nvPr/>
          </p:nvSpPr>
          <p:spPr bwMode="auto">
            <a:xfrm>
              <a:off x="8207375" y="268446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1" name="矩形 221"/>
            <p:cNvSpPr>
              <a:spLocks noChangeArrowheads="1"/>
            </p:cNvSpPr>
            <p:nvPr/>
          </p:nvSpPr>
          <p:spPr bwMode="auto">
            <a:xfrm>
              <a:off x="8207375" y="177006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0.25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2" name="矩形 221"/>
            <p:cNvSpPr>
              <a:spLocks noChangeArrowheads="1"/>
            </p:cNvSpPr>
            <p:nvPr/>
          </p:nvSpPr>
          <p:spPr bwMode="auto">
            <a:xfrm>
              <a:off x="8215313" y="389255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3" name="矩形 221"/>
            <p:cNvSpPr>
              <a:spLocks noChangeArrowheads="1"/>
            </p:cNvSpPr>
            <p:nvPr/>
          </p:nvSpPr>
          <p:spPr bwMode="auto">
            <a:xfrm>
              <a:off x="9078913" y="298450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4" name="矩形 221"/>
            <p:cNvSpPr>
              <a:spLocks noChangeArrowheads="1"/>
            </p:cNvSpPr>
            <p:nvPr/>
          </p:nvSpPr>
          <p:spPr bwMode="auto">
            <a:xfrm>
              <a:off x="9101138" y="47545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270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5" name="矩形 221"/>
            <p:cNvSpPr>
              <a:spLocks noChangeArrowheads="1"/>
            </p:cNvSpPr>
            <p:nvPr/>
          </p:nvSpPr>
          <p:spPr bwMode="auto">
            <a:xfrm>
              <a:off x="9078913" y="2055813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6" name="矩形 221"/>
            <p:cNvSpPr>
              <a:spLocks noChangeArrowheads="1"/>
            </p:cNvSpPr>
            <p:nvPr/>
          </p:nvSpPr>
          <p:spPr bwMode="auto">
            <a:xfrm>
              <a:off x="8199438" y="238442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0.25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7" name="矩形 221"/>
            <p:cNvSpPr>
              <a:spLocks noChangeArrowheads="1"/>
            </p:cNvSpPr>
            <p:nvPr/>
          </p:nvSpPr>
          <p:spPr bwMode="auto">
            <a:xfrm>
              <a:off x="9078913" y="177800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8" name="矩形 221"/>
            <p:cNvSpPr>
              <a:spLocks noChangeArrowheads="1"/>
            </p:cNvSpPr>
            <p:nvPr/>
          </p:nvSpPr>
          <p:spPr bwMode="auto">
            <a:xfrm>
              <a:off x="9086850" y="3892550"/>
              <a:ext cx="242888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29" name="矩形 221"/>
            <p:cNvSpPr>
              <a:spLocks noChangeArrowheads="1"/>
            </p:cNvSpPr>
            <p:nvPr/>
          </p:nvSpPr>
          <p:spPr bwMode="auto">
            <a:xfrm>
              <a:off x="8215313" y="3592513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0" name="矩形 221"/>
            <p:cNvSpPr>
              <a:spLocks noChangeArrowheads="1"/>
            </p:cNvSpPr>
            <p:nvPr/>
          </p:nvSpPr>
          <p:spPr bwMode="auto">
            <a:xfrm>
              <a:off x="8199438" y="300672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1.5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1" name="矩形 221"/>
            <p:cNvSpPr>
              <a:spLocks noChangeArrowheads="1"/>
            </p:cNvSpPr>
            <p:nvPr/>
          </p:nvSpPr>
          <p:spPr bwMode="auto">
            <a:xfrm>
              <a:off x="8215313" y="2078038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0.25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2" name="矩形 221"/>
            <p:cNvSpPr>
              <a:spLocks noChangeArrowheads="1"/>
            </p:cNvSpPr>
            <p:nvPr/>
          </p:nvSpPr>
          <p:spPr bwMode="auto">
            <a:xfrm>
              <a:off x="9101138" y="26844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0.75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3" name="矩形 221"/>
            <p:cNvSpPr>
              <a:spLocks noChangeArrowheads="1"/>
            </p:cNvSpPr>
            <p:nvPr/>
          </p:nvSpPr>
          <p:spPr bwMode="auto">
            <a:xfrm>
              <a:off x="9086850" y="44402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4" name="矩形 221"/>
            <p:cNvSpPr>
              <a:spLocks noChangeArrowheads="1"/>
            </p:cNvSpPr>
            <p:nvPr/>
          </p:nvSpPr>
          <p:spPr bwMode="auto">
            <a:xfrm>
              <a:off x="8229600" y="47545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5" name="矩形 221"/>
            <p:cNvSpPr>
              <a:spLocks noChangeArrowheads="1"/>
            </p:cNvSpPr>
            <p:nvPr/>
          </p:nvSpPr>
          <p:spPr bwMode="auto">
            <a:xfrm>
              <a:off x="8223250" y="5362575"/>
              <a:ext cx="242888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6" name="矩形 221"/>
            <p:cNvSpPr>
              <a:spLocks noChangeArrowheads="1"/>
            </p:cNvSpPr>
            <p:nvPr/>
          </p:nvSpPr>
          <p:spPr bwMode="auto">
            <a:xfrm>
              <a:off x="9110663" y="536257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7" name="矩形 221"/>
            <p:cNvSpPr>
              <a:spLocks noChangeArrowheads="1"/>
            </p:cNvSpPr>
            <p:nvPr/>
          </p:nvSpPr>
          <p:spPr bwMode="auto">
            <a:xfrm>
              <a:off x="8896350" y="5845175"/>
              <a:ext cx="242888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13.5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8" name="矩形 221"/>
            <p:cNvSpPr>
              <a:spLocks noChangeArrowheads="1"/>
            </p:cNvSpPr>
            <p:nvPr/>
          </p:nvSpPr>
          <p:spPr bwMode="auto">
            <a:xfrm>
              <a:off x="4649788" y="5853113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29.10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39" name="矩形 221"/>
            <p:cNvSpPr>
              <a:spLocks noChangeArrowheads="1"/>
            </p:cNvSpPr>
            <p:nvPr/>
          </p:nvSpPr>
          <p:spPr bwMode="auto">
            <a:xfrm>
              <a:off x="8008938" y="615315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0" name="矩形 221"/>
            <p:cNvSpPr>
              <a:spLocks noChangeArrowheads="1"/>
            </p:cNvSpPr>
            <p:nvPr/>
          </p:nvSpPr>
          <p:spPr bwMode="auto">
            <a:xfrm>
              <a:off x="6313488" y="585311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62.5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1" name="矩形 221"/>
            <p:cNvSpPr>
              <a:spLocks noChangeArrowheads="1"/>
            </p:cNvSpPr>
            <p:nvPr/>
          </p:nvSpPr>
          <p:spPr bwMode="auto">
            <a:xfrm>
              <a:off x="6330950" y="6153150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2" name="矩形 221"/>
            <p:cNvSpPr>
              <a:spLocks noChangeArrowheads="1"/>
            </p:cNvSpPr>
            <p:nvPr/>
          </p:nvSpPr>
          <p:spPr bwMode="auto">
            <a:xfrm>
              <a:off x="8904288" y="615315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28.25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3" name="矩形 221"/>
            <p:cNvSpPr>
              <a:spLocks noChangeArrowheads="1"/>
            </p:cNvSpPr>
            <p:nvPr/>
          </p:nvSpPr>
          <p:spPr bwMode="auto">
            <a:xfrm>
              <a:off x="7113588" y="6159500"/>
              <a:ext cx="333375" cy="131763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312.55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4" name="矩形 221"/>
            <p:cNvSpPr>
              <a:spLocks noChangeArrowheads="1"/>
            </p:cNvSpPr>
            <p:nvPr/>
          </p:nvSpPr>
          <p:spPr bwMode="auto">
            <a:xfrm>
              <a:off x="5465763" y="5853113"/>
              <a:ext cx="317500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150.10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5" name="矩形 221"/>
            <p:cNvSpPr>
              <a:spLocks noChangeArrowheads="1"/>
            </p:cNvSpPr>
            <p:nvPr/>
          </p:nvSpPr>
          <p:spPr bwMode="auto">
            <a:xfrm>
              <a:off x="8001000" y="58372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9.90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6" name="矩形 221"/>
            <p:cNvSpPr>
              <a:spLocks noChangeArrowheads="1"/>
            </p:cNvSpPr>
            <p:nvPr/>
          </p:nvSpPr>
          <p:spPr bwMode="auto">
            <a:xfrm>
              <a:off x="7153275" y="585311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56.50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7" name="矩形 221"/>
            <p:cNvSpPr>
              <a:spLocks noChangeArrowheads="1"/>
            </p:cNvSpPr>
            <p:nvPr/>
          </p:nvSpPr>
          <p:spPr bwMode="auto">
            <a:xfrm>
              <a:off x="2749550" y="6042025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8" name="矩形 221"/>
            <p:cNvSpPr>
              <a:spLocks noChangeArrowheads="1"/>
            </p:cNvSpPr>
            <p:nvPr/>
          </p:nvSpPr>
          <p:spPr bwMode="auto">
            <a:xfrm>
              <a:off x="3786188" y="58594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49" name="矩形 221"/>
            <p:cNvSpPr>
              <a:spLocks noChangeArrowheads="1"/>
            </p:cNvSpPr>
            <p:nvPr/>
          </p:nvSpPr>
          <p:spPr bwMode="auto">
            <a:xfrm>
              <a:off x="4649788" y="615315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52.13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0" name="矩形 221"/>
            <p:cNvSpPr>
              <a:spLocks noChangeArrowheads="1"/>
            </p:cNvSpPr>
            <p:nvPr/>
          </p:nvSpPr>
          <p:spPr bwMode="auto">
            <a:xfrm>
              <a:off x="3763963" y="6153150"/>
              <a:ext cx="309562" cy="138113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885.50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1" name="矩形 221"/>
            <p:cNvSpPr>
              <a:spLocks noChangeArrowheads="1"/>
            </p:cNvSpPr>
            <p:nvPr/>
          </p:nvSpPr>
          <p:spPr bwMode="auto">
            <a:xfrm>
              <a:off x="5481638" y="615315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9.90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2" name="矩形 221"/>
            <p:cNvSpPr>
              <a:spLocks noChangeArrowheads="1"/>
            </p:cNvSpPr>
            <p:nvPr/>
          </p:nvSpPr>
          <p:spPr bwMode="auto">
            <a:xfrm>
              <a:off x="1346200" y="376078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9.20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3" name="矩形 221"/>
            <p:cNvSpPr>
              <a:spLocks noChangeArrowheads="1"/>
            </p:cNvSpPr>
            <p:nvPr/>
          </p:nvSpPr>
          <p:spPr bwMode="auto">
            <a:xfrm>
              <a:off x="1346200" y="341630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4" name="矩形 221"/>
            <p:cNvSpPr>
              <a:spLocks noChangeArrowheads="1"/>
            </p:cNvSpPr>
            <p:nvPr/>
          </p:nvSpPr>
          <p:spPr bwMode="auto">
            <a:xfrm>
              <a:off x="1306513" y="4470400"/>
              <a:ext cx="349250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450.80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5" name="矩形 221"/>
            <p:cNvSpPr>
              <a:spLocks noChangeArrowheads="1"/>
            </p:cNvSpPr>
            <p:nvPr/>
          </p:nvSpPr>
          <p:spPr bwMode="auto">
            <a:xfrm>
              <a:off x="1346200" y="201930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6" name="矩形 221"/>
            <p:cNvSpPr>
              <a:spLocks noChangeArrowheads="1"/>
            </p:cNvSpPr>
            <p:nvPr/>
          </p:nvSpPr>
          <p:spPr bwMode="auto">
            <a:xfrm>
              <a:off x="1338263" y="1704975"/>
              <a:ext cx="301625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7" name="矩形 221"/>
            <p:cNvSpPr>
              <a:spLocks noChangeArrowheads="1"/>
            </p:cNvSpPr>
            <p:nvPr/>
          </p:nvSpPr>
          <p:spPr bwMode="auto">
            <a:xfrm>
              <a:off x="1354138" y="4103688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8" name="矩形 221"/>
            <p:cNvSpPr>
              <a:spLocks noChangeArrowheads="1"/>
            </p:cNvSpPr>
            <p:nvPr/>
          </p:nvSpPr>
          <p:spPr bwMode="auto">
            <a:xfrm>
              <a:off x="1354138" y="3094038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10.5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59" name="矩形 221"/>
            <p:cNvSpPr>
              <a:spLocks noChangeArrowheads="1"/>
            </p:cNvSpPr>
            <p:nvPr/>
          </p:nvSpPr>
          <p:spPr bwMode="auto">
            <a:xfrm>
              <a:off x="1362075" y="55451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12.7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0" name="矩形 221"/>
            <p:cNvSpPr>
              <a:spLocks noChangeArrowheads="1"/>
            </p:cNvSpPr>
            <p:nvPr/>
          </p:nvSpPr>
          <p:spPr bwMode="auto">
            <a:xfrm>
              <a:off x="1338263" y="2347913"/>
              <a:ext cx="242887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3.2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1" name="矩形 221"/>
            <p:cNvSpPr>
              <a:spLocks noChangeArrowheads="1"/>
            </p:cNvSpPr>
            <p:nvPr/>
          </p:nvSpPr>
          <p:spPr bwMode="auto">
            <a:xfrm>
              <a:off x="1362075" y="58594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2" name="矩形 221"/>
            <p:cNvSpPr>
              <a:spLocks noChangeArrowheads="1"/>
            </p:cNvSpPr>
            <p:nvPr/>
          </p:nvSpPr>
          <p:spPr bwMode="auto">
            <a:xfrm>
              <a:off x="1323975" y="4829175"/>
              <a:ext cx="323850" cy="138113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943.80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3" name="矩形 221"/>
            <p:cNvSpPr>
              <a:spLocks noChangeArrowheads="1"/>
            </p:cNvSpPr>
            <p:nvPr/>
          </p:nvSpPr>
          <p:spPr bwMode="auto">
            <a:xfrm>
              <a:off x="6130925" y="174942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12.17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4" name="矩形 221"/>
            <p:cNvSpPr>
              <a:spLocks noChangeArrowheads="1"/>
            </p:cNvSpPr>
            <p:nvPr/>
          </p:nvSpPr>
          <p:spPr bwMode="auto">
            <a:xfrm>
              <a:off x="3421063" y="206375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17.25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5" name="矩形 221"/>
            <p:cNvSpPr>
              <a:spLocks noChangeArrowheads="1"/>
            </p:cNvSpPr>
            <p:nvPr/>
          </p:nvSpPr>
          <p:spPr bwMode="auto">
            <a:xfrm>
              <a:off x="3405188" y="175577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65.50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6" name="矩形 221"/>
            <p:cNvSpPr>
              <a:spLocks noChangeArrowheads="1"/>
            </p:cNvSpPr>
            <p:nvPr/>
          </p:nvSpPr>
          <p:spPr bwMode="auto">
            <a:xfrm>
              <a:off x="4262438" y="1741488"/>
              <a:ext cx="241300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11.67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7" name="矩形 221"/>
            <p:cNvSpPr>
              <a:spLocks noChangeArrowheads="1"/>
            </p:cNvSpPr>
            <p:nvPr/>
          </p:nvSpPr>
          <p:spPr bwMode="auto">
            <a:xfrm>
              <a:off x="3421063" y="237807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11.77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8" name="矩形 221"/>
            <p:cNvSpPr>
              <a:spLocks noChangeArrowheads="1"/>
            </p:cNvSpPr>
            <p:nvPr/>
          </p:nvSpPr>
          <p:spPr bwMode="auto">
            <a:xfrm>
              <a:off x="5180013" y="174942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5.70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69" name="矩形 221"/>
            <p:cNvSpPr>
              <a:spLocks noChangeArrowheads="1"/>
            </p:cNvSpPr>
            <p:nvPr/>
          </p:nvSpPr>
          <p:spPr bwMode="auto">
            <a:xfrm>
              <a:off x="4262438" y="2055813"/>
              <a:ext cx="241300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34.75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0" name="矩形 221"/>
            <p:cNvSpPr>
              <a:spLocks noChangeArrowheads="1"/>
            </p:cNvSpPr>
            <p:nvPr/>
          </p:nvSpPr>
          <p:spPr bwMode="auto">
            <a:xfrm>
              <a:off x="4268788" y="23701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29.80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1" name="矩形 221"/>
            <p:cNvSpPr>
              <a:spLocks noChangeArrowheads="1"/>
            </p:cNvSpPr>
            <p:nvPr/>
          </p:nvSpPr>
          <p:spPr bwMode="auto">
            <a:xfrm>
              <a:off x="2470150" y="205581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12.42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2" name="矩形 221"/>
            <p:cNvSpPr>
              <a:spLocks noChangeArrowheads="1"/>
            </p:cNvSpPr>
            <p:nvPr/>
          </p:nvSpPr>
          <p:spPr bwMode="auto">
            <a:xfrm>
              <a:off x="2479675" y="176371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39.72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3" name="矩形 221"/>
            <p:cNvSpPr>
              <a:spLocks noChangeArrowheads="1"/>
            </p:cNvSpPr>
            <p:nvPr/>
          </p:nvSpPr>
          <p:spPr bwMode="auto">
            <a:xfrm>
              <a:off x="2400300" y="2378075"/>
              <a:ext cx="379413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6548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4" name="矩形 221"/>
            <p:cNvSpPr>
              <a:spLocks noChangeArrowheads="1"/>
            </p:cNvSpPr>
            <p:nvPr/>
          </p:nvSpPr>
          <p:spPr bwMode="auto">
            <a:xfrm>
              <a:off x="6130925" y="205581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14.77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5" name="矩形 221"/>
            <p:cNvSpPr>
              <a:spLocks noChangeArrowheads="1"/>
            </p:cNvSpPr>
            <p:nvPr/>
          </p:nvSpPr>
          <p:spPr bwMode="auto">
            <a:xfrm>
              <a:off x="2509838" y="4192588"/>
              <a:ext cx="287337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228.87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6" name="矩形 221"/>
            <p:cNvSpPr>
              <a:spLocks noChangeArrowheads="1"/>
            </p:cNvSpPr>
            <p:nvPr/>
          </p:nvSpPr>
          <p:spPr bwMode="auto">
            <a:xfrm>
              <a:off x="3359150" y="4813300"/>
              <a:ext cx="242888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18.20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7" name="矩形 221"/>
            <p:cNvSpPr>
              <a:spLocks noChangeArrowheads="1"/>
            </p:cNvSpPr>
            <p:nvPr/>
          </p:nvSpPr>
          <p:spPr bwMode="auto">
            <a:xfrm>
              <a:off x="6108700" y="51133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8" name="矩形 221"/>
            <p:cNvSpPr>
              <a:spLocks noChangeArrowheads="1"/>
            </p:cNvSpPr>
            <p:nvPr/>
          </p:nvSpPr>
          <p:spPr bwMode="auto">
            <a:xfrm>
              <a:off x="5124450" y="4498975"/>
              <a:ext cx="319088" cy="138113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202.10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79" name="矩形 221"/>
            <p:cNvSpPr>
              <a:spLocks noChangeArrowheads="1"/>
            </p:cNvSpPr>
            <p:nvPr/>
          </p:nvSpPr>
          <p:spPr bwMode="auto">
            <a:xfrm>
              <a:off x="6916738" y="5113338"/>
              <a:ext cx="325437" cy="12382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308.50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0" name="矩形 221"/>
            <p:cNvSpPr>
              <a:spLocks noChangeArrowheads="1"/>
            </p:cNvSpPr>
            <p:nvPr/>
          </p:nvSpPr>
          <p:spPr bwMode="auto">
            <a:xfrm>
              <a:off x="3375025" y="4198938"/>
              <a:ext cx="293688" cy="12382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103.33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1" name="矩形 221"/>
            <p:cNvSpPr>
              <a:spLocks noChangeArrowheads="1"/>
            </p:cNvSpPr>
            <p:nvPr/>
          </p:nvSpPr>
          <p:spPr bwMode="auto">
            <a:xfrm>
              <a:off x="4276725" y="51133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2" name="矩形 221"/>
            <p:cNvSpPr>
              <a:spLocks noChangeArrowheads="1"/>
            </p:cNvSpPr>
            <p:nvPr/>
          </p:nvSpPr>
          <p:spPr bwMode="auto">
            <a:xfrm>
              <a:off x="2509838" y="4498975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35.37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3" name="矩形 221"/>
            <p:cNvSpPr>
              <a:spLocks noChangeArrowheads="1"/>
            </p:cNvSpPr>
            <p:nvPr/>
          </p:nvSpPr>
          <p:spPr bwMode="auto">
            <a:xfrm>
              <a:off x="6035675" y="4498975"/>
              <a:ext cx="319088" cy="138113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2785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4" name="矩形 221"/>
            <p:cNvSpPr>
              <a:spLocks noChangeArrowheads="1"/>
            </p:cNvSpPr>
            <p:nvPr/>
          </p:nvSpPr>
          <p:spPr bwMode="auto">
            <a:xfrm>
              <a:off x="4246563" y="4192588"/>
              <a:ext cx="309562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404.97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5" name="矩形 221"/>
            <p:cNvSpPr>
              <a:spLocks noChangeArrowheads="1"/>
            </p:cNvSpPr>
            <p:nvPr/>
          </p:nvSpPr>
          <p:spPr bwMode="auto">
            <a:xfrm>
              <a:off x="6051550" y="4821238"/>
              <a:ext cx="309563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495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6" name="矩形 221"/>
            <p:cNvSpPr>
              <a:spLocks noChangeArrowheads="1"/>
            </p:cNvSpPr>
            <p:nvPr/>
          </p:nvSpPr>
          <p:spPr bwMode="auto">
            <a:xfrm>
              <a:off x="6049963" y="4183063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7" name="矩形 221"/>
            <p:cNvSpPr>
              <a:spLocks noChangeArrowheads="1"/>
            </p:cNvSpPr>
            <p:nvPr/>
          </p:nvSpPr>
          <p:spPr bwMode="auto">
            <a:xfrm>
              <a:off x="4262438" y="4813300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7.20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8" name="矩形 221"/>
            <p:cNvSpPr>
              <a:spLocks noChangeArrowheads="1"/>
            </p:cNvSpPr>
            <p:nvPr/>
          </p:nvSpPr>
          <p:spPr bwMode="auto">
            <a:xfrm>
              <a:off x="6946900" y="418465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7.70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89" name="矩形 221"/>
            <p:cNvSpPr>
              <a:spLocks noChangeArrowheads="1"/>
            </p:cNvSpPr>
            <p:nvPr/>
          </p:nvSpPr>
          <p:spPr bwMode="auto">
            <a:xfrm>
              <a:off x="6907213" y="4813300"/>
              <a:ext cx="341312" cy="12382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761.50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0" name="矩形 221"/>
            <p:cNvSpPr>
              <a:spLocks noChangeArrowheads="1"/>
            </p:cNvSpPr>
            <p:nvPr/>
          </p:nvSpPr>
          <p:spPr bwMode="auto">
            <a:xfrm>
              <a:off x="4262438" y="4506913"/>
              <a:ext cx="241300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50.50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1" name="矩形 221"/>
            <p:cNvSpPr>
              <a:spLocks noChangeArrowheads="1"/>
            </p:cNvSpPr>
            <p:nvPr/>
          </p:nvSpPr>
          <p:spPr bwMode="auto">
            <a:xfrm>
              <a:off x="5213350" y="5421313"/>
              <a:ext cx="241300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26.50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2" name="矩形 221"/>
            <p:cNvSpPr>
              <a:spLocks noChangeArrowheads="1"/>
            </p:cNvSpPr>
            <p:nvPr/>
          </p:nvSpPr>
          <p:spPr bwMode="auto">
            <a:xfrm>
              <a:off x="3375025" y="542131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9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3" name="矩形 221"/>
            <p:cNvSpPr>
              <a:spLocks noChangeArrowheads="1"/>
            </p:cNvSpPr>
            <p:nvPr/>
          </p:nvSpPr>
          <p:spPr bwMode="auto">
            <a:xfrm>
              <a:off x="2519363" y="4813300"/>
              <a:ext cx="242887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39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4" name="矩形 221"/>
            <p:cNvSpPr>
              <a:spLocks noChangeArrowheads="1"/>
            </p:cNvSpPr>
            <p:nvPr/>
          </p:nvSpPr>
          <p:spPr bwMode="auto">
            <a:xfrm>
              <a:off x="2527300" y="51133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103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5" name="矩形 221"/>
            <p:cNvSpPr>
              <a:spLocks noChangeArrowheads="1"/>
            </p:cNvSpPr>
            <p:nvPr/>
          </p:nvSpPr>
          <p:spPr bwMode="auto">
            <a:xfrm>
              <a:off x="5140325" y="4192588"/>
              <a:ext cx="303213" cy="130175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444.50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6" name="矩形 221"/>
            <p:cNvSpPr>
              <a:spLocks noChangeArrowheads="1"/>
            </p:cNvSpPr>
            <p:nvPr/>
          </p:nvSpPr>
          <p:spPr bwMode="auto">
            <a:xfrm>
              <a:off x="3359150" y="4506913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65.23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7" name="矩形 221"/>
            <p:cNvSpPr>
              <a:spLocks noChangeArrowheads="1"/>
            </p:cNvSpPr>
            <p:nvPr/>
          </p:nvSpPr>
          <p:spPr bwMode="auto">
            <a:xfrm>
              <a:off x="3390900" y="5113338"/>
              <a:ext cx="242888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3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8" name="矩形 221"/>
            <p:cNvSpPr>
              <a:spLocks noChangeArrowheads="1"/>
            </p:cNvSpPr>
            <p:nvPr/>
          </p:nvSpPr>
          <p:spPr bwMode="auto">
            <a:xfrm>
              <a:off x="5180013" y="4806950"/>
              <a:ext cx="244475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0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099" name="矩形 221"/>
            <p:cNvSpPr>
              <a:spLocks noChangeArrowheads="1"/>
            </p:cNvSpPr>
            <p:nvPr/>
          </p:nvSpPr>
          <p:spPr bwMode="auto">
            <a:xfrm>
              <a:off x="6956425" y="4498975"/>
              <a:ext cx="241300" cy="128588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166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100" name="矩形 221"/>
            <p:cNvSpPr>
              <a:spLocks noChangeArrowheads="1"/>
            </p:cNvSpPr>
            <p:nvPr/>
          </p:nvSpPr>
          <p:spPr bwMode="auto">
            <a:xfrm>
              <a:off x="5187950" y="5113338"/>
              <a:ext cx="244475" cy="128587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0033CC"/>
              </a:solidFill>
              <a:miter lim="800000"/>
            </a:ln>
          </p:spPr>
          <p:txBody>
            <a:bodyPr wrap="none" lIns="46800" rIns="4680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r>
                <a:rPr lang="en-US" altLang="zh-CN" sz="500">
                  <a:solidFill>
                    <a:srgbClr val="646464"/>
                  </a:solidFill>
                  <a:ea typeface="宋体" panose="02010600030101010101" pitchFamily="2" charset="-122"/>
                </a:rPr>
                <a:t>126.6</a:t>
              </a:r>
              <a:endParaRPr lang="zh-CN" altLang="en-US" sz="500">
                <a:solidFill>
                  <a:srgbClr val="64646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101" name="Oval 145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 rot="893633">
              <a:off x="4537075" y="4176713"/>
              <a:ext cx="2751138" cy="99218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4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102" name="Oval 14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92138" y="4291013"/>
              <a:ext cx="1147762" cy="72548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4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103" name="Oval 14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030538" y="6019800"/>
              <a:ext cx="1147762" cy="32385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Char char="§"/>
              </a:pPr>
              <a:endParaRPr lang="zh-CN" altLang="zh-CN" sz="14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8" name="Text Box 240"/>
            <p:cNvSpPr txBox="1">
              <a:spLocks noChangeArrowheads="1"/>
            </p:cNvSpPr>
            <p:nvPr/>
          </p:nvSpPr>
          <p:spPr bwMode="auto">
            <a:xfrm rot="1324605">
              <a:off x="2871562" y="2842742"/>
              <a:ext cx="3948945" cy="400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  <a:defRPr kumimoji="1" sz="2000">
                  <a:solidFill>
                    <a:srgbClr val="FF0000"/>
                  </a:solidFill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600" dirty="0"/>
                <a:t>示意</a:t>
              </a:r>
              <a:endParaRPr lang="zh-CN" altLang="en-US" sz="1600" dirty="0"/>
            </a:p>
          </p:txBody>
        </p:sp>
      </p:grp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业务能力图的应用场景</a:t>
            </a:r>
            <a:r>
              <a:rPr lang="en-US" altLang="zh-CN" dirty="0"/>
              <a:t>3</a:t>
            </a:r>
            <a:r>
              <a:rPr lang="zh-CN" altLang="en-US" dirty="0"/>
              <a:t>：人力消耗优化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988841"/>
            <a:ext cx="3983681" cy="2808312"/>
          </a:xfrm>
        </p:spPr>
        <p:txBody>
          <a:bodyPr/>
          <a:lstStyle/>
          <a:p>
            <a:pPr marL="0" indent="0">
              <a:spcBef>
                <a:spcPct val="15000"/>
              </a:spcBef>
              <a:spcAft>
                <a:spcPct val="25000"/>
              </a:spcAft>
            </a:pPr>
            <a:r>
              <a:rPr lang="zh-CN" altLang="en-US" sz="2000" dirty="0"/>
              <a:t>高耗能点的特点如下：</a:t>
            </a:r>
            <a:endParaRPr lang="en-US" altLang="zh-CN" sz="2000" dirty="0"/>
          </a:p>
          <a:p>
            <a:pPr marL="457200" indent="-457200">
              <a:spcBef>
                <a:spcPct val="15000"/>
              </a:spcBef>
              <a:spcAft>
                <a:spcPct val="25000"/>
              </a:spcAft>
              <a:buAutoNum type="arabicPeriod"/>
            </a:pPr>
            <a:r>
              <a:rPr lang="zh-CN" altLang="en-US" sz="2000" b="0" dirty="0"/>
              <a:t>业务量大</a:t>
            </a:r>
            <a:endParaRPr lang="en-US" altLang="zh-CN" sz="2000" b="0" dirty="0"/>
          </a:p>
          <a:p>
            <a:pPr marL="457200" indent="-457200">
              <a:spcBef>
                <a:spcPct val="15000"/>
              </a:spcBef>
              <a:spcAft>
                <a:spcPct val="25000"/>
              </a:spcAft>
              <a:buAutoNum type="arabicPeriod"/>
            </a:pPr>
            <a:r>
              <a:rPr lang="zh-CN" altLang="en-US" sz="2000" b="0" dirty="0"/>
              <a:t>业务重复</a:t>
            </a:r>
            <a:endParaRPr lang="en-US" altLang="zh-CN" sz="2000" b="0" dirty="0"/>
          </a:p>
          <a:p>
            <a:pPr marL="457200" indent="-457200">
              <a:spcBef>
                <a:spcPct val="15000"/>
              </a:spcBef>
              <a:spcAft>
                <a:spcPct val="25000"/>
              </a:spcAft>
              <a:buAutoNum type="arabicPeriod"/>
            </a:pPr>
            <a:r>
              <a:rPr lang="zh-CN" altLang="en-US" sz="2000" b="0" dirty="0"/>
              <a:t>线下手工作业为主</a:t>
            </a:r>
            <a:endParaRPr lang="en-US" altLang="zh-CN" sz="2000" b="0" dirty="0"/>
          </a:p>
          <a:p>
            <a:pPr marL="457200" indent="-457200">
              <a:spcBef>
                <a:spcPct val="15000"/>
              </a:spcBef>
              <a:spcAft>
                <a:spcPct val="25000"/>
              </a:spcAft>
              <a:buAutoNum type="arabicPeriod"/>
            </a:pPr>
            <a:r>
              <a:rPr lang="zh-CN" altLang="en-US" sz="2000" b="0" dirty="0"/>
              <a:t>涉及多个角色，等待时间较长</a:t>
            </a:r>
            <a:endParaRPr lang="en-US" altLang="zh-CN" sz="2000" b="0" dirty="0"/>
          </a:p>
          <a:p>
            <a:pPr marL="457200" indent="-457200">
              <a:spcBef>
                <a:spcPct val="15000"/>
              </a:spcBef>
              <a:spcAft>
                <a:spcPct val="25000"/>
              </a:spcAft>
              <a:buAutoNum type="arabicPeriod"/>
            </a:pPr>
            <a:r>
              <a:rPr lang="zh-CN" altLang="en-US" sz="2000" b="0" dirty="0"/>
              <a:t>作业效率提升空间大</a:t>
            </a:r>
            <a:endParaRPr lang="en-GB" altLang="zh-CN" sz="2000" b="0" dirty="0"/>
          </a:p>
          <a:p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9404" y="1340768"/>
            <a:ext cx="4455419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 rtl="0" eaLnBrk="0" hangingPunc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定位高消耗能力单元：</a:t>
            </a:r>
            <a:endParaRPr lang="en-US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基于业务能力图，识别出人力投入大但产出效益低的能力模块，优先作为优化重点。</a:t>
            </a:r>
            <a:endParaRPr lang="zh-CN" altLang="en-US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流程与能力重组：</a:t>
            </a:r>
            <a:endParaRPr lang="en-US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整合重复能力，减少跨部门重复投入，推动能力共享和平台化建设。</a:t>
            </a:r>
            <a:endParaRPr lang="zh-CN" altLang="en-US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3.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推动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IT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自动化：</a:t>
            </a:r>
            <a:endParaRPr lang="en-US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针对规则明确、重复性强的能力，引入流程自动化、低代码开发及</a:t>
            </a:r>
            <a:r>
              <a:rPr lang="en-US" altLang="zh-CN" dirty="0">
                <a:solidFill>
                  <a:srgbClr val="000000"/>
                </a:solidFill>
                <a:effectLst/>
                <a:latin typeface="+mn-ea"/>
              </a:rPr>
              <a:t>AI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辅助，降低人工干预。</a:t>
            </a:r>
            <a:endParaRPr lang="zh-CN" altLang="en-US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4.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优化人员配置：</a:t>
            </a:r>
            <a:endParaRPr lang="en-US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通过能力评估调整岗位设置，实现从事务性岗位向高附加值岗位的转型。</a:t>
            </a:r>
            <a:endParaRPr lang="zh-CN" altLang="en-US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</a:rPr>
              <a:t>5.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</a:rPr>
              <a:t>建立持续评估体系：</a:t>
            </a:r>
            <a:endParaRPr lang="en-US" altLang="zh-CN" b="1" dirty="0">
              <a:solidFill>
                <a:srgbClr val="000000"/>
              </a:solidFill>
              <a:effectLst/>
              <a:latin typeface="+mn-ea"/>
            </a:endParaRPr>
          </a:p>
          <a:p>
            <a:pPr marL="0" indent="0" algn="l" rtl="0" eaLnBrk="0" hangingPunct="0"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+mn-ea"/>
              </a:rPr>
              <a:t>将人力消耗与业务价值相结合，构建滚动分析和持续优化的闭环机制</a:t>
            </a:r>
            <a:endParaRPr lang="en-US" dirty="0"/>
          </a:p>
        </p:txBody>
      </p:sp>
      <p:sp>
        <p:nvSpPr>
          <p:cNvPr id="5" name="Isosceles Triangle 4"/>
          <p:cNvSpPr/>
          <p:nvPr/>
        </p:nvSpPr>
        <p:spPr bwMode="auto">
          <a:xfrm rot="5400000">
            <a:off x="3392417" y="3465004"/>
            <a:ext cx="2088232" cy="288032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dist="35921" dir="2700000" algn="ctr" rotWithShape="0">
              <a:schemeClr val="folHlink"/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pOsskK2SB7kaRT0M2WtK9XA"/>
</p:tagLst>
</file>

<file path=ppt/tags/tag2.xml><?xml version="1.0" encoding="utf-8"?>
<p:tagLst xmlns:p="http://schemas.openxmlformats.org/presentationml/2006/main">
  <p:tag name="THINKCELLSHAPEDONOTDELETE" val="pOsskK2SB7kaRT0M2WtK9XA"/>
</p:tagLst>
</file>

<file path=ppt/tags/tag3.xml><?xml version="1.0" encoding="utf-8"?>
<p:tagLst xmlns:p="http://schemas.openxmlformats.org/presentationml/2006/main">
  <p:tag name="THINKCELLSHAPEDONOTDELETE" val="pOsskK2SB7kaRT0M2WtK9XA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A79E99"/>
      </a:lt2>
      <a:accent1>
        <a:srgbClr val="D0A660"/>
      </a:accent1>
      <a:accent2>
        <a:srgbClr val="A79E99"/>
      </a:accent2>
      <a:accent3>
        <a:srgbClr val="FFFFFF"/>
      </a:accent3>
      <a:accent4>
        <a:srgbClr val="000000"/>
      </a:accent4>
      <a:accent5>
        <a:srgbClr val="E4D0B6"/>
      </a:accent5>
      <a:accent6>
        <a:srgbClr val="978F8A"/>
      </a:accent6>
      <a:hlink>
        <a:srgbClr val="F7F2D0"/>
      </a:hlink>
      <a:folHlink>
        <a:srgbClr val="7D0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>
          <a:outerShdw dist="35921" dir="2700000" algn="ctr" rotWithShape="0">
            <a:schemeClr val="folHlink"/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Tx/>
          <a:buFont typeface="Wingdings" panose="05000000000000000000" pitchFamily="2" charset="2"/>
          <a:buChar char="§"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>
          <a:outerShdw dist="35921" dir="2700000" algn="ctr" rotWithShape="0">
            <a:schemeClr val="folHlink"/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Tx/>
          <a:buFont typeface="Wingdings" panose="05000000000000000000" pitchFamily="2" charset="2"/>
          <a:buChar char="§"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《卓越绩效模式理解及实施》</Template>
  <TotalTime>0</TotalTime>
  <Words>10393</Words>
  <Application>WPS 演示</Application>
  <PresentationFormat>Custom</PresentationFormat>
  <Paragraphs>3247</Paragraphs>
  <Slides>18</Slides>
  <Notes>51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Impact</vt:lpstr>
      <vt:lpstr>Monotype Sorts</vt:lpstr>
      <vt:lpstr>Wingdings</vt:lpstr>
      <vt:lpstr>Times New Roman</vt:lpstr>
      <vt:lpstr>华文楷体</vt:lpstr>
      <vt:lpstr>华文中宋</vt:lpstr>
      <vt:lpstr>Verdana</vt:lpstr>
      <vt:lpstr>黑体</vt:lpstr>
      <vt:lpstr>Arial Unicode MS</vt:lpstr>
      <vt:lpstr>Arial</vt:lpstr>
      <vt:lpstr>楷体</vt:lpstr>
      <vt:lpstr>Optima</vt:lpstr>
      <vt:lpstr>Segoe Print</vt:lpstr>
      <vt:lpstr>PingFang SC</vt:lpstr>
      <vt:lpstr>Arial Narrow</vt:lpstr>
      <vt:lpstr>Default Design</vt:lpstr>
      <vt:lpstr>PowerPoint.Slide.8</vt:lpstr>
      <vt:lpstr>PowerPoint.Slide.8</vt:lpstr>
      <vt:lpstr>PowerPoint 演示文稿</vt:lpstr>
      <vt:lpstr>企业业务架构的组成部分</vt:lpstr>
      <vt:lpstr>内容提纲</vt:lpstr>
      <vt:lpstr>业务能力（业务领域）图来描述企业的运营状态：“一页纸上的业务模型”</vt:lpstr>
      <vt:lpstr>PowerPoint 演示文稿</vt:lpstr>
      <vt:lpstr>业务能力图（CBM）示例1：保险行业</vt:lpstr>
      <vt:lpstr>业务能力图（CBM）示例2：电力能源行业</vt:lpstr>
      <vt:lpstr>业务能力图（CBM）示例：能源行业</vt:lpstr>
      <vt:lpstr>业务能力图（CBM）示例：制造业</vt:lpstr>
      <vt:lpstr>业务能力和组件模型可以用于制定企业战略、运营战略、组织转型和IT规划等多个方面，是企业架构设计的基础</vt:lpstr>
      <vt:lpstr>业务能力定义和解释（1-3级）</vt:lpstr>
      <vt:lpstr>业务能力图的应用场景1：战略分析  - 对公司的业务能力，结合卓越绩效进行竞争力水平评估</vt:lpstr>
      <vt:lpstr>评估公司战略重点，得到公司“热点能力” - 也是卓越绩效重点提升的业务环节</vt:lpstr>
      <vt:lpstr>公司管理层基于业务战略的需求，讨论和评估未来三年业务能力提升的程度</vt:lpstr>
      <vt:lpstr>之后针对热点业务能力需要提出改进原则</vt:lpstr>
      <vt:lpstr>业务能力图的应用场景2：根据业务能力设计前、中、后台</vt:lpstr>
      <vt:lpstr>业务能力图的应用场景3：人力消耗分析： 揭示了公司在各个业务能力方面的资源消耗现状，并为未来成本优化、IT自动化的应用领域提供了指导</vt:lpstr>
      <vt:lpstr>业务能力图的应用场景3：人力消耗优化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内容提纲</dc:title>
  <dc:creator>Yu, Hailan SCHINA-ITD/RH</dc:creator>
  <cp:lastModifiedBy>于海澜Henry</cp:lastModifiedBy>
  <cp:revision>184</cp:revision>
  <dcterms:created xsi:type="dcterms:W3CDTF">2021-05-14T01:15:00Z</dcterms:created>
  <dcterms:modified xsi:type="dcterms:W3CDTF">2026-05-02T08:37:18Z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097CD8DA24144408BCC3C13C50FD9199_13</vt:lpwstr>
  </property>
  <property fmtid="{D5CDD505-2E9C-101B-9397-08002B2CF9AE}" pid="3" name="KSOProductBuildVer">
    <vt:lpwstr>2052-12.1.0.25865</vt:lpwstr>
  </property>
</Properties>
</file>